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26722</c:v>
                </c:pt>
                <c:pt idx="3">
                  <c:v>75026</c:v>
                </c:pt>
                <c:pt idx="4">
                  <c:v>141830</c:v>
                </c:pt>
                <c:pt idx="5">
                  <c:v>187051</c:v>
                </c:pt>
                <c:pt idx="6">
                  <c:v>231244</c:v>
                </c:pt>
                <c:pt idx="7">
                  <c:v>298048</c:v>
                </c:pt>
                <c:pt idx="8">
                  <c:v>307297</c:v>
                </c:pt>
                <c:pt idx="9">
                  <c:v>315519</c:v>
                </c:pt>
                <c:pt idx="10">
                  <c:v>325797</c:v>
                </c:pt>
                <c:pt idx="11">
                  <c:v>335047</c:v>
                </c:pt>
                <c:pt idx="12">
                  <c:v>345324</c:v>
                </c:pt>
                <c:pt idx="13">
                  <c:v>355602</c:v>
                </c:pt>
                <c:pt idx="14">
                  <c:v>365879</c:v>
                </c:pt>
                <c:pt idx="15">
                  <c:v>390545</c:v>
                </c:pt>
                <c:pt idx="16">
                  <c:v>416239</c:v>
                </c:pt>
                <c:pt idx="17">
                  <c:v>502570</c:v>
                </c:pt>
                <c:pt idx="18">
                  <c:v>506681</c:v>
                </c:pt>
                <c:pt idx="19">
                  <c:v>507709</c:v>
                </c:pt>
                <c:pt idx="20">
                  <c:v>508736</c:v>
                </c:pt>
                <c:pt idx="21">
                  <c:v>509764</c:v>
                </c:pt>
                <c:pt idx="22">
                  <c:v>510792</c:v>
                </c:pt>
                <c:pt idx="23">
                  <c:v>511820</c:v>
                </c:pt>
                <c:pt idx="24">
                  <c:v>512847</c:v>
                </c:pt>
                <c:pt idx="25">
                  <c:v>513875</c:v>
                </c:pt>
                <c:pt idx="26">
                  <c:v>514903</c:v>
                </c:pt>
                <c:pt idx="27">
                  <c:v>515931</c:v>
                </c:pt>
                <c:pt idx="28">
                  <c:v>516958</c:v>
                </c:pt>
                <c:pt idx="29">
                  <c:v>517986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24293</c:v>
                </c:pt>
                <c:pt idx="3">
                  <c:v>52043</c:v>
                </c:pt>
                <c:pt idx="4">
                  <c:v>94028</c:v>
                </c:pt>
                <c:pt idx="5">
                  <c:v>255436</c:v>
                </c:pt>
                <c:pt idx="6">
                  <c:v>276164</c:v>
                </c:pt>
                <c:pt idx="7">
                  <c:v>287200</c:v>
                </c:pt>
                <c:pt idx="8">
                  <c:v>317742</c:v>
                </c:pt>
                <c:pt idx="9">
                  <c:v>346176</c:v>
                </c:pt>
                <c:pt idx="10">
                  <c:v>382258</c:v>
                </c:pt>
                <c:pt idx="11">
                  <c:v>422753</c:v>
                </c:pt>
                <c:pt idx="12">
                  <c:v>466589</c:v>
                </c:pt>
                <c:pt idx="13">
                  <c:v>514861</c:v>
                </c:pt>
                <c:pt idx="14">
                  <c:v>567701</c:v>
                </c:pt>
                <c:pt idx="15">
                  <c:v>596816</c:v>
                </c:pt>
                <c:pt idx="16">
                  <c:v>643153</c:v>
                </c:pt>
                <c:pt idx="17">
                  <c:v>687866</c:v>
                </c:pt>
                <c:pt idx="18">
                  <c:v>757666</c:v>
                </c:pt>
                <c:pt idx="19">
                  <c:v>883665</c:v>
                </c:pt>
                <c:pt idx="20">
                  <c:v>971846</c:v>
                </c:pt>
                <c:pt idx="21">
                  <c:v>1105750</c:v>
                </c:pt>
                <c:pt idx="22">
                  <c:v>1253916</c:v>
                </c:pt>
                <c:pt idx="23">
                  <c:v>1392973</c:v>
                </c:pt>
                <c:pt idx="24">
                  <c:v>1550417</c:v>
                </c:pt>
                <c:pt idx="25">
                  <c:v>1713981</c:v>
                </c:pt>
                <c:pt idx="26">
                  <c:v>1908532</c:v>
                </c:pt>
                <c:pt idx="27">
                  <c:v>2065027</c:v>
                </c:pt>
                <c:pt idx="28">
                  <c:v>2231762</c:v>
                </c:pt>
                <c:pt idx="29">
                  <c:v>2409401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51015</c:v>
                </c:pt>
                <c:pt idx="3">
                  <c:v>127069</c:v>
                </c:pt>
                <c:pt idx="4">
                  <c:v>235858</c:v>
                </c:pt>
                <c:pt idx="5">
                  <c:v>442487</c:v>
                </c:pt>
                <c:pt idx="6">
                  <c:v>507408</c:v>
                </c:pt>
                <c:pt idx="7">
                  <c:v>585248</c:v>
                </c:pt>
                <c:pt idx="8">
                  <c:v>625039</c:v>
                </c:pt>
                <c:pt idx="9">
                  <c:v>661695</c:v>
                </c:pt>
                <c:pt idx="10">
                  <c:v>708055</c:v>
                </c:pt>
                <c:pt idx="11">
                  <c:v>757800</c:v>
                </c:pt>
                <c:pt idx="12">
                  <c:v>811913</c:v>
                </c:pt>
                <c:pt idx="13">
                  <c:v>870463</c:v>
                </c:pt>
                <c:pt idx="14">
                  <c:v>933580</c:v>
                </c:pt>
                <c:pt idx="15">
                  <c:v>987361</c:v>
                </c:pt>
                <c:pt idx="16">
                  <c:v>1059392</c:v>
                </c:pt>
                <c:pt idx="17">
                  <c:v>1190436</c:v>
                </c:pt>
                <c:pt idx="18">
                  <c:v>1264347</c:v>
                </c:pt>
                <c:pt idx="19">
                  <c:v>1391374</c:v>
                </c:pt>
                <c:pt idx="20">
                  <c:v>1480582</c:v>
                </c:pt>
                <c:pt idx="21">
                  <c:v>1615514</c:v>
                </c:pt>
                <c:pt idx="22">
                  <c:v>1764708</c:v>
                </c:pt>
                <c:pt idx="23">
                  <c:v>1904793</c:v>
                </c:pt>
                <c:pt idx="24">
                  <c:v>2063264</c:v>
                </c:pt>
                <c:pt idx="25">
                  <c:v>2227856</c:v>
                </c:pt>
                <c:pt idx="26">
                  <c:v>2423435</c:v>
                </c:pt>
                <c:pt idx="27">
                  <c:v>2580958</c:v>
                </c:pt>
                <c:pt idx="28">
                  <c:v>2748720</c:v>
                </c:pt>
                <c:pt idx="29">
                  <c:v>2927387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103</c:v>
                </c:pt>
                <c:pt idx="1">
                  <c:v>103</c:v>
                </c:pt>
                <c:pt idx="2">
                  <c:v>51015</c:v>
                </c:pt>
                <c:pt idx="3">
                  <c:v>127069</c:v>
                </c:pt>
                <c:pt idx="4">
                  <c:v>235858</c:v>
                </c:pt>
                <c:pt idx="5">
                  <c:v>661695</c:v>
                </c:pt>
                <c:pt idx="6">
                  <c:v>933580</c:v>
                </c:pt>
                <c:pt idx="7">
                  <c:v>1391374</c:v>
                </c:pt>
                <c:pt idx="8">
                  <c:v>2063264</c:v>
                </c:pt>
                <c:pt idx="9">
                  <c:v>2927387</c:v>
                </c:pt>
                <c:pt idx="10">
                  <c:v>3117667</c:v>
                </c:pt>
                <c:pt idx="11">
                  <c:v>5852291</c:v>
                </c:pt>
                <c:pt idx="12">
                  <c:v>10985554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1127750</c:v>
                </c:pt>
                <c:pt idx="1">
                  <c:v>2255500</c:v>
                </c:pt>
                <c:pt idx="2">
                  <c:v>3383250</c:v>
                </c:pt>
                <c:pt idx="3">
                  <c:v>4511000</c:v>
                </c:pt>
                <c:pt idx="4">
                  <c:v>5638750</c:v>
                </c:pt>
                <c:pt idx="5">
                  <c:v>5679466</c:v>
                </c:pt>
                <c:pt idx="6">
                  <c:v>5718061</c:v>
                </c:pt>
                <c:pt idx="7">
                  <c:v>5795236</c:v>
                </c:pt>
                <c:pt idx="8">
                  <c:v>5809558</c:v>
                </c:pt>
                <c:pt idx="9">
                  <c:v>5872137</c:v>
                </c:pt>
                <c:pt idx="10">
                  <c:v>5878258</c:v>
                </c:pt>
                <c:pt idx="11">
                  <c:v>5931192</c:v>
                </c:pt>
                <c:pt idx="12">
                  <c:v>5963314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108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财富盈活储蓄保险计划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友邦保险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1036768" cy="1097280"/>
          </a:xfrm>
          <a:prstGeom prst="rect">
            <a:avLst/>
          </a:prstGeom>
        </p:spPr>
      </p:pic>
      <p:pic>
        <p:nvPicPr>
          <p:cNvPr id="12" name="Picture 11" descr="brand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3" name="Picture 12" descr="brand-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4" name="Picture 13" descr="office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环宇盈活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环球财富管理专家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万用寿险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亚洲最大独立上市人寿集团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业务覆盖亚太区18个市场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服务超3800万客户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1,391,374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1,391,374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99 · 40年前每5年/后每10年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141,830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94,028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235,858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346,176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365,879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567,701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933,580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883,665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1,391,374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512,847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1,550,417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2,063,264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2,409,401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529,291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3,481,483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4,948,551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561,152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9,753,922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18,785,217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598,151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35,748,511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67,603,838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650,566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275,181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925,747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1（1 岁）起 · 每年提取 USD 1,027,750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737360"/>
          <a:ext cx="114299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1,027,750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1,027,750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1,127,750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125.55%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125.55%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1,027,750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5,138,750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5,638,750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62.35%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205.55%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365,716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5,313,750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5,679,466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103.59%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209,145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5,488,750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229,311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5,718,061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17.64%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69.57%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5,663,750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131,486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5,795,236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52.95%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3,595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5,803,846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5,712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5,809,558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42.48%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5,837,137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5,872,137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35.81%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3,379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5,571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5,866,321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5,901,321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30.86%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5,892,619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5,927,619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1,285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3,124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5,925,838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5,960,838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21.84%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5,949,661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5,984,661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18.28%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1,688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5,966,696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6,001,696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15.72%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5,975,082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6,010,082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5,978,938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6,013,938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106,898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6,293,938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25,820,250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32,114,188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63.87%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Y1 起每年提取 USD 1,027,750    · 累计已领+退保现价 = 年提取累计 + 期末退保发还金额    · 复利IRR = (累计+退保现价)/保费^(1/年数)-1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 起每年提取 USD 1,027,750 · 从小学到大学的稳健现金流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5,383,750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1027K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310,396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5,488,750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1027K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229,311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5,593,750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1027K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188,665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5,733,750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1027K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70,732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6,293,938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1027K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25,820,250</a:t>
            </a:r>
          </a:p>
        </p:txBody>
      </p:sp>
      <p:pic>
        <p:nvPicPr>
          <p:cNvPr id="67" name="Picture 66" descr="child-growth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8" name="Picture 67" descr="graduation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9" name="Picture 68" descr="family-outdoor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1（受保人 1 岁）开始提领 → 精准覆盖小学到大学教育支出 → 本金持续滚存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所有数据均直接源自友邦保险官方计划书原文（pdfplumber按列精确提取）；如需进一步核验，可逐项对照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Y1 起每年提取 USD 1,027,750，覆盖小学到大学。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5,663,750，本金仍持续滚存。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1027K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本演示基于友邦保险官方计划书数据生成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