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stacked"/>
        <c:ser>
          <c:idx val="0"/>
          <c:order val="0"/>
          <c:tx>
            <c:strRef>
              <c:f>Sheet1!$B$1</c:f>
              <c:strCache>
                <c:ptCount val="1"/>
                <c:pt idx="0">
                  <c:v>保证现价 (USD)</c:v>
                </c:pt>
              </c:strCache>
            </c:strRef>
          </c:tx>
          <c:spPr>
            <a:solidFill>
              <a:srgbClr val="17324D"/>
            </a:solidFill>
          </c:spPr>
          <c:cat>
            <c:strRef>
              <c:f>Sheet1!$A$2:$A$29</c:f>
              <c:strCache>
                <c:ptCount val="28"/>
                <c:pt idx="0">
                  <c:v>Y3
(3岁)</c:v>
                </c:pt>
                <c:pt idx="1">
                  <c:v>Y4
(4岁)</c:v>
                </c:pt>
                <c:pt idx="2">
                  <c:v>Y5
(5岁)</c:v>
                </c:pt>
                <c:pt idx="3">
                  <c:v>Y6
(6岁)</c:v>
                </c:pt>
                <c:pt idx="4">
                  <c:v>Y7
(7岁)</c:v>
                </c:pt>
                <c:pt idx="5">
                  <c:v>Y8
(8岁)</c:v>
                </c:pt>
                <c:pt idx="6">
                  <c:v>Y9
(9岁)</c:v>
                </c:pt>
                <c:pt idx="7">
                  <c:v>Y10
(10岁)</c:v>
                </c:pt>
                <c:pt idx="8">
                  <c:v>Y11
(11岁)</c:v>
                </c:pt>
                <c:pt idx="9">
                  <c:v>Y12
(12岁)</c:v>
                </c:pt>
                <c:pt idx="10">
                  <c:v>Y13
(13岁)</c:v>
                </c:pt>
                <c:pt idx="11">
                  <c:v>Y14
(14岁)</c:v>
                </c:pt>
                <c:pt idx="12">
                  <c:v>Y15
(15岁)</c:v>
                </c:pt>
                <c:pt idx="13">
                  <c:v>Y16
(16岁)</c:v>
                </c:pt>
                <c:pt idx="14">
                  <c:v>Y17
(17岁)</c:v>
                </c:pt>
                <c:pt idx="15">
                  <c:v>Y18
(18岁)</c:v>
                </c:pt>
                <c:pt idx="16">
                  <c:v>Y19
(19岁)</c:v>
                </c:pt>
                <c:pt idx="17">
                  <c:v>Y20
(20岁)</c:v>
                </c:pt>
                <c:pt idx="18">
                  <c:v>Y21
(21岁)</c:v>
                </c:pt>
                <c:pt idx="19">
                  <c:v>Y22
(22岁)</c:v>
                </c:pt>
                <c:pt idx="20">
                  <c:v>Y23
(23岁)</c:v>
                </c:pt>
                <c:pt idx="21">
                  <c:v>Y24
(24岁)</c:v>
                </c:pt>
                <c:pt idx="22">
                  <c:v>Y25
(25岁)</c:v>
                </c:pt>
                <c:pt idx="23">
                  <c:v>Y26
(26岁)</c:v>
                </c:pt>
                <c:pt idx="24">
                  <c:v>Y27
(27岁)</c:v>
                </c:pt>
                <c:pt idx="25">
                  <c:v>Y28
(28岁)</c:v>
                </c:pt>
                <c:pt idx="26">
                  <c:v>Y29
(29岁)</c:v>
                </c:pt>
                <c:pt idx="27">
                  <c:v>Y30
(30岁)</c:v>
                </c:pt>
              </c:strCache>
            </c:strRef>
          </c:cat>
          <c:val>
            <c:numRef>
              <c:f>Sheet1!$B$2:$B$29</c:f>
              <c:numCache>
                <c:formatCode>General</c:formatCode>
                <c:ptCount val="28"/>
                <c:pt idx="0">
                  <c:v>27275</c:v>
                </c:pt>
                <c:pt idx="1">
                  <c:v>50350</c:v>
                </c:pt>
                <c:pt idx="2">
                  <c:v>75000</c:v>
                </c:pt>
                <c:pt idx="3">
                  <c:v>100000</c:v>
                </c:pt>
                <c:pt idx="4">
                  <c:v>125000</c:v>
                </c:pt>
                <c:pt idx="5">
                  <c:v>137500</c:v>
                </c:pt>
                <c:pt idx="6">
                  <c:v>140000</c:v>
                </c:pt>
                <c:pt idx="7">
                  <c:v>141500</c:v>
                </c:pt>
                <c:pt idx="8">
                  <c:v>142500</c:v>
                </c:pt>
                <c:pt idx="9">
                  <c:v>150000</c:v>
                </c:pt>
                <c:pt idx="10">
                  <c:v>200000</c:v>
                </c:pt>
                <c:pt idx="11">
                  <c:v>250000</c:v>
                </c:pt>
                <c:pt idx="12">
                  <c:v>300000</c:v>
                </c:pt>
                <c:pt idx="13">
                  <c:v>350000</c:v>
                </c:pt>
                <c:pt idx="14">
                  <c:v>400000</c:v>
                </c:pt>
                <c:pt idx="15">
                  <c:v>450000</c:v>
                </c:pt>
                <c:pt idx="16">
                  <c:v>500000</c:v>
                </c:pt>
                <c:pt idx="17">
                  <c:v>505665</c:v>
                </c:pt>
                <c:pt idx="18">
                  <c:v>506580</c:v>
                </c:pt>
                <c:pt idx="19">
                  <c:v>507560</c:v>
                </c:pt>
                <c:pt idx="20">
                  <c:v>508605</c:v>
                </c:pt>
                <c:pt idx="21">
                  <c:v>509715</c:v>
                </c:pt>
                <c:pt idx="22">
                  <c:v>510895</c:v>
                </c:pt>
                <c:pt idx="23">
                  <c:v>512140</c:v>
                </c:pt>
                <c:pt idx="24">
                  <c:v>513450</c:v>
                </c:pt>
                <c:pt idx="25">
                  <c:v>514825</c:v>
                </c:pt>
                <c:pt idx="26">
                  <c:v>516275</c:v>
                </c:pt>
                <c:pt idx="27">
                  <c:v>517790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非保证红利/分红 (USD)</c:v>
                </c:pt>
              </c:strCache>
            </c:strRef>
          </c:tx>
          <c:spPr>
            <a:solidFill>
              <a:srgbClr val="C9A86A"/>
            </a:solidFill>
          </c:spPr>
          <c:cat>
            <c:strRef>
              <c:f>Sheet1!$A$2:$A$29</c:f>
              <c:strCache>
                <c:ptCount val="28"/>
                <c:pt idx="0">
                  <c:v>Y3
(3岁)</c:v>
                </c:pt>
                <c:pt idx="1">
                  <c:v>Y4
(4岁)</c:v>
                </c:pt>
                <c:pt idx="2">
                  <c:v>Y5
(5岁)</c:v>
                </c:pt>
                <c:pt idx="3">
                  <c:v>Y6
(6岁)</c:v>
                </c:pt>
                <c:pt idx="4">
                  <c:v>Y7
(7岁)</c:v>
                </c:pt>
                <c:pt idx="5">
                  <c:v>Y8
(8岁)</c:v>
                </c:pt>
                <c:pt idx="6">
                  <c:v>Y9
(9岁)</c:v>
                </c:pt>
                <c:pt idx="7">
                  <c:v>Y10
(10岁)</c:v>
                </c:pt>
                <c:pt idx="8">
                  <c:v>Y11
(11岁)</c:v>
                </c:pt>
                <c:pt idx="9">
                  <c:v>Y12
(12岁)</c:v>
                </c:pt>
                <c:pt idx="10">
                  <c:v>Y13
(13岁)</c:v>
                </c:pt>
                <c:pt idx="11">
                  <c:v>Y14
(14岁)</c:v>
                </c:pt>
                <c:pt idx="12">
                  <c:v>Y15
(15岁)</c:v>
                </c:pt>
                <c:pt idx="13">
                  <c:v>Y16
(16岁)</c:v>
                </c:pt>
                <c:pt idx="14">
                  <c:v>Y17
(17岁)</c:v>
                </c:pt>
                <c:pt idx="15">
                  <c:v>Y18
(18岁)</c:v>
                </c:pt>
                <c:pt idx="16">
                  <c:v>Y19
(19岁)</c:v>
                </c:pt>
                <c:pt idx="17">
                  <c:v>Y20
(20岁)</c:v>
                </c:pt>
                <c:pt idx="18">
                  <c:v>Y21
(21岁)</c:v>
                </c:pt>
                <c:pt idx="19">
                  <c:v>Y22
(22岁)</c:v>
                </c:pt>
                <c:pt idx="20">
                  <c:v>Y23
(23岁)</c:v>
                </c:pt>
                <c:pt idx="21">
                  <c:v>Y24
(24岁)</c:v>
                </c:pt>
                <c:pt idx="22">
                  <c:v>Y25
(25岁)</c:v>
                </c:pt>
                <c:pt idx="23">
                  <c:v>Y26
(26岁)</c:v>
                </c:pt>
                <c:pt idx="24">
                  <c:v>Y27
(27岁)</c:v>
                </c:pt>
                <c:pt idx="25">
                  <c:v>Y28
(28岁)</c:v>
                </c:pt>
                <c:pt idx="26">
                  <c:v>Y29
(29岁)</c:v>
                </c:pt>
                <c:pt idx="27">
                  <c:v>Y30
(30岁)</c:v>
                </c:pt>
              </c:strCache>
            </c:strRef>
          </c:cat>
          <c:val>
            <c:numRef>
              <c:f>Sheet1!$C$2:$C$29</c:f>
              <c:numCache>
                <c:formatCode>General</c:formatCode>
                <c:ptCount val="28"/>
                <c:pt idx="0">
                  <c:v>89125</c:v>
                </c:pt>
                <c:pt idx="1">
                  <c:v>154813</c:v>
                </c:pt>
                <c:pt idx="2">
                  <c:v>240234</c:v>
                </c:pt>
                <c:pt idx="3">
                  <c:v>291867</c:v>
                </c:pt>
                <c:pt idx="4">
                  <c:v>377504</c:v>
                </c:pt>
                <c:pt idx="5">
                  <c:v>415873</c:v>
                </c:pt>
                <c:pt idx="6">
                  <c:v>454705</c:v>
                </c:pt>
                <c:pt idx="7">
                  <c:v>497414</c:v>
                </c:pt>
                <c:pt idx="8">
                  <c:v>532078</c:v>
                </c:pt>
                <c:pt idx="9">
                  <c:v>558631</c:v>
                </c:pt>
                <c:pt idx="10">
                  <c:v>566000</c:v>
                </c:pt>
                <c:pt idx="11">
                  <c:v>572479</c:v>
                </c:pt>
                <c:pt idx="12">
                  <c:v>587814</c:v>
                </c:pt>
                <c:pt idx="13">
                  <c:v>653536</c:v>
                </c:pt>
                <c:pt idx="14">
                  <c:v>664469</c:v>
                </c:pt>
                <c:pt idx="15">
                  <c:v>704444</c:v>
                </c:pt>
                <c:pt idx="16">
                  <c:v>760311</c:v>
                </c:pt>
                <c:pt idx="17">
                  <c:v>926356</c:v>
                </c:pt>
                <c:pt idx="18">
                  <c:v>1020949</c:v>
                </c:pt>
                <c:pt idx="19">
                  <c:v>1123346</c:v>
                </c:pt>
                <c:pt idx="20">
                  <c:v>1222131</c:v>
                </c:pt>
                <c:pt idx="21">
                  <c:v>1330249</c:v>
                </c:pt>
                <c:pt idx="22">
                  <c:v>1460713</c:v>
                </c:pt>
                <c:pt idx="23">
                  <c:v>1602356</c:v>
                </c:pt>
                <c:pt idx="24">
                  <c:v>1756249</c:v>
                </c:pt>
                <c:pt idx="25">
                  <c:v>1923572</c:v>
                </c:pt>
                <c:pt idx="26">
                  <c:v>2105622</c:v>
                </c:pt>
                <c:pt idx="27">
                  <c:v>2303847</c:v>
                </c:pt>
              </c:numCache>
            </c:numRef>
          </c:val>
        </c:ser>
        <c:overlap val="10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700">
                <a:solidFill>
                  <a:srgbClr val="5A6A7A"/>
                </a:solidFill>
                <a:latin typeface="STHeiti Medium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numFmt formatCode="#,##0,," sourceLinked="0"/>
        <c:majorTickMark val="out"/>
        <c:minorTickMark val="none"/>
        <c:tickLblPos val="nextTo"/>
        <c:txPr>
          <a:bodyPr/>
          <a:lstStyle/>
          <a:p>
            <a:pPr>
              <a:defRPr sz="700">
                <a:solidFill>
                  <a:srgbClr val="5A6A7A"/>
                </a:solidFill>
              </a:defRPr>
            </a:pPr>
          </a:p>
        </c:txPr>
        <c:crossAx val="-2068027336"/>
        <c:crosses val="autoZero"/>
      </c:valAx>
    </c:plotArea>
    <c:legend>
      <c:legendPos val="b"/>
      <c:overlay val="0"/>
      <c:txPr>
        <a:bodyPr/>
        <a:lstStyle/>
        <a:p>
          <a:pPr>
            <a:defRPr sz="800">
              <a:solidFill>
                <a:srgbClr val="2A3A4A"/>
              </a:solidFill>
              <a:latin typeface="STHeiti Medium"/>
            </a:defRPr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退保发还总额 (USD)</c:v>
                </c:pt>
              </c:strCache>
            </c:strRef>
          </c:tx>
          <c:spPr>
            <a:solidFill>
              <a:srgbClr val="9A7A4A"/>
            </a:solidFill>
            <a:ln w="31750">
              <a:solidFill>
                <a:srgbClr val="9A7A4A"/>
              </a:solidFill>
            </a:ln>
          </c:spPr>
          <c:marker>
            <c:symbol val="circle"/>
            <c:size val="6"/>
          </c:marker>
          <c:cat>
            <c:strRef>
              <c:f>Sheet1!$A$2:$A$29</c:f>
              <c:strCache>
                <c:ptCount val="28"/>
                <c:pt idx="0">
                  <c:v>Y3
(3岁)</c:v>
                </c:pt>
                <c:pt idx="1">
                  <c:v>Y4
(4岁)</c:v>
                </c:pt>
                <c:pt idx="2">
                  <c:v>Y5
(5岁)</c:v>
                </c:pt>
                <c:pt idx="3">
                  <c:v>Y6
(6岁)</c:v>
                </c:pt>
                <c:pt idx="4">
                  <c:v>Y7
(7岁)</c:v>
                </c:pt>
                <c:pt idx="5">
                  <c:v>Y8
(8岁)</c:v>
                </c:pt>
                <c:pt idx="6">
                  <c:v>Y9
(9岁)</c:v>
                </c:pt>
                <c:pt idx="7">
                  <c:v>Y10
(10岁)</c:v>
                </c:pt>
                <c:pt idx="8">
                  <c:v>Y11
(11岁)</c:v>
                </c:pt>
                <c:pt idx="9">
                  <c:v>Y12
(12岁)</c:v>
                </c:pt>
                <c:pt idx="10">
                  <c:v>Y13
(13岁)</c:v>
                </c:pt>
                <c:pt idx="11">
                  <c:v>Y14
(14岁)</c:v>
                </c:pt>
                <c:pt idx="12">
                  <c:v>Y15
(15岁)</c:v>
                </c:pt>
                <c:pt idx="13">
                  <c:v>Y16
(16岁)</c:v>
                </c:pt>
                <c:pt idx="14">
                  <c:v>Y17
(17岁)</c:v>
                </c:pt>
                <c:pt idx="15">
                  <c:v>Y18
(18岁)</c:v>
                </c:pt>
                <c:pt idx="16">
                  <c:v>Y19
(19岁)</c:v>
                </c:pt>
                <c:pt idx="17">
                  <c:v>Y20
(20岁)</c:v>
                </c:pt>
                <c:pt idx="18">
                  <c:v>Y21
(21岁)</c:v>
                </c:pt>
                <c:pt idx="19">
                  <c:v>Y22
(22岁)</c:v>
                </c:pt>
                <c:pt idx="20">
                  <c:v>Y23
(23岁)</c:v>
                </c:pt>
                <c:pt idx="21">
                  <c:v>Y24
(24岁)</c:v>
                </c:pt>
                <c:pt idx="22">
                  <c:v>Y25
(25岁)</c:v>
                </c:pt>
                <c:pt idx="23">
                  <c:v>Y26
(26岁)</c:v>
                </c:pt>
                <c:pt idx="24">
                  <c:v>Y27
(27岁)</c:v>
                </c:pt>
                <c:pt idx="25">
                  <c:v>Y28
(28岁)</c:v>
                </c:pt>
                <c:pt idx="26">
                  <c:v>Y29
(29岁)</c:v>
                </c:pt>
                <c:pt idx="27">
                  <c:v>Y30
(30岁)</c:v>
                </c:pt>
              </c:strCache>
            </c:strRef>
          </c:cat>
          <c:val>
            <c:numRef>
              <c:f>Sheet1!$B$2:$B$29</c:f>
              <c:numCache>
                <c:formatCode>General</c:formatCode>
                <c:ptCount val="28"/>
                <c:pt idx="0">
                  <c:v>116400</c:v>
                </c:pt>
                <c:pt idx="1">
                  <c:v>205163</c:v>
                </c:pt>
                <c:pt idx="2">
                  <c:v>315234</c:v>
                </c:pt>
                <c:pt idx="3">
                  <c:v>391867</c:v>
                </c:pt>
                <c:pt idx="4">
                  <c:v>502504</c:v>
                </c:pt>
                <c:pt idx="5">
                  <c:v>553373</c:v>
                </c:pt>
                <c:pt idx="6">
                  <c:v>594705</c:v>
                </c:pt>
                <c:pt idx="7">
                  <c:v>638914</c:v>
                </c:pt>
                <c:pt idx="8">
                  <c:v>674578</c:v>
                </c:pt>
                <c:pt idx="9">
                  <c:v>708631</c:v>
                </c:pt>
                <c:pt idx="10">
                  <c:v>766000</c:v>
                </c:pt>
                <c:pt idx="11">
                  <c:v>822479</c:v>
                </c:pt>
                <c:pt idx="12">
                  <c:v>887814</c:v>
                </c:pt>
                <c:pt idx="13">
                  <c:v>1003536</c:v>
                </c:pt>
                <c:pt idx="14">
                  <c:v>1064469</c:v>
                </c:pt>
                <c:pt idx="15">
                  <c:v>1154444</c:v>
                </c:pt>
                <c:pt idx="16">
                  <c:v>1260311</c:v>
                </c:pt>
                <c:pt idx="17">
                  <c:v>1432021</c:v>
                </c:pt>
                <c:pt idx="18">
                  <c:v>1527529</c:v>
                </c:pt>
                <c:pt idx="19">
                  <c:v>1630906</c:v>
                </c:pt>
                <c:pt idx="20">
                  <c:v>1730736</c:v>
                </c:pt>
                <c:pt idx="21">
                  <c:v>1839964</c:v>
                </c:pt>
                <c:pt idx="22">
                  <c:v>1971608</c:v>
                </c:pt>
                <c:pt idx="23">
                  <c:v>2114496</c:v>
                </c:pt>
                <c:pt idx="24">
                  <c:v>2269699</c:v>
                </c:pt>
                <c:pt idx="25">
                  <c:v>2438397</c:v>
                </c:pt>
                <c:pt idx="26">
                  <c:v>2621897</c:v>
                </c:pt>
                <c:pt idx="27">
                  <c:v>2821637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700">
                <a:solidFill>
                  <a:srgbClr val="5A6A7A"/>
                </a:solidFill>
                <a:latin typeface="STHeiti Medium"/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/>
        <c:numFmt formatCode="#,##0,," sourceLinked="0"/>
        <c:majorTickMark val="out"/>
        <c:minorTickMark val="none"/>
        <c:tickLblPos val="nextTo"/>
        <c:txPr>
          <a:bodyPr/>
          <a:lstStyle/>
          <a:p>
            <a:pPr>
              <a:defRPr sz="700">
                <a:solidFill>
                  <a:srgbClr val="5A6A7A"/>
                </a:solidFill>
              </a:defRPr>
            </a:pPr>
          </a:p>
        </c:txPr>
        <c:crossAx val="2118791784"/>
        <c:crosses val="autoZero"/>
      </c:valAx>
    </c:plotArea>
    <c:legend>
      <c:legendPos val="b"/>
      <c:layout/>
      <c:overlay val="0"/>
      <c:txPr>
        <a:bodyPr/>
        <a:lstStyle/>
        <a:p>
          <a:pPr>
            <a:defRPr sz="800">
              <a:solidFill>
                <a:srgbClr val="2A3A4A"/>
              </a:solidFill>
              <a:latin typeface="STHeiti Medium"/>
            </a:defRPr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不提领 · 退保现价 (USD)</c:v>
                </c:pt>
              </c:strCache>
            </c:strRef>
          </c:tx>
          <c:spPr>
            <a:solidFill>
              <a:srgbClr val="17324D"/>
            </a:solidFill>
          </c:spPr>
          <c:cat>
            <c:strRef>
              <c:f>Sheet1!$A$2:$A$12</c:f>
              <c:strCache>
                <c:ptCount val="11"/>
                <c:pt idx="0">
                  <c:v>Y3
(3岁)</c:v>
                </c:pt>
                <c:pt idx="1">
                  <c:v>Y4
(4岁)</c:v>
                </c:pt>
                <c:pt idx="2">
                  <c:v>Y5
(5岁)</c:v>
                </c:pt>
                <c:pt idx="3">
                  <c:v>Y10
(10岁)</c:v>
                </c:pt>
                <c:pt idx="4">
                  <c:v>Y15
(15岁)</c:v>
                </c:pt>
                <c:pt idx="5">
                  <c:v>Y20
(20岁)</c:v>
                </c:pt>
                <c:pt idx="6">
                  <c:v>Y25
(25岁)</c:v>
                </c:pt>
                <c:pt idx="7">
                  <c:v>Y30
(30岁)</c:v>
                </c:pt>
                <c:pt idx="8">
                  <c:v>Y31
(31岁)</c:v>
                </c:pt>
                <c:pt idx="9">
                  <c:v>Y41
(41岁)</c:v>
                </c:pt>
                <c:pt idx="10">
                  <c:v>Y51
(51岁)</c:v>
                </c:pt>
              </c:strCache>
            </c:strRef>
          </c:cat>
          <c:val>
            <c:numRef>
              <c:f>Sheet1!$B$2:$B$12</c:f>
              <c:numCache>
                <c:formatCode>General</c:formatCode>
                <c:ptCount val="11"/>
                <c:pt idx="0">
                  <c:v>116400</c:v>
                </c:pt>
                <c:pt idx="1">
                  <c:v>205163</c:v>
                </c:pt>
                <c:pt idx="2">
                  <c:v>315234</c:v>
                </c:pt>
                <c:pt idx="3">
                  <c:v>638914</c:v>
                </c:pt>
                <c:pt idx="4">
                  <c:v>887814</c:v>
                </c:pt>
                <c:pt idx="5">
                  <c:v>1432021</c:v>
                </c:pt>
                <c:pt idx="6">
                  <c:v>1971608</c:v>
                </c:pt>
                <c:pt idx="7">
                  <c:v>2821637</c:v>
                </c:pt>
                <c:pt idx="8">
                  <c:v>3039214</c:v>
                </c:pt>
                <c:pt idx="9">
                  <c:v>5850130</c:v>
                </c:pt>
                <c:pt idx="10">
                  <c:v>10980478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提领 · 累计+退保现价 (USD)</c:v>
                </c:pt>
              </c:strCache>
            </c:strRef>
          </c:tx>
          <c:spPr>
            <a:solidFill>
              <a:srgbClr val="C9A86A"/>
            </a:solidFill>
          </c:spPr>
          <c:cat>
            <c:strRef>
              <c:f>Sheet1!$A$2:$A$12</c:f>
              <c:strCache>
                <c:ptCount val="11"/>
                <c:pt idx="0">
                  <c:v>Y3
(3岁)</c:v>
                </c:pt>
                <c:pt idx="1">
                  <c:v>Y4
(4岁)</c:v>
                </c:pt>
                <c:pt idx="2">
                  <c:v>Y5
(5岁)</c:v>
                </c:pt>
                <c:pt idx="3">
                  <c:v>Y10
(10岁)</c:v>
                </c:pt>
                <c:pt idx="4">
                  <c:v>Y15
(15岁)</c:v>
                </c:pt>
                <c:pt idx="5">
                  <c:v>Y20
(20岁)</c:v>
                </c:pt>
                <c:pt idx="6">
                  <c:v>Y25
(25岁)</c:v>
                </c:pt>
                <c:pt idx="7">
                  <c:v>Y30
(30岁)</c:v>
                </c:pt>
                <c:pt idx="8">
                  <c:v>Y31
(31岁)</c:v>
                </c:pt>
                <c:pt idx="9">
                  <c:v>Y41
(41岁)</c:v>
                </c:pt>
                <c:pt idx="10">
                  <c:v>Y51
(51岁)</c:v>
                </c:pt>
              </c:strCache>
            </c:strRef>
          </c:cat>
          <c:val>
            <c:numRef>
              <c:f>Sheet1!$C$2:$C$12</c:f>
              <c:numCache>
                <c:formatCode>General</c:formatCode>
                <c:ptCount val="11"/>
                <c:pt idx="0">
                  <c:v>116400</c:v>
                </c:pt>
                <c:pt idx="1">
                  <c:v>205163</c:v>
                </c:pt>
                <c:pt idx="2">
                  <c:v>315234</c:v>
                </c:pt>
                <c:pt idx="3">
                  <c:v>625055</c:v>
                </c:pt>
                <c:pt idx="4">
                  <c:v>802574</c:v>
                </c:pt>
                <c:pt idx="5">
                  <c:v>1069963</c:v>
                </c:pt>
                <c:pt idx="6">
                  <c:v>1260014</c:v>
                </c:pt>
                <c:pt idx="7">
                  <c:v>1483878</c:v>
                </c:pt>
                <c:pt idx="8">
                  <c:v>1524935</c:v>
                </c:pt>
                <c:pt idx="9">
                  <c:v>2010316</c:v>
                </c:pt>
                <c:pt idx="10">
                  <c:v>2595277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800">
                <a:solidFill>
                  <a:srgbClr val="5A6A7A"/>
                </a:solidFill>
                <a:latin typeface="STHeiti Medium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21960956.0"/>
          <c:min val="0.0"/>
        </c:scaling>
        <c:delete val="0"/>
        <c:axPos val="l"/>
        <c:majorGridlines/>
        <c:numFmt formatCode="$#,##0,, &quot;M&quot;" sourceLinked="0"/>
        <c:majorTickMark val="out"/>
        <c:minorTickMark val="none"/>
        <c:tickLblPos val="nextTo"/>
        <c:txPr>
          <a:bodyPr/>
          <a:lstStyle/>
          <a:p>
            <a:pPr>
              <a:defRPr sz="700">
                <a:solidFill>
                  <a:srgbClr val="5A6A7A"/>
                </a:solidFill>
              </a:defRPr>
            </a:pPr>
          </a:p>
        </c:txPr>
        <c:crossAx val="-2068027336"/>
        <c:crosses val="autoZero"/>
      </c:valAx>
    </c:plotArea>
    <c:legend>
      <c:legendPos val="b"/>
      <c:overlay val="0"/>
      <c:txPr>
        <a:bodyPr/>
        <a:lstStyle/>
        <a:p>
          <a:pPr>
            <a:defRPr sz="900">
              <a:solidFill>
                <a:srgbClr val="2A3A4A"/>
              </a:solidFill>
              <a:latin typeface="STHeiti Medium"/>
            </a:defRPr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3" Type="http://schemas.openxmlformats.org/officeDocument/2006/relationships/chart" Target="../charts/char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3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4.jpg"/><Relationship Id="rId4" Type="http://schemas.openxmlformats.org/officeDocument/2006/relationships/image" Target="../media/image5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ompany-hero-0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B2A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548640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  <a:ea typeface="STHeiti Medium"/>
              </a:rPr>
              <a:t>CHINA TP  |  中国太平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48640"/>
            <a:ext cx="548640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  <a:latin typeface="Calibri"/>
                <a:ea typeface="STHeiti Medium"/>
              </a:rPr>
              <a:t>PRIVATE CLIENT BRIEFING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920240"/>
            <a:ext cx="5943600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Calibri"/>
                <a:ea typeface="STHeiti Medium"/>
              </a:rPr>
              <a:t>「頤·樂享」儲蓄保險計劃(尊享版)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377440"/>
            <a:ext cx="594360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Calibri"/>
                <a:ea typeface="STHeiti Medium"/>
              </a:rPr>
              <a:t>MR.V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834640"/>
            <a:ext cx="5943600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200" b="0">
                <a:solidFill>
                  <a:srgbClr val="FFFFFF"/>
                </a:solidFill>
                <a:latin typeface="Calibri"/>
                <a:ea typeface="STHeiti Medium"/>
              </a:rPr>
              <a:t>PRIVATE CLIENT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291840"/>
            <a:ext cx="5943600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Calibri"/>
                <a:ea typeface="STHeiti Medium"/>
              </a:rPr>
              <a:t>5年缴 · USD 100,000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3749040"/>
            <a:ext cx="594360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Calibri"/>
                <a:ea typeface="STHeiti Medium"/>
              </a:rPr>
              <a:t>受保人：V（1岁）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C9A8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5486400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000" b="1">
                <a:solidFill>
                  <a:srgbClr val="17324D"/>
                </a:solidFill>
                <a:latin typeface="Calibri"/>
                <a:ea typeface="STHeiti Medium"/>
              </a:rPr>
              <a:t>CHINA TP  |  中国太平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164592"/>
            <a:ext cx="1371600" cy="292608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900" b="0">
                <a:solidFill>
                  <a:srgbClr val="5A6A7A"/>
                </a:solidFill>
                <a:latin typeface="Calibri"/>
                <a:ea typeface="STHeiti Medium"/>
              </a:rPr>
              <a:t>02 / 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"/>
            <a:ext cx="10972800" cy="6400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800" b="1">
                <a:solidFill>
                  <a:srgbClr val="17324D"/>
                </a:solidFill>
                <a:latin typeface="Calibri"/>
                <a:ea typeface="STHeiti Medium"/>
              </a:rPr>
              <a:t>关于我们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234440"/>
            <a:ext cx="1097280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0">
                <a:solidFill>
                  <a:srgbClr val="5A6A7A"/>
                </a:solidFill>
                <a:latin typeface="Calibri"/>
                <a:ea typeface="STHeiti Medium"/>
              </a:rPr>
              <a:t>About Us  ·  中国太平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554480"/>
            <a:ext cx="548640" cy="36576"/>
          </a:xfrm>
          <a:prstGeom prst="rect">
            <a:avLst/>
          </a:prstGeom>
          <a:solidFill>
            <a:srgbClr val="1732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828800"/>
            <a:ext cx="1947339" cy="109728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457200" y="3291840"/>
            <a:ext cx="3657600" cy="1371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7200" y="4590288"/>
            <a:ext cx="3657600" cy="73152"/>
          </a:xfrm>
          <a:prstGeom prst="rect">
            <a:avLst/>
          </a:prstGeom>
          <a:solidFill>
            <a:srgbClr val="1732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3429000"/>
            <a:ext cx="3291840" cy="6400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600" b="1">
                <a:solidFill>
                  <a:srgbClr val="17324D"/>
                </a:solidFill>
                <a:latin typeface="Calibri"/>
                <a:ea typeface="STHeiti Medium"/>
              </a:rPr>
              <a:t>1929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4297680"/>
            <a:ext cx="329184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200" b="1">
                <a:solidFill>
                  <a:srgbClr val="2A3A4A"/>
                </a:solidFill>
                <a:latin typeface="Calibri"/>
                <a:ea typeface="STHeiti Medium"/>
              </a:rPr>
              <a:t>成立年份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4434840"/>
            <a:ext cx="3291840" cy="1828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800" b="0">
                <a:solidFill>
                  <a:srgbClr val="5A6A7A"/>
                </a:solidFill>
                <a:latin typeface="Calibri"/>
                <a:ea typeface="STHeiti Medium"/>
              </a:rPr>
              <a:t/>
            </a:r>
          </a:p>
        </p:txBody>
      </p:sp>
      <p:sp>
        <p:nvSpPr>
          <p:cNvPr id="15" name="Rectangle 14"/>
          <p:cNvSpPr/>
          <p:nvPr/>
        </p:nvSpPr>
        <p:spPr>
          <a:xfrm>
            <a:off x="4343400" y="3291840"/>
            <a:ext cx="3657600" cy="1371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343400" y="4590288"/>
            <a:ext cx="3657600" cy="73152"/>
          </a:xfrm>
          <a:prstGeom prst="rect">
            <a:avLst/>
          </a:prstGeom>
          <a:solidFill>
            <a:srgbClr val="1732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26280" y="3429000"/>
            <a:ext cx="3291840" cy="6400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600" b="1">
                <a:solidFill>
                  <a:srgbClr val="17324D"/>
                </a:solidFill>
                <a:latin typeface="Calibri"/>
                <a:ea typeface="STHeiti Medium"/>
              </a:rPr>
              <a:t>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26280" y="4297680"/>
            <a:ext cx="329184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200" b="1">
                <a:solidFill>
                  <a:srgbClr val="2A3A4A"/>
                </a:solidFill>
                <a:latin typeface="Calibri"/>
                <a:ea typeface="STHeiti Medium"/>
              </a:rPr>
              <a:t>财务实力评级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26280" y="4434840"/>
            <a:ext cx="3291840" cy="1828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800" b="0">
                <a:solidFill>
                  <a:srgbClr val="5A6A7A"/>
                </a:solidFill>
                <a:latin typeface="Calibri"/>
                <a:ea typeface="STHeiti Medium"/>
              </a:rPr>
              <a:t/>
            </a:r>
          </a:p>
        </p:txBody>
      </p:sp>
      <p:sp>
        <p:nvSpPr>
          <p:cNvPr id="20" name="Rectangle 19"/>
          <p:cNvSpPr/>
          <p:nvPr/>
        </p:nvSpPr>
        <p:spPr>
          <a:xfrm>
            <a:off x="8229600" y="3291840"/>
            <a:ext cx="3657600" cy="1371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229600" y="4590288"/>
            <a:ext cx="3657600" cy="73152"/>
          </a:xfrm>
          <a:prstGeom prst="rect">
            <a:avLst/>
          </a:prstGeom>
          <a:solidFill>
            <a:srgbClr val="1732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412480" y="3429000"/>
            <a:ext cx="3291840" cy="6400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600" b="1">
                <a:solidFill>
                  <a:srgbClr val="17324D"/>
                </a:solidFill>
                <a:latin typeface="Calibri"/>
                <a:ea typeface="STHeiti Medium"/>
              </a:rPr>
              <a:t>「頤·樂享」儲蓄保險計劃(尊享版)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12480" y="4297680"/>
            <a:ext cx="329184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200" b="1">
                <a:solidFill>
                  <a:srgbClr val="2A3A4A"/>
                </a:solidFill>
                <a:latin typeface="Calibri"/>
                <a:ea typeface="STHeiti Medium"/>
              </a:rPr>
              <a:t>财富传承与保障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412480" y="4434840"/>
            <a:ext cx="3291840" cy="1828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800" b="0">
                <a:solidFill>
                  <a:srgbClr val="5A6A7A"/>
                </a:solidFill>
                <a:latin typeface="Calibri"/>
                <a:ea typeface="STHeiti Medium"/>
              </a:rPr>
              <a:t/>
            </a:r>
          </a:p>
        </p:txBody>
      </p:sp>
      <p:sp>
        <p:nvSpPr>
          <p:cNvPr id="25" name="Rectangle 24"/>
          <p:cNvSpPr/>
          <p:nvPr/>
        </p:nvSpPr>
        <p:spPr>
          <a:xfrm>
            <a:off x="457200" y="4937760"/>
            <a:ext cx="274320" cy="36576"/>
          </a:xfrm>
          <a:prstGeom prst="rect">
            <a:avLst/>
          </a:prstGeom>
          <a:solidFill>
            <a:srgbClr val="1732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77240" y="4846320"/>
            <a:ext cx="457200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400" b="1">
                <a:solidFill>
                  <a:srgbClr val="17324D"/>
                </a:solidFill>
                <a:latin typeface="Calibri"/>
                <a:ea typeface="STHeiti Medium"/>
              </a:rPr>
              <a:t>业务范围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77240" y="5212080"/>
            <a:ext cx="502920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0">
                <a:solidFill>
                  <a:srgbClr val="2A3A4A"/>
                </a:solidFill>
                <a:latin typeface="Calibri"/>
                <a:ea typeface="STHeiti Medium"/>
              </a:rPr>
              <a:t>· 人寿保险 — 储蓄/保障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77240" y="5486400"/>
            <a:ext cx="502920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0">
                <a:solidFill>
                  <a:srgbClr val="2A3A4A"/>
                </a:solidFill>
                <a:latin typeface="Calibri"/>
                <a:ea typeface="STHeiti Medium"/>
              </a:rPr>
              <a:t>· 健康保险 — 医疗/重疾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77240" y="5760720"/>
            <a:ext cx="502920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0">
                <a:solidFill>
                  <a:srgbClr val="2A3A4A"/>
                </a:solidFill>
                <a:latin typeface="Calibri"/>
                <a:ea typeface="STHeiti Medium"/>
              </a:rPr>
              <a:t>· 财富传承 — 年金/储蓄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77240" y="6035040"/>
            <a:ext cx="502920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0">
                <a:solidFill>
                  <a:srgbClr val="2A3A4A"/>
                </a:solidFill>
                <a:latin typeface="Calibri"/>
                <a:ea typeface="STHeiti Medium"/>
              </a:rPr>
              <a:t>· 养老保险 — 退休规划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400800" y="4937760"/>
            <a:ext cx="274320" cy="36576"/>
          </a:xfrm>
          <a:prstGeom prst="rect">
            <a:avLst/>
          </a:prstGeom>
          <a:solidFill>
            <a:srgbClr val="1732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720840" y="4846320"/>
            <a:ext cx="457200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400" b="1">
                <a:solidFill>
                  <a:srgbClr val="17324D"/>
                </a:solidFill>
                <a:latin typeface="Calibri"/>
                <a:ea typeface="STHeiti Medium"/>
              </a:rPr>
              <a:t>品牌背景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720840" y="5212080"/>
            <a:ext cx="502920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0">
                <a:solidFill>
                  <a:srgbClr val="2A3A4A"/>
                </a:solidFill>
                <a:latin typeface="Calibri"/>
                <a:ea typeface="STHeiti Medium"/>
              </a:rPr>
              <a:t>· 中国太平保险集团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720840" y="5486400"/>
            <a:ext cx="502920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0">
                <a:solidFill>
                  <a:srgbClr val="2A3A4A"/>
                </a:solidFill>
                <a:latin typeface="Calibri"/>
                <a:ea typeface="STHeiti Medium"/>
              </a:rPr>
              <a:t>· 1929年创立于上海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720840" y="5760720"/>
            <a:ext cx="502920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0">
                <a:solidFill>
                  <a:srgbClr val="2A3A4A"/>
                </a:solidFill>
                <a:latin typeface="Calibri"/>
                <a:ea typeface="STHeiti Medium"/>
              </a:rPr>
              <a:t>· 副部级金融央企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720840" y="6035040"/>
            <a:ext cx="502920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0">
                <a:solidFill>
                  <a:srgbClr val="2A3A4A"/>
                </a:solidFill>
                <a:latin typeface="Calibri"/>
                <a:ea typeface="STHeiti Medium"/>
              </a:rPr>
              <a:t>· 管理总资产超2.5万亿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57200" y="6537960"/>
            <a:ext cx="1143000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800" b="0">
                <a:solidFill>
                  <a:srgbClr val="5A6A7A"/>
                </a:solidFill>
                <a:latin typeface="Calibri"/>
                <a:ea typeface="STHeiti Medium"/>
              </a:rPr>
              <a:t>数据来源：保险公司官方资料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C9A8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5486400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000" b="1">
                <a:solidFill>
                  <a:srgbClr val="17324D"/>
                </a:solidFill>
                <a:latin typeface="Calibri"/>
                <a:ea typeface="STHeiti Medium"/>
              </a:rPr>
              <a:t>CHINA TP  |  中国太平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164592"/>
            <a:ext cx="1371600" cy="292608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900" b="0">
                <a:solidFill>
                  <a:srgbClr val="5A6A7A"/>
                </a:solidFill>
                <a:latin typeface="Calibri"/>
                <a:ea typeface="STHeiti Medium"/>
              </a:rPr>
              <a:t>03 / 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"/>
            <a:ext cx="10972800" cy="6400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800" b="1">
                <a:solidFill>
                  <a:srgbClr val="17324D"/>
                </a:solidFill>
                <a:latin typeface="Calibri"/>
                <a:ea typeface="STHeiti Medium"/>
              </a:rPr>
              <a:t>产品亮点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234440"/>
            <a:ext cx="1097280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0">
                <a:solidFill>
                  <a:srgbClr val="5A6A7A"/>
                </a:solidFill>
                <a:latin typeface="Calibri"/>
                <a:ea typeface="STHeiti Medium"/>
              </a:rPr>
              <a:t>5 年缴 · 短期供款完成 · 终身财富复利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554480"/>
            <a:ext cx="548640" cy="36576"/>
          </a:xfrm>
          <a:prstGeom prst="rect">
            <a:avLst/>
          </a:prstGeom>
          <a:solidFill>
            <a:srgbClr val="1732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2194560"/>
            <a:ext cx="5577840" cy="20116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2194560"/>
            <a:ext cx="91440" cy="2011680"/>
          </a:xfrm>
          <a:prstGeom prst="rect">
            <a:avLst/>
          </a:prstGeom>
          <a:solidFill>
            <a:srgbClr val="1732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2377440"/>
            <a:ext cx="1097280" cy="6400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800" b="1">
                <a:solidFill>
                  <a:srgbClr val="17324D"/>
                </a:solidFill>
                <a:latin typeface="Calibri"/>
                <a:ea typeface="STHeiti Medium"/>
              </a:rPr>
              <a:t>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737360" y="2468880"/>
            <a:ext cx="4023360" cy="4572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500" b="1">
                <a:solidFill>
                  <a:srgbClr val="17324D"/>
                </a:solidFill>
                <a:latin typeface="Calibri"/>
                <a:ea typeface="STHeiti Medium"/>
              </a:rPr>
              <a:t>5 年短期缴付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3063240"/>
            <a:ext cx="5120640" cy="10058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0">
                <a:solidFill>
                  <a:srgbClr val="2A3A4A"/>
                </a:solidFill>
                <a:latin typeface="Calibri"/>
                <a:ea typeface="STHeiti Medium"/>
              </a:rPr>
              <a:t>只需 5 年完成缴费，</a:t>
            </a:r>
          </a:p>
          <a:p>
            <a:pPr algn="l"/>
            <a:r>
              <a:rPr sz="1000" b="0">
                <a:solidFill>
                  <a:srgbClr val="2A3A4A"/>
                </a:solidFill>
                <a:latin typeface="Calibri"/>
                <a:ea typeface="STHeiti Medium"/>
              </a:rPr>
              <a:t>后续无需再缴；缓解供款压力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3703320"/>
            <a:ext cx="512064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2200" b="1">
                <a:solidFill>
                  <a:srgbClr val="17324D"/>
                </a:solidFill>
                <a:latin typeface="Calibri"/>
                <a:ea typeface="STHeiti Medium"/>
              </a:rPr>
              <a:t>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3977640"/>
            <a:ext cx="5120640" cy="1828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900" b="0">
                <a:solidFill>
                  <a:srgbClr val="5A6A7A"/>
                </a:solidFill>
                <a:latin typeface="Calibri"/>
                <a:ea typeface="STHeiti Medium"/>
              </a:rPr>
              <a:t>年缴清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63640" y="2194560"/>
            <a:ext cx="5577840" cy="20116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63640" y="2194560"/>
            <a:ext cx="91440" cy="2011680"/>
          </a:xfrm>
          <a:prstGeom prst="rect">
            <a:avLst/>
          </a:prstGeom>
          <a:solidFill>
            <a:srgbClr val="1732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37960" y="2377440"/>
            <a:ext cx="1097280" cy="6400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800" b="1">
                <a:solidFill>
                  <a:srgbClr val="17324D"/>
                </a:solidFill>
                <a:latin typeface="Calibri"/>
                <a:ea typeface="STHeiti Medium"/>
              </a:rPr>
              <a:t>02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543800" y="2468880"/>
            <a:ext cx="4023360" cy="4572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500" b="1">
                <a:solidFill>
                  <a:srgbClr val="17324D"/>
                </a:solidFill>
                <a:latin typeface="Calibri"/>
                <a:ea typeface="STHeiti Medium"/>
              </a:rPr>
              <a:t>20 年财富复利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37960" y="3063240"/>
            <a:ext cx="5120640" cy="10058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0">
                <a:solidFill>
                  <a:srgbClr val="2A3A4A"/>
                </a:solidFill>
                <a:latin typeface="Calibri"/>
                <a:ea typeface="STHeiti Medium"/>
              </a:rPr>
              <a:t>保证 + 非保证现金价值</a:t>
            </a:r>
          </a:p>
          <a:p>
            <a:pPr algn="l"/>
            <a:r>
              <a:rPr sz="1000" b="0">
                <a:solidFill>
                  <a:srgbClr val="2A3A4A"/>
                </a:solidFill>
                <a:latin typeface="Calibri"/>
                <a:ea typeface="STHeiti Medium"/>
              </a:rPr>
              <a:t>长期复利，稳健增长</a:t>
            </a:r>
          </a:p>
          <a:p>
            <a:pPr algn="l"/>
            <a:r>
              <a:rPr sz="1000" b="0">
                <a:solidFill>
                  <a:srgbClr val="2A3A4A"/>
                </a:solidFill>
                <a:latin typeface="Calibri"/>
                <a:ea typeface="STHeiti Medium"/>
              </a:rPr>
              <a:t>Y20 约 USD 1,432,021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37960" y="3703320"/>
            <a:ext cx="512064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2200" b="1">
                <a:solidFill>
                  <a:srgbClr val="17324D"/>
                </a:solidFill>
                <a:latin typeface="Calibri"/>
                <a:ea typeface="STHeiti Medium"/>
              </a:rPr>
              <a:t>2.86x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37960" y="3977640"/>
            <a:ext cx="5120640" cy="1828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900" b="0">
                <a:solidFill>
                  <a:srgbClr val="5A6A7A"/>
                </a:solidFill>
                <a:latin typeface="Calibri"/>
                <a:ea typeface="STHeiti Medium"/>
              </a:rPr>
              <a:t>20 年倍数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" y="4389120"/>
            <a:ext cx="5577840" cy="20116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57200" y="4389120"/>
            <a:ext cx="91440" cy="2011680"/>
          </a:xfrm>
          <a:prstGeom prst="rect">
            <a:avLst/>
          </a:prstGeom>
          <a:solidFill>
            <a:srgbClr val="1732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31520" y="4572000"/>
            <a:ext cx="1097280" cy="6400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800" b="1">
                <a:solidFill>
                  <a:srgbClr val="17324D"/>
                </a:solidFill>
                <a:latin typeface="Calibri"/>
                <a:ea typeface="STHeiti Medium"/>
              </a:rPr>
              <a:t>03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737360" y="4663440"/>
            <a:ext cx="4023360" cy="4572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500" b="1">
                <a:solidFill>
                  <a:srgbClr val="17324D"/>
                </a:solidFill>
                <a:latin typeface="Calibri"/>
                <a:ea typeface="STHeiti Medium"/>
              </a:rPr>
              <a:t>30 年财富复利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1520" y="5257800"/>
            <a:ext cx="5120640" cy="10058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0">
                <a:solidFill>
                  <a:srgbClr val="2A3A4A"/>
                </a:solidFill>
                <a:latin typeface="Calibri"/>
                <a:ea typeface="STHeiti Medium"/>
              </a:rPr>
              <a:t>持续滚存跨越复利临界点</a:t>
            </a:r>
          </a:p>
          <a:p>
            <a:pPr algn="l"/>
            <a:r>
              <a:rPr sz="1000" b="0">
                <a:solidFill>
                  <a:srgbClr val="2A3A4A"/>
                </a:solidFill>
                <a:latin typeface="Calibri"/>
                <a:ea typeface="STHeiti Medium"/>
              </a:rPr>
              <a:t>增值潜力可观</a:t>
            </a:r>
          </a:p>
          <a:p>
            <a:pPr algn="l"/>
            <a:r>
              <a:rPr sz="1000" b="0">
                <a:solidFill>
                  <a:srgbClr val="2A3A4A"/>
                </a:solidFill>
                <a:latin typeface="Calibri"/>
                <a:ea typeface="STHeiti Medium"/>
              </a:rPr>
              <a:t>Y30 约 USD 2,821,637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31520" y="5897880"/>
            <a:ext cx="512064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2200" b="1">
                <a:solidFill>
                  <a:srgbClr val="17324D"/>
                </a:solidFill>
                <a:latin typeface="Calibri"/>
                <a:ea typeface="STHeiti Medium"/>
              </a:rPr>
              <a:t>5.64x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31520" y="6172200"/>
            <a:ext cx="5120640" cy="1828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900" b="0">
                <a:solidFill>
                  <a:srgbClr val="5A6A7A"/>
                </a:solidFill>
                <a:latin typeface="Calibri"/>
                <a:ea typeface="STHeiti Medium"/>
              </a:rPr>
              <a:t>30 年倍数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7200" y="6446520"/>
            <a:ext cx="1143000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800" b="0">
                <a:solidFill>
                  <a:srgbClr val="5A6A7A"/>
                </a:solidFill>
                <a:latin typeface="Calibri"/>
                <a:ea typeface="STHeiti Medium"/>
              </a:rPr>
              <a:t>注：倍数基于不退保情形下「退保发还金额总额」÷「已缴保费总额」计算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7200" y="6675120"/>
            <a:ext cx="11430000" cy="1828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800" b="0">
                <a:solidFill>
                  <a:srgbClr val="5A6A7A"/>
                </a:solidFill>
                <a:latin typeface="Calibri"/>
                <a:ea typeface="STHeiti Medium"/>
              </a:rPr>
              <a:t>数据来源：保险公司官方计划书 第3部分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C9A8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5486400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000" b="1">
                <a:solidFill>
                  <a:srgbClr val="17324D"/>
                </a:solidFill>
                <a:latin typeface="Calibri"/>
                <a:ea typeface="STHeiti Medium"/>
              </a:rPr>
              <a:t>CHINA TP  |  中国太平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164592"/>
            <a:ext cx="1371600" cy="292608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900" b="0">
                <a:solidFill>
                  <a:srgbClr val="5A6A7A"/>
                </a:solidFill>
                <a:latin typeface="Calibri"/>
                <a:ea typeface="STHeiti Medium"/>
              </a:rPr>
              <a:t>04 / 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"/>
            <a:ext cx="10972800" cy="6400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3600" b="1">
                <a:solidFill>
                  <a:srgbClr val="17324D"/>
                </a:solidFill>
                <a:latin typeface="Calibri"/>
                <a:ea typeface="STHeiti Medium"/>
              </a:rPr>
              <a:t>现金价值长期复利增长（不提领）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234440"/>
            <a:ext cx="1097280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400" b="0">
                <a:solidFill>
                  <a:srgbClr val="5A6A7A"/>
                </a:solidFill>
                <a:latin typeface="Calibri"/>
                <a:ea typeface="STHeiti Medium"/>
              </a:rPr>
              <a:t>保证 + 非保证现金价值 · 演示至保单年度 80 年（受保人 80 岁）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554480"/>
            <a:ext cx="548640" cy="36576"/>
          </a:xfrm>
          <a:prstGeom prst="rect">
            <a:avLst/>
          </a:prstGeom>
          <a:solidFill>
            <a:srgbClr val="1732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9" name="Chart 8"/>
          <p:cNvGraphicFramePr>
            <a:graphicFrameLocks noGrp="1"/>
          </p:cNvGraphicFramePr>
          <p:nvPr/>
        </p:nvGraphicFramePr>
        <p:xfrm>
          <a:off x="274320" y="1691640"/>
          <a:ext cx="5486400" cy="43891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10" name="Chart 9"/>
          <p:cNvGraphicFramePr>
            <a:graphicFrameLocks noGrp="1"/>
          </p:cNvGraphicFramePr>
          <p:nvPr/>
        </p:nvGraphicFramePr>
        <p:xfrm>
          <a:off x="6035040" y="1691640"/>
          <a:ext cx="5486400" cy="438912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1" name="Rectangle 10"/>
          <p:cNvSpPr/>
          <p:nvPr/>
        </p:nvSpPr>
        <p:spPr>
          <a:xfrm>
            <a:off x="274320" y="6172200"/>
            <a:ext cx="2743200" cy="5029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74320" y="6172200"/>
            <a:ext cx="54864" cy="502920"/>
          </a:xfrm>
          <a:prstGeom prst="rect">
            <a:avLst/>
          </a:prstGeom>
          <a:solidFill>
            <a:srgbClr val="0E1F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5760" y="6199632"/>
            <a:ext cx="731520" cy="2286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900" b="1">
                <a:solidFill>
                  <a:srgbClr val="17324D"/>
                </a:solidFill>
                <a:latin typeface="Calibri"/>
                <a:ea typeface="STHeiti Medium"/>
              </a:rPr>
              <a:t>20年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1560" y="6199632"/>
            <a:ext cx="914400" cy="2286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200" b="1">
                <a:solidFill>
                  <a:srgbClr val="0E1F32"/>
                </a:solidFill>
                <a:latin typeface="Calibri"/>
                <a:ea typeface="STHeiti Medium"/>
              </a:rPr>
              <a:t>x2.86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" y="6382512"/>
            <a:ext cx="2606040" cy="1828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700" b="0">
                <a:solidFill>
                  <a:srgbClr val="5A6A7A"/>
                </a:solidFill>
                <a:latin typeface="Calibri"/>
                <a:ea typeface="STHeiti Medium"/>
              </a:rPr>
              <a:t>USD 1,432,021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00400" y="6172200"/>
            <a:ext cx="2743200" cy="5029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200400" y="6172200"/>
            <a:ext cx="54864" cy="502920"/>
          </a:xfrm>
          <a:prstGeom prst="rect">
            <a:avLst/>
          </a:prstGeom>
          <a:solidFill>
            <a:srgbClr val="0E1F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291840" y="6199632"/>
            <a:ext cx="731520" cy="2286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900" b="1">
                <a:solidFill>
                  <a:srgbClr val="17324D"/>
                </a:solidFill>
                <a:latin typeface="Calibri"/>
                <a:ea typeface="STHeiti Medium"/>
              </a:rPr>
              <a:t>30年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977640" y="6199632"/>
            <a:ext cx="914400" cy="2286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200" b="1">
                <a:solidFill>
                  <a:srgbClr val="0E1F32"/>
                </a:solidFill>
                <a:latin typeface="Calibri"/>
                <a:ea typeface="STHeiti Medium"/>
              </a:rPr>
              <a:t>x5.64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291840" y="6382512"/>
            <a:ext cx="2606040" cy="1828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700" b="0">
                <a:solidFill>
                  <a:srgbClr val="5A6A7A"/>
                </a:solidFill>
                <a:latin typeface="Calibri"/>
                <a:ea typeface="STHeiti Medium"/>
              </a:rPr>
              <a:t>USD 2,821,637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126480" y="6172200"/>
            <a:ext cx="2743200" cy="5029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126480" y="6172200"/>
            <a:ext cx="54864" cy="502920"/>
          </a:xfrm>
          <a:prstGeom prst="rect">
            <a:avLst/>
          </a:prstGeom>
          <a:solidFill>
            <a:srgbClr val="9A7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217920" y="6199632"/>
            <a:ext cx="731520" cy="2286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900" b="1">
                <a:solidFill>
                  <a:srgbClr val="17324D"/>
                </a:solidFill>
                <a:latin typeface="Calibri"/>
                <a:ea typeface="STHeiti Medium"/>
              </a:rPr>
              <a:t>70年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03720" y="6199632"/>
            <a:ext cx="914400" cy="2286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200" b="1">
                <a:solidFill>
                  <a:srgbClr val="9A7A4A"/>
                </a:solidFill>
                <a:latin typeface="Calibri"/>
                <a:ea typeface="STHeiti Medium"/>
              </a:rPr>
              <a:t>x73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17920" y="6382512"/>
            <a:ext cx="2606040" cy="1828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700" b="0">
                <a:solidFill>
                  <a:srgbClr val="5A6A7A"/>
                </a:solidFill>
                <a:latin typeface="Calibri"/>
                <a:ea typeface="STHeiti Medium"/>
              </a:rPr>
              <a:t>USD 36,323,390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74320" y="6720840"/>
            <a:ext cx="11430000" cy="1828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700" b="0">
                <a:solidFill>
                  <a:srgbClr val="5A6A7A"/>
                </a:solidFill>
                <a:latin typeface="Calibri"/>
                <a:ea typeface="STHeiti Medium"/>
              </a:rPr>
              <a:t>数据来源：中国太平官方计划书 第3部分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C9A8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5486400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000" b="1">
                <a:solidFill>
                  <a:srgbClr val="17324D"/>
                </a:solidFill>
                <a:latin typeface="Calibri"/>
                <a:ea typeface="STHeiti Medium"/>
              </a:rPr>
              <a:t>CHINA TP  |  中国太平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164592"/>
            <a:ext cx="1371600" cy="292608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900" b="0">
                <a:solidFill>
                  <a:srgbClr val="5A6A7A"/>
                </a:solidFill>
                <a:latin typeface="Calibri"/>
                <a:ea typeface="STHeiti Medium"/>
              </a:rPr>
              <a:t>05 / 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"/>
            <a:ext cx="10972800" cy="6400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3600" b="1">
                <a:solidFill>
                  <a:srgbClr val="17324D"/>
                </a:solidFill>
                <a:latin typeface="Calibri"/>
                <a:ea typeface="STHeiti Medium"/>
              </a:rPr>
              <a:t>不提领情形 · 退保发还金额明细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234440"/>
            <a:ext cx="1097280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400" b="0">
                <a:solidFill>
                  <a:srgbClr val="5A6A7A"/>
                </a:solidFill>
                <a:latin typeface="Calibri"/>
                <a:ea typeface="STHeiti Medium"/>
              </a:rPr>
              <a:t>至保单年度 130 · 40年前每5年/后每10年 · 含 IRR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554480"/>
            <a:ext cx="548640" cy="36576"/>
          </a:xfrm>
          <a:prstGeom prst="rect">
            <a:avLst/>
          </a:prstGeom>
          <a:solidFill>
            <a:srgbClr val="1732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457200" y="1783080"/>
          <a:ext cx="11277290" cy="5440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35669"/>
                <a:gridCol w="805521"/>
                <a:gridCol w="1495967"/>
                <a:gridCol w="1726116"/>
                <a:gridCol w="1726116"/>
                <a:gridCol w="1956265"/>
                <a:gridCol w="1265818"/>
                <a:gridCol w="1265818"/>
              </a:tblGrid>
              <a:tr h="502920">
                <a:tc>
                  <a:txBody>
                    <a:bodyPr lIns="36000" rIns="36000" tIns="18000" bIns="18000" wrap="square"/>
                    <a:lstStyle/>
                    <a:p>
                      <a:pPr algn="ctr"/>
                      <a:r>
                        <a:rPr sz="900" b="1">
                          <a:solidFill>
                            <a:srgbClr val="FAFCFE"/>
                          </a:solidFill>
                          <a:latin typeface="STHeiti Medium"/>
                          <a:ea typeface="STHeiti Medium"/>
                        </a:rPr>
                        <a:t>保单年度</a:t>
                      </a:r>
                    </a:p>
                  </a:txBody>
                  <a:tcPr>
                    <a:solidFill>
                      <a:srgbClr val="17324D"/>
                    </a:solidFill>
                  </a:tcPr>
                </a:tc>
                <a:tc>
                  <a:txBody>
                    <a:bodyPr lIns="36000" rIns="36000" tIns="18000" bIns="18000" wrap="square"/>
                    <a:lstStyle/>
                    <a:p>
                      <a:pPr algn="ctr"/>
                      <a:r>
                        <a:rPr sz="900" b="1">
                          <a:solidFill>
                            <a:srgbClr val="FAFCFE"/>
                          </a:solidFill>
                          <a:latin typeface="STHeiti Medium"/>
                          <a:ea typeface="STHeiti Medium"/>
                        </a:rPr>
                        <a:t>年龄</a:t>
                      </a:r>
                    </a:p>
                  </a:txBody>
                  <a:tcPr>
                    <a:solidFill>
                      <a:srgbClr val="17324D"/>
                    </a:solidFill>
                  </a:tcPr>
                </a:tc>
                <a:tc>
                  <a:txBody>
                    <a:bodyPr lIns="36000" rIns="36000" tIns="18000" bIns="18000" wrap="square"/>
                    <a:lstStyle/>
                    <a:p>
                      <a:pPr algn="ctr"/>
                      <a:r>
                        <a:rPr sz="900" b="1">
                          <a:solidFill>
                            <a:srgbClr val="FAFCFE"/>
                          </a:solidFill>
                          <a:latin typeface="STHeiti Medium"/>
                          <a:ea typeface="STHeiti Medium"/>
                        </a:rPr>
                        <a:t>已缴保费
(USD)</a:t>
                      </a:r>
                    </a:p>
                  </a:txBody>
                  <a:tcPr>
                    <a:solidFill>
                      <a:srgbClr val="17324D"/>
                    </a:solidFill>
                  </a:tcPr>
                </a:tc>
                <a:tc>
                  <a:txBody>
                    <a:bodyPr lIns="36000" rIns="36000" tIns="18000" bIns="18000" wrap="square"/>
                    <a:lstStyle/>
                    <a:p>
                      <a:pPr algn="ctr"/>
                      <a:r>
                        <a:rPr sz="900" b="1">
                          <a:solidFill>
                            <a:srgbClr val="FAFCFE"/>
                          </a:solidFill>
                          <a:latin typeface="STHeiti Medium"/>
                          <a:ea typeface="STHeiti Medium"/>
                        </a:rPr>
                        <a:t>保证现价
(USD)</a:t>
                      </a:r>
                    </a:p>
                  </a:txBody>
                  <a:tcPr>
                    <a:solidFill>
                      <a:srgbClr val="17324D"/>
                    </a:solidFill>
                  </a:tcPr>
                </a:tc>
                <a:tc>
                  <a:txBody>
                    <a:bodyPr lIns="36000" rIns="36000" tIns="18000" bIns="18000" wrap="square"/>
                    <a:lstStyle/>
                    <a:p>
                      <a:pPr algn="ctr"/>
                      <a:r>
                        <a:rPr sz="900" b="1">
                          <a:solidFill>
                            <a:srgbClr val="FAFCFE"/>
                          </a:solidFill>
                          <a:latin typeface="STHeiti Medium"/>
                          <a:ea typeface="STHeiti Medium"/>
                        </a:rPr>
                        <a:t>非保证金额
(USD)</a:t>
                      </a:r>
                    </a:p>
                  </a:txBody>
                  <a:tcPr>
                    <a:solidFill>
                      <a:srgbClr val="17324D"/>
                    </a:solidFill>
                  </a:tcPr>
                </a:tc>
                <a:tc>
                  <a:txBody>
                    <a:bodyPr lIns="36000" rIns="36000" tIns="18000" bIns="18000" wrap="square"/>
                    <a:lstStyle/>
                    <a:p>
                      <a:pPr algn="ctr"/>
                      <a:r>
                        <a:rPr sz="900" b="1">
                          <a:solidFill>
                            <a:srgbClr val="FAFCFE"/>
                          </a:solidFill>
                          <a:latin typeface="STHeiti Medium"/>
                          <a:ea typeface="STHeiti Medium"/>
                        </a:rPr>
                        <a:t>退保发还总额
(USD)</a:t>
                      </a:r>
                    </a:p>
                  </a:txBody>
                  <a:tcPr>
                    <a:solidFill>
                      <a:srgbClr val="17324D"/>
                    </a:solidFill>
                  </a:tcPr>
                </a:tc>
                <a:tc>
                  <a:txBody>
                    <a:bodyPr lIns="36000" rIns="36000" tIns="18000" bIns="18000" wrap="square"/>
                    <a:lstStyle/>
                    <a:p>
                      <a:pPr algn="ctr"/>
                      <a:r>
                        <a:rPr sz="900" b="1">
                          <a:solidFill>
                            <a:srgbClr val="FAFCFE"/>
                          </a:solidFill>
                          <a:latin typeface="STHeiti Medium"/>
                          <a:ea typeface="STHeiti Medium"/>
                        </a:rPr>
                        <a:t>复利 IRR</a:t>
                      </a:r>
                    </a:p>
                  </a:txBody>
                  <a:tcPr>
                    <a:solidFill>
                      <a:srgbClr val="17324D"/>
                    </a:solidFill>
                  </a:tcPr>
                </a:tc>
                <a:tc>
                  <a:txBody>
                    <a:bodyPr lIns="36000" rIns="36000" tIns="18000" bIns="18000" wrap="square"/>
                    <a:lstStyle/>
                    <a:p>
                      <a:pPr algn="ctr"/>
                      <a:r>
                        <a:rPr sz="900" b="1">
                          <a:solidFill>
                            <a:srgbClr val="FAFCFE"/>
                          </a:solidFill>
                          <a:latin typeface="STHeiti Medium"/>
                          <a:ea typeface="STHeiti Medium"/>
                        </a:rPr>
                        <a:t>单利IRR</a:t>
                      </a:r>
                    </a:p>
                  </a:txBody>
                  <a:tcPr>
                    <a:solidFill>
                      <a:srgbClr val="17324D"/>
                    </a:solidFill>
                  </a:tcPr>
                </a:tc>
              </a:tr>
              <a:tr h="329184"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17324D"/>
                          </a:solidFill>
                          <a:latin typeface="STHeiti Medium"/>
                          <a:ea typeface="STHeiti Medium"/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17324D"/>
                          </a:solidFill>
                          <a:latin typeface="STHeiti Medium"/>
                          <a:ea typeface="STHeiti Medium"/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2A3A4A"/>
                          </a:solidFill>
                          <a:latin typeface="STHeiti Medium"/>
                          <a:ea typeface="STHeiti Medium"/>
                        </a:rPr>
                        <a:t>100,000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17324D"/>
                          </a:solidFill>
                          <a:latin typeface="STHeiti Medium"/>
                          <a:ea typeface="STHeiti Medium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9A7A4A"/>
                          </a:solidFill>
                          <a:latin typeface="STHeiti Medium"/>
                          <a:ea typeface="STHeiti Medium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17324D"/>
                          </a:solidFill>
                          <a:latin typeface="STHeiti Medium"/>
                          <a:ea typeface="STHeiti Medium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17324D"/>
                          </a:solidFill>
                          <a:latin typeface="STHeiti Medium"/>
                          <a:ea typeface="STHeiti Medium"/>
                        </a:rPr>
                        <a:t>-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5A6A7A"/>
                          </a:solidFill>
                          <a:latin typeface="STHeiti Medium"/>
                          <a:ea typeface="STHeiti Medium"/>
                        </a:rPr>
                        <a:t>-100.00%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17324D"/>
                          </a:solidFill>
                          <a:latin typeface="STHeiti Medium"/>
                          <a:ea typeface="STHeiti Medium"/>
                        </a:rPr>
                        <a:t>5</a:t>
                      </a:r>
                    </a:p>
                  </a:txBody>
                  <a:tcPr>
                    <a:solidFill>
                      <a:srgbClr val="FAFCFE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17324D"/>
                          </a:solidFill>
                          <a:latin typeface="STHeiti Medium"/>
                          <a:ea typeface="STHeiti Medium"/>
                        </a:rPr>
                        <a:t>5</a:t>
                      </a:r>
                    </a:p>
                  </a:txBody>
                  <a:tcPr>
                    <a:solidFill>
                      <a:srgbClr val="FAFCFE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2A3A4A"/>
                          </a:solidFill>
                          <a:latin typeface="STHeiti Medium"/>
                          <a:ea typeface="STHeiti Medium"/>
                        </a:rPr>
                        <a:t>500,000</a:t>
                      </a:r>
                    </a:p>
                  </a:txBody>
                  <a:tcPr>
                    <a:solidFill>
                      <a:srgbClr val="FAFCFE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17324D"/>
                          </a:solidFill>
                          <a:latin typeface="STHeiti Medium"/>
                          <a:ea typeface="STHeiti Medium"/>
                        </a:rPr>
                        <a:t>75,000</a:t>
                      </a:r>
                    </a:p>
                  </a:txBody>
                  <a:tcPr>
                    <a:solidFill>
                      <a:srgbClr val="FAFCFE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9A7A4A"/>
                          </a:solidFill>
                          <a:latin typeface="STHeiti Medium"/>
                          <a:ea typeface="STHeiti Medium"/>
                        </a:rPr>
                        <a:t>240,234</a:t>
                      </a:r>
                    </a:p>
                  </a:txBody>
                  <a:tcPr>
                    <a:solidFill>
                      <a:srgbClr val="FAFCFE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17324D"/>
                          </a:solidFill>
                          <a:latin typeface="STHeiti Medium"/>
                          <a:ea typeface="STHeiti Medium"/>
                        </a:rPr>
                        <a:t>315,234</a:t>
                      </a:r>
                    </a:p>
                  </a:txBody>
                  <a:tcPr>
                    <a:solidFill>
                      <a:srgbClr val="FAFCFE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17324D"/>
                          </a:solidFill>
                          <a:latin typeface="STHeiti Medium"/>
                          <a:ea typeface="STHeiti Medium"/>
                        </a:rPr>
                        <a:t>-</a:t>
                      </a:r>
                    </a:p>
                  </a:txBody>
                  <a:tcPr>
                    <a:solidFill>
                      <a:srgbClr val="FAFCFE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5A6A7A"/>
                          </a:solidFill>
                          <a:latin typeface="STHeiti Medium"/>
                          <a:ea typeface="STHeiti Medium"/>
                        </a:rPr>
                        <a:t>-7.39%</a:t>
                      </a:r>
                    </a:p>
                  </a:txBody>
                  <a:tcPr>
                    <a:solidFill>
                      <a:srgbClr val="FAFCFE"/>
                    </a:solidFill>
                  </a:tcPr>
                </a:tc>
              </a:tr>
              <a:tr h="329184"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17324D"/>
                          </a:solidFill>
                          <a:latin typeface="STHeiti Medium"/>
                          <a:ea typeface="STHeiti Medium"/>
                        </a:rPr>
                        <a:t>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17324D"/>
                          </a:solidFill>
                          <a:latin typeface="STHeiti Medium"/>
                          <a:ea typeface="STHeiti Medium"/>
                        </a:rPr>
                        <a:t>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2A3A4A"/>
                          </a:solidFill>
                          <a:latin typeface="STHeiti Medium"/>
                          <a:ea typeface="STHeiti Medium"/>
                        </a:rPr>
                        <a:t>500,000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17324D"/>
                          </a:solidFill>
                          <a:latin typeface="STHeiti Medium"/>
                          <a:ea typeface="STHeiti Medium"/>
                        </a:rPr>
                        <a:t>141,500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9A7A4A"/>
                          </a:solidFill>
                          <a:latin typeface="STHeiti Medium"/>
                          <a:ea typeface="STHeiti Medium"/>
                        </a:rPr>
                        <a:t>497,414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17324D"/>
                          </a:solidFill>
                          <a:latin typeface="STHeiti Medium"/>
                          <a:ea typeface="STHeiti Medium"/>
                        </a:rPr>
                        <a:t>638,914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17324D"/>
                          </a:solidFill>
                          <a:latin typeface="STHeiti Medium"/>
                          <a:ea typeface="STHeiti Medium"/>
                        </a:rPr>
                        <a:t>2.48%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5A6A7A"/>
                          </a:solidFill>
                          <a:latin typeface="STHeiti Medium"/>
                          <a:ea typeface="STHeiti Medium"/>
                        </a:rPr>
                        <a:t>2.78%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17324D"/>
                          </a:solidFill>
                          <a:latin typeface="STHeiti Medium"/>
                          <a:ea typeface="STHeiti Medium"/>
                        </a:rPr>
                        <a:t>15</a:t>
                      </a:r>
                    </a:p>
                  </a:txBody>
                  <a:tcPr>
                    <a:solidFill>
                      <a:srgbClr val="FAFCFE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17324D"/>
                          </a:solidFill>
                          <a:latin typeface="STHeiti Medium"/>
                          <a:ea typeface="STHeiti Medium"/>
                        </a:rPr>
                        <a:t>15</a:t>
                      </a:r>
                    </a:p>
                  </a:txBody>
                  <a:tcPr>
                    <a:solidFill>
                      <a:srgbClr val="FAFCFE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2A3A4A"/>
                          </a:solidFill>
                          <a:latin typeface="STHeiti Medium"/>
                          <a:ea typeface="STHeiti Medium"/>
                        </a:rPr>
                        <a:t>500,000</a:t>
                      </a:r>
                    </a:p>
                  </a:txBody>
                  <a:tcPr>
                    <a:solidFill>
                      <a:srgbClr val="FAFCFE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17324D"/>
                          </a:solidFill>
                          <a:latin typeface="STHeiti Medium"/>
                          <a:ea typeface="STHeiti Medium"/>
                        </a:rPr>
                        <a:t>300,000</a:t>
                      </a:r>
                    </a:p>
                  </a:txBody>
                  <a:tcPr>
                    <a:solidFill>
                      <a:srgbClr val="FAFCFE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9A7A4A"/>
                          </a:solidFill>
                          <a:latin typeface="STHeiti Medium"/>
                          <a:ea typeface="STHeiti Medium"/>
                        </a:rPr>
                        <a:t>587,814</a:t>
                      </a:r>
                    </a:p>
                  </a:txBody>
                  <a:tcPr>
                    <a:solidFill>
                      <a:srgbClr val="FAFCFE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17324D"/>
                          </a:solidFill>
                          <a:latin typeface="STHeiti Medium"/>
                          <a:ea typeface="STHeiti Medium"/>
                        </a:rPr>
                        <a:t>887,814</a:t>
                      </a:r>
                    </a:p>
                  </a:txBody>
                  <a:tcPr>
                    <a:solidFill>
                      <a:srgbClr val="FAFCFE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17324D"/>
                          </a:solidFill>
                          <a:latin typeface="STHeiti Medium"/>
                          <a:ea typeface="STHeiti Medium"/>
                        </a:rPr>
                        <a:t>3.90%</a:t>
                      </a:r>
                    </a:p>
                  </a:txBody>
                  <a:tcPr>
                    <a:solidFill>
                      <a:srgbClr val="FAFCFE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5A6A7A"/>
                          </a:solidFill>
                          <a:latin typeface="STHeiti Medium"/>
                          <a:ea typeface="STHeiti Medium"/>
                        </a:rPr>
                        <a:t>5.17%</a:t>
                      </a:r>
                    </a:p>
                  </a:txBody>
                  <a:tcPr>
                    <a:solidFill>
                      <a:srgbClr val="FAFCFE"/>
                    </a:solidFill>
                  </a:tcPr>
                </a:tc>
              </a:tr>
              <a:tr h="329184"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17324D"/>
                          </a:solidFill>
                          <a:latin typeface="STHeiti Medium"/>
                          <a:ea typeface="STHeiti Medium"/>
                        </a:rPr>
                        <a:t>20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17324D"/>
                          </a:solidFill>
                          <a:latin typeface="STHeiti Medium"/>
                          <a:ea typeface="STHeiti Medium"/>
                        </a:rPr>
                        <a:t>20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2A3A4A"/>
                          </a:solidFill>
                          <a:latin typeface="STHeiti Medium"/>
                          <a:ea typeface="STHeiti Medium"/>
                        </a:rPr>
                        <a:t>500,000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17324D"/>
                          </a:solidFill>
                          <a:latin typeface="STHeiti Medium"/>
                          <a:ea typeface="STHeiti Medium"/>
                        </a:rPr>
                        <a:t>505,665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9A7A4A"/>
                          </a:solidFill>
                          <a:latin typeface="STHeiti Medium"/>
                          <a:ea typeface="STHeiti Medium"/>
                        </a:rPr>
                        <a:t>926,356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17324D"/>
                          </a:solidFill>
                          <a:latin typeface="STHeiti Medium"/>
                          <a:ea typeface="STHeiti Medium"/>
                        </a:rPr>
                        <a:t>1,432,021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17324D"/>
                          </a:solidFill>
                          <a:latin typeface="STHeiti Medium"/>
                          <a:ea typeface="STHeiti Medium"/>
                        </a:rPr>
                        <a:t>5.40%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5A6A7A"/>
                          </a:solidFill>
                          <a:latin typeface="STHeiti Medium"/>
                          <a:ea typeface="STHeiti Medium"/>
                        </a:rPr>
                        <a:t>9.32%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17324D"/>
                          </a:solidFill>
                          <a:latin typeface="STHeiti Medium"/>
                          <a:ea typeface="STHeiti Medium"/>
                        </a:rPr>
                        <a:t>25</a:t>
                      </a:r>
                    </a:p>
                  </a:txBody>
                  <a:tcPr>
                    <a:solidFill>
                      <a:srgbClr val="FAFCFE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17324D"/>
                          </a:solidFill>
                          <a:latin typeface="STHeiti Medium"/>
                          <a:ea typeface="STHeiti Medium"/>
                        </a:rPr>
                        <a:t>25</a:t>
                      </a:r>
                    </a:p>
                  </a:txBody>
                  <a:tcPr>
                    <a:solidFill>
                      <a:srgbClr val="FAFCFE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2A3A4A"/>
                          </a:solidFill>
                          <a:latin typeface="STHeiti Medium"/>
                          <a:ea typeface="STHeiti Medium"/>
                        </a:rPr>
                        <a:t>500,000</a:t>
                      </a:r>
                    </a:p>
                  </a:txBody>
                  <a:tcPr>
                    <a:solidFill>
                      <a:srgbClr val="FAFCFE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17324D"/>
                          </a:solidFill>
                          <a:latin typeface="STHeiti Medium"/>
                          <a:ea typeface="STHeiti Medium"/>
                        </a:rPr>
                        <a:t>510,895</a:t>
                      </a:r>
                    </a:p>
                  </a:txBody>
                  <a:tcPr>
                    <a:solidFill>
                      <a:srgbClr val="FAFCFE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9A7A4A"/>
                          </a:solidFill>
                          <a:latin typeface="STHeiti Medium"/>
                          <a:ea typeface="STHeiti Medium"/>
                        </a:rPr>
                        <a:t>1,460,713</a:t>
                      </a:r>
                    </a:p>
                  </a:txBody>
                  <a:tcPr>
                    <a:solidFill>
                      <a:srgbClr val="FAFCFE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17324D"/>
                          </a:solidFill>
                          <a:latin typeface="STHeiti Medium"/>
                          <a:ea typeface="STHeiti Medium"/>
                        </a:rPr>
                        <a:t>1,971,608</a:t>
                      </a:r>
                    </a:p>
                  </a:txBody>
                  <a:tcPr>
                    <a:solidFill>
                      <a:srgbClr val="FAFCFE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17324D"/>
                          </a:solidFill>
                          <a:latin typeface="STHeiti Medium"/>
                          <a:ea typeface="STHeiti Medium"/>
                        </a:rPr>
                        <a:t>5.64%</a:t>
                      </a:r>
                    </a:p>
                  </a:txBody>
                  <a:tcPr>
                    <a:solidFill>
                      <a:srgbClr val="FAFCFE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5A6A7A"/>
                          </a:solidFill>
                          <a:latin typeface="STHeiti Medium"/>
                          <a:ea typeface="STHeiti Medium"/>
                        </a:rPr>
                        <a:t>11.77%</a:t>
                      </a:r>
                    </a:p>
                  </a:txBody>
                  <a:tcPr>
                    <a:solidFill>
                      <a:srgbClr val="FAFCFE"/>
                    </a:solidFill>
                  </a:tcPr>
                </a:tc>
              </a:tr>
              <a:tr h="329184"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17324D"/>
                          </a:solidFill>
                          <a:latin typeface="STHeiti Medium"/>
                          <a:ea typeface="STHeiti Medium"/>
                        </a:rPr>
                        <a:t>30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17324D"/>
                          </a:solidFill>
                          <a:latin typeface="STHeiti Medium"/>
                          <a:ea typeface="STHeiti Medium"/>
                        </a:rPr>
                        <a:t>30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2A3A4A"/>
                          </a:solidFill>
                          <a:latin typeface="STHeiti Medium"/>
                          <a:ea typeface="STHeiti Medium"/>
                        </a:rPr>
                        <a:t>500,000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17324D"/>
                          </a:solidFill>
                          <a:latin typeface="STHeiti Medium"/>
                          <a:ea typeface="STHeiti Medium"/>
                        </a:rPr>
                        <a:t>517,790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9A7A4A"/>
                          </a:solidFill>
                          <a:latin typeface="STHeiti Medium"/>
                          <a:ea typeface="STHeiti Medium"/>
                        </a:rPr>
                        <a:t>2,303,847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17324D"/>
                          </a:solidFill>
                          <a:latin typeface="STHeiti Medium"/>
                          <a:ea typeface="STHeiti Medium"/>
                        </a:rPr>
                        <a:t>2,821,637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17324D"/>
                          </a:solidFill>
                          <a:latin typeface="STHeiti Medium"/>
                          <a:ea typeface="STHeiti Medium"/>
                        </a:rPr>
                        <a:t>5.94%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5A6A7A"/>
                          </a:solidFill>
                          <a:latin typeface="STHeiti Medium"/>
                          <a:ea typeface="STHeiti Medium"/>
                        </a:rPr>
                        <a:t>15.48%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17324D"/>
                          </a:solidFill>
                          <a:latin typeface="STHeiti Medium"/>
                          <a:ea typeface="STHeiti Medium"/>
                        </a:rPr>
                        <a:t>35</a:t>
                      </a:r>
                    </a:p>
                  </a:txBody>
                  <a:tcPr>
                    <a:solidFill>
                      <a:srgbClr val="FAFCFE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17324D"/>
                          </a:solidFill>
                          <a:latin typeface="STHeiti Medium"/>
                          <a:ea typeface="STHeiti Medium"/>
                        </a:rPr>
                        <a:t>35</a:t>
                      </a:r>
                    </a:p>
                  </a:txBody>
                  <a:tcPr>
                    <a:solidFill>
                      <a:srgbClr val="FAFCFE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2A3A4A"/>
                          </a:solidFill>
                          <a:latin typeface="STHeiti Medium"/>
                          <a:ea typeface="STHeiti Medium"/>
                        </a:rPr>
                        <a:t>500,000</a:t>
                      </a:r>
                    </a:p>
                  </a:txBody>
                  <a:tcPr>
                    <a:solidFill>
                      <a:srgbClr val="FAFCFE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17324D"/>
                          </a:solidFill>
                          <a:latin typeface="STHeiti Medium"/>
                          <a:ea typeface="STHeiti Medium"/>
                        </a:rPr>
                        <a:t>526,410</a:t>
                      </a:r>
                    </a:p>
                  </a:txBody>
                  <a:tcPr>
                    <a:solidFill>
                      <a:srgbClr val="FAFCFE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9A7A4A"/>
                          </a:solidFill>
                          <a:latin typeface="STHeiti Medium"/>
                          <a:ea typeface="STHeiti Medium"/>
                        </a:rPr>
                        <a:t>3,483,109</a:t>
                      </a:r>
                    </a:p>
                  </a:txBody>
                  <a:tcPr>
                    <a:solidFill>
                      <a:srgbClr val="FAFCFE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17324D"/>
                          </a:solidFill>
                          <a:latin typeface="STHeiti Medium"/>
                          <a:ea typeface="STHeiti Medium"/>
                        </a:rPr>
                        <a:t>4,009,519</a:t>
                      </a:r>
                    </a:p>
                  </a:txBody>
                  <a:tcPr>
                    <a:solidFill>
                      <a:srgbClr val="FAFCFE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17324D"/>
                          </a:solidFill>
                          <a:latin typeface="STHeiti Medium"/>
                          <a:ea typeface="STHeiti Medium"/>
                        </a:rPr>
                        <a:t>6.13%</a:t>
                      </a:r>
                    </a:p>
                  </a:txBody>
                  <a:tcPr>
                    <a:solidFill>
                      <a:srgbClr val="FAFCFE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5A6A7A"/>
                          </a:solidFill>
                          <a:latin typeface="STHeiti Medium"/>
                          <a:ea typeface="STHeiti Medium"/>
                        </a:rPr>
                        <a:t>20.05%</a:t>
                      </a:r>
                    </a:p>
                  </a:txBody>
                  <a:tcPr>
                    <a:solidFill>
                      <a:srgbClr val="FAFCFE"/>
                    </a:solidFill>
                  </a:tcPr>
                </a:tc>
              </a:tr>
              <a:tr h="329184"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17324D"/>
                          </a:solidFill>
                          <a:latin typeface="STHeiti Medium"/>
                          <a:ea typeface="STHeiti Medium"/>
                        </a:rPr>
                        <a:t>40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17324D"/>
                          </a:solidFill>
                          <a:latin typeface="STHeiti Medium"/>
                          <a:ea typeface="STHeiti Medium"/>
                        </a:rPr>
                        <a:t>40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2A3A4A"/>
                          </a:solidFill>
                          <a:latin typeface="STHeiti Medium"/>
                          <a:ea typeface="STHeiti Medium"/>
                        </a:rPr>
                        <a:t>500,000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17324D"/>
                          </a:solidFill>
                          <a:latin typeface="STHeiti Medium"/>
                          <a:ea typeface="STHeiti Medium"/>
                        </a:rPr>
                        <a:t>536,845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9A7A4A"/>
                          </a:solidFill>
                          <a:latin typeface="STHeiti Medium"/>
                          <a:ea typeface="STHeiti Medium"/>
                        </a:rPr>
                        <a:t>4,956,292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17324D"/>
                          </a:solidFill>
                          <a:latin typeface="STHeiti Medium"/>
                          <a:ea typeface="STHeiti Medium"/>
                        </a:rPr>
                        <a:t>5,493,137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17324D"/>
                          </a:solidFill>
                          <a:latin typeface="STHeiti Medium"/>
                          <a:ea typeface="STHeiti Medium"/>
                        </a:rPr>
                        <a:t>6.17%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5A6A7A"/>
                          </a:solidFill>
                          <a:latin typeface="STHeiti Medium"/>
                          <a:ea typeface="STHeiti Medium"/>
                        </a:rPr>
                        <a:t>24.97%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17324D"/>
                          </a:solidFill>
                          <a:latin typeface="STHeiti Medium"/>
                          <a:ea typeface="STHeiti Medium"/>
                        </a:rPr>
                        <a:t>50</a:t>
                      </a:r>
                    </a:p>
                  </a:txBody>
                  <a:tcPr>
                    <a:solidFill>
                      <a:srgbClr val="FAFCFE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17324D"/>
                          </a:solidFill>
                          <a:latin typeface="STHeiti Medium"/>
                          <a:ea typeface="STHeiti Medium"/>
                        </a:rPr>
                        <a:t>50</a:t>
                      </a:r>
                    </a:p>
                  </a:txBody>
                  <a:tcPr>
                    <a:solidFill>
                      <a:srgbClr val="FAFCFE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2A3A4A"/>
                          </a:solidFill>
                          <a:latin typeface="STHeiti Medium"/>
                          <a:ea typeface="STHeiti Medium"/>
                        </a:rPr>
                        <a:t>500,000</a:t>
                      </a:r>
                    </a:p>
                  </a:txBody>
                  <a:tcPr>
                    <a:solidFill>
                      <a:srgbClr val="FAFCFE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17324D"/>
                          </a:solidFill>
                          <a:latin typeface="STHeiti Medium"/>
                          <a:ea typeface="STHeiti Medium"/>
                        </a:rPr>
                        <a:t>563,570</a:t>
                      </a:r>
                    </a:p>
                  </a:txBody>
                  <a:tcPr>
                    <a:solidFill>
                      <a:srgbClr val="FAFCFE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9A7A4A"/>
                          </a:solidFill>
                          <a:latin typeface="STHeiti Medium"/>
                          <a:ea typeface="STHeiti Medium"/>
                        </a:rPr>
                        <a:t>9,746,838</a:t>
                      </a:r>
                    </a:p>
                  </a:txBody>
                  <a:tcPr>
                    <a:solidFill>
                      <a:srgbClr val="FAFCFE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17324D"/>
                          </a:solidFill>
                          <a:latin typeface="STHeiti Medium"/>
                          <a:ea typeface="STHeiti Medium"/>
                        </a:rPr>
                        <a:t>10,310,408</a:t>
                      </a:r>
                    </a:p>
                  </a:txBody>
                  <a:tcPr>
                    <a:solidFill>
                      <a:srgbClr val="FAFCFE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17324D"/>
                          </a:solidFill>
                          <a:latin typeface="STHeiti Medium"/>
                          <a:ea typeface="STHeiti Medium"/>
                        </a:rPr>
                        <a:t>6.24%</a:t>
                      </a:r>
                    </a:p>
                  </a:txBody>
                  <a:tcPr>
                    <a:solidFill>
                      <a:srgbClr val="FAFCFE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5A6A7A"/>
                          </a:solidFill>
                          <a:latin typeface="STHeiti Medium"/>
                          <a:ea typeface="STHeiti Medium"/>
                        </a:rPr>
                        <a:t>39.24%</a:t>
                      </a:r>
                    </a:p>
                  </a:txBody>
                  <a:tcPr>
                    <a:solidFill>
                      <a:srgbClr val="FAFCFE"/>
                    </a:solidFill>
                  </a:tcPr>
                </a:tc>
              </a:tr>
              <a:tr h="329184"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17324D"/>
                          </a:solidFill>
                          <a:latin typeface="STHeiti Medium"/>
                          <a:ea typeface="STHeiti Medium"/>
                        </a:rPr>
                        <a:t>60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17324D"/>
                          </a:solidFill>
                          <a:latin typeface="STHeiti Medium"/>
                          <a:ea typeface="STHeiti Medium"/>
                        </a:rPr>
                        <a:t>60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2A3A4A"/>
                          </a:solidFill>
                          <a:latin typeface="STHeiti Medium"/>
                          <a:ea typeface="STHeiti Medium"/>
                        </a:rPr>
                        <a:t>500,000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17324D"/>
                          </a:solidFill>
                          <a:latin typeface="STHeiti Medium"/>
                          <a:ea typeface="STHeiti Medium"/>
                        </a:rPr>
                        <a:t>599,025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9A7A4A"/>
                          </a:solidFill>
                          <a:latin typeface="STHeiti Medium"/>
                          <a:ea typeface="STHeiti Medium"/>
                        </a:rPr>
                        <a:t>18,753,208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17324D"/>
                          </a:solidFill>
                          <a:latin typeface="STHeiti Medium"/>
                          <a:ea typeface="STHeiti Medium"/>
                        </a:rPr>
                        <a:t>19,352,233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17324D"/>
                          </a:solidFill>
                          <a:latin typeface="STHeiti Medium"/>
                          <a:ea typeface="STHeiti Medium"/>
                        </a:rPr>
                        <a:t>6.28%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5A6A7A"/>
                          </a:solidFill>
                          <a:latin typeface="STHeiti Medium"/>
                          <a:ea typeface="STHeiti Medium"/>
                        </a:rPr>
                        <a:t>62.84%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17324D"/>
                          </a:solidFill>
                          <a:latin typeface="STHeiti Medium"/>
                          <a:ea typeface="STHeiti Medium"/>
                        </a:rPr>
                        <a:t>70</a:t>
                      </a:r>
                    </a:p>
                  </a:txBody>
                  <a:tcPr>
                    <a:solidFill>
                      <a:srgbClr val="FAFCFE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17324D"/>
                          </a:solidFill>
                          <a:latin typeface="STHeiti Medium"/>
                          <a:ea typeface="STHeiti Medium"/>
                        </a:rPr>
                        <a:t>70</a:t>
                      </a:r>
                    </a:p>
                  </a:txBody>
                  <a:tcPr>
                    <a:solidFill>
                      <a:srgbClr val="FAFCFE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2A3A4A"/>
                          </a:solidFill>
                          <a:latin typeface="STHeiti Medium"/>
                          <a:ea typeface="STHeiti Medium"/>
                        </a:rPr>
                        <a:t>500,000</a:t>
                      </a:r>
                    </a:p>
                  </a:txBody>
                  <a:tcPr>
                    <a:solidFill>
                      <a:srgbClr val="FAFCFE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17324D"/>
                          </a:solidFill>
                          <a:latin typeface="STHeiti Medium"/>
                          <a:ea typeface="STHeiti Medium"/>
                        </a:rPr>
                        <a:t>644,660</a:t>
                      </a:r>
                    </a:p>
                  </a:txBody>
                  <a:tcPr>
                    <a:solidFill>
                      <a:srgbClr val="FAFCFE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9A7A4A"/>
                          </a:solidFill>
                          <a:latin typeface="STHeiti Medium"/>
                          <a:ea typeface="STHeiti Medium"/>
                        </a:rPr>
                        <a:t>35,678,730</a:t>
                      </a:r>
                    </a:p>
                  </a:txBody>
                  <a:tcPr>
                    <a:solidFill>
                      <a:srgbClr val="FAFCFE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17324D"/>
                          </a:solidFill>
                          <a:latin typeface="STHeiti Medium"/>
                          <a:ea typeface="STHeiti Medium"/>
                        </a:rPr>
                        <a:t>36,323,390</a:t>
                      </a:r>
                    </a:p>
                  </a:txBody>
                  <a:tcPr>
                    <a:solidFill>
                      <a:srgbClr val="FAFCFE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17324D"/>
                          </a:solidFill>
                          <a:latin typeface="STHeiti Medium"/>
                          <a:ea typeface="STHeiti Medium"/>
                        </a:rPr>
                        <a:t>6.31%</a:t>
                      </a:r>
                    </a:p>
                  </a:txBody>
                  <a:tcPr>
                    <a:solidFill>
                      <a:srgbClr val="FAFCFE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5A6A7A"/>
                          </a:solidFill>
                          <a:latin typeface="STHeiti Medium"/>
                          <a:ea typeface="STHeiti Medium"/>
                        </a:rPr>
                        <a:t>102.35%</a:t>
                      </a:r>
                    </a:p>
                  </a:txBody>
                  <a:tcPr>
                    <a:solidFill>
                      <a:srgbClr val="FAFCFE"/>
                    </a:solidFill>
                  </a:tcPr>
                </a:tc>
              </a:tr>
              <a:tr h="329184"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17324D"/>
                          </a:solidFill>
                          <a:latin typeface="STHeiti Medium"/>
                          <a:ea typeface="STHeiti Medium"/>
                        </a:rPr>
                        <a:t>80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17324D"/>
                          </a:solidFill>
                          <a:latin typeface="STHeiti Medium"/>
                          <a:ea typeface="STHeiti Medium"/>
                        </a:rPr>
                        <a:t>80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2A3A4A"/>
                          </a:solidFill>
                          <a:latin typeface="STHeiti Medium"/>
                          <a:ea typeface="STHeiti Medium"/>
                        </a:rPr>
                        <a:t>500,000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17324D"/>
                          </a:solidFill>
                          <a:latin typeface="STHeiti Medium"/>
                          <a:ea typeface="STHeiti Medium"/>
                        </a:rPr>
                        <a:t>691,345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9A7A4A"/>
                          </a:solidFill>
                          <a:latin typeface="STHeiti Medium"/>
                          <a:ea typeface="STHeiti Medium"/>
                        </a:rPr>
                        <a:t>67,486,249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17324D"/>
                          </a:solidFill>
                          <a:latin typeface="STHeiti Medium"/>
                          <a:ea typeface="STHeiti Medium"/>
                        </a:rPr>
                        <a:t>68,177,594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17324D"/>
                          </a:solidFill>
                          <a:latin typeface="STHeiti Medium"/>
                          <a:ea typeface="STHeiti Medium"/>
                        </a:rPr>
                        <a:t>6.34%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5A6A7A"/>
                          </a:solidFill>
                          <a:latin typeface="STHeiti Medium"/>
                          <a:ea typeface="STHeiti Medium"/>
                        </a:rPr>
                        <a:t>169.19%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17324D"/>
                          </a:solidFill>
                          <a:latin typeface="STHeiti Medium"/>
                          <a:ea typeface="STHeiti Medium"/>
                        </a:rPr>
                        <a:t>90</a:t>
                      </a:r>
                    </a:p>
                  </a:txBody>
                  <a:tcPr>
                    <a:solidFill>
                      <a:srgbClr val="FAFCFE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17324D"/>
                          </a:solidFill>
                          <a:latin typeface="STHeiti Medium"/>
                          <a:ea typeface="STHeiti Medium"/>
                        </a:rPr>
                        <a:t>90</a:t>
                      </a:r>
                    </a:p>
                  </a:txBody>
                  <a:tcPr>
                    <a:solidFill>
                      <a:srgbClr val="FAFCFE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2A3A4A"/>
                          </a:solidFill>
                          <a:latin typeface="STHeiti Medium"/>
                          <a:ea typeface="STHeiti Medium"/>
                        </a:rPr>
                        <a:t>500,000</a:t>
                      </a:r>
                    </a:p>
                  </a:txBody>
                  <a:tcPr>
                    <a:solidFill>
                      <a:srgbClr val="FAFCFE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17324D"/>
                          </a:solidFill>
                          <a:latin typeface="STHeiti Medium"/>
                          <a:ea typeface="STHeiti Medium"/>
                        </a:rPr>
                        <a:t>747,020</a:t>
                      </a:r>
                    </a:p>
                  </a:txBody>
                  <a:tcPr>
                    <a:solidFill>
                      <a:srgbClr val="FAFCFE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9A7A4A"/>
                          </a:solidFill>
                          <a:latin typeface="STHeiti Medium"/>
                          <a:ea typeface="STHeiti Medium"/>
                        </a:rPr>
                        <a:t>127,219,681</a:t>
                      </a:r>
                    </a:p>
                  </a:txBody>
                  <a:tcPr>
                    <a:solidFill>
                      <a:srgbClr val="FAFCFE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17324D"/>
                          </a:solidFill>
                          <a:latin typeface="STHeiti Medium"/>
                          <a:ea typeface="STHeiti Medium"/>
                        </a:rPr>
                        <a:t>127,966,701</a:t>
                      </a:r>
                    </a:p>
                  </a:txBody>
                  <a:tcPr>
                    <a:solidFill>
                      <a:srgbClr val="FAFCFE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17324D"/>
                          </a:solidFill>
                          <a:latin typeface="STHeiti Medium"/>
                          <a:ea typeface="STHeiti Medium"/>
                        </a:rPr>
                        <a:t>6.35%</a:t>
                      </a:r>
                    </a:p>
                  </a:txBody>
                  <a:tcPr>
                    <a:solidFill>
                      <a:srgbClr val="FAFCFE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5A6A7A"/>
                          </a:solidFill>
                          <a:latin typeface="STHeiti Medium"/>
                          <a:ea typeface="STHeiti Medium"/>
                        </a:rPr>
                        <a:t>283.26%</a:t>
                      </a:r>
                    </a:p>
                  </a:txBody>
                  <a:tcPr>
                    <a:solidFill>
                      <a:srgbClr val="FAFCFE"/>
                    </a:solidFill>
                  </a:tcPr>
                </a:tc>
              </a:tr>
              <a:tr h="329184"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17324D"/>
                          </a:solidFill>
                          <a:latin typeface="STHeiti Medium"/>
                          <a:ea typeface="STHeiti Medium"/>
                        </a:rPr>
                        <a:t>100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17324D"/>
                          </a:solidFill>
                          <a:latin typeface="STHeiti Medium"/>
                          <a:ea typeface="STHeiti Medium"/>
                        </a:rPr>
                        <a:t>100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2A3A4A"/>
                          </a:solidFill>
                          <a:latin typeface="STHeiti Medium"/>
                          <a:ea typeface="STHeiti Medium"/>
                        </a:rPr>
                        <a:t>500,000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17324D"/>
                          </a:solidFill>
                          <a:latin typeface="STHeiti Medium"/>
                          <a:ea typeface="STHeiti Medium"/>
                        </a:rPr>
                        <a:t>813,895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9A7A4A"/>
                          </a:solidFill>
                          <a:latin typeface="STHeiti Medium"/>
                          <a:ea typeface="STHeiti Medium"/>
                        </a:rPr>
                        <a:t>239,374,641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17324D"/>
                          </a:solidFill>
                          <a:latin typeface="STHeiti Medium"/>
                          <a:ea typeface="STHeiti Medium"/>
                        </a:rPr>
                        <a:t>240,188,536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17324D"/>
                          </a:solidFill>
                          <a:latin typeface="STHeiti Medium"/>
                          <a:ea typeface="STHeiti Medium"/>
                        </a:rPr>
                        <a:t>6.37%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5A6A7A"/>
                          </a:solidFill>
                          <a:latin typeface="STHeiti Medium"/>
                          <a:ea typeface="STHeiti Medium"/>
                        </a:rPr>
                        <a:t>479.38%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Rectangle 9"/>
          <p:cNvSpPr/>
          <p:nvPr/>
        </p:nvSpPr>
        <p:spPr>
          <a:xfrm>
            <a:off x="457200" y="5669280"/>
            <a:ext cx="11277295" cy="7772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7200" y="5669280"/>
            <a:ext cx="73152" cy="777240"/>
          </a:xfrm>
          <a:prstGeom prst="rect">
            <a:avLst/>
          </a:prstGeom>
          <a:solidFill>
            <a:srgbClr val="1732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5715000"/>
            <a:ext cx="457200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1">
                <a:solidFill>
                  <a:srgbClr val="17324D"/>
                </a:solidFill>
                <a:latin typeface="Calibri"/>
                <a:ea typeface="STHeiti Medium"/>
              </a:rPr>
              <a:t>数据口径说明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5989320"/>
            <a:ext cx="10972800" cy="2286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900" b="0">
                <a:solidFill>
                  <a:srgbClr val="2A3A4A"/>
                </a:solidFill>
                <a:latin typeface="Calibri"/>
                <a:ea typeface="STHeiti Medium"/>
              </a:rPr>
              <a:t>· 已缴保费：5年×计划 = USD 500,000    · 复利IRR = (总额/保费)^(1/年数) - 1    · 单利IRR = (总额-保费)/保费/年数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6217920"/>
            <a:ext cx="10972800" cy="2286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900" b="0">
                <a:solidFill>
                  <a:srgbClr val="2A3A4A"/>
                </a:solidFill>
                <a:latin typeface="Calibri"/>
                <a:ea typeface="STHeiti Medium"/>
              </a:rPr>
              <a:t>· 非保证金额含复归红利+终期分红    · 演示至保单80年；计划保障至128岁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6565392"/>
            <a:ext cx="11430000" cy="2286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800" b="0">
                <a:solidFill>
                  <a:srgbClr val="5A6A7A"/>
                </a:solidFill>
                <a:latin typeface="Calibri"/>
                <a:ea typeface="STHeiti Medium"/>
              </a:rPr>
              <a:t>数据来源：中国太平官方计划书 第3部分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C9A8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5486400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000" b="1">
                <a:solidFill>
                  <a:srgbClr val="17324D"/>
                </a:solidFill>
                <a:latin typeface="Calibri"/>
                <a:ea typeface="STHeiti Medium"/>
              </a:rPr>
              <a:t>CHINA TP  |  中国太平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164592"/>
            <a:ext cx="1371600" cy="292608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900" b="0">
                <a:solidFill>
                  <a:srgbClr val="5A6A7A"/>
                </a:solidFill>
                <a:latin typeface="Calibri"/>
                <a:ea typeface="STHeiti Medium"/>
              </a:rPr>
              <a:t>06 / 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"/>
            <a:ext cx="10972800" cy="6400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3600" b="1">
                <a:solidFill>
                  <a:srgbClr val="17324D"/>
                </a:solidFill>
                <a:latin typeface="Calibri"/>
                <a:ea typeface="STHeiti Medium"/>
              </a:rPr>
              <a:t>提领方案 · 退保发还金额及累计提取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234440"/>
            <a:ext cx="1097280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400" b="0">
                <a:solidFill>
                  <a:srgbClr val="5A6A7A"/>
                </a:solidFill>
                <a:latin typeface="Calibri"/>
                <a:ea typeface="STHeiti Medium"/>
              </a:rPr>
              <a:t>保单年度 6（6 岁）起 · 每年提取 USD 35,000 · 含 IRR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554480"/>
            <a:ext cx="548640" cy="36576"/>
          </a:xfrm>
          <a:prstGeom prst="rect">
            <a:avLst/>
          </a:prstGeom>
          <a:solidFill>
            <a:srgbClr val="1732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65760" y="1737360"/>
          <a:ext cx="11429995" cy="572414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37846"/>
                <a:gridCol w="762000"/>
                <a:gridCol w="1348153"/>
                <a:gridCol w="1172307"/>
                <a:gridCol w="1406769"/>
                <a:gridCol w="1641230"/>
                <a:gridCol w="1817076"/>
                <a:gridCol w="1172307"/>
                <a:gridCol w="1172307"/>
              </a:tblGrid>
              <a:tr h="457200">
                <a:tc>
                  <a:txBody>
                    <a:bodyPr lIns="18000" rIns="18000" tIns="12000" bIns="12000" wrap="square"/>
                    <a:lstStyle/>
                    <a:p>
                      <a:pPr algn="ctr"/>
                      <a:r>
                        <a:rPr sz="850" b="1">
                          <a:solidFill>
                            <a:srgbClr val="FAFCFE"/>
                          </a:solidFill>
                          <a:latin typeface="STHeiti Medium"/>
                          <a:ea typeface="STHeiti Medium"/>
                        </a:rPr>
                        <a:t>保单
年度</a:t>
                      </a:r>
                    </a:p>
                  </a:txBody>
                  <a:tcPr>
                    <a:solidFill>
                      <a:srgbClr val="17324D"/>
                    </a:solidFill>
                  </a:tcPr>
                </a:tc>
                <a:tc>
                  <a:txBody>
                    <a:bodyPr lIns="18000" rIns="18000" tIns="12000" bIns="12000" wrap="square"/>
                    <a:lstStyle/>
                    <a:p>
                      <a:pPr algn="ctr"/>
                      <a:r>
                        <a:rPr sz="850" b="1">
                          <a:solidFill>
                            <a:srgbClr val="FAFCFE"/>
                          </a:solidFill>
                          <a:latin typeface="STHeiti Medium"/>
                          <a:ea typeface="STHeiti Medium"/>
                        </a:rPr>
                        <a:t>年龄</a:t>
                      </a:r>
                    </a:p>
                  </a:txBody>
                  <a:tcPr>
                    <a:solidFill>
                      <a:srgbClr val="17324D"/>
                    </a:solidFill>
                  </a:tcPr>
                </a:tc>
                <a:tc>
                  <a:txBody>
                    <a:bodyPr lIns="18000" rIns="18000" tIns="12000" bIns="12000" wrap="square"/>
                    <a:lstStyle/>
                    <a:p>
                      <a:pPr algn="ctr"/>
                      <a:r>
                        <a:rPr sz="850" b="1">
                          <a:solidFill>
                            <a:srgbClr val="FAFCFE"/>
                          </a:solidFill>
                          <a:latin typeface="STHeiti Medium"/>
                          <a:ea typeface="STHeiti Medium"/>
                        </a:rPr>
                        <a:t>已缴保费</a:t>
                      </a:r>
                    </a:p>
                  </a:txBody>
                  <a:tcPr>
                    <a:solidFill>
                      <a:srgbClr val="17324D"/>
                    </a:solidFill>
                  </a:tcPr>
                </a:tc>
                <a:tc>
                  <a:txBody>
                    <a:bodyPr lIns="18000" rIns="18000" tIns="12000" bIns="12000" wrap="square"/>
                    <a:lstStyle/>
                    <a:p>
                      <a:pPr algn="ctr"/>
                      <a:r>
                        <a:rPr sz="850" b="1">
                          <a:solidFill>
                            <a:srgbClr val="FAFCFE"/>
                          </a:solidFill>
                          <a:latin typeface="STHeiti Medium"/>
                          <a:ea typeface="STHeiti Medium"/>
                        </a:rPr>
                        <a:t>年提取</a:t>
                      </a:r>
                    </a:p>
                  </a:txBody>
                  <a:tcPr>
                    <a:solidFill>
                      <a:srgbClr val="17324D"/>
                    </a:solidFill>
                  </a:tcPr>
                </a:tc>
                <a:tc>
                  <a:txBody>
                    <a:bodyPr lIns="18000" rIns="18000" tIns="12000" bIns="12000" wrap="square"/>
                    <a:lstStyle/>
                    <a:p>
                      <a:pPr algn="ctr"/>
                      <a:r>
                        <a:rPr sz="850" b="1">
                          <a:solidFill>
                            <a:srgbClr val="FAFCFE"/>
                          </a:solidFill>
                          <a:latin typeface="STHeiti Medium"/>
                          <a:ea typeface="STHeiti Medium"/>
                        </a:rPr>
                        <a:t>累计提取</a:t>
                      </a:r>
                    </a:p>
                  </a:txBody>
                  <a:tcPr>
                    <a:solidFill>
                      <a:srgbClr val="17324D"/>
                    </a:solidFill>
                  </a:tcPr>
                </a:tc>
                <a:tc>
                  <a:txBody>
                    <a:bodyPr lIns="18000" rIns="18000" tIns="12000" bIns="12000" wrap="square"/>
                    <a:lstStyle/>
                    <a:p>
                      <a:pPr algn="ctr"/>
                      <a:r>
                        <a:rPr sz="850" b="1">
                          <a:solidFill>
                            <a:srgbClr val="FAFCFE"/>
                          </a:solidFill>
                          <a:latin typeface="STHeiti Medium"/>
                          <a:ea typeface="STHeiti Medium"/>
                        </a:rPr>
                        <a:t>退保发还总额
(B+C+D)</a:t>
                      </a:r>
                    </a:p>
                  </a:txBody>
                  <a:tcPr>
                    <a:solidFill>
                      <a:srgbClr val="17324D"/>
                    </a:solidFill>
                  </a:tcPr>
                </a:tc>
                <a:tc>
                  <a:txBody>
                    <a:bodyPr lIns="18000" rIns="18000" tIns="12000" bIns="12000" wrap="square"/>
                    <a:lstStyle/>
                    <a:p>
                      <a:pPr algn="ctr"/>
                      <a:r>
                        <a:rPr sz="850" b="1">
                          <a:solidFill>
                            <a:srgbClr val="FAFCFE"/>
                          </a:solidFill>
                          <a:latin typeface="STHeiti Medium"/>
                          <a:ea typeface="STHeiti Medium"/>
                        </a:rPr>
                        <a:t>累计已领+
退保现价</a:t>
                      </a:r>
                    </a:p>
                  </a:txBody>
                  <a:tcPr>
                    <a:solidFill>
                      <a:srgbClr val="17324D"/>
                    </a:solidFill>
                  </a:tcPr>
                </a:tc>
                <a:tc>
                  <a:txBody>
                    <a:bodyPr lIns="18000" rIns="18000" tIns="12000" bIns="12000" wrap="square"/>
                    <a:lstStyle/>
                    <a:p>
                      <a:pPr algn="ctr"/>
                      <a:r>
                        <a:rPr sz="850" b="1">
                          <a:solidFill>
                            <a:srgbClr val="FAFCFE"/>
                          </a:solidFill>
                          <a:latin typeface="STHeiti Medium"/>
                          <a:ea typeface="STHeiti Medium"/>
                        </a:rPr>
                        <a:t>复利
IRR</a:t>
                      </a:r>
                    </a:p>
                  </a:txBody>
                  <a:tcPr>
                    <a:solidFill>
                      <a:srgbClr val="17324D"/>
                    </a:solidFill>
                  </a:tcPr>
                </a:tc>
                <a:tc>
                  <a:txBody>
                    <a:bodyPr lIns="18000" rIns="18000" tIns="12000" bIns="12000" wrap="square"/>
                    <a:lstStyle/>
                    <a:p>
                      <a:pPr algn="ctr"/>
                      <a:r>
                        <a:rPr sz="850" b="1">
                          <a:solidFill>
                            <a:srgbClr val="FAFCFE"/>
                          </a:solidFill>
                          <a:latin typeface="STHeiti Medium"/>
                          <a:ea typeface="STHeiti Medium"/>
                        </a:rPr>
                        <a:t>单利
IRR</a:t>
                      </a:r>
                    </a:p>
                  </a:txBody>
                  <a:tcPr>
                    <a:solidFill>
                      <a:srgbClr val="17324D"/>
                    </a:solidFill>
                  </a:tcPr>
                </a:tc>
              </a:tr>
              <a:tr h="292608"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17324D"/>
                          </a:solidFill>
                          <a:latin typeface="STHeiti Medium"/>
                          <a:ea typeface="STHeiti Medium"/>
                        </a:rP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17324D"/>
                          </a:solidFill>
                          <a:latin typeface="STHeiti Medium"/>
                          <a:ea typeface="STHeiti Medium"/>
                        </a:rP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2A3A4A"/>
                          </a:solidFill>
                          <a:latin typeface="STHeiti Medium"/>
                          <a:ea typeface="STHeiti Medium"/>
                        </a:rPr>
                        <a:t>500,000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0E1F32"/>
                          </a:solidFill>
                          <a:latin typeface="STHeiti Medium"/>
                          <a:ea typeface="STHeiti Medium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E1F32"/>
                          </a:solidFill>
                          <a:latin typeface="STHeiti Medium"/>
                          <a:ea typeface="STHeiti Medium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17324D"/>
                          </a:solidFill>
                          <a:latin typeface="STHeiti Medium"/>
                          <a:ea typeface="STHeiti Medium"/>
                        </a:rPr>
                        <a:t>315,234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9A7A4A"/>
                          </a:solidFill>
                          <a:latin typeface="STHeiti Medium"/>
                          <a:ea typeface="STHeiti Medium"/>
                        </a:rPr>
                        <a:t>315,234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17324D"/>
                          </a:solidFill>
                          <a:latin typeface="STHeiti Medium"/>
                          <a:ea typeface="STHeiti Medium"/>
                        </a:rPr>
                        <a:t>-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5A6A7A"/>
                          </a:solidFill>
                          <a:latin typeface="STHeiti Medium"/>
                          <a:ea typeface="STHeiti Medium"/>
                        </a:rPr>
                        <a:t>-7.39%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17324D"/>
                          </a:solidFill>
                          <a:latin typeface="STHeiti Medium"/>
                          <a:ea typeface="STHeiti Medium"/>
                        </a:rPr>
                        <a:t>6</a:t>
                      </a:r>
                    </a:p>
                  </a:txBody>
                  <a:tcPr>
                    <a:solidFill>
                      <a:srgbClr val="FAFCFE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17324D"/>
                          </a:solidFill>
                          <a:latin typeface="STHeiti Medium"/>
                          <a:ea typeface="STHeiti Medium"/>
                        </a:rPr>
                        <a:t>6</a:t>
                      </a:r>
                    </a:p>
                  </a:txBody>
                  <a:tcPr>
                    <a:solidFill>
                      <a:srgbClr val="FAFCFE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2A3A4A"/>
                          </a:solidFill>
                          <a:latin typeface="STHeiti Medium"/>
                          <a:ea typeface="STHeiti Medium"/>
                        </a:rPr>
                        <a:t>500,000</a:t>
                      </a:r>
                    </a:p>
                  </a:txBody>
                  <a:tcPr>
                    <a:solidFill>
                      <a:srgbClr val="FAFCFE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0E1F32"/>
                          </a:solidFill>
                          <a:latin typeface="STHeiti Medium"/>
                          <a:ea typeface="STHeiti Medium"/>
                        </a:rPr>
                        <a:t>35,000</a:t>
                      </a:r>
                    </a:p>
                  </a:txBody>
                  <a:tcPr>
                    <a:solidFill>
                      <a:srgbClr val="FAFCFE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E1F32"/>
                          </a:solidFill>
                          <a:latin typeface="STHeiti Medium"/>
                          <a:ea typeface="STHeiti Medium"/>
                        </a:rPr>
                        <a:t>35,000</a:t>
                      </a:r>
                    </a:p>
                  </a:txBody>
                  <a:tcPr>
                    <a:solidFill>
                      <a:srgbClr val="FAFCFE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17324D"/>
                          </a:solidFill>
                          <a:latin typeface="STHeiti Medium"/>
                          <a:ea typeface="STHeiti Medium"/>
                        </a:rPr>
                        <a:t>356,867</a:t>
                      </a:r>
                    </a:p>
                  </a:txBody>
                  <a:tcPr>
                    <a:solidFill>
                      <a:srgbClr val="FAFCFE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9A7A4A"/>
                          </a:solidFill>
                          <a:latin typeface="STHeiti Medium"/>
                          <a:ea typeface="STHeiti Medium"/>
                        </a:rPr>
                        <a:t>391,867</a:t>
                      </a:r>
                    </a:p>
                  </a:txBody>
                  <a:tcPr>
                    <a:solidFill>
                      <a:srgbClr val="FAFCFE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17324D"/>
                          </a:solidFill>
                          <a:latin typeface="STHeiti Medium"/>
                          <a:ea typeface="STHeiti Medium"/>
                        </a:rPr>
                        <a:t>-</a:t>
                      </a:r>
                    </a:p>
                  </a:txBody>
                  <a:tcPr>
                    <a:solidFill>
                      <a:srgbClr val="FAFCFE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5A6A7A"/>
                          </a:solidFill>
                          <a:latin typeface="STHeiti Medium"/>
                          <a:ea typeface="STHeiti Medium"/>
                        </a:rPr>
                        <a:t>-3.60%</a:t>
                      </a:r>
                    </a:p>
                  </a:txBody>
                  <a:tcPr>
                    <a:solidFill>
                      <a:srgbClr val="FAFCFE"/>
                    </a:solidFill>
                  </a:tcPr>
                </a:tc>
              </a:tr>
              <a:tr h="292608"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17324D"/>
                          </a:solidFill>
                          <a:latin typeface="STHeiti Medium"/>
                          <a:ea typeface="STHeiti Medium"/>
                        </a:rPr>
                        <a:t>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17324D"/>
                          </a:solidFill>
                          <a:latin typeface="STHeiti Medium"/>
                          <a:ea typeface="STHeiti Medium"/>
                        </a:rPr>
                        <a:t>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2A3A4A"/>
                          </a:solidFill>
                          <a:latin typeface="STHeiti Medium"/>
                          <a:ea typeface="STHeiti Medium"/>
                        </a:rPr>
                        <a:t>444,135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0E1F32"/>
                          </a:solidFill>
                          <a:latin typeface="STHeiti Medium"/>
                          <a:ea typeface="STHeiti Medium"/>
                        </a:rPr>
                        <a:t>35,000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E1F32"/>
                          </a:solidFill>
                          <a:latin typeface="STHeiti Medium"/>
                          <a:ea typeface="STHeiti Medium"/>
                        </a:rPr>
                        <a:t>175,000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17324D"/>
                          </a:solidFill>
                          <a:latin typeface="STHeiti Medium"/>
                          <a:ea typeface="STHeiti Medium"/>
                        </a:rPr>
                        <a:t>450,055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9A7A4A"/>
                          </a:solidFill>
                          <a:latin typeface="STHeiti Medium"/>
                          <a:ea typeface="STHeiti Medium"/>
                        </a:rPr>
                        <a:t>625,055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17324D"/>
                          </a:solidFill>
                          <a:latin typeface="STHeiti Medium"/>
                          <a:ea typeface="STHeiti Medium"/>
                        </a:rPr>
                        <a:t>2.26%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5A6A7A"/>
                          </a:solidFill>
                          <a:latin typeface="STHeiti Medium"/>
                          <a:ea typeface="STHeiti Medium"/>
                        </a:rPr>
                        <a:t>2.50%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17324D"/>
                          </a:solidFill>
                          <a:latin typeface="STHeiti Medium"/>
                          <a:ea typeface="STHeiti Medium"/>
                        </a:rPr>
                        <a:t>15</a:t>
                      </a:r>
                    </a:p>
                  </a:txBody>
                  <a:tcPr>
                    <a:solidFill>
                      <a:srgbClr val="FAFCFE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17324D"/>
                          </a:solidFill>
                          <a:latin typeface="STHeiti Medium"/>
                          <a:ea typeface="STHeiti Medium"/>
                        </a:rPr>
                        <a:t>15</a:t>
                      </a:r>
                    </a:p>
                  </a:txBody>
                  <a:tcPr>
                    <a:solidFill>
                      <a:srgbClr val="FAFCFE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2A3A4A"/>
                          </a:solidFill>
                          <a:latin typeface="STHeiti Medium"/>
                          <a:ea typeface="STHeiti Medium"/>
                        </a:rPr>
                        <a:t>314,432</a:t>
                      </a:r>
                    </a:p>
                  </a:txBody>
                  <a:tcPr>
                    <a:solidFill>
                      <a:srgbClr val="FAFCFE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0E1F32"/>
                          </a:solidFill>
                          <a:latin typeface="STHeiti Medium"/>
                          <a:ea typeface="STHeiti Medium"/>
                        </a:rPr>
                        <a:t>35,000</a:t>
                      </a:r>
                    </a:p>
                  </a:txBody>
                  <a:tcPr>
                    <a:solidFill>
                      <a:srgbClr val="FAFCFE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E1F32"/>
                          </a:solidFill>
                          <a:latin typeface="STHeiti Medium"/>
                          <a:ea typeface="STHeiti Medium"/>
                        </a:rPr>
                        <a:t>350,000</a:t>
                      </a:r>
                    </a:p>
                  </a:txBody>
                  <a:tcPr>
                    <a:solidFill>
                      <a:srgbClr val="FAFCFE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17324D"/>
                          </a:solidFill>
                          <a:latin typeface="STHeiti Medium"/>
                          <a:ea typeface="STHeiti Medium"/>
                        </a:rPr>
                        <a:t>452,574</a:t>
                      </a:r>
                    </a:p>
                  </a:txBody>
                  <a:tcPr>
                    <a:solidFill>
                      <a:srgbClr val="FAFCFE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9A7A4A"/>
                          </a:solidFill>
                          <a:latin typeface="STHeiti Medium"/>
                          <a:ea typeface="STHeiti Medium"/>
                        </a:rPr>
                        <a:t>802,574</a:t>
                      </a:r>
                    </a:p>
                  </a:txBody>
                  <a:tcPr>
                    <a:solidFill>
                      <a:srgbClr val="FAFCFE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17324D"/>
                          </a:solidFill>
                          <a:latin typeface="STHeiti Medium"/>
                          <a:ea typeface="STHeiti Medium"/>
                        </a:rPr>
                        <a:t>3.21%</a:t>
                      </a:r>
                    </a:p>
                  </a:txBody>
                  <a:tcPr>
                    <a:solidFill>
                      <a:srgbClr val="FAFCFE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5A6A7A"/>
                          </a:solidFill>
                          <a:latin typeface="STHeiti Medium"/>
                          <a:ea typeface="STHeiti Medium"/>
                        </a:rPr>
                        <a:t>4.03%</a:t>
                      </a:r>
                    </a:p>
                  </a:txBody>
                  <a:tcPr>
                    <a:solidFill>
                      <a:srgbClr val="FAFCFE"/>
                    </a:solidFill>
                  </a:tcPr>
                </a:tc>
              </a:tr>
              <a:tr h="292608"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17324D"/>
                          </a:solidFill>
                          <a:latin typeface="STHeiti Medium"/>
                          <a:ea typeface="STHeiti Medium"/>
                        </a:rPr>
                        <a:t>20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17324D"/>
                          </a:solidFill>
                          <a:latin typeface="STHeiti Medium"/>
                          <a:ea typeface="STHeiti Medium"/>
                        </a:rPr>
                        <a:t>20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2A3A4A"/>
                          </a:solidFill>
                          <a:latin typeface="STHeiti Medium"/>
                          <a:ea typeface="STHeiti Medium"/>
                        </a:rPr>
                        <a:t>229,373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0E1F32"/>
                          </a:solidFill>
                          <a:latin typeface="STHeiti Medium"/>
                          <a:ea typeface="STHeiti Medium"/>
                        </a:rPr>
                        <a:t>35,000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E1F32"/>
                          </a:solidFill>
                          <a:latin typeface="STHeiti Medium"/>
                          <a:ea typeface="STHeiti Medium"/>
                        </a:rPr>
                        <a:t>525,000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17324D"/>
                          </a:solidFill>
                          <a:latin typeface="STHeiti Medium"/>
                          <a:ea typeface="STHeiti Medium"/>
                        </a:rPr>
                        <a:t>544,963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9A7A4A"/>
                          </a:solidFill>
                          <a:latin typeface="STHeiti Medium"/>
                          <a:ea typeface="STHeiti Medium"/>
                        </a:rPr>
                        <a:t>1,069,963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17324D"/>
                          </a:solidFill>
                          <a:latin typeface="STHeiti Medium"/>
                          <a:ea typeface="STHeiti Medium"/>
                        </a:rPr>
                        <a:t>3.88%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5A6A7A"/>
                          </a:solidFill>
                          <a:latin typeface="STHeiti Medium"/>
                          <a:ea typeface="STHeiti Medium"/>
                        </a:rPr>
                        <a:t>5.70%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17324D"/>
                          </a:solidFill>
                          <a:latin typeface="STHeiti Medium"/>
                          <a:ea typeface="STHeiti Medium"/>
                        </a:rPr>
                        <a:t>25</a:t>
                      </a:r>
                    </a:p>
                  </a:txBody>
                  <a:tcPr>
                    <a:solidFill>
                      <a:srgbClr val="FAFCFE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17324D"/>
                          </a:solidFill>
                          <a:latin typeface="STHeiti Medium"/>
                          <a:ea typeface="STHeiti Medium"/>
                        </a:rPr>
                        <a:t>25</a:t>
                      </a:r>
                    </a:p>
                  </a:txBody>
                  <a:tcPr>
                    <a:solidFill>
                      <a:srgbClr val="FAFCFE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2A3A4A"/>
                          </a:solidFill>
                          <a:latin typeface="STHeiti Medium"/>
                          <a:ea typeface="STHeiti Medium"/>
                        </a:rPr>
                        <a:t>171,046</a:t>
                      </a:r>
                    </a:p>
                  </a:txBody>
                  <a:tcPr>
                    <a:solidFill>
                      <a:srgbClr val="FAFCFE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0E1F32"/>
                          </a:solidFill>
                          <a:latin typeface="STHeiti Medium"/>
                          <a:ea typeface="STHeiti Medium"/>
                        </a:rPr>
                        <a:t>35,000</a:t>
                      </a:r>
                    </a:p>
                  </a:txBody>
                  <a:tcPr>
                    <a:solidFill>
                      <a:srgbClr val="FAFCFE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E1F32"/>
                          </a:solidFill>
                          <a:latin typeface="STHeiti Medium"/>
                          <a:ea typeface="STHeiti Medium"/>
                        </a:rPr>
                        <a:t>700,000</a:t>
                      </a:r>
                    </a:p>
                  </a:txBody>
                  <a:tcPr>
                    <a:solidFill>
                      <a:srgbClr val="FAFCFE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17324D"/>
                          </a:solidFill>
                          <a:latin typeface="STHeiti Medium"/>
                          <a:ea typeface="STHeiti Medium"/>
                        </a:rPr>
                        <a:t>560,014</a:t>
                      </a:r>
                    </a:p>
                  </a:txBody>
                  <a:tcPr>
                    <a:solidFill>
                      <a:srgbClr val="FAFCFE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9A7A4A"/>
                          </a:solidFill>
                          <a:latin typeface="STHeiti Medium"/>
                          <a:ea typeface="STHeiti Medium"/>
                        </a:rPr>
                        <a:t>1,260,014</a:t>
                      </a:r>
                    </a:p>
                  </a:txBody>
                  <a:tcPr>
                    <a:solidFill>
                      <a:srgbClr val="FAFCFE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17324D"/>
                          </a:solidFill>
                          <a:latin typeface="STHeiti Medium"/>
                          <a:ea typeface="STHeiti Medium"/>
                        </a:rPr>
                        <a:t>3.77%</a:t>
                      </a:r>
                    </a:p>
                  </a:txBody>
                  <a:tcPr>
                    <a:solidFill>
                      <a:srgbClr val="FAFCFE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5A6A7A"/>
                          </a:solidFill>
                          <a:latin typeface="STHeiti Medium"/>
                          <a:ea typeface="STHeiti Medium"/>
                        </a:rPr>
                        <a:t>6.08%</a:t>
                      </a:r>
                    </a:p>
                  </a:txBody>
                  <a:tcPr>
                    <a:solidFill>
                      <a:srgbClr val="FAFCFE"/>
                    </a:solidFill>
                  </a:tcPr>
                </a:tc>
              </a:tr>
              <a:tr h="292608"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17324D"/>
                          </a:solidFill>
                          <a:latin typeface="STHeiti Medium"/>
                          <a:ea typeface="STHeiti Medium"/>
                        </a:rPr>
                        <a:t>30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17324D"/>
                          </a:solidFill>
                          <a:latin typeface="STHeiti Medium"/>
                          <a:ea typeface="STHeiti Medium"/>
                        </a:rPr>
                        <a:t>30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2A3A4A"/>
                          </a:solidFill>
                          <a:latin typeface="STHeiti Medium"/>
                          <a:ea typeface="STHeiti Medium"/>
                        </a:rPr>
                        <a:t>129,278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0E1F32"/>
                          </a:solidFill>
                          <a:latin typeface="STHeiti Medium"/>
                          <a:ea typeface="STHeiti Medium"/>
                        </a:rPr>
                        <a:t>35,000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E1F32"/>
                          </a:solidFill>
                          <a:latin typeface="STHeiti Medium"/>
                          <a:ea typeface="STHeiti Medium"/>
                        </a:rPr>
                        <a:t>875,000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17324D"/>
                          </a:solidFill>
                          <a:latin typeface="STHeiti Medium"/>
                          <a:ea typeface="STHeiti Medium"/>
                        </a:rPr>
                        <a:t>608,878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9A7A4A"/>
                          </a:solidFill>
                          <a:latin typeface="STHeiti Medium"/>
                          <a:ea typeface="STHeiti Medium"/>
                        </a:rPr>
                        <a:t>1,483,878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17324D"/>
                          </a:solidFill>
                          <a:latin typeface="STHeiti Medium"/>
                          <a:ea typeface="STHeiti Medium"/>
                        </a:rPr>
                        <a:t>3.69%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5A6A7A"/>
                          </a:solidFill>
                          <a:latin typeface="STHeiti Medium"/>
                          <a:ea typeface="STHeiti Medium"/>
                        </a:rPr>
                        <a:t>6.56%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17324D"/>
                          </a:solidFill>
                          <a:latin typeface="STHeiti Medium"/>
                          <a:ea typeface="STHeiti Medium"/>
                        </a:rPr>
                        <a:t>35</a:t>
                      </a:r>
                    </a:p>
                  </a:txBody>
                  <a:tcPr>
                    <a:solidFill>
                      <a:srgbClr val="FAFCFE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17324D"/>
                          </a:solidFill>
                          <a:latin typeface="STHeiti Medium"/>
                          <a:ea typeface="STHeiti Medium"/>
                        </a:rPr>
                        <a:t>35</a:t>
                      </a:r>
                    </a:p>
                  </a:txBody>
                  <a:tcPr>
                    <a:solidFill>
                      <a:srgbClr val="FAFCFE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2A3A4A"/>
                          </a:solidFill>
                          <a:latin typeface="STHeiti Medium"/>
                          <a:ea typeface="STHeiti Medium"/>
                        </a:rPr>
                        <a:t>99,287</a:t>
                      </a:r>
                    </a:p>
                  </a:txBody>
                  <a:tcPr>
                    <a:solidFill>
                      <a:srgbClr val="FAFCFE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0E1F32"/>
                          </a:solidFill>
                          <a:latin typeface="STHeiti Medium"/>
                          <a:ea typeface="STHeiti Medium"/>
                        </a:rPr>
                        <a:t>35,000</a:t>
                      </a:r>
                    </a:p>
                  </a:txBody>
                  <a:tcPr>
                    <a:solidFill>
                      <a:srgbClr val="FAFCFE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E1F32"/>
                          </a:solidFill>
                          <a:latin typeface="STHeiti Medium"/>
                          <a:ea typeface="STHeiti Medium"/>
                        </a:rPr>
                        <a:t>1,050,000</a:t>
                      </a:r>
                    </a:p>
                  </a:txBody>
                  <a:tcPr>
                    <a:solidFill>
                      <a:srgbClr val="FAFCFE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17324D"/>
                          </a:solidFill>
                          <a:latin typeface="STHeiti Medium"/>
                          <a:ea typeface="STHeiti Medium"/>
                        </a:rPr>
                        <a:t>643,085</a:t>
                      </a:r>
                    </a:p>
                  </a:txBody>
                  <a:tcPr>
                    <a:solidFill>
                      <a:srgbClr val="FAFCFE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9A7A4A"/>
                          </a:solidFill>
                          <a:latin typeface="STHeiti Medium"/>
                          <a:ea typeface="STHeiti Medium"/>
                        </a:rPr>
                        <a:t>1,693,085</a:t>
                      </a:r>
                    </a:p>
                  </a:txBody>
                  <a:tcPr>
                    <a:solidFill>
                      <a:srgbClr val="FAFCFE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17324D"/>
                          </a:solidFill>
                          <a:latin typeface="STHeiti Medium"/>
                          <a:ea typeface="STHeiti Medium"/>
                        </a:rPr>
                        <a:t>3.55%</a:t>
                      </a:r>
                    </a:p>
                  </a:txBody>
                  <a:tcPr>
                    <a:solidFill>
                      <a:srgbClr val="FAFCFE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5A6A7A"/>
                          </a:solidFill>
                          <a:latin typeface="STHeiti Medium"/>
                          <a:ea typeface="STHeiti Medium"/>
                        </a:rPr>
                        <a:t>6.82%</a:t>
                      </a:r>
                    </a:p>
                  </a:txBody>
                  <a:tcPr>
                    <a:solidFill>
                      <a:srgbClr val="FAFCFE"/>
                    </a:solidFill>
                  </a:tcPr>
                </a:tc>
              </a:tr>
              <a:tr h="292608"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17324D"/>
                          </a:solidFill>
                          <a:latin typeface="STHeiti Medium"/>
                          <a:ea typeface="STHeiti Medium"/>
                        </a:rPr>
                        <a:t>40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17324D"/>
                          </a:solidFill>
                          <a:latin typeface="STHeiti Medium"/>
                          <a:ea typeface="STHeiti Medium"/>
                        </a:rPr>
                        <a:t>40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2A3A4A"/>
                          </a:solidFill>
                          <a:latin typeface="STHeiti Medium"/>
                          <a:ea typeface="STHeiti Medium"/>
                        </a:rPr>
                        <a:t>77,993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0E1F32"/>
                          </a:solidFill>
                          <a:latin typeface="STHeiti Medium"/>
                          <a:ea typeface="STHeiti Medium"/>
                        </a:rPr>
                        <a:t>35,000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E1F32"/>
                          </a:solidFill>
                          <a:latin typeface="STHeiti Medium"/>
                          <a:ea typeface="STHeiti Medium"/>
                        </a:rPr>
                        <a:t>1,225,000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17324D"/>
                          </a:solidFill>
                          <a:latin typeface="STHeiti Medium"/>
                          <a:ea typeface="STHeiti Medium"/>
                        </a:rPr>
                        <a:t>730,289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9A7A4A"/>
                          </a:solidFill>
                          <a:latin typeface="STHeiti Medium"/>
                          <a:ea typeface="STHeiti Medium"/>
                        </a:rPr>
                        <a:t>1,955,289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17324D"/>
                          </a:solidFill>
                          <a:latin typeface="STHeiti Medium"/>
                          <a:ea typeface="STHeiti Medium"/>
                        </a:rPr>
                        <a:t>3.47%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5A6A7A"/>
                          </a:solidFill>
                          <a:latin typeface="STHeiti Medium"/>
                          <a:ea typeface="STHeiti Medium"/>
                        </a:rPr>
                        <a:t>7.28%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17324D"/>
                          </a:solidFill>
                          <a:latin typeface="STHeiti Medium"/>
                          <a:ea typeface="STHeiti Medium"/>
                        </a:rPr>
                        <a:t>50</a:t>
                      </a:r>
                    </a:p>
                  </a:txBody>
                  <a:tcPr>
                    <a:solidFill>
                      <a:srgbClr val="FAFCFE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17324D"/>
                          </a:solidFill>
                          <a:latin typeface="STHeiti Medium"/>
                          <a:ea typeface="STHeiti Medium"/>
                        </a:rPr>
                        <a:t>50</a:t>
                      </a:r>
                    </a:p>
                  </a:txBody>
                  <a:tcPr>
                    <a:solidFill>
                      <a:srgbClr val="FAFCFE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2A3A4A"/>
                          </a:solidFill>
                          <a:latin typeface="STHeiti Medium"/>
                          <a:ea typeface="STHeiti Medium"/>
                        </a:rPr>
                        <a:t>52,326</a:t>
                      </a:r>
                    </a:p>
                  </a:txBody>
                  <a:tcPr>
                    <a:solidFill>
                      <a:srgbClr val="FAFCFE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0E1F32"/>
                          </a:solidFill>
                          <a:latin typeface="STHeiti Medium"/>
                          <a:ea typeface="STHeiti Medium"/>
                        </a:rPr>
                        <a:t>35,000</a:t>
                      </a:r>
                    </a:p>
                  </a:txBody>
                  <a:tcPr>
                    <a:solidFill>
                      <a:srgbClr val="FAFCFE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E1F32"/>
                          </a:solidFill>
                          <a:latin typeface="STHeiti Medium"/>
                          <a:ea typeface="STHeiti Medium"/>
                        </a:rPr>
                        <a:t>1,575,000</a:t>
                      </a:r>
                    </a:p>
                  </a:txBody>
                  <a:tcPr>
                    <a:solidFill>
                      <a:srgbClr val="FAFCFE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17324D"/>
                          </a:solidFill>
                          <a:latin typeface="STHeiti Medium"/>
                          <a:ea typeface="STHeiti Medium"/>
                        </a:rPr>
                        <a:t>957,627</a:t>
                      </a:r>
                    </a:p>
                  </a:txBody>
                  <a:tcPr>
                    <a:solidFill>
                      <a:srgbClr val="FAFCFE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9A7A4A"/>
                          </a:solidFill>
                          <a:latin typeface="STHeiti Medium"/>
                          <a:ea typeface="STHeiti Medium"/>
                        </a:rPr>
                        <a:t>2,532,627</a:t>
                      </a:r>
                    </a:p>
                  </a:txBody>
                  <a:tcPr>
                    <a:solidFill>
                      <a:srgbClr val="FAFCFE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17324D"/>
                          </a:solidFill>
                          <a:latin typeface="STHeiti Medium"/>
                          <a:ea typeface="STHeiti Medium"/>
                        </a:rPr>
                        <a:t>3.30%</a:t>
                      </a:r>
                    </a:p>
                  </a:txBody>
                  <a:tcPr>
                    <a:solidFill>
                      <a:srgbClr val="FAFCFE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5A6A7A"/>
                          </a:solidFill>
                          <a:latin typeface="STHeiti Medium"/>
                          <a:ea typeface="STHeiti Medium"/>
                        </a:rPr>
                        <a:t>8.13%</a:t>
                      </a:r>
                    </a:p>
                  </a:txBody>
                  <a:tcPr>
                    <a:solidFill>
                      <a:srgbClr val="FAFCFE"/>
                    </a:solidFill>
                  </a:tcPr>
                </a:tc>
              </a:tr>
              <a:tr h="292608"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17324D"/>
                          </a:solidFill>
                          <a:latin typeface="STHeiti Medium"/>
                          <a:ea typeface="STHeiti Medium"/>
                        </a:rPr>
                        <a:t>60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17324D"/>
                          </a:solidFill>
                          <a:latin typeface="STHeiti Medium"/>
                          <a:ea typeface="STHeiti Medium"/>
                        </a:rPr>
                        <a:t>60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2A3A4A"/>
                          </a:solidFill>
                          <a:latin typeface="STHeiti Medium"/>
                          <a:ea typeface="STHeiti Medium"/>
                        </a:rPr>
                        <a:t>38,711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0E1F32"/>
                          </a:solidFill>
                          <a:latin typeface="STHeiti Medium"/>
                          <a:ea typeface="STHeiti Medium"/>
                        </a:rPr>
                        <a:t>35,000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E1F32"/>
                          </a:solidFill>
                          <a:latin typeface="STHeiti Medium"/>
                          <a:ea typeface="STHeiti Medium"/>
                        </a:rPr>
                        <a:t>1,925,000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17324D"/>
                          </a:solidFill>
                          <a:latin typeface="STHeiti Medium"/>
                          <a:ea typeface="STHeiti Medium"/>
                        </a:rPr>
                        <a:t>1,326,357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9A7A4A"/>
                          </a:solidFill>
                          <a:latin typeface="STHeiti Medium"/>
                          <a:ea typeface="STHeiti Medium"/>
                        </a:rPr>
                        <a:t>3,251,357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17324D"/>
                          </a:solidFill>
                          <a:latin typeface="STHeiti Medium"/>
                          <a:ea typeface="STHeiti Medium"/>
                        </a:rPr>
                        <a:t>3.17%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5A6A7A"/>
                          </a:solidFill>
                          <a:latin typeface="STHeiti Medium"/>
                          <a:ea typeface="STHeiti Medium"/>
                        </a:rPr>
                        <a:t>9.17%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17324D"/>
                          </a:solidFill>
                          <a:latin typeface="STHeiti Medium"/>
                          <a:ea typeface="STHeiti Medium"/>
                        </a:rPr>
                        <a:t>70</a:t>
                      </a:r>
                    </a:p>
                  </a:txBody>
                  <a:tcPr>
                    <a:solidFill>
                      <a:srgbClr val="FAFCFE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17324D"/>
                          </a:solidFill>
                          <a:latin typeface="STHeiti Medium"/>
                          <a:ea typeface="STHeiti Medium"/>
                        </a:rPr>
                        <a:t>70</a:t>
                      </a:r>
                    </a:p>
                  </a:txBody>
                  <a:tcPr>
                    <a:solidFill>
                      <a:srgbClr val="FAFCFE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2A3A4A"/>
                          </a:solidFill>
                          <a:latin typeface="STHeiti Medium"/>
                          <a:ea typeface="STHeiti Medium"/>
                        </a:rPr>
                        <a:t>31,404</a:t>
                      </a:r>
                    </a:p>
                  </a:txBody>
                  <a:tcPr>
                    <a:solidFill>
                      <a:srgbClr val="FAFCFE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0E1F32"/>
                          </a:solidFill>
                          <a:latin typeface="STHeiti Medium"/>
                          <a:ea typeface="STHeiti Medium"/>
                        </a:rPr>
                        <a:t>35,000</a:t>
                      </a:r>
                    </a:p>
                  </a:txBody>
                  <a:tcPr>
                    <a:solidFill>
                      <a:srgbClr val="FAFCFE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E1F32"/>
                          </a:solidFill>
                          <a:latin typeface="STHeiti Medium"/>
                          <a:ea typeface="STHeiti Medium"/>
                        </a:rPr>
                        <a:t>2,275,000</a:t>
                      </a:r>
                    </a:p>
                  </a:txBody>
                  <a:tcPr>
                    <a:solidFill>
                      <a:srgbClr val="FAFCFE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17324D"/>
                          </a:solidFill>
                          <a:latin typeface="STHeiti Medium"/>
                          <a:ea typeface="STHeiti Medium"/>
                        </a:rPr>
                        <a:t>2,005,454</a:t>
                      </a:r>
                    </a:p>
                  </a:txBody>
                  <a:tcPr>
                    <a:solidFill>
                      <a:srgbClr val="FAFCFE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9A7A4A"/>
                          </a:solidFill>
                          <a:latin typeface="STHeiti Medium"/>
                          <a:ea typeface="STHeiti Medium"/>
                        </a:rPr>
                        <a:t>4,280,454</a:t>
                      </a:r>
                    </a:p>
                  </a:txBody>
                  <a:tcPr>
                    <a:solidFill>
                      <a:srgbClr val="FAFCFE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17324D"/>
                          </a:solidFill>
                          <a:latin typeface="STHeiti Medium"/>
                          <a:ea typeface="STHeiti Medium"/>
                        </a:rPr>
                        <a:t>3.11%</a:t>
                      </a:r>
                    </a:p>
                  </a:txBody>
                  <a:tcPr>
                    <a:solidFill>
                      <a:srgbClr val="FAFCFE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5A6A7A"/>
                          </a:solidFill>
                          <a:latin typeface="STHeiti Medium"/>
                          <a:ea typeface="STHeiti Medium"/>
                        </a:rPr>
                        <a:t>10.80%</a:t>
                      </a:r>
                    </a:p>
                  </a:txBody>
                  <a:tcPr>
                    <a:solidFill>
                      <a:srgbClr val="FAFCFE"/>
                    </a:solidFill>
                  </a:tcPr>
                </a:tc>
              </a:tr>
              <a:tr h="292608"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17324D"/>
                          </a:solidFill>
                          <a:latin typeface="STHeiti Medium"/>
                          <a:ea typeface="STHeiti Medium"/>
                        </a:rPr>
                        <a:t>80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17324D"/>
                          </a:solidFill>
                          <a:latin typeface="STHeiti Medium"/>
                          <a:ea typeface="STHeiti Medium"/>
                        </a:rPr>
                        <a:t>80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2A3A4A"/>
                          </a:solidFill>
                          <a:latin typeface="STHeiti Medium"/>
                          <a:ea typeface="STHeiti Medium"/>
                        </a:rPr>
                        <a:t>27,529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0E1F32"/>
                          </a:solidFill>
                          <a:latin typeface="STHeiti Medium"/>
                          <a:ea typeface="STHeiti Medium"/>
                        </a:rPr>
                        <a:t>35,000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E1F32"/>
                          </a:solidFill>
                          <a:latin typeface="STHeiti Medium"/>
                          <a:ea typeface="STHeiti Medium"/>
                        </a:rPr>
                        <a:t>2,625,000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17324D"/>
                          </a:solidFill>
                          <a:latin typeface="STHeiti Medium"/>
                          <a:ea typeface="STHeiti Medium"/>
                        </a:rPr>
                        <a:t>3,405,412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9A7A4A"/>
                          </a:solidFill>
                          <a:latin typeface="STHeiti Medium"/>
                          <a:ea typeface="STHeiti Medium"/>
                        </a:rPr>
                        <a:t>6,030,412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17324D"/>
                          </a:solidFill>
                          <a:latin typeface="STHeiti Medium"/>
                          <a:ea typeface="STHeiti Medium"/>
                        </a:rPr>
                        <a:t>3.16%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5A6A7A"/>
                          </a:solidFill>
                          <a:latin typeface="STHeiti Medium"/>
                          <a:ea typeface="STHeiti Medium"/>
                        </a:rPr>
                        <a:t>13.83%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17324D"/>
                          </a:solidFill>
                          <a:latin typeface="STHeiti Medium"/>
                          <a:ea typeface="STHeiti Medium"/>
                        </a:rPr>
                        <a:t>90</a:t>
                      </a:r>
                    </a:p>
                  </a:txBody>
                  <a:tcPr>
                    <a:solidFill>
                      <a:srgbClr val="FAFCFE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17324D"/>
                          </a:solidFill>
                          <a:latin typeface="STHeiti Medium"/>
                          <a:ea typeface="STHeiti Medium"/>
                        </a:rPr>
                        <a:t>90</a:t>
                      </a:r>
                    </a:p>
                  </a:txBody>
                  <a:tcPr>
                    <a:solidFill>
                      <a:srgbClr val="FAFCFE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2A3A4A"/>
                          </a:solidFill>
                          <a:latin typeface="STHeiti Medium"/>
                          <a:ea typeface="STHeiti Medium"/>
                        </a:rPr>
                        <a:t>25,529</a:t>
                      </a:r>
                    </a:p>
                  </a:txBody>
                  <a:tcPr>
                    <a:solidFill>
                      <a:srgbClr val="FAFCFE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0E1F32"/>
                          </a:solidFill>
                          <a:latin typeface="STHeiti Medium"/>
                          <a:ea typeface="STHeiti Medium"/>
                        </a:rPr>
                        <a:t>35,000</a:t>
                      </a:r>
                    </a:p>
                  </a:txBody>
                  <a:tcPr>
                    <a:solidFill>
                      <a:srgbClr val="FAFCFE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E1F32"/>
                          </a:solidFill>
                          <a:latin typeface="STHeiti Medium"/>
                          <a:ea typeface="STHeiti Medium"/>
                        </a:rPr>
                        <a:t>2,975,000</a:t>
                      </a:r>
                    </a:p>
                  </a:txBody>
                  <a:tcPr>
                    <a:solidFill>
                      <a:srgbClr val="FAFCFE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17324D"/>
                          </a:solidFill>
                          <a:latin typeface="STHeiti Medium"/>
                          <a:ea typeface="STHeiti Medium"/>
                        </a:rPr>
                        <a:t>6,046,899</a:t>
                      </a:r>
                    </a:p>
                  </a:txBody>
                  <a:tcPr>
                    <a:solidFill>
                      <a:srgbClr val="FAFCFE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9A7A4A"/>
                          </a:solidFill>
                          <a:latin typeface="STHeiti Medium"/>
                          <a:ea typeface="STHeiti Medium"/>
                        </a:rPr>
                        <a:t>9,021,899</a:t>
                      </a:r>
                    </a:p>
                  </a:txBody>
                  <a:tcPr>
                    <a:solidFill>
                      <a:srgbClr val="FAFCFE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17324D"/>
                          </a:solidFill>
                          <a:latin typeface="STHeiti Medium"/>
                          <a:ea typeface="STHeiti Medium"/>
                        </a:rPr>
                        <a:t>3.27%</a:t>
                      </a:r>
                    </a:p>
                  </a:txBody>
                  <a:tcPr>
                    <a:solidFill>
                      <a:srgbClr val="FAFCFE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5A6A7A"/>
                          </a:solidFill>
                          <a:latin typeface="STHeiti Medium"/>
                          <a:ea typeface="STHeiti Medium"/>
                        </a:rPr>
                        <a:t>18.94%</a:t>
                      </a:r>
                    </a:p>
                  </a:txBody>
                  <a:tcPr>
                    <a:solidFill>
                      <a:srgbClr val="FAFCFE"/>
                    </a:solidFill>
                  </a:tcPr>
                </a:tc>
              </a:tr>
              <a:tr h="292608"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17324D"/>
                          </a:solidFill>
                          <a:latin typeface="STHeiti Medium"/>
                          <a:ea typeface="STHeiti Medium"/>
                        </a:rPr>
                        <a:t>100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17324D"/>
                          </a:solidFill>
                          <a:latin typeface="STHeiti Medium"/>
                          <a:ea typeface="STHeiti Medium"/>
                        </a:rPr>
                        <a:t>100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2A3A4A"/>
                          </a:solidFill>
                          <a:latin typeface="STHeiti Medium"/>
                          <a:ea typeface="STHeiti Medium"/>
                        </a:rPr>
                        <a:t>24,482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0E1F32"/>
                          </a:solidFill>
                          <a:latin typeface="STHeiti Medium"/>
                          <a:ea typeface="STHeiti Medium"/>
                        </a:rPr>
                        <a:t>35,000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E1F32"/>
                          </a:solidFill>
                          <a:latin typeface="STHeiti Medium"/>
                          <a:ea typeface="STHeiti Medium"/>
                        </a:rPr>
                        <a:t>3,325,000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17324D"/>
                          </a:solidFill>
                          <a:latin typeface="STHeiti Medium"/>
                          <a:ea typeface="STHeiti Medium"/>
                        </a:rPr>
                        <a:t>11,061,286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9A7A4A"/>
                          </a:solidFill>
                          <a:latin typeface="STHeiti Medium"/>
                          <a:ea typeface="STHeiti Medium"/>
                        </a:rPr>
                        <a:t>14,386,286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17324D"/>
                          </a:solidFill>
                          <a:latin typeface="STHeiti Medium"/>
                          <a:ea typeface="STHeiti Medium"/>
                        </a:rPr>
                        <a:t>3.42%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5A6A7A"/>
                          </a:solidFill>
                          <a:latin typeface="STHeiti Medium"/>
                          <a:ea typeface="STHeiti Medium"/>
                        </a:rPr>
                        <a:t>27.77%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17324D"/>
                          </a:solidFill>
                          <a:latin typeface="STHeiti Medium"/>
                          <a:ea typeface="STHeiti Medium"/>
                        </a:rPr>
                        <a:t>110</a:t>
                      </a:r>
                    </a:p>
                  </a:txBody>
                  <a:tcPr>
                    <a:solidFill>
                      <a:srgbClr val="FAFCFE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17324D"/>
                          </a:solidFill>
                          <a:latin typeface="STHeiti Medium"/>
                          <a:ea typeface="STHeiti Medium"/>
                        </a:rPr>
                        <a:t>110</a:t>
                      </a:r>
                    </a:p>
                  </a:txBody>
                  <a:tcPr>
                    <a:solidFill>
                      <a:srgbClr val="FAFCFE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2A3A4A"/>
                          </a:solidFill>
                          <a:latin typeface="STHeiti Medium"/>
                          <a:ea typeface="STHeiti Medium"/>
                        </a:rPr>
                        <a:t>23,931</a:t>
                      </a:r>
                    </a:p>
                  </a:txBody>
                  <a:tcPr>
                    <a:solidFill>
                      <a:srgbClr val="FAFCFE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0E1F32"/>
                          </a:solidFill>
                          <a:latin typeface="STHeiti Medium"/>
                          <a:ea typeface="STHeiti Medium"/>
                        </a:rPr>
                        <a:t>35,000</a:t>
                      </a:r>
                    </a:p>
                  </a:txBody>
                  <a:tcPr>
                    <a:solidFill>
                      <a:srgbClr val="FAFCFE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E1F32"/>
                          </a:solidFill>
                          <a:latin typeface="STHeiti Medium"/>
                          <a:ea typeface="STHeiti Medium"/>
                        </a:rPr>
                        <a:t>3,675,000</a:t>
                      </a:r>
                    </a:p>
                  </a:txBody>
                  <a:tcPr>
                    <a:solidFill>
                      <a:srgbClr val="FAFCFE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17324D"/>
                          </a:solidFill>
                          <a:latin typeface="STHeiti Medium"/>
                          <a:ea typeface="STHeiti Medium"/>
                        </a:rPr>
                        <a:t>20,379,498</a:t>
                      </a:r>
                    </a:p>
                  </a:txBody>
                  <a:tcPr>
                    <a:solidFill>
                      <a:srgbClr val="FAFCFE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9A7A4A"/>
                          </a:solidFill>
                          <a:latin typeface="STHeiti Medium"/>
                          <a:ea typeface="STHeiti Medium"/>
                        </a:rPr>
                        <a:t>24,054,498</a:t>
                      </a:r>
                    </a:p>
                  </a:txBody>
                  <a:tcPr>
                    <a:solidFill>
                      <a:srgbClr val="FAFCFE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17324D"/>
                          </a:solidFill>
                          <a:latin typeface="STHeiti Medium"/>
                          <a:ea typeface="STHeiti Medium"/>
                        </a:rPr>
                        <a:t>3.58%</a:t>
                      </a:r>
                    </a:p>
                  </a:txBody>
                  <a:tcPr>
                    <a:solidFill>
                      <a:srgbClr val="FAFCFE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5A6A7A"/>
                          </a:solidFill>
                          <a:latin typeface="STHeiti Medium"/>
                          <a:ea typeface="STHeiti Medium"/>
                        </a:rPr>
                        <a:t>42.83%</a:t>
                      </a:r>
                    </a:p>
                  </a:txBody>
                  <a:tcPr>
                    <a:solidFill>
                      <a:srgbClr val="FAFCFE"/>
                    </a:solidFill>
                  </a:tcPr>
                </a:tc>
              </a:tr>
              <a:tr h="292608"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17324D"/>
                          </a:solidFill>
                          <a:latin typeface="STHeiti Medium"/>
                          <a:ea typeface="STHeiti Medium"/>
                        </a:rPr>
                        <a:t>120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17324D"/>
                          </a:solidFill>
                          <a:latin typeface="STHeiti Medium"/>
                          <a:ea typeface="STHeiti Medium"/>
                        </a:rPr>
                        <a:t>120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2A3A4A"/>
                          </a:solidFill>
                          <a:latin typeface="STHeiti Medium"/>
                          <a:ea typeface="STHeiti Medium"/>
                        </a:rPr>
                        <a:t>23,636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0E1F32"/>
                          </a:solidFill>
                          <a:latin typeface="STHeiti Medium"/>
                          <a:ea typeface="STHeiti Medium"/>
                        </a:rPr>
                        <a:t>35,000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E1F32"/>
                          </a:solidFill>
                          <a:latin typeface="STHeiti Medium"/>
                          <a:ea typeface="STHeiti Medium"/>
                        </a:rPr>
                        <a:t>4,025,000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17324D"/>
                          </a:solidFill>
                          <a:latin typeface="STHeiti Medium"/>
                          <a:ea typeface="STHeiti Medium"/>
                        </a:rPr>
                        <a:t>37,662,042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9A7A4A"/>
                          </a:solidFill>
                          <a:latin typeface="STHeiti Medium"/>
                          <a:ea typeface="STHeiti Medium"/>
                        </a:rPr>
                        <a:t>41,687,042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17324D"/>
                          </a:solidFill>
                          <a:latin typeface="STHeiti Medium"/>
                          <a:ea typeface="STHeiti Medium"/>
                        </a:rPr>
                        <a:t>3.75%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5A6A7A"/>
                          </a:solidFill>
                          <a:latin typeface="STHeiti Medium"/>
                          <a:ea typeface="STHeiti Medium"/>
                        </a:rPr>
                        <a:t>68.65%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17324D"/>
                          </a:solidFill>
                          <a:latin typeface="STHeiti Medium"/>
                          <a:ea typeface="STHeiti Medium"/>
                        </a:rPr>
                        <a:t>35000</a:t>
                      </a:r>
                    </a:p>
                  </a:txBody>
                  <a:tcPr>
                    <a:solidFill>
                      <a:srgbClr val="FAFCFE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17324D"/>
                          </a:solidFill>
                          <a:latin typeface="STHeiti Medium"/>
                          <a:ea typeface="STHeiti Medium"/>
                        </a:rPr>
                        <a:t>35000</a:t>
                      </a:r>
                    </a:p>
                  </a:txBody>
                  <a:tcPr>
                    <a:solidFill>
                      <a:srgbClr val="FAFCFE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2A3A4A"/>
                          </a:solidFill>
                          <a:latin typeface="STHeiti Medium"/>
                          <a:ea typeface="STHeiti Medium"/>
                        </a:rPr>
                        <a:t>23,491</a:t>
                      </a:r>
                    </a:p>
                  </a:txBody>
                  <a:tcPr>
                    <a:solidFill>
                      <a:srgbClr val="FAFCFE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0E1F32"/>
                          </a:solidFill>
                          <a:latin typeface="STHeiti Medium"/>
                          <a:ea typeface="STHeiti Medium"/>
                        </a:rPr>
                        <a:t>50,311</a:t>
                      </a:r>
                    </a:p>
                  </a:txBody>
                  <a:tcPr>
                    <a:solidFill>
                      <a:srgbClr val="FAFCFE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E1F32"/>
                          </a:solidFill>
                          <a:latin typeface="STHeiti Medium"/>
                          <a:ea typeface="STHeiti Medium"/>
                        </a:rPr>
                        <a:t>4,390,311</a:t>
                      </a:r>
                    </a:p>
                  </a:txBody>
                  <a:tcPr>
                    <a:solidFill>
                      <a:srgbClr val="FAFCFE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17324D"/>
                          </a:solidFill>
                          <a:latin typeface="STHeiti Medium"/>
                          <a:ea typeface="STHeiti Medium"/>
                        </a:rPr>
                        <a:t>65,772,432</a:t>
                      </a:r>
                    </a:p>
                  </a:txBody>
                  <a:tcPr>
                    <a:solidFill>
                      <a:srgbClr val="FAFCFE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9A7A4A"/>
                          </a:solidFill>
                          <a:latin typeface="STHeiti Medium"/>
                          <a:ea typeface="STHeiti Medium"/>
                        </a:rPr>
                        <a:t>70,162,743</a:t>
                      </a:r>
                    </a:p>
                  </a:txBody>
                  <a:tcPr>
                    <a:solidFill>
                      <a:srgbClr val="FAFCFE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17324D"/>
                          </a:solidFill>
                          <a:latin typeface="STHeiti Medium"/>
                          <a:ea typeface="STHeiti Medium"/>
                        </a:rPr>
                        <a:t>0.01%</a:t>
                      </a:r>
                    </a:p>
                  </a:txBody>
                  <a:tcPr>
                    <a:solidFill>
                      <a:srgbClr val="FAFCFE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5A6A7A"/>
                          </a:solidFill>
                          <a:latin typeface="STHeiti Medium"/>
                          <a:ea typeface="STHeiti Medium"/>
                        </a:rPr>
                        <a:t>0.40%</a:t>
                      </a:r>
                    </a:p>
                  </a:txBody>
                  <a:tcPr>
                    <a:solidFill>
                      <a:srgbClr val="FAFCFE"/>
                    </a:solidFill>
                  </a:tcPr>
                </a:tc>
              </a:tr>
            </a:tbl>
          </a:graphicData>
        </a:graphic>
      </p:graphicFrame>
      <p:sp>
        <p:nvSpPr>
          <p:cNvPr id="10" name="Rectangle 9"/>
          <p:cNvSpPr/>
          <p:nvPr/>
        </p:nvSpPr>
        <p:spPr>
          <a:xfrm>
            <a:off x="365760" y="6080760"/>
            <a:ext cx="11430000" cy="5029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65760" y="6080760"/>
            <a:ext cx="73152" cy="502920"/>
          </a:xfrm>
          <a:prstGeom prst="rect">
            <a:avLst/>
          </a:prstGeom>
          <a:solidFill>
            <a:srgbClr val="1732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6126480"/>
            <a:ext cx="274320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1">
                <a:solidFill>
                  <a:srgbClr val="17324D"/>
                </a:solidFill>
                <a:latin typeface="Calibri"/>
                <a:ea typeface="STHeiti Medium"/>
              </a:rPr>
              <a:t>数据口径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6400800"/>
            <a:ext cx="10972800" cy="2286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850" b="0">
                <a:solidFill>
                  <a:srgbClr val="2A3A4A"/>
                </a:solidFill>
                <a:latin typeface="Calibri"/>
                <a:ea typeface="STHeiti Medium"/>
              </a:rPr>
              <a:t>· Y6 起每年提取 USD 35,000    · 累计已领+退保现价 = 年提取累计 + 期末退保发还金额    · 复利IRR = (累计+退保现价)/保费^(1/年数)-1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6656832"/>
            <a:ext cx="11430000" cy="1828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800" b="0">
                <a:solidFill>
                  <a:srgbClr val="5A6A7A"/>
                </a:solidFill>
                <a:latin typeface="Calibri"/>
                <a:ea typeface="STHeiti Medium"/>
              </a:rPr>
              <a:t>数据来源：中国太平官方计划书 第5部分（现金提取）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C9A8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5486400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000" b="1">
                <a:solidFill>
                  <a:srgbClr val="17324D"/>
                </a:solidFill>
                <a:latin typeface="Calibri"/>
                <a:ea typeface="STHeiti Medium"/>
              </a:rPr>
              <a:t>CHINA TP  |  中国太平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164592"/>
            <a:ext cx="1371600" cy="292608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900" b="0">
                <a:solidFill>
                  <a:srgbClr val="5A6A7A"/>
                </a:solidFill>
                <a:latin typeface="Calibri"/>
                <a:ea typeface="STHeiti Medium"/>
              </a:rPr>
              <a:t>07 / 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"/>
            <a:ext cx="10972800" cy="6400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3600" b="1">
                <a:solidFill>
                  <a:srgbClr val="17324D"/>
                </a:solidFill>
                <a:latin typeface="Calibri"/>
                <a:ea typeface="STHeiti Medium"/>
              </a:rPr>
              <a:t>不提领 vs 提领 · 总收益对比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234440"/>
            <a:ext cx="1097280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400" b="0">
                <a:solidFill>
                  <a:srgbClr val="5A6A7A"/>
                </a:solidFill>
                <a:latin typeface="Calibri"/>
                <a:ea typeface="STHeiti Medium"/>
              </a:rPr>
              <a:t>累计已领 + 期末退保现价 · 关键年限对比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554480"/>
            <a:ext cx="548640" cy="36576"/>
          </a:xfrm>
          <a:prstGeom prst="rect">
            <a:avLst/>
          </a:prstGeom>
          <a:solidFill>
            <a:srgbClr val="1732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9" name="Chart 8"/>
          <p:cNvGraphicFramePr>
            <a:graphicFrameLocks noGrp="1"/>
          </p:cNvGraphicFramePr>
          <p:nvPr/>
        </p:nvGraphicFramePr>
        <p:xfrm>
          <a:off x="365760" y="1691640"/>
          <a:ext cx="6858000" cy="45720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0" name="Rectangle 9"/>
          <p:cNvSpPr/>
          <p:nvPr/>
        </p:nvSpPr>
        <p:spPr>
          <a:xfrm>
            <a:off x="7406640" y="1737360"/>
            <a:ext cx="274320" cy="36576"/>
          </a:xfrm>
          <a:prstGeom prst="rect">
            <a:avLst/>
          </a:prstGeom>
          <a:solidFill>
            <a:srgbClr val="1732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863840" y="1691640"/>
            <a:ext cx="4571999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400" b="1">
                <a:solidFill>
                  <a:srgbClr val="17324D"/>
                </a:solidFill>
                <a:latin typeface="Calibri"/>
                <a:ea typeface="STHeiti Medium"/>
              </a:rPr>
              <a:t>不提领 vs 提领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406640" y="2286000"/>
            <a:ext cx="4572000" cy="16459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406640" y="2286000"/>
            <a:ext cx="73152" cy="1645920"/>
          </a:xfrm>
          <a:prstGeom prst="rect">
            <a:avLst/>
          </a:prstGeom>
          <a:solidFill>
            <a:srgbClr val="1732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680960" y="2377440"/>
            <a:ext cx="4571999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200" b="1">
                <a:solidFill>
                  <a:srgbClr val="17324D"/>
                </a:solidFill>
                <a:latin typeface="Calibri"/>
                <a:ea typeface="STHeiti Medium"/>
              </a:rPr>
              <a:t>📈 不提领策略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80960" y="2651760"/>
            <a:ext cx="4571999" cy="10972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850" b="0">
                <a:solidFill>
                  <a:srgbClr val="2A3A4A"/>
                </a:solidFill>
                <a:latin typeface="Calibri"/>
                <a:ea typeface="STHeiti Medium"/>
              </a:rPr>
              <a:t>账户价值持续滚存，享受复利增长</a:t>
            </a:r>
          </a:p>
          <a:p>
            <a:pPr algn="l"/>
            <a:r>
              <a:rPr sz="850" b="0">
                <a:solidFill>
                  <a:srgbClr val="2A3A4A"/>
                </a:solidFill>
                <a:latin typeface="Calibri"/>
                <a:ea typeface="STHeiti Medium"/>
              </a:rPr>
              <a:t>适合：长期财富传承需求</a:t>
            </a:r>
          </a:p>
          <a:p>
            <a:pPr algn="l"/>
            <a:r>
              <a:rPr sz="850" b="0">
                <a:solidFill>
                  <a:srgbClr val="2A3A4A"/>
                </a:solidFill>
                <a:latin typeface="Calibri"/>
                <a:ea typeface="STHeiti Medium"/>
              </a:rPr>
              <a:t>无需现金流补充的场景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406640" y="4114800"/>
            <a:ext cx="4572000" cy="16459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406640" y="4114800"/>
            <a:ext cx="73152" cy="1645920"/>
          </a:xfrm>
          <a:prstGeom prst="rect">
            <a:avLst/>
          </a:prstGeom>
          <a:solidFill>
            <a:srgbClr val="C9A8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80960" y="4206240"/>
            <a:ext cx="4571999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200" b="1">
                <a:solidFill>
                  <a:srgbClr val="17324D"/>
                </a:solidFill>
                <a:latin typeface="Calibri"/>
                <a:ea typeface="STHeiti Medium"/>
              </a:rPr>
              <a:t>💳 提领策略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680960" y="4480560"/>
            <a:ext cx="4571999" cy="10972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850" b="0">
                <a:solidFill>
                  <a:srgbClr val="2A3A4A"/>
                </a:solidFill>
                <a:latin typeface="Calibri"/>
                <a:ea typeface="STHeiti Medium"/>
              </a:rPr>
              <a:t>定期提取现金补充现金流</a:t>
            </a:r>
          </a:p>
          <a:p>
            <a:pPr algn="l"/>
            <a:r>
              <a:rPr sz="850" b="0">
                <a:solidFill>
                  <a:srgbClr val="2A3A4A"/>
                </a:solidFill>
                <a:latin typeface="Calibri"/>
                <a:ea typeface="STHeiti Medium"/>
              </a:rPr>
              <a:t>适合：教育金/养老金规划</a:t>
            </a:r>
          </a:p>
          <a:p>
            <a:pPr algn="l"/>
            <a:r>
              <a:rPr sz="850" b="0">
                <a:solidFill>
                  <a:srgbClr val="2A3A4A"/>
                </a:solidFill>
                <a:latin typeface="Calibri"/>
                <a:ea typeface="STHeiti Medium"/>
              </a:rPr>
              <a:t>兼顾当下现金流与长期增长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" y="6400800"/>
            <a:ext cx="11430000" cy="2286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700" b="0">
                <a:solidFill>
                  <a:srgbClr val="5A6A7A"/>
                </a:solidFill>
                <a:latin typeface="Calibri"/>
                <a:ea typeface="STHeiti Medium"/>
              </a:rPr>
              <a:t>注：纵轴使用对数刻度；不提领按退保发还总额计算，提领按累计已领+退保现价计算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C9A8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5486400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000" b="1">
                <a:solidFill>
                  <a:srgbClr val="17324D"/>
                </a:solidFill>
                <a:latin typeface="Calibri"/>
                <a:ea typeface="STHeiti Medium"/>
              </a:rPr>
              <a:t>CHINA TP  |  中国太平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164592"/>
            <a:ext cx="1371600" cy="292608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900" b="0">
                <a:solidFill>
                  <a:srgbClr val="5A6A7A"/>
                </a:solidFill>
                <a:latin typeface="Calibri"/>
                <a:ea typeface="STHeiti Medium"/>
              </a:rPr>
              <a:t>08 / 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"/>
            <a:ext cx="10972800" cy="6400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3600" b="1">
                <a:solidFill>
                  <a:srgbClr val="17324D"/>
                </a:solidFill>
                <a:latin typeface="Calibri"/>
                <a:ea typeface="STHeiti Medium"/>
              </a:rPr>
              <a:t>教育金现金流 · 与受保人年龄节点结合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234440"/>
            <a:ext cx="1097280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400" b="0">
                <a:solidFill>
                  <a:srgbClr val="5A6A7A"/>
                </a:solidFill>
                <a:latin typeface="Calibri"/>
                <a:ea typeface="STHeiti Medium"/>
              </a:rPr>
              <a:t>保单年度 6 起每年提取 USD 35,000 · 从小学到大学的稳健现金流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554480"/>
            <a:ext cx="548640" cy="36576"/>
          </a:xfrm>
          <a:prstGeom prst="rect">
            <a:avLst/>
          </a:prstGeom>
          <a:solidFill>
            <a:srgbClr val="1732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1874519"/>
            <a:ext cx="11277295" cy="27432"/>
          </a:xfrm>
          <a:prstGeom prst="rect">
            <a:avLst/>
          </a:prstGeom>
          <a:solidFill>
            <a:srgbClr val="1732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444752" y="1819655"/>
            <a:ext cx="146304" cy="146304"/>
          </a:xfrm>
          <a:prstGeom prst="rect">
            <a:avLst/>
          </a:prstGeom>
          <a:solidFill>
            <a:srgbClr val="C9A8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1463039"/>
            <a:ext cx="2121408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1100" b="1">
                <a:solidFill>
                  <a:srgbClr val="17324D"/>
                </a:solidFill>
                <a:latin typeface="Calibri"/>
                <a:ea typeface="STHeiti Medium"/>
              </a:rPr>
              <a:t>6-12岁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2194560"/>
            <a:ext cx="2121408" cy="3657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57200" y="5349240"/>
            <a:ext cx="2121408" cy="502920"/>
          </a:xfrm>
          <a:prstGeom prst="rect">
            <a:avLst/>
          </a:prstGeom>
          <a:solidFill>
            <a:srgbClr val="2A48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5394960"/>
            <a:ext cx="2121408" cy="4114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1500" b="1">
                <a:solidFill>
                  <a:srgbClr val="FAFCFE"/>
                </a:solidFill>
                <a:latin typeface="Calibri"/>
                <a:ea typeface="STHeiti Medium"/>
              </a:rPr>
              <a:t>小学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5074920"/>
            <a:ext cx="2121408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900" b="0">
                <a:solidFill>
                  <a:srgbClr val="5A6A7A"/>
                </a:solidFill>
                <a:latin typeface="Calibri"/>
                <a:ea typeface="STHeiti Medium"/>
              </a:rPr>
              <a:t>Y6-Y12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4480560"/>
            <a:ext cx="2121408" cy="2286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900" b="0">
                <a:solidFill>
                  <a:srgbClr val="5A6A7A"/>
                </a:solidFill>
                <a:latin typeface="Calibri"/>
                <a:ea typeface="STHeiti Medium"/>
              </a:rPr>
              <a:t>累计已领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3931920"/>
            <a:ext cx="2121408" cy="4572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1500" b="1">
                <a:solidFill>
                  <a:srgbClr val="2A4866"/>
                </a:solidFill>
                <a:latin typeface="Calibri"/>
                <a:ea typeface="STHeiti Medium"/>
              </a:rPr>
              <a:t>USD 245,000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0080" y="3566160"/>
            <a:ext cx="1755648" cy="18288"/>
          </a:xfrm>
          <a:prstGeom prst="rect">
            <a:avLst/>
          </a:prstGeom>
          <a:solidFill>
            <a:srgbClr val="D0D8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94360" y="2834640"/>
            <a:ext cx="1847088" cy="6400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900" b="0">
                <a:solidFill>
                  <a:srgbClr val="2A3A4A"/>
                </a:solidFill>
                <a:latin typeface="Calibri"/>
                <a:ea typeface="STHeiti Medium"/>
              </a:rPr>
              <a:t>每年 35K</a:t>
            </a:r>
          </a:p>
          <a:p>
            <a:pPr algn="ctr"/>
            <a:r>
              <a:rPr sz="900" b="0">
                <a:solidFill>
                  <a:srgbClr val="2A3A4A"/>
                </a:solidFill>
                <a:latin typeface="Calibri"/>
                <a:ea typeface="STHeiti Medium"/>
              </a:rPr>
              <a:t>兴趣班/课外辅导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2377440"/>
            <a:ext cx="2121408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850" b="1">
                <a:solidFill>
                  <a:srgbClr val="17324D"/>
                </a:solidFill>
                <a:latin typeface="Calibri"/>
                <a:ea typeface="STHeiti Medium"/>
              </a:rPr>
              <a:t>保单现价 USD 437,204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703320" y="1819655"/>
            <a:ext cx="146304" cy="146304"/>
          </a:xfrm>
          <a:prstGeom prst="rect">
            <a:avLst/>
          </a:prstGeom>
          <a:solidFill>
            <a:srgbClr val="C9A8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715768" y="1463039"/>
            <a:ext cx="2121408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1100" b="1">
                <a:solidFill>
                  <a:srgbClr val="17324D"/>
                </a:solidFill>
                <a:latin typeface="Calibri"/>
                <a:ea typeface="STHeiti Medium"/>
              </a:rPr>
              <a:t>13-15岁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715768" y="2194560"/>
            <a:ext cx="2121408" cy="3657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2715768" y="5349240"/>
            <a:ext cx="2121408" cy="502920"/>
          </a:xfrm>
          <a:prstGeom prst="rect">
            <a:avLst/>
          </a:prstGeom>
          <a:solidFill>
            <a:srgbClr val="1732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715768" y="5394960"/>
            <a:ext cx="2121408" cy="4114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1500" b="1">
                <a:solidFill>
                  <a:srgbClr val="FAFCFE"/>
                </a:solidFill>
                <a:latin typeface="Calibri"/>
                <a:ea typeface="STHeiti Medium"/>
              </a:rPr>
              <a:t>初中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715768" y="5074920"/>
            <a:ext cx="2121408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900" b="0">
                <a:solidFill>
                  <a:srgbClr val="5A6A7A"/>
                </a:solidFill>
                <a:latin typeface="Calibri"/>
                <a:ea typeface="STHeiti Medium"/>
              </a:rPr>
              <a:t>Y13-Y15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715768" y="4480560"/>
            <a:ext cx="2121408" cy="2286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900" b="0">
                <a:solidFill>
                  <a:srgbClr val="5A6A7A"/>
                </a:solidFill>
                <a:latin typeface="Calibri"/>
                <a:ea typeface="STHeiti Medium"/>
              </a:rPr>
              <a:t>累计已领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715768" y="3931920"/>
            <a:ext cx="2121408" cy="4572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1500" b="1">
                <a:solidFill>
                  <a:srgbClr val="17324D"/>
                </a:solidFill>
                <a:latin typeface="Calibri"/>
                <a:ea typeface="STHeiti Medium"/>
              </a:rPr>
              <a:t>USD 350,000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898648" y="3566160"/>
            <a:ext cx="1755648" cy="18288"/>
          </a:xfrm>
          <a:prstGeom prst="rect">
            <a:avLst/>
          </a:prstGeom>
          <a:solidFill>
            <a:srgbClr val="D0D8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852928" y="2834640"/>
            <a:ext cx="1847088" cy="6400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900" b="0">
                <a:solidFill>
                  <a:srgbClr val="2A3A4A"/>
                </a:solidFill>
                <a:latin typeface="Calibri"/>
                <a:ea typeface="STHeiti Medium"/>
              </a:rPr>
              <a:t>每年 35K</a:t>
            </a:r>
          </a:p>
          <a:p>
            <a:pPr algn="ctr"/>
            <a:r>
              <a:rPr sz="900" b="0">
                <a:solidFill>
                  <a:srgbClr val="2A3A4A"/>
                </a:solidFill>
                <a:latin typeface="Calibri"/>
                <a:ea typeface="STHeiti Medium"/>
              </a:rPr>
              <a:t>升学辅导/素质拓展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715768" y="2377440"/>
            <a:ext cx="2121408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850" b="1">
                <a:solidFill>
                  <a:srgbClr val="17324D"/>
                </a:solidFill>
                <a:latin typeface="Calibri"/>
                <a:ea typeface="STHeiti Medium"/>
              </a:rPr>
              <a:t>保单现价 USD 452,574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961888" y="1819655"/>
            <a:ext cx="146304" cy="146304"/>
          </a:xfrm>
          <a:prstGeom prst="rect">
            <a:avLst/>
          </a:prstGeom>
          <a:solidFill>
            <a:srgbClr val="C9A8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974336" y="1463039"/>
            <a:ext cx="2121408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1100" b="1">
                <a:solidFill>
                  <a:srgbClr val="17324D"/>
                </a:solidFill>
                <a:latin typeface="Calibri"/>
                <a:ea typeface="STHeiti Medium"/>
              </a:rPr>
              <a:t>16-18岁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974336" y="2194560"/>
            <a:ext cx="2121408" cy="3657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4974336" y="5349240"/>
            <a:ext cx="2121408" cy="502920"/>
          </a:xfrm>
          <a:prstGeom prst="rect">
            <a:avLst/>
          </a:prstGeom>
          <a:solidFill>
            <a:srgbClr val="0E1F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974336" y="5394960"/>
            <a:ext cx="2121408" cy="4114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1500" b="1">
                <a:solidFill>
                  <a:srgbClr val="FAFCFE"/>
                </a:solidFill>
                <a:latin typeface="Calibri"/>
                <a:ea typeface="STHeiti Medium"/>
              </a:rPr>
              <a:t>高中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974336" y="5074920"/>
            <a:ext cx="2121408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900" b="0">
                <a:solidFill>
                  <a:srgbClr val="5A6A7A"/>
                </a:solidFill>
                <a:latin typeface="Calibri"/>
                <a:ea typeface="STHeiti Medium"/>
              </a:rPr>
              <a:t>Y16-Y18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974336" y="4480560"/>
            <a:ext cx="2121408" cy="2286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900" b="0">
                <a:solidFill>
                  <a:srgbClr val="5A6A7A"/>
                </a:solidFill>
                <a:latin typeface="Calibri"/>
                <a:ea typeface="STHeiti Medium"/>
              </a:rPr>
              <a:t>累计已领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974336" y="3931920"/>
            <a:ext cx="2121408" cy="4572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1500" b="1">
                <a:solidFill>
                  <a:srgbClr val="0E1F32"/>
                </a:solidFill>
                <a:latin typeface="Calibri"/>
                <a:ea typeface="STHeiti Medium"/>
              </a:rPr>
              <a:t>USD 455,000</a:t>
            </a:r>
          </a:p>
        </p:txBody>
      </p:sp>
      <p:sp>
        <p:nvSpPr>
          <p:cNvPr id="40" name="Rectangle 39"/>
          <p:cNvSpPr/>
          <p:nvPr/>
        </p:nvSpPr>
        <p:spPr>
          <a:xfrm>
            <a:off x="5157216" y="3566160"/>
            <a:ext cx="1755648" cy="18288"/>
          </a:xfrm>
          <a:prstGeom prst="rect">
            <a:avLst/>
          </a:prstGeom>
          <a:solidFill>
            <a:srgbClr val="D0D8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111496" y="2834640"/>
            <a:ext cx="1847088" cy="6400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900" b="0">
                <a:solidFill>
                  <a:srgbClr val="2A3A4A"/>
                </a:solidFill>
                <a:latin typeface="Calibri"/>
                <a:ea typeface="STHeiti Medium"/>
              </a:rPr>
              <a:t>每年 35K</a:t>
            </a:r>
          </a:p>
          <a:p>
            <a:pPr algn="ctr"/>
            <a:r>
              <a:rPr sz="900" b="0">
                <a:solidFill>
                  <a:srgbClr val="2A3A4A"/>
                </a:solidFill>
                <a:latin typeface="Calibri"/>
                <a:ea typeface="STHeiti Medium"/>
              </a:rPr>
              <a:t>国际课程/留学预备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974336" y="2377440"/>
            <a:ext cx="2121408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850" b="1">
                <a:solidFill>
                  <a:srgbClr val="17324D"/>
                </a:solidFill>
                <a:latin typeface="Calibri"/>
                <a:ea typeface="STHeiti Medium"/>
              </a:rPr>
              <a:t>保单现价 USD 494,820</a:t>
            </a:r>
          </a:p>
        </p:txBody>
      </p:sp>
      <p:sp>
        <p:nvSpPr>
          <p:cNvPr id="43" name="Rectangle 42"/>
          <p:cNvSpPr/>
          <p:nvPr/>
        </p:nvSpPr>
        <p:spPr>
          <a:xfrm>
            <a:off x="8220456" y="1819655"/>
            <a:ext cx="146304" cy="146304"/>
          </a:xfrm>
          <a:prstGeom prst="rect">
            <a:avLst/>
          </a:prstGeom>
          <a:solidFill>
            <a:srgbClr val="C9A8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7232904" y="1463039"/>
            <a:ext cx="2121408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1100" b="1">
                <a:solidFill>
                  <a:srgbClr val="17324D"/>
                </a:solidFill>
                <a:latin typeface="Calibri"/>
                <a:ea typeface="STHeiti Medium"/>
              </a:rPr>
              <a:t>19-22岁</a:t>
            </a:r>
          </a:p>
        </p:txBody>
      </p:sp>
      <p:sp>
        <p:nvSpPr>
          <p:cNvPr id="45" name="Rectangle 44"/>
          <p:cNvSpPr/>
          <p:nvPr/>
        </p:nvSpPr>
        <p:spPr>
          <a:xfrm>
            <a:off x="7232904" y="2194560"/>
            <a:ext cx="2121408" cy="3657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7232904" y="5349240"/>
            <a:ext cx="2121408" cy="502920"/>
          </a:xfrm>
          <a:prstGeom prst="rect">
            <a:avLst/>
          </a:prstGeom>
          <a:solidFill>
            <a:srgbClr val="9A7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232904" y="5394960"/>
            <a:ext cx="2121408" cy="4114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1500" b="1">
                <a:solidFill>
                  <a:srgbClr val="FAFCFE"/>
                </a:solidFill>
                <a:latin typeface="Calibri"/>
                <a:ea typeface="STHeiti Medium"/>
              </a:rPr>
              <a:t>大学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232904" y="5074920"/>
            <a:ext cx="2121408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900" b="0">
                <a:solidFill>
                  <a:srgbClr val="5A6A7A"/>
                </a:solidFill>
                <a:latin typeface="Calibri"/>
                <a:ea typeface="STHeiti Medium"/>
              </a:rPr>
              <a:t>Y19-Y22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232904" y="4480560"/>
            <a:ext cx="2121408" cy="2286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900" b="0">
                <a:solidFill>
                  <a:srgbClr val="5A6A7A"/>
                </a:solidFill>
                <a:latin typeface="Calibri"/>
                <a:ea typeface="STHeiti Medium"/>
              </a:rPr>
              <a:t>累计已领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232904" y="3931920"/>
            <a:ext cx="2121408" cy="4572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1500" b="1">
                <a:solidFill>
                  <a:srgbClr val="9A7A4A"/>
                </a:solidFill>
                <a:latin typeface="Calibri"/>
                <a:ea typeface="STHeiti Medium"/>
              </a:rPr>
              <a:t>USD 595,000</a:t>
            </a:r>
          </a:p>
        </p:txBody>
      </p:sp>
      <p:sp>
        <p:nvSpPr>
          <p:cNvPr id="51" name="Rectangle 50"/>
          <p:cNvSpPr/>
          <p:nvPr/>
        </p:nvSpPr>
        <p:spPr>
          <a:xfrm>
            <a:off x="7415784" y="3566160"/>
            <a:ext cx="1755648" cy="18288"/>
          </a:xfrm>
          <a:prstGeom prst="rect">
            <a:avLst/>
          </a:prstGeom>
          <a:solidFill>
            <a:srgbClr val="D0D8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7370064" y="2834640"/>
            <a:ext cx="1847088" cy="6400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900" b="0">
                <a:solidFill>
                  <a:srgbClr val="2A3A4A"/>
                </a:solidFill>
                <a:latin typeface="Calibri"/>
                <a:ea typeface="STHeiti Medium"/>
              </a:rPr>
              <a:t>每年 35K</a:t>
            </a:r>
          </a:p>
          <a:p>
            <a:pPr algn="ctr"/>
            <a:r>
              <a:rPr sz="900" b="0">
                <a:solidFill>
                  <a:srgbClr val="2A3A4A"/>
                </a:solidFill>
                <a:latin typeface="Calibri"/>
                <a:ea typeface="STHeiti Medium"/>
              </a:rPr>
              <a:t>学费/生活费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232904" y="2377440"/>
            <a:ext cx="2121408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850" b="1">
                <a:solidFill>
                  <a:srgbClr val="17324D"/>
                </a:solidFill>
                <a:latin typeface="Calibri"/>
                <a:ea typeface="STHeiti Medium"/>
              </a:rPr>
              <a:t>保单现价 USD 549,076</a:t>
            </a:r>
          </a:p>
        </p:txBody>
      </p:sp>
      <p:sp>
        <p:nvSpPr>
          <p:cNvPr id="54" name="Rectangle 53"/>
          <p:cNvSpPr/>
          <p:nvPr/>
        </p:nvSpPr>
        <p:spPr>
          <a:xfrm>
            <a:off x="10479024" y="1819655"/>
            <a:ext cx="146304" cy="146304"/>
          </a:xfrm>
          <a:prstGeom prst="rect">
            <a:avLst/>
          </a:prstGeom>
          <a:solidFill>
            <a:srgbClr val="C9A8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9491472" y="1463039"/>
            <a:ext cx="2121408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1100" b="1">
                <a:solidFill>
                  <a:srgbClr val="17324D"/>
                </a:solidFill>
                <a:latin typeface="Calibri"/>
                <a:ea typeface="STHeiti Medium"/>
              </a:rPr>
              <a:t>23-99岁</a:t>
            </a:r>
          </a:p>
        </p:txBody>
      </p:sp>
      <p:sp>
        <p:nvSpPr>
          <p:cNvPr id="56" name="Rectangle 55"/>
          <p:cNvSpPr/>
          <p:nvPr/>
        </p:nvSpPr>
        <p:spPr>
          <a:xfrm>
            <a:off x="9491472" y="2194560"/>
            <a:ext cx="2121408" cy="3657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9491472" y="5349240"/>
            <a:ext cx="2121408" cy="502920"/>
          </a:xfrm>
          <a:prstGeom prst="rect">
            <a:avLst/>
          </a:prstGeom>
          <a:solidFill>
            <a:srgbClr val="1732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9491472" y="5394960"/>
            <a:ext cx="2121408" cy="4114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1500" b="1">
                <a:solidFill>
                  <a:srgbClr val="DCC89A"/>
                </a:solidFill>
                <a:latin typeface="Calibri"/>
                <a:ea typeface="STHeiti Medium"/>
              </a:rPr>
              <a:t>研究生/创业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9491472" y="5074920"/>
            <a:ext cx="2121408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900" b="0">
                <a:solidFill>
                  <a:srgbClr val="5A6A7A"/>
                </a:solidFill>
                <a:latin typeface="Calibri"/>
                <a:ea typeface="STHeiti Medium"/>
              </a:rPr>
              <a:t>Y23-Y99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9491472" y="4480560"/>
            <a:ext cx="2121408" cy="2286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900" b="0">
                <a:solidFill>
                  <a:srgbClr val="5A6A7A"/>
                </a:solidFill>
                <a:latin typeface="Calibri"/>
                <a:ea typeface="STHeiti Medium"/>
              </a:rPr>
              <a:t>累计已领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9491472" y="3931920"/>
            <a:ext cx="2121408" cy="4572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1500" b="1">
                <a:solidFill>
                  <a:srgbClr val="17324D"/>
                </a:solidFill>
                <a:latin typeface="Calibri"/>
                <a:ea typeface="STHeiti Medium"/>
              </a:rPr>
              <a:t>USD 3,290,000</a:t>
            </a:r>
          </a:p>
        </p:txBody>
      </p:sp>
      <p:sp>
        <p:nvSpPr>
          <p:cNvPr id="62" name="Rectangle 61"/>
          <p:cNvSpPr/>
          <p:nvPr/>
        </p:nvSpPr>
        <p:spPr>
          <a:xfrm>
            <a:off x="9674352" y="3566160"/>
            <a:ext cx="1755648" cy="18288"/>
          </a:xfrm>
          <a:prstGeom prst="rect">
            <a:avLst/>
          </a:prstGeom>
          <a:solidFill>
            <a:srgbClr val="D0D8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9628632" y="2834640"/>
            <a:ext cx="1847088" cy="6400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900" b="0">
                <a:solidFill>
                  <a:srgbClr val="2A3A4A"/>
                </a:solidFill>
                <a:latin typeface="Calibri"/>
                <a:ea typeface="STHeiti Medium"/>
              </a:rPr>
              <a:t>每年 35K</a:t>
            </a:r>
          </a:p>
          <a:p>
            <a:pPr algn="ctr"/>
            <a:r>
              <a:rPr sz="900" b="0">
                <a:solidFill>
                  <a:srgbClr val="2A3A4A"/>
                </a:solidFill>
                <a:latin typeface="Calibri"/>
                <a:ea typeface="STHeiti Medium"/>
              </a:rPr>
              <a:t>灵活支取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9491472" y="2377440"/>
            <a:ext cx="2121408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850" b="1">
                <a:solidFill>
                  <a:srgbClr val="17324D"/>
                </a:solidFill>
                <a:latin typeface="Calibri"/>
                <a:ea typeface="STHeiti Medium"/>
              </a:rPr>
              <a:t>保单现价 USD 10,404,214</a:t>
            </a:r>
          </a:p>
        </p:txBody>
      </p:sp>
      <p:pic>
        <p:nvPicPr>
          <p:cNvPr id="65" name="Picture 64" descr="child-growth-0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6035040"/>
            <a:ext cx="2560320" cy="640080"/>
          </a:xfrm>
          <a:prstGeom prst="rect">
            <a:avLst/>
          </a:prstGeom>
        </p:spPr>
      </p:pic>
      <p:pic>
        <p:nvPicPr>
          <p:cNvPr id="66" name="Picture 65" descr="graduation-01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0" y="6035040"/>
            <a:ext cx="2560320" cy="640080"/>
          </a:xfrm>
          <a:prstGeom prst="rect">
            <a:avLst/>
          </a:prstGeom>
        </p:spPr>
      </p:pic>
      <p:pic>
        <p:nvPicPr>
          <p:cNvPr id="67" name="Picture 66" descr="family-outdoor-01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43600" y="6035040"/>
            <a:ext cx="2560320" cy="640080"/>
          </a:xfrm>
          <a:prstGeom prst="rect">
            <a:avLst/>
          </a:prstGeom>
        </p:spPr>
      </p:pic>
      <p:sp>
        <p:nvSpPr>
          <p:cNvPr id="68" name="TextBox 67"/>
          <p:cNvSpPr txBox="1"/>
          <p:nvPr/>
        </p:nvSpPr>
        <p:spPr>
          <a:xfrm>
            <a:off x="457200" y="6035040"/>
            <a:ext cx="11277295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1">
                <a:solidFill>
                  <a:srgbClr val="17324D"/>
                </a:solidFill>
                <a:latin typeface="Calibri"/>
                <a:ea typeface="STHeiti Medium"/>
              </a:rPr>
              <a:t>保单年度 6（受保人 6 岁）开始提领 → 精准覆盖小学到大学教育支出 → 本金持续滚存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457200" y="6400800"/>
            <a:ext cx="11277295" cy="2286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800" b="0">
                <a:solidFill>
                  <a:srgbClr val="5A6A7A"/>
                </a:solidFill>
                <a:latin typeface="Calibri"/>
                <a:ea typeface="STHeiti Medium"/>
              </a:rPr>
              <a:t>数据来源：中国太平官方计划书 第5部分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C9A8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5486400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000" b="1">
                <a:solidFill>
                  <a:srgbClr val="17324D"/>
                </a:solidFill>
                <a:latin typeface="Calibri"/>
                <a:ea typeface="STHeiti Medium"/>
              </a:rPr>
              <a:t>CHINA TP  |  中国太平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164592"/>
            <a:ext cx="1371600" cy="292608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900" b="0">
                <a:solidFill>
                  <a:srgbClr val="5A6A7A"/>
                </a:solidFill>
                <a:latin typeface="Calibri"/>
                <a:ea typeface="STHeiti Medium"/>
              </a:rPr>
              <a:t>09 / 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"/>
            <a:ext cx="10972800" cy="6400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3600" b="1">
                <a:solidFill>
                  <a:srgbClr val="17324D"/>
                </a:solidFill>
                <a:latin typeface="Calibri"/>
                <a:ea typeface="STHeiti Medium"/>
              </a:rPr>
              <a:t>重要事项声明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234440"/>
            <a:ext cx="1097280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400" b="0">
                <a:solidFill>
                  <a:srgbClr val="5A6A7A"/>
                </a:solidFill>
                <a:latin typeface="Calibri"/>
                <a:ea typeface="STHeiti Medium"/>
              </a:rPr>
              <a:t>Important Notes · 客户须知的风险与限制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554480"/>
            <a:ext cx="548640" cy="36576"/>
          </a:xfrm>
          <a:prstGeom prst="rect">
            <a:avLst/>
          </a:prstGeom>
          <a:solidFill>
            <a:srgbClr val="1732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1828800"/>
            <a:ext cx="5577840" cy="19202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1828800"/>
            <a:ext cx="5577840" cy="502920"/>
          </a:xfrm>
          <a:prstGeom prst="rect">
            <a:avLst/>
          </a:prstGeom>
          <a:solidFill>
            <a:srgbClr val="1732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1874520"/>
            <a:ext cx="731520" cy="4114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000" b="1">
                <a:solidFill>
                  <a:srgbClr val="C9A86A"/>
                </a:solidFill>
                <a:latin typeface="Calibri"/>
                <a:ea typeface="STHeiti Medium"/>
              </a:rPr>
              <a:t>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1874520"/>
            <a:ext cx="4480560" cy="4114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400" b="1">
                <a:solidFill>
                  <a:srgbClr val="FAFCFE"/>
                </a:solidFill>
                <a:latin typeface="Calibri"/>
                <a:ea typeface="STHeiti Medium"/>
              </a:rPr>
              <a:t>非保证利益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2468880"/>
            <a:ext cx="5212080" cy="6400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0">
                <a:solidFill>
                  <a:srgbClr val="2A3A4A"/>
                </a:solidFill>
                <a:latin typeface="Calibri"/>
                <a:ea typeface="STHeiti Medium"/>
              </a:rPr>
              <a:t>本计划所演示之非保证金额（包括复归红利及终期分红）乃基于现时假设投资回报计算，并非保证。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3108960"/>
            <a:ext cx="5212080" cy="6400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0">
                <a:solidFill>
                  <a:srgbClr val="2A3A4A"/>
                </a:solidFill>
                <a:latin typeface="Calibri"/>
                <a:ea typeface="STHeiti Medium"/>
              </a:rPr>
              <a:t>实际金额或会因投资市场波动而调整，在某些情况下非保证金额可能为零。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63640" y="1828800"/>
            <a:ext cx="5577840" cy="19202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263640" y="1828800"/>
            <a:ext cx="5577840" cy="502920"/>
          </a:xfrm>
          <a:prstGeom prst="rect">
            <a:avLst/>
          </a:prstGeom>
          <a:solidFill>
            <a:srgbClr val="1732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46520" y="1874520"/>
            <a:ext cx="731520" cy="4114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000" b="1">
                <a:solidFill>
                  <a:srgbClr val="C9A86A"/>
                </a:solidFill>
                <a:latin typeface="Calibri"/>
                <a:ea typeface="STHeiti Medium"/>
              </a:rPr>
              <a:t>02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178040" y="1874520"/>
            <a:ext cx="4480560" cy="4114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400" b="1">
                <a:solidFill>
                  <a:srgbClr val="FAFCFE"/>
                </a:solidFill>
                <a:latin typeface="Calibri"/>
                <a:ea typeface="STHeiti Medium"/>
              </a:rPr>
              <a:t>汇率风险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46520" y="2468880"/>
            <a:ext cx="5212080" cy="6400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0">
                <a:solidFill>
                  <a:srgbClr val="2A3A4A"/>
                </a:solidFill>
                <a:latin typeface="Calibri"/>
                <a:ea typeface="STHeiti Medium"/>
              </a:rPr>
              <a:t>若以保单货币（美元）以外的其他货币支付保费或收取利益，将按本公司不时厘定的汇率兑换。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46520" y="3108960"/>
            <a:ext cx="5212080" cy="6400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0">
                <a:solidFill>
                  <a:srgbClr val="2A3A4A"/>
                </a:solidFill>
                <a:latin typeface="Calibri"/>
                <a:ea typeface="STHeiti Medium"/>
              </a:rPr>
              <a:t>外币汇率波动可能影响实际支付金额。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3931920"/>
            <a:ext cx="5577840" cy="19202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57200" y="3931920"/>
            <a:ext cx="5577840" cy="502920"/>
          </a:xfrm>
          <a:prstGeom prst="rect">
            <a:avLst/>
          </a:prstGeom>
          <a:solidFill>
            <a:srgbClr val="1732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80" y="3977640"/>
            <a:ext cx="731520" cy="4114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000" b="1">
                <a:solidFill>
                  <a:srgbClr val="C9A86A"/>
                </a:solidFill>
                <a:latin typeface="Calibri"/>
                <a:ea typeface="STHeiti Medium"/>
              </a:rPr>
              <a:t>03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71600" y="3977640"/>
            <a:ext cx="4480560" cy="4114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400" b="1">
                <a:solidFill>
                  <a:srgbClr val="FAFCFE"/>
                </a:solidFill>
                <a:latin typeface="Calibri"/>
                <a:ea typeface="STHeiti Medium"/>
              </a:rPr>
              <a:t>提领限制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4572000"/>
            <a:ext cx="5212080" cy="6400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0">
                <a:solidFill>
                  <a:srgbClr val="2A3A4A"/>
                </a:solidFill>
                <a:latin typeface="Calibri"/>
                <a:ea typeface="STHeiti Medium"/>
              </a:rPr>
              <a:t>现金提取须符合本公司最低投保单位要求；若提取导致投保单位低于最低要求，则不可提取。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" y="5212080"/>
            <a:ext cx="5212080" cy="6400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0">
                <a:solidFill>
                  <a:srgbClr val="2A3A4A"/>
                </a:solidFill>
                <a:latin typeface="Calibri"/>
                <a:ea typeface="STHeiti Medium"/>
              </a:rPr>
              <a:t>所演示之提取金额基于非保证红利与分红，未必可维持。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263640" y="3931920"/>
            <a:ext cx="5577840" cy="19202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263640" y="3931920"/>
            <a:ext cx="5577840" cy="502920"/>
          </a:xfrm>
          <a:prstGeom prst="rect">
            <a:avLst/>
          </a:prstGeom>
          <a:solidFill>
            <a:srgbClr val="1732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46520" y="3977640"/>
            <a:ext cx="731520" cy="4114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000" b="1">
                <a:solidFill>
                  <a:srgbClr val="C9A86A"/>
                </a:solidFill>
                <a:latin typeface="Calibri"/>
                <a:ea typeface="STHeiti Medium"/>
              </a:rPr>
              <a:t>04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178040" y="3977640"/>
            <a:ext cx="4480560" cy="4114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400" b="1">
                <a:solidFill>
                  <a:srgbClr val="FAFCFE"/>
                </a:solidFill>
                <a:latin typeface="Calibri"/>
                <a:ea typeface="STHeiti Medium"/>
              </a:rPr>
              <a:t>通胀风险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46520" y="4572000"/>
            <a:ext cx="5212080" cy="6400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0">
                <a:solidFill>
                  <a:srgbClr val="2A3A4A"/>
                </a:solidFill>
                <a:latin typeface="Calibri"/>
                <a:ea typeface="STHeiti Medium"/>
              </a:rPr>
              <a:t>未来生活成本可能因通胀而上升；本计划之金额为名义金额，未必能完全追上通胀。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46520" y="5212080"/>
            <a:ext cx="5212080" cy="6400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0">
                <a:solidFill>
                  <a:srgbClr val="2A3A4A"/>
                </a:solidFill>
                <a:latin typeface="Calibri"/>
                <a:ea typeface="STHeiti Medium"/>
              </a:rPr>
              <a:t>建议结合其他投资工具作综合规划。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57200" y="5943600"/>
            <a:ext cx="11277295" cy="6400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457200" y="5943600"/>
            <a:ext cx="73152" cy="640080"/>
          </a:xfrm>
          <a:prstGeom prst="rect">
            <a:avLst/>
          </a:prstGeom>
          <a:solidFill>
            <a:srgbClr val="1732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0080" y="5989320"/>
            <a:ext cx="365760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1">
                <a:solidFill>
                  <a:srgbClr val="17324D"/>
                </a:solidFill>
                <a:latin typeface="Calibri"/>
                <a:ea typeface="STHeiti Medium"/>
              </a:rPr>
              <a:t>完整条款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0080" y="6263640"/>
            <a:ext cx="1097280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900" b="0">
                <a:solidFill>
                  <a:srgbClr val="2A3A4A"/>
                </a:solidFill>
                <a:latin typeface="Calibri"/>
                <a:ea typeface="STHeiti Medium"/>
              </a:rPr>
              <a:t>本文件不包含完整的计划条款，详情参阅保单文件及主要产品推销刊物。阁下应向持牌保险中介人查询。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C9A8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5486400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000" b="1">
                <a:solidFill>
                  <a:srgbClr val="17324D"/>
                </a:solidFill>
                <a:latin typeface="Calibri"/>
                <a:ea typeface="STHeiti Medium"/>
              </a:rPr>
              <a:t>CHINA TP  |  中国太平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164592"/>
            <a:ext cx="1371600" cy="292608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900" b="0">
                <a:solidFill>
                  <a:srgbClr val="5A6A7A"/>
                </a:solidFill>
                <a:latin typeface="Calibri"/>
                <a:ea typeface="STHeiti Medium"/>
              </a:rPr>
              <a:t>10 / 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"/>
            <a:ext cx="10972800" cy="6400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3600" b="1">
                <a:solidFill>
                  <a:srgbClr val="17324D"/>
                </a:solidFill>
                <a:latin typeface="Calibri"/>
                <a:ea typeface="STHeiti Medium"/>
              </a:rPr>
              <a:t>数据来源与回溯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234440"/>
            <a:ext cx="1097280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400" b="0">
                <a:solidFill>
                  <a:srgbClr val="5A6A7A"/>
                </a:solidFill>
                <a:latin typeface="Calibri"/>
                <a:ea typeface="STHeiti Medium"/>
              </a:rPr>
              <a:t>Data Sources · 全部数据可逐项回溯至官方计划书页码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554480"/>
            <a:ext cx="548640" cy="36576"/>
          </a:xfrm>
          <a:prstGeom prst="rect">
            <a:avLst/>
          </a:prstGeom>
          <a:solidFill>
            <a:srgbClr val="1732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457200" y="1783080"/>
          <a:ext cx="11247120" cy="3749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0"/>
                <a:gridCol w="1645920"/>
                <a:gridCol w="5486400"/>
              </a:tblGrid>
              <a:tr h="457200">
                <a:tc>
                  <a:txBody>
                    <a:bodyPr lIns="36000" rIns="36000" tIns="18000" bIns="18000"/>
                    <a:lstStyle/>
                    <a:p>
                      <a:pPr algn="l"/>
                      <a:r>
                        <a:rPr sz="1000" b="1">
                          <a:solidFill>
                            <a:srgbClr val="FAFCFE"/>
                          </a:solidFill>
                          <a:latin typeface="STHeiti Medium"/>
                          <a:ea typeface="STHeiti Medium"/>
                        </a:rPr>
                        <a:t>数据项</a:t>
                      </a:r>
                    </a:p>
                  </a:txBody>
                  <a:tcPr>
                    <a:solidFill>
                      <a:srgbClr val="17324D"/>
                    </a:solidFill>
                  </a:tcPr>
                </a:tc>
                <a:tc>
                  <a:txBody>
                    <a:bodyPr lIns="36000" rIns="36000" tIns="18000" bIns="18000"/>
                    <a:lstStyle/>
                    <a:p>
                      <a:pPr algn="l"/>
                      <a:r>
                        <a:rPr sz="1000" b="1">
                          <a:solidFill>
                            <a:srgbClr val="FAFCFE"/>
                          </a:solidFill>
                          <a:latin typeface="STHeiti Medium"/>
                          <a:ea typeface="STHeiti Medium"/>
                        </a:rPr>
                        <a:t>PDF 页码</a:t>
                      </a:r>
                    </a:p>
                  </a:txBody>
                  <a:tcPr>
                    <a:solidFill>
                      <a:srgbClr val="17324D"/>
                    </a:solidFill>
                  </a:tcPr>
                </a:tc>
                <a:tc>
                  <a:txBody>
                    <a:bodyPr lIns="36000" rIns="36000" tIns="18000" bIns="18000"/>
                    <a:lstStyle/>
                    <a:p>
                      <a:pPr algn="l"/>
                      <a:r>
                        <a:rPr sz="1000" b="1">
                          <a:solidFill>
                            <a:srgbClr val="FAFCFE"/>
                          </a:solidFill>
                          <a:latin typeface="STHeiti Medium"/>
                          <a:ea typeface="STHeiti Medium"/>
                        </a:rPr>
                        <a:t>来源说明</a:t>
                      </a:r>
                    </a:p>
                  </a:txBody>
                  <a:tcPr>
                    <a:solidFill>
                      <a:srgbClr val="17324D"/>
                    </a:solidFill>
                  </a:tcPr>
                </a:tc>
              </a:tr>
              <a:tr h="365760">
                <a:tc>
                  <a:txBody>
                    <a:bodyPr lIns="36000" rIns="36000" tIns="12000" bIns="12000"/>
                    <a:lstStyle/>
                    <a:p>
                      <a:pPr algn="l"/>
                      <a:r>
                        <a:rPr sz="900" b="1">
                          <a:solidFill>
                            <a:srgbClr val="17324D"/>
                          </a:solidFill>
                          <a:latin typeface="STHeiti Medium"/>
                          <a:ea typeface="STHeiti Medium"/>
                        </a:rPr>
                        <a:t>保障摘要 · 保额/保费/年期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l"/>
                      <a:r>
                        <a:rPr sz="900" b="1">
                          <a:solidFill>
                            <a:srgbClr val="0E1F32"/>
                          </a:solidFill>
                          <a:latin typeface="STHeiti Medium"/>
                          <a:ea typeface="STHeiti Medium"/>
                        </a:rPr>
                        <a:t>PDF p1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l"/>
                      <a:r>
                        <a:rPr sz="900" b="0">
                          <a:solidFill>
                            <a:srgbClr val="2A3A4A"/>
                          </a:solidFill>
                          <a:latin typeface="STHeiti Medium"/>
                          <a:ea typeface="STHeiti Medium"/>
                        </a:rPr>
                        <a:t>受保人资料 + 投保资料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lIns="36000" rIns="36000" tIns="12000" bIns="12000"/>
                    <a:lstStyle/>
                    <a:p>
                      <a:pPr algn="l"/>
                      <a:r>
                        <a:rPr sz="900" b="1">
                          <a:solidFill>
                            <a:srgbClr val="17324D"/>
                          </a:solidFill>
                          <a:latin typeface="STHeiti Medium"/>
                          <a:ea typeface="STHeiti Medium"/>
                        </a:rPr>
                        <a:t>不提领 · 退保发还金额（Y1-Y40）</a:t>
                      </a:r>
                    </a:p>
                  </a:txBody>
                  <a:tcPr>
                    <a:solidFill>
                      <a:srgbClr val="FAFCFE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l"/>
                      <a:r>
                        <a:rPr sz="900" b="1">
                          <a:solidFill>
                            <a:srgbClr val="0E1F32"/>
                          </a:solidFill>
                          <a:latin typeface="STHeiti Medium"/>
                          <a:ea typeface="STHeiti Medium"/>
                        </a:rPr>
                        <a:t>PDF p2</a:t>
                      </a:r>
                    </a:p>
                  </a:txBody>
                  <a:tcPr>
                    <a:solidFill>
                      <a:srgbClr val="FAFCFE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l"/>
                      <a:r>
                        <a:rPr sz="900" b="0">
                          <a:solidFill>
                            <a:srgbClr val="2A3A4A"/>
                          </a:solidFill>
                          <a:latin typeface="STHeiti Medium"/>
                          <a:ea typeface="STHeiti Medium"/>
                        </a:rPr>
                        <a:t>基本计划-说明摘要（第3部分）</a:t>
                      </a:r>
                    </a:p>
                  </a:txBody>
                  <a:tcPr>
                    <a:solidFill>
                      <a:srgbClr val="FAFCFE"/>
                    </a:solidFill>
                  </a:tcPr>
                </a:tc>
              </a:tr>
              <a:tr h="365760">
                <a:tc>
                  <a:txBody>
                    <a:bodyPr lIns="36000" rIns="36000" tIns="12000" bIns="12000"/>
                    <a:lstStyle/>
                    <a:p>
                      <a:pPr algn="l"/>
                      <a:r>
                        <a:rPr sz="900" b="1">
                          <a:solidFill>
                            <a:srgbClr val="17324D"/>
                          </a:solidFill>
                          <a:latin typeface="STHeiti Medium"/>
                          <a:ea typeface="STHeiti Medium"/>
                        </a:rPr>
                        <a:t>不提领 · 退保发还金额（Y41-Y80）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l"/>
                      <a:r>
                        <a:rPr sz="900" b="1">
                          <a:solidFill>
                            <a:srgbClr val="0E1F32"/>
                          </a:solidFill>
                          <a:latin typeface="STHeiti Medium"/>
                          <a:ea typeface="STHeiti Medium"/>
                        </a:rPr>
                        <a:t>PDF p3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l"/>
                      <a:r>
                        <a:rPr sz="900" b="0">
                          <a:solidFill>
                            <a:srgbClr val="2A3A4A"/>
                          </a:solidFill>
                          <a:latin typeface="STHeiti Medium"/>
                          <a:ea typeface="STHeiti Medium"/>
                        </a:rPr>
                        <a:t>基本计划-说明摘要（第3部分）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lIns="36000" rIns="36000" tIns="12000" bIns="12000"/>
                    <a:lstStyle/>
                    <a:p>
                      <a:pPr algn="l"/>
                      <a:r>
                        <a:rPr sz="900" b="1">
                          <a:solidFill>
                            <a:srgbClr val="17324D"/>
                          </a:solidFill>
                          <a:latin typeface="STHeiti Medium"/>
                          <a:ea typeface="STHeiti Medium"/>
                        </a:rPr>
                        <a:t>不提领 · 身故赔偿额说明</a:t>
                      </a:r>
                    </a:p>
                  </a:txBody>
                  <a:tcPr>
                    <a:solidFill>
                      <a:srgbClr val="FAFCFE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l"/>
                      <a:r>
                        <a:rPr sz="900" b="1">
                          <a:solidFill>
                            <a:srgbClr val="0E1F32"/>
                          </a:solidFill>
                          <a:latin typeface="STHeiti Medium"/>
                          <a:ea typeface="STHeiti Medium"/>
                        </a:rPr>
                        <a:t>PDF p17-19</a:t>
                      </a:r>
                    </a:p>
                  </a:txBody>
                  <a:tcPr>
                    <a:solidFill>
                      <a:srgbClr val="FAFCFE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l"/>
                      <a:r>
                        <a:rPr sz="900" b="0">
                          <a:solidFill>
                            <a:srgbClr val="2A3A4A"/>
                          </a:solidFill>
                          <a:latin typeface="STHeiti Medium"/>
                          <a:ea typeface="STHeiti Medium"/>
                        </a:rPr>
                        <a:t>身故赔偿额-不同投资回报下的说明</a:t>
                      </a:r>
                    </a:p>
                  </a:txBody>
                  <a:tcPr>
                    <a:solidFill>
                      <a:srgbClr val="FAFCFE"/>
                    </a:solidFill>
                  </a:tcPr>
                </a:tc>
              </a:tr>
              <a:tr h="365760">
                <a:tc>
                  <a:txBody>
                    <a:bodyPr lIns="36000" rIns="36000" tIns="12000" bIns="12000"/>
                    <a:lstStyle/>
                    <a:p>
                      <a:pPr algn="l"/>
                      <a:r>
                        <a:rPr sz="900" b="1">
                          <a:solidFill>
                            <a:srgbClr val="17324D"/>
                          </a:solidFill>
                          <a:latin typeface="STHeiti Medium"/>
                          <a:ea typeface="STHeiti Medium"/>
                        </a:rPr>
                        <a:t>提领 · 退保发还金额（Y1-Y40）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l"/>
                      <a:r>
                        <a:rPr sz="900" b="1">
                          <a:solidFill>
                            <a:srgbClr val="0E1F32"/>
                          </a:solidFill>
                          <a:latin typeface="STHeiti Medium"/>
                          <a:ea typeface="STHeiti Medium"/>
                        </a:rPr>
                        <a:t>PDF p42-43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l"/>
                      <a:r>
                        <a:rPr sz="900" b="0">
                          <a:solidFill>
                            <a:srgbClr val="2A3A4A"/>
                          </a:solidFill>
                          <a:latin typeface="STHeiti Medium"/>
                          <a:ea typeface="STHeiti Medium"/>
                        </a:rPr>
                        <a:t>基本计划-说明摘要（续）-现金提取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lIns="36000" rIns="36000" tIns="12000" bIns="12000"/>
                    <a:lstStyle/>
                    <a:p>
                      <a:pPr algn="l"/>
                      <a:r>
                        <a:rPr sz="900" b="1">
                          <a:solidFill>
                            <a:srgbClr val="17324D"/>
                          </a:solidFill>
                          <a:latin typeface="STHeiti Medium"/>
                          <a:ea typeface="STHeiti Medium"/>
                        </a:rPr>
                        <a:t>提领 · 退保发还金额（Y41-Y80）</a:t>
                      </a:r>
                    </a:p>
                  </a:txBody>
                  <a:tcPr>
                    <a:solidFill>
                      <a:srgbClr val="FAFCFE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l"/>
                      <a:r>
                        <a:rPr sz="900" b="1">
                          <a:solidFill>
                            <a:srgbClr val="0E1F32"/>
                          </a:solidFill>
                          <a:latin typeface="STHeiti Medium"/>
                          <a:ea typeface="STHeiti Medium"/>
                        </a:rPr>
                        <a:t>PDF p44-45</a:t>
                      </a:r>
                    </a:p>
                  </a:txBody>
                  <a:tcPr>
                    <a:solidFill>
                      <a:srgbClr val="FAFCFE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l"/>
                      <a:r>
                        <a:rPr sz="900" b="0">
                          <a:solidFill>
                            <a:srgbClr val="2A3A4A"/>
                          </a:solidFill>
                          <a:latin typeface="STHeiti Medium"/>
                          <a:ea typeface="STHeiti Medium"/>
                        </a:rPr>
                        <a:t>基本计划-说明摘要（续）-现金提取</a:t>
                      </a:r>
                    </a:p>
                  </a:txBody>
                  <a:tcPr>
                    <a:solidFill>
                      <a:srgbClr val="FAFCFE"/>
                    </a:solidFill>
                  </a:tcPr>
                </a:tc>
              </a:tr>
              <a:tr h="365760">
                <a:tc>
                  <a:txBody>
                    <a:bodyPr lIns="36000" rIns="36000" tIns="12000" bIns="12000"/>
                    <a:lstStyle/>
                    <a:p>
                      <a:pPr algn="l"/>
                      <a:r>
                        <a:rPr sz="900" b="1">
                          <a:solidFill>
                            <a:srgbClr val="17324D"/>
                          </a:solidFill>
                          <a:latin typeface="STHeiti Medium"/>
                          <a:ea typeface="STHeiti Medium"/>
                        </a:rPr>
                        <a:t>提领 · 身故赔偿额说明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l"/>
                      <a:r>
                        <a:rPr sz="900" b="1">
                          <a:solidFill>
                            <a:srgbClr val="0E1F32"/>
                          </a:solidFill>
                          <a:latin typeface="STHeiti Medium"/>
                          <a:ea typeface="STHeiti Medium"/>
                        </a:rPr>
                        <a:t>PDF p47-50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l"/>
                      <a:r>
                        <a:rPr sz="900" b="0">
                          <a:solidFill>
                            <a:srgbClr val="2A3A4A"/>
                          </a:solidFill>
                          <a:latin typeface="STHeiti Medium"/>
                          <a:ea typeface="STHeiti Medium"/>
                        </a:rPr>
                        <a:t>身故赔偿额下的说明（提取）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lIns="36000" rIns="36000" tIns="12000" bIns="12000"/>
                    <a:lstStyle/>
                    <a:p>
                      <a:pPr algn="l"/>
                      <a:r>
                        <a:rPr sz="900" b="1">
                          <a:solidFill>
                            <a:srgbClr val="17324D"/>
                          </a:solidFill>
                          <a:latin typeface="STHeiti Medium"/>
                          <a:ea typeface="STHeiti Medium"/>
                        </a:rPr>
                        <a:t>注释与重要事项</a:t>
                      </a:r>
                    </a:p>
                  </a:txBody>
                  <a:tcPr>
                    <a:solidFill>
                      <a:srgbClr val="FAFCFE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l"/>
                      <a:r>
                        <a:rPr sz="900" b="1">
                          <a:solidFill>
                            <a:srgbClr val="0E1F32"/>
                          </a:solidFill>
                          <a:latin typeface="STHeiti Medium"/>
                          <a:ea typeface="STHeiti Medium"/>
                        </a:rPr>
                        <a:t>PDF p20-22</a:t>
                      </a:r>
                    </a:p>
                  </a:txBody>
                  <a:tcPr>
                    <a:solidFill>
                      <a:srgbClr val="FAFCFE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l"/>
                      <a:r>
                        <a:rPr sz="900" b="0">
                          <a:solidFill>
                            <a:srgbClr val="2A3A4A"/>
                          </a:solidFill>
                          <a:latin typeface="STHeiti Medium"/>
                          <a:ea typeface="STHeiti Medium"/>
                        </a:rPr>
                        <a:t>本计划之注释条款</a:t>
                      </a:r>
                    </a:p>
                  </a:txBody>
                  <a:tcPr>
                    <a:solidFill>
                      <a:srgbClr val="FAFCFE"/>
                    </a:solidFill>
                  </a:tcPr>
                </a:tc>
              </a:tr>
              <a:tr h="365760">
                <a:tc>
                  <a:txBody>
                    <a:bodyPr lIns="36000" rIns="36000" tIns="12000" bIns="12000"/>
                    <a:lstStyle/>
                    <a:p>
                      <a:pPr algn="l"/>
                      <a:r>
                        <a:rPr sz="900" b="1">
                          <a:solidFill>
                            <a:srgbClr val="17324D"/>
                          </a:solidFill>
                          <a:latin typeface="STHeiti Medium"/>
                          <a:ea typeface="STHeiti Medium"/>
                        </a:rPr>
                        <a:t>产品详细说明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l"/>
                      <a:r>
                        <a:rPr sz="900" b="1">
                          <a:solidFill>
                            <a:srgbClr val="0E1F32"/>
                          </a:solidFill>
                          <a:latin typeface="STHeiti Medium"/>
                          <a:ea typeface="STHeiti Medium"/>
                        </a:rPr>
                        <a:t>PDF p23-41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l"/>
                      <a:r>
                        <a:rPr sz="900" b="0">
                          <a:solidFill>
                            <a:srgbClr val="2A3A4A"/>
                          </a:solidFill>
                          <a:latin typeface="STHeiti Medium"/>
                          <a:ea typeface="STHeiti Medium"/>
                        </a:rPr>
                        <a:t>财富增值选项、跃进选项等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Rectangle 9"/>
          <p:cNvSpPr/>
          <p:nvPr/>
        </p:nvSpPr>
        <p:spPr>
          <a:xfrm>
            <a:off x="457200" y="6035040"/>
            <a:ext cx="11277295" cy="5486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7200" y="6035040"/>
            <a:ext cx="73152" cy="548640"/>
          </a:xfrm>
          <a:prstGeom prst="rect">
            <a:avLst/>
          </a:prstGeom>
          <a:solidFill>
            <a:srgbClr val="1732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6080760"/>
            <a:ext cx="365760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1">
                <a:solidFill>
                  <a:srgbClr val="17324D"/>
                </a:solidFill>
                <a:latin typeface="Calibri"/>
                <a:ea typeface="STHeiti Medium"/>
              </a:rPr>
              <a:t>核验方法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6355080"/>
            <a:ext cx="1097280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900" b="0">
                <a:solidFill>
                  <a:srgbClr val="2A3A4A"/>
                </a:solidFill>
                <a:latin typeface="Calibri"/>
                <a:ea typeface="STHeiti Medium"/>
              </a:rPr>
              <a:t>所有数据均直接源自中国太平官方计划书原文（pdfplumber按列精确提取）；如需进一步核验，可逐项对照 PDF 指定页码。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C9A8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5486400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000" b="1">
                <a:solidFill>
                  <a:srgbClr val="17324D"/>
                </a:solidFill>
                <a:latin typeface="Calibri"/>
                <a:ea typeface="STHeiti Medium"/>
              </a:rPr>
              <a:t>CHINA TP  |  中国太平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164592"/>
            <a:ext cx="1371600" cy="292608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900" b="0">
                <a:solidFill>
                  <a:srgbClr val="5A6A7A"/>
                </a:solidFill>
                <a:latin typeface="Calibri"/>
                <a:ea typeface="STHeiti Medium"/>
              </a:rPr>
              <a:t>11 / 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"/>
            <a:ext cx="10972800" cy="6400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3600" b="1">
                <a:solidFill>
                  <a:srgbClr val="17324D"/>
                </a:solidFill>
                <a:latin typeface="Calibri"/>
                <a:ea typeface="STHeiti Medium"/>
              </a:rPr>
              <a:t>总结与建议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234440"/>
            <a:ext cx="1097280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400" b="0">
                <a:solidFill>
                  <a:srgbClr val="5A6A7A"/>
                </a:solidFill>
                <a:latin typeface="Calibri"/>
                <a:ea typeface="STHeiti Medium"/>
              </a:rPr>
              <a:t>Summary &amp; Recommendation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554480"/>
            <a:ext cx="548640" cy="36576"/>
          </a:xfrm>
          <a:prstGeom prst="rect">
            <a:avLst/>
          </a:prstGeom>
          <a:solidFill>
            <a:srgbClr val="1732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1828800"/>
            <a:ext cx="3657600" cy="33832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1828800"/>
            <a:ext cx="3657600" cy="640080"/>
          </a:xfrm>
          <a:prstGeom prst="rect">
            <a:avLst/>
          </a:prstGeom>
          <a:solidFill>
            <a:srgbClr val="1732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0080" y="1993392"/>
            <a:ext cx="320040" cy="320040"/>
          </a:xfrm>
          <a:prstGeom prst="rect">
            <a:avLst/>
          </a:prstGeom>
          <a:solidFill>
            <a:srgbClr val="1732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1993392"/>
            <a:ext cx="320040" cy="32004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400" b="1">
                <a:solidFill>
                  <a:srgbClr val="FAFCFE"/>
                </a:solidFill>
                <a:latin typeface="Calibri"/>
                <a:ea typeface="STHeiti Medium"/>
              </a:rPr>
              <a:t>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" y="1993392"/>
            <a:ext cx="292608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300" b="1">
                <a:solidFill>
                  <a:srgbClr val="FAFCFE"/>
                </a:solidFill>
                <a:latin typeface="Calibri"/>
                <a:ea typeface="STHeiti Medium"/>
              </a:rPr>
              <a:t>短期供款 · 终身受惠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2697480"/>
            <a:ext cx="3200400" cy="12801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0">
                <a:solidFill>
                  <a:srgbClr val="2A3A4A"/>
                </a:solidFill>
                <a:latin typeface="Calibri"/>
                <a:ea typeface="STHeiti Medium"/>
              </a:rPr>
              <a:t>5 年缴清 USD 500,000，后续无需再缴费。</a:t>
            </a:r>
          </a:p>
          <a:p>
            <a:pPr algn="l"/>
            <a:r>
              <a:rPr sz="1000" b="0">
                <a:solidFill>
                  <a:srgbClr val="2A3A4A"/>
                </a:solidFill>
                <a:latin typeface="Calibri"/>
                <a:ea typeface="STHeiti Medium"/>
              </a:rPr>
              <a:t>保单持续滚存至 128 岁，长期复利效应明显。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4114800"/>
            <a:ext cx="3657600" cy="6400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3200" b="1">
                <a:solidFill>
                  <a:srgbClr val="17324D"/>
                </a:solidFill>
                <a:latin typeface="Calibri"/>
                <a:ea typeface="STHeiti Medium"/>
              </a:rPr>
              <a:t>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4754880"/>
            <a:ext cx="365760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900" b="0">
                <a:solidFill>
                  <a:srgbClr val="5A6A7A"/>
                </a:solidFill>
                <a:latin typeface="Calibri"/>
                <a:ea typeface="STHeiti Medium"/>
              </a:rPr>
              <a:t>年缴清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297680" y="1828800"/>
            <a:ext cx="3657600" cy="33832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297680" y="1828800"/>
            <a:ext cx="3657600" cy="640080"/>
          </a:xfrm>
          <a:prstGeom prst="rect">
            <a:avLst/>
          </a:prstGeom>
          <a:solidFill>
            <a:srgbClr val="1732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480560" y="1993392"/>
            <a:ext cx="320040" cy="320040"/>
          </a:xfrm>
          <a:prstGeom prst="rect">
            <a:avLst/>
          </a:prstGeom>
          <a:solidFill>
            <a:srgbClr val="1732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480560" y="1993392"/>
            <a:ext cx="320040" cy="32004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400" b="1">
                <a:solidFill>
                  <a:srgbClr val="FAFCFE"/>
                </a:solidFill>
                <a:latin typeface="Calibri"/>
                <a:ea typeface="STHeiti Medium"/>
              </a:rPr>
              <a:t>B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937760" y="1993392"/>
            <a:ext cx="292608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300" b="1">
                <a:solidFill>
                  <a:srgbClr val="FAFCFE"/>
                </a:solidFill>
                <a:latin typeface="Calibri"/>
                <a:ea typeface="STHeiti Medium"/>
              </a:rPr>
              <a:t>稳健回本 · 风险可控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26280" y="2697480"/>
            <a:ext cx="3200400" cy="12801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0">
                <a:solidFill>
                  <a:srgbClr val="2A3A4A"/>
                </a:solidFill>
                <a:latin typeface="Calibri"/>
                <a:ea typeface="STHeiti Medium"/>
              </a:rPr>
              <a:t>保单第 — 年回本（退保现价 &gt; 已缴保费）。</a:t>
            </a:r>
          </a:p>
          <a:p>
            <a:pPr algn="l"/>
            <a:r>
              <a:rPr sz="1000" b="0">
                <a:solidFill>
                  <a:srgbClr val="2A3A4A"/>
                </a:solidFill>
                <a:latin typeface="Calibri"/>
                <a:ea typeface="STHeiti Medium"/>
              </a:rPr>
              <a:t>Y30 约 USD 2,821,637。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297680" y="4114800"/>
            <a:ext cx="3657600" cy="6400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3200" b="1">
                <a:solidFill>
                  <a:srgbClr val="17324D"/>
                </a:solidFill>
                <a:latin typeface="Calibri"/>
                <a:ea typeface="STHeiti Medium"/>
              </a:rPr>
              <a:t>—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297680" y="4754880"/>
            <a:ext cx="365760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900" b="0">
                <a:solidFill>
                  <a:srgbClr val="5A6A7A"/>
                </a:solidFill>
                <a:latin typeface="Calibri"/>
                <a:ea typeface="STHeiti Medium"/>
              </a:rPr>
              <a:t>回本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138160" y="1828800"/>
            <a:ext cx="3657600" cy="33832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138160" y="1828800"/>
            <a:ext cx="3657600" cy="640080"/>
          </a:xfrm>
          <a:prstGeom prst="rect">
            <a:avLst/>
          </a:prstGeom>
          <a:solidFill>
            <a:srgbClr val="1732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321040" y="1993392"/>
            <a:ext cx="320040" cy="320040"/>
          </a:xfrm>
          <a:prstGeom prst="rect">
            <a:avLst/>
          </a:prstGeom>
          <a:solidFill>
            <a:srgbClr val="1732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321040" y="1993392"/>
            <a:ext cx="320040" cy="32004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400" b="1">
                <a:solidFill>
                  <a:srgbClr val="FAFCFE"/>
                </a:solidFill>
                <a:latin typeface="Calibri"/>
                <a:ea typeface="STHeiti Medium"/>
              </a:rPr>
              <a:t>C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778240" y="1993392"/>
            <a:ext cx="292608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300" b="1">
                <a:solidFill>
                  <a:srgbClr val="FAFCFE"/>
                </a:solidFill>
                <a:latin typeface="Calibri"/>
                <a:ea typeface="STHeiti Medium"/>
              </a:rPr>
              <a:t>灵活提领 · 教育无忧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66760" y="2697480"/>
            <a:ext cx="3200400" cy="12801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0">
                <a:solidFill>
                  <a:srgbClr val="2A3A4A"/>
                </a:solidFill>
                <a:latin typeface="Calibri"/>
                <a:ea typeface="STHeiti Medium"/>
              </a:rPr>
              <a:t>Y6 起每年提取 USD 35,000，覆盖小学到大学。</a:t>
            </a:r>
          </a:p>
          <a:p>
            <a:pPr algn="l"/>
            <a:r>
              <a:rPr sz="1000" b="0">
                <a:solidFill>
                  <a:srgbClr val="2A3A4A"/>
                </a:solidFill>
                <a:latin typeface="Calibri"/>
                <a:ea typeface="STHeiti Medium"/>
              </a:rPr>
              <a:t>Y20 累计提取 USD 525,000，本金仍持续滚存。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138160" y="4114800"/>
            <a:ext cx="3657600" cy="6400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3200" b="1">
                <a:solidFill>
                  <a:srgbClr val="17324D"/>
                </a:solidFill>
                <a:latin typeface="Calibri"/>
                <a:ea typeface="STHeiti Medium"/>
              </a:rPr>
              <a:t>35K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138160" y="4754880"/>
            <a:ext cx="365760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900" b="0">
                <a:solidFill>
                  <a:srgbClr val="5A6A7A"/>
                </a:solidFill>
                <a:latin typeface="Calibri"/>
                <a:ea typeface="STHeiti Medium"/>
              </a:rPr>
              <a:t>年提取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57200" y="5394960"/>
            <a:ext cx="11277295" cy="12801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457200" y="5394960"/>
            <a:ext cx="73152" cy="1280160"/>
          </a:xfrm>
          <a:prstGeom prst="rect">
            <a:avLst/>
          </a:prstGeom>
          <a:solidFill>
            <a:srgbClr val="1732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0080" y="5440680"/>
            <a:ext cx="365760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200" b="1">
                <a:solidFill>
                  <a:srgbClr val="17324D"/>
                </a:solidFill>
                <a:latin typeface="Calibri"/>
                <a:ea typeface="STHeiti Medium"/>
              </a:rPr>
              <a:t>综合建议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0080" y="5760720"/>
            <a:ext cx="1097280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50" b="0">
                <a:solidFill>
                  <a:srgbClr val="2A3A4A"/>
                </a:solidFill>
                <a:latin typeface="Calibri"/>
                <a:ea typeface="STHeiti Medium"/>
              </a:rPr>
              <a:t>本计划适合具备 5 年供款能力、追求稳健长期财富传承、且有子女教育金规划需求的高净值家庭。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0080" y="6035040"/>
            <a:ext cx="1097280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0">
                <a:solidFill>
                  <a:srgbClr val="2A3A4A"/>
                </a:solidFill>
                <a:latin typeface="Calibri"/>
                <a:ea typeface="STHeiti Medium"/>
              </a:rPr>
              <a:t>· 短期供款压力适中  ·  长期复利跨越代际  ·  提领方案精准对接教育节点  ·  兼顾传承与流动性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0080" y="6355080"/>
            <a:ext cx="1097280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850" b="0">
                <a:solidFill>
                  <a:srgbClr val="5A6A7A"/>
                </a:solidFill>
                <a:latin typeface="Calibri"/>
                <a:ea typeface="STHeiti Medium"/>
              </a:rPr>
              <a:t>实际收益取决于投资市场表现，建议结合整体资产配置作综合考虑。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32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C9A8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57200"/>
            <a:ext cx="11277295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1200" b="1">
                <a:solidFill>
                  <a:srgbClr val="C9A86A"/>
                </a:solidFill>
                <a:latin typeface="Calibri"/>
                <a:ea typeface="STHeiti Medium"/>
              </a:rPr>
              <a:t>CHINA TP  |  中国太平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011680"/>
            <a:ext cx="11277295" cy="7315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3200" b="1">
                <a:solidFill>
                  <a:srgbClr val="FAFCFE"/>
                </a:solidFill>
                <a:latin typeface="Calibri"/>
                <a:ea typeface="STHeiti Medium"/>
              </a:rPr>
              <a:t>愿这份规划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834640"/>
            <a:ext cx="11277295" cy="7315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3200" b="1">
                <a:solidFill>
                  <a:srgbClr val="C9A86A"/>
                </a:solidFill>
                <a:latin typeface="Calibri"/>
                <a:ea typeface="STHeiti Medium"/>
              </a:rPr>
              <a:t>陪伴孩子稳健成长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657600"/>
            <a:ext cx="11277295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1400" b="0">
                <a:solidFill>
                  <a:srgbClr val="DCC89A"/>
                </a:solidFill>
                <a:latin typeface="Calibri"/>
                <a:ea typeface="STHeiti Medium"/>
              </a:rPr>
              <a:t>让爱与财富，代代相传</a:t>
            </a:r>
          </a:p>
        </p:txBody>
      </p:sp>
      <p:sp>
        <p:nvSpPr>
          <p:cNvPr id="8" name="Rectangle 7"/>
          <p:cNvSpPr/>
          <p:nvPr/>
        </p:nvSpPr>
        <p:spPr>
          <a:xfrm>
            <a:off x="5641848" y="4114800"/>
            <a:ext cx="914400" cy="36576"/>
          </a:xfrm>
          <a:prstGeom prst="rect">
            <a:avLst/>
          </a:prstGeom>
          <a:solidFill>
            <a:srgbClr val="C9A8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4343400"/>
            <a:ext cx="11277295" cy="4572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1300" b="0">
                <a:solidFill>
                  <a:srgbClr val="FAFCFE"/>
                </a:solidFill>
                <a:latin typeface="Calibri"/>
                <a:ea typeface="STHeiti Medium"/>
              </a:rPr>
              <a:t>—— 致 V 与家人  ——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800600"/>
            <a:ext cx="11277295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1000" b="0">
                <a:solidFill>
                  <a:srgbClr val="DCC89A"/>
                </a:solidFill>
                <a:latin typeface="Calibri"/>
                <a:ea typeface="STHeiti Medium"/>
              </a:rPr>
              <a:t>规划起点 · 受保人 1 岁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583680"/>
            <a:ext cx="12191695" cy="36576"/>
          </a:xfrm>
          <a:prstGeom prst="rect">
            <a:avLst/>
          </a:prstGeom>
          <a:solidFill>
            <a:srgbClr val="C9A8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6675120"/>
            <a:ext cx="7315200" cy="1828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800" b="0">
                <a:solidFill>
                  <a:srgbClr val="DCC89A"/>
                </a:solidFill>
                <a:latin typeface="Calibri"/>
                <a:ea typeface="STHeiti Medium"/>
              </a:rPr>
              <a:t>本演示基于中国太平官方计划书数据生成 · 实际保单条款以保单文件为准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5600" y="6675120"/>
            <a:ext cx="1371600" cy="1828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800" b="0">
                <a:solidFill>
                  <a:srgbClr val="DCC89A"/>
                </a:solidFill>
                <a:latin typeface="Calibri"/>
                <a:ea typeface="STHeiti Medium"/>
              </a:rPr>
              <a:t>12 / 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