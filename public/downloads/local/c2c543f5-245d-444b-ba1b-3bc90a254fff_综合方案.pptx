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</c:v>
                </c:pt>
                <c:pt idx="1">
                  <c:v>860</c:v>
                </c:pt>
                <c:pt idx="2">
                  <c:v>3520</c:v>
                </c:pt>
                <c:pt idx="3">
                  <c:v>5370</c:v>
                </c:pt>
                <c:pt idx="4">
                  <c:v>6550</c:v>
                </c:pt>
                <c:pt idx="5">
                  <c:v>235980</c:v>
                </c:pt>
                <c:pt idx="6">
                  <c:v>282900</c:v>
                </c:pt>
                <c:pt idx="7">
                  <c:v>296410</c:v>
                </c:pt>
                <c:pt idx="8">
                  <c:v>322030</c:v>
                </c:pt>
                <c:pt idx="9">
                  <c:v>395860</c:v>
                </c:pt>
                <c:pt idx="10">
                  <c:v>408970</c:v>
                </c:pt>
                <c:pt idx="11">
                  <c:v>426560</c:v>
                </c:pt>
                <c:pt idx="12">
                  <c:v>500000</c:v>
                </c:pt>
                <c:pt idx="13">
                  <c:v>500500</c:v>
                </c:pt>
                <c:pt idx="14">
                  <c:v>501000</c:v>
                </c:pt>
                <c:pt idx="15">
                  <c:v>501500</c:v>
                </c:pt>
                <c:pt idx="16">
                  <c:v>502000</c:v>
                </c:pt>
                <c:pt idx="17">
                  <c:v>502500</c:v>
                </c:pt>
                <c:pt idx="18">
                  <c:v>503000</c:v>
                </c:pt>
                <c:pt idx="19">
                  <c:v>503500</c:v>
                </c:pt>
                <c:pt idx="20">
                  <c:v>504000</c:v>
                </c:pt>
                <c:pt idx="21">
                  <c:v>504500</c:v>
                </c:pt>
                <c:pt idx="22">
                  <c:v>505000</c:v>
                </c:pt>
                <c:pt idx="23">
                  <c:v>505500</c:v>
                </c:pt>
                <c:pt idx="24">
                  <c:v>506000</c:v>
                </c:pt>
                <c:pt idx="25">
                  <c:v>506500</c:v>
                </c:pt>
                <c:pt idx="26">
                  <c:v>507000</c:v>
                </c:pt>
                <c:pt idx="27">
                  <c:v>507500</c:v>
                </c:pt>
                <c:pt idx="28">
                  <c:v>508000</c:v>
                </c:pt>
                <c:pt idx="29">
                  <c:v>508500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1550</c:v>
                </c:pt>
                <c:pt idx="1">
                  <c:v>3862</c:v>
                </c:pt>
                <c:pt idx="2">
                  <c:v>8668</c:v>
                </c:pt>
                <c:pt idx="3">
                  <c:v>23518</c:v>
                </c:pt>
                <c:pt idx="4">
                  <c:v>132620</c:v>
                </c:pt>
                <c:pt idx="5">
                  <c:v>199489</c:v>
                </c:pt>
                <c:pt idx="6">
                  <c:v>217110</c:v>
                </c:pt>
                <c:pt idx="7">
                  <c:v>234594</c:v>
                </c:pt>
                <c:pt idx="8">
                  <c:v>250269</c:v>
                </c:pt>
                <c:pt idx="9">
                  <c:v>265612</c:v>
                </c:pt>
                <c:pt idx="10">
                  <c:v>280453</c:v>
                </c:pt>
                <c:pt idx="11">
                  <c:v>295396</c:v>
                </c:pt>
                <c:pt idx="12">
                  <c:v>310179</c:v>
                </c:pt>
                <c:pt idx="13">
                  <c:v>372882</c:v>
                </c:pt>
                <c:pt idx="14">
                  <c:v>447948</c:v>
                </c:pt>
                <c:pt idx="15">
                  <c:v>512965</c:v>
                </c:pt>
                <c:pt idx="16">
                  <c:v>591575</c:v>
                </c:pt>
                <c:pt idx="17">
                  <c:v>698035</c:v>
                </c:pt>
                <c:pt idx="18">
                  <c:v>807634</c:v>
                </c:pt>
                <c:pt idx="19">
                  <c:v>930073</c:v>
                </c:pt>
                <c:pt idx="20">
                  <c:v>1042763</c:v>
                </c:pt>
                <c:pt idx="21">
                  <c:v>1168105</c:v>
                </c:pt>
                <c:pt idx="22">
                  <c:v>1310771</c:v>
                </c:pt>
                <c:pt idx="23">
                  <c:v>1500736</c:v>
                </c:pt>
                <c:pt idx="24">
                  <c:v>1630642</c:v>
                </c:pt>
                <c:pt idx="25">
                  <c:v>1769024</c:v>
                </c:pt>
                <c:pt idx="26">
                  <c:v>1916433</c:v>
                </c:pt>
                <c:pt idx="27">
                  <c:v>2073456</c:v>
                </c:pt>
                <c:pt idx="28">
                  <c:v>2240718</c:v>
                </c:pt>
                <c:pt idx="29">
                  <c:v>2418864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1550</c:v>
                </c:pt>
                <c:pt idx="1">
                  <c:v>4722</c:v>
                </c:pt>
                <c:pt idx="2">
                  <c:v>12188</c:v>
                </c:pt>
                <c:pt idx="3">
                  <c:v>28888</c:v>
                </c:pt>
                <c:pt idx="4">
                  <c:v>139170</c:v>
                </c:pt>
                <c:pt idx="5">
                  <c:v>435469</c:v>
                </c:pt>
                <c:pt idx="6">
                  <c:v>500010</c:v>
                </c:pt>
                <c:pt idx="7">
                  <c:v>531004</c:v>
                </c:pt>
                <c:pt idx="8">
                  <c:v>572299</c:v>
                </c:pt>
                <c:pt idx="9">
                  <c:v>661472</c:v>
                </c:pt>
                <c:pt idx="10">
                  <c:v>689423</c:v>
                </c:pt>
                <c:pt idx="11">
                  <c:v>721956</c:v>
                </c:pt>
                <c:pt idx="12">
                  <c:v>810179</c:v>
                </c:pt>
                <c:pt idx="13">
                  <c:v>873382</c:v>
                </c:pt>
                <c:pt idx="14">
                  <c:v>948948</c:v>
                </c:pt>
                <c:pt idx="15">
                  <c:v>1014465</c:v>
                </c:pt>
                <c:pt idx="16">
                  <c:v>1093575</c:v>
                </c:pt>
                <c:pt idx="17">
                  <c:v>1200535</c:v>
                </c:pt>
                <c:pt idx="18">
                  <c:v>1310634</c:v>
                </c:pt>
                <c:pt idx="19">
                  <c:v>1433573</c:v>
                </c:pt>
                <c:pt idx="20">
                  <c:v>1546763</c:v>
                </c:pt>
                <c:pt idx="21">
                  <c:v>1672605</c:v>
                </c:pt>
                <c:pt idx="22">
                  <c:v>1815771</c:v>
                </c:pt>
                <c:pt idx="23">
                  <c:v>2006236</c:v>
                </c:pt>
                <c:pt idx="24">
                  <c:v>2136642</c:v>
                </c:pt>
                <c:pt idx="25">
                  <c:v>2275524</c:v>
                </c:pt>
                <c:pt idx="26">
                  <c:v>2423433</c:v>
                </c:pt>
                <c:pt idx="27">
                  <c:v>2580956</c:v>
                </c:pt>
                <c:pt idx="28">
                  <c:v>2748718</c:v>
                </c:pt>
                <c:pt idx="29">
                  <c:v>2927364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Sheet1!$A$2:$A$14</c:f>
              <c:strCache>
                <c:ptCount val="13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Y10
(10岁)</c:v>
                </c:pt>
                <c:pt idx="6">
                  <c:v>Y15
(15岁)</c:v>
                </c:pt>
                <c:pt idx="7">
                  <c:v>Y20
(20岁)</c:v>
                </c:pt>
                <c:pt idx="8">
                  <c:v>Y25
(25岁)</c:v>
                </c:pt>
                <c:pt idx="9">
                  <c:v>Y30
(30岁)</c:v>
                </c:pt>
                <c:pt idx="10">
                  <c:v>Y31
(31岁)</c:v>
                </c:pt>
                <c:pt idx="11">
                  <c:v>Y41
(41岁)</c:v>
                </c:pt>
                <c:pt idx="12">
                  <c:v>Y51
(51岁)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1550</c:v>
                </c:pt>
                <c:pt idx="1">
                  <c:v>4722</c:v>
                </c:pt>
                <c:pt idx="2">
                  <c:v>12188</c:v>
                </c:pt>
                <c:pt idx="3">
                  <c:v>28888</c:v>
                </c:pt>
                <c:pt idx="4">
                  <c:v>139170</c:v>
                </c:pt>
                <c:pt idx="5">
                  <c:v>661472</c:v>
                </c:pt>
                <c:pt idx="6">
                  <c:v>948948</c:v>
                </c:pt>
                <c:pt idx="7">
                  <c:v>1433573</c:v>
                </c:pt>
                <c:pt idx="8">
                  <c:v>2136642</c:v>
                </c:pt>
                <c:pt idx="9">
                  <c:v>2927364</c:v>
                </c:pt>
                <c:pt idx="10">
                  <c:v>3117665</c:v>
                </c:pt>
                <c:pt idx="11">
                  <c:v>5852286</c:v>
                </c:pt>
                <c:pt idx="12">
                  <c:v>10985545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Sheet1!$A$2:$A$14</c:f>
              <c:strCache>
                <c:ptCount val="13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Y10
(10岁)</c:v>
                </c:pt>
                <c:pt idx="6">
                  <c:v>Y15
(15岁)</c:v>
                </c:pt>
                <c:pt idx="7">
                  <c:v>Y20
(20岁)</c:v>
                </c:pt>
                <c:pt idx="8">
                  <c:v>Y25
(25岁)</c:v>
                </c:pt>
                <c:pt idx="9">
                  <c:v>Y30
(30岁)</c:v>
                </c:pt>
                <c:pt idx="10">
                  <c:v>Y31
(31岁)</c:v>
                </c:pt>
                <c:pt idx="11">
                  <c:v>Y41
(41岁)</c:v>
                </c:pt>
                <c:pt idx="12">
                  <c:v>Y51
(51岁)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1101000</c:v>
                </c:pt>
                <c:pt idx="1">
                  <c:v>1101860</c:v>
                </c:pt>
                <c:pt idx="2">
                  <c:v>1105380</c:v>
                </c:pt>
                <c:pt idx="3">
                  <c:v>1110750</c:v>
                </c:pt>
                <c:pt idx="4">
                  <c:v>1117300</c:v>
                </c:pt>
                <c:pt idx="5">
                  <c:v>1196274</c:v>
                </c:pt>
                <c:pt idx="6">
                  <c:v>1171082</c:v>
                </c:pt>
                <c:pt idx="7">
                  <c:v>1194006</c:v>
                </c:pt>
                <c:pt idx="8">
                  <c:v>1268761</c:v>
                </c:pt>
                <c:pt idx="9">
                  <c:v>1372807</c:v>
                </c:pt>
                <c:pt idx="10">
                  <c:v>1396122</c:v>
                </c:pt>
                <c:pt idx="11">
                  <c:v>1663875</c:v>
                </c:pt>
                <c:pt idx="12">
                  <c:v>1973064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090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31750">
              <a:solidFill>
                <a:srgbClr val="0D1B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Sheet1!$B$2:$B$76</c:f>
              <c:numCache>
                <c:formatCode>General</c:formatCode>
                <c:ptCount val="75"/>
                <c:pt idx="0">
                  <c:v>66355.0</c:v>
                </c:pt>
                <c:pt idx="1">
                  <c:v>132710.0</c:v>
                </c:pt>
                <c:pt idx="2">
                  <c:v>199065.0</c:v>
                </c:pt>
                <c:pt idx="3">
                  <c:v>265420.0</c:v>
                </c:pt>
                <c:pt idx="4">
                  <c:v>331775.0</c:v>
                </c:pt>
                <c:pt idx="5">
                  <c:v>331775.0</c:v>
                </c:pt>
                <c:pt idx="6">
                  <c:v>331775.0</c:v>
                </c:pt>
                <c:pt idx="7">
                  <c:v>331775.0</c:v>
                </c:pt>
                <c:pt idx="8">
                  <c:v>331775.0</c:v>
                </c:pt>
                <c:pt idx="9">
                  <c:v>331775.0</c:v>
                </c:pt>
                <c:pt idx="10">
                  <c:v>331775.0</c:v>
                </c:pt>
                <c:pt idx="11">
                  <c:v>331775.0</c:v>
                </c:pt>
                <c:pt idx="12">
                  <c:v>331775.0</c:v>
                </c:pt>
                <c:pt idx="13">
                  <c:v>331775.0</c:v>
                </c:pt>
                <c:pt idx="14">
                  <c:v>331775.0</c:v>
                </c:pt>
                <c:pt idx="15">
                  <c:v>331775.0</c:v>
                </c:pt>
                <c:pt idx="16">
                  <c:v>331775.0</c:v>
                </c:pt>
                <c:pt idx="17">
                  <c:v>331775.0</c:v>
                </c:pt>
                <c:pt idx="18">
                  <c:v>331775.0</c:v>
                </c:pt>
                <c:pt idx="19">
                  <c:v>331775.0</c:v>
                </c:pt>
                <c:pt idx="20">
                  <c:v>331775.0</c:v>
                </c:pt>
                <c:pt idx="21">
                  <c:v>331775.0</c:v>
                </c:pt>
                <c:pt idx="22">
                  <c:v>331775.0</c:v>
                </c:pt>
                <c:pt idx="23">
                  <c:v>331775.0</c:v>
                </c:pt>
                <c:pt idx="24">
                  <c:v>331775.0</c:v>
                </c:pt>
                <c:pt idx="25">
                  <c:v>331775.0</c:v>
                </c:pt>
                <c:pt idx="26">
                  <c:v>331775.0</c:v>
                </c:pt>
                <c:pt idx="27">
                  <c:v>331775.0</c:v>
                </c:pt>
                <c:pt idx="28">
                  <c:v>331775.0</c:v>
                </c:pt>
                <c:pt idx="29">
                  <c:v>331775.0</c:v>
                </c:pt>
                <c:pt idx="30">
                  <c:v>331775.0</c:v>
                </c:pt>
                <c:pt idx="31">
                  <c:v>331775.0</c:v>
                </c:pt>
                <c:pt idx="32">
                  <c:v>331775.0</c:v>
                </c:pt>
                <c:pt idx="33">
                  <c:v>331775.0</c:v>
                </c:pt>
                <c:pt idx="34">
                  <c:v>331775.0</c:v>
                </c:pt>
                <c:pt idx="35">
                  <c:v>331775.0</c:v>
                </c:pt>
                <c:pt idx="36">
                  <c:v>331775.0</c:v>
                </c:pt>
                <c:pt idx="37">
                  <c:v>331775.0</c:v>
                </c:pt>
                <c:pt idx="38">
                  <c:v>331775.0</c:v>
                </c:pt>
                <c:pt idx="39">
                  <c:v>331775.0</c:v>
                </c:pt>
                <c:pt idx="40">
                  <c:v>331775.0</c:v>
                </c:pt>
                <c:pt idx="41">
                  <c:v>331775.0</c:v>
                </c:pt>
                <c:pt idx="42">
                  <c:v>331775.0</c:v>
                </c:pt>
                <c:pt idx="43">
                  <c:v>331775.0</c:v>
                </c:pt>
                <c:pt idx="44">
                  <c:v>331775.0</c:v>
                </c:pt>
                <c:pt idx="45">
                  <c:v>331775.0</c:v>
                </c:pt>
                <c:pt idx="46">
                  <c:v>331775.0</c:v>
                </c:pt>
                <c:pt idx="47">
                  <c:v>331775.0</c:v>
                </c:pt>
                <c:pt idx="48">
                  <c:v>331775.0</c:v>
                </c:pt>
                <c:pt idx="49">
                  <c:v>331775.0</c:v>
                </c:pt>
                <c:pt idx="50">
                  <c:v>331775.0</c:v>
                </c:pt>
                <c:pt idx="51">
                  <c:v>331775.0</c:v>
                </c:pt>
                <c:pt idx="52">
                  <c:v>331775.0</c:v>
                </c:pt>
                <c:pt idx="53">
                  <c:v>331775.0</c:v>
                </c:pt>
                <c:pt idx="54">
                  <c:v>331775.0</c:v>
                </c:pt>
                <c:pt idx="55">
                  <c:v>331775.0</c:v>
                </c:pt>
                <c:pt idx="56">
                  <c:v>331775.0</c:v>
                </c:pt>
                <c:pt idx="57">
                  <c:v>331775.0</c:v>
                </c:pt>
                <c:pt idx="58">
                  <c:v>331775.0</c:v>
                </c:pt>
                <c:pt idx="59">
                  <c:v>331775.0</c:v>
                </c:pt>
                <c:pt idx="60">
                  <c:v>331775.0</c:v>
                </c:pt>
                <c:pt idx="61">
                  <c:v>331775.0</c:v>
                </c:pt>
                <c:pt idx="62">
                  <c:v>331775.0</c:v>
                </c:pt>
                <c:pt idx="63">
                  <c:v>331775.0</c:v>
                </c:pt>
                <c:pt idx="64">
                  <c:v>331775.0</c:v>
                </c:pt>
                <c:pt idx="65">
                  <c:v>331775.0</c:v>
                </c:pt>
                <c:pt idx="66">
                  <c:v>331775.0</c:v>
                </c:pt>
                <c:pt idx="67">
                  <c:v>331775.0</c:v>
                </c:pt>
                <c:pt idx="68">
                  <c:v>331775.0</c:v>
                </c:pt>
                <c:pt idx="69">
                  <c:v>331775.0</c:v>
                </c:pt>
                <c:pt idx="70">
                  <c:v>331775.0</c:v>
                </c:pt>
                <c:pt idx="71">
                  <c:v>331775.0</c:v>
                </c:pt>
                <c:pt idx="72">
                  <c:v>331775.0</c:v>
                </c:pt>
                <c:pt idx="73">
                  <c:v>331775.0</c:v>
                </c:pt>
                <c:pt idx="74">
                  <c:v>331775.0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非保证户口价值</c:v>
                </c:pt>
              </c:strCache>
            </c:strRef>
          </c:tx>
          <c:spPr>
            <a:ln w="31750">
              <a:solidFill>
                <a:srgbClr val="1B2A4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Sheet1!$C$2:$C$76</c:f>
              <c:numCache>
                <c:formatCode>General</c:formatCode>
                <c:ptCount val="75"/>
                <c:pt idx="0">
                  <c:v>50300</c:v>
                </c:pt>
                <c:pt idx="1">
                  <c:v>107975</c:v>
                </c:pt>
                <c:pt idx="2">
                  <c:v>169132</c:v>
                </c:pt>
                <c:pt idx="3">
                  <c:v>233981</c:v>
                </c:pt>
                <c:pt idx="4">
                  <c:v>303508</c:v>
                </c:pt>
                <c:pt idx="5">
                  <c:v>310920</c:v>
                </c:pt>
                <c:pt idx="6">
                  <c:v>318574</c:v>
                </c:pt>
                <c:pt idx="7">
                  <c:v>326469</c:v>
                </c:pt>
                <c:pt idx="8">
                  <c:v>334606</c:v>
                </c:pt>
                <c:pt idx="9">
                  <c:v>342950</c:v>
                </c:pt>
                <c:pt idx="10">
                  <c:v>351500</c:v>
                </c:pt>
                <c:pt idx="11">
                  <c:v>360223</c:v>
                </c:pt>
                <c:pt idx="12">
                  <c:v>369080</c:v>
                </c:pt>
                <c:pt idx="13">
                  <c:v>378052</c:v>
                </c:pt>
                <c:pt idx="14">
                  <c:v>387118</c:v>
                </c:pt>
                <c:pt idx="15">
                  <c:v>405608</c:v>
                </c:pt>
                <c:pt idx="16">
                  <c:v>424731</c:v>
                </c:pt>
                <c:pt idx="17">
                  <c:v>444476</c:v>
                </c:pt>
                <c:pt idx="18">
                  <c:v>464852</c:v>
                </c:pt>
                <c:pt idx="19">
                  <c:v>490561</c:v>
                </c:pt>
                <c:pt idx="20">
                  <c:v>517084</c:v>
                </c:pt>
                <c:pt idx="21">
                  <c:v>544807</c:v>
                </c:pt>
                <c:pt idx="22">
                  <c:v>573701</c:v>
                </c:pt>
                <c:pt idx="23">
                  <c:v>603707</c:v>
                </c:pt>
                <c:pt idx="24">
                  <c:v>634731</c:v>
                </c:pt>
                <c:pt idx="25">
                  <c:v>666761</c:v>
                </c:pt>
                <c:pt idx="26">
                  <c:v>699780</c:v>
                </c:pt>
                <c:pt idx="27">
                  <c:v>733764</c:v>
                </c:pt>
                <c:pt idx="28">
                  <c:v>768660</c:v>
                </c:pt>
                <c:pt idx="29">
                  <c:v>804423</c:v>
                </c:pt>
                <c:pt idx="30">
                  <c:v>840989</c:v>
                </c:pt>
                <c:pt idx="31">
                  <c:v>878303</c:v>
                </c:pt>
                <c:pt idx="32">
                  <c:v>916277</c:v>
                </c:pt>
                <c:pt idx="33">
                  <c:v>956118</c:v>
                </c:pt>
                <c:pt idx="34">
                  <c:v>996672</c:v>
                </c:pt>
                <c:pt idx="35">
                  <c:v>1037903</c:v>
                </c:pt>
                <c:pt idx="36">
                  <c:v>1079744</c:v>
                </c:pt>
                <c:pt idx="37">
                  <c:v>1119854</c:v>
                </c:pt>
                <c:pt idx="38">
                  <c:v>1160486</c:v>
                </c:pt>
                <c:pt idx="39">
                  <c:v>1201620</c:v>
                </c:pt>
                <c:pt idx="40">
                  <c:v>1243271</c:v>
                </c:pt>
                <c:pt idx="41">
                  <c:v>1285485</c:v>
                </c:pt>
                <c:pt idx="42">
                  <c:v>1328374</c:v>
                </c:pt>
                <c:pt idx="43">
                  <c:v>1372094</c:v>
                </c:pt>
                <c:pt idx="44">
                  <c:v>1416880</c:v>
                </c:pt>
                <c:pt idx="45">
                  <c:v>1463094</c:v>
                </c:pt>
                <c:pt idx="46">
                  <c:v>1510578</c:v>
                </c:pt>
                <c:pt idx="47">
                  <c:v>1559934</c:v>
                </c:pt>
                <c:pt idx="48">
                  <c:v>1612083</c:v>
                </c:pt>
                <c:pt idx="49">
                  <c:v>1668413</c:v>
                </c:pt>
                <c:pt idx="50">
                  <c:v>1731071</c:v>
                </c:pt>
                <c:pt idx="51">
                  <c:v>1803371</c:v>
                </c:pt>
                <c:pt idx="52">
                  <c:v>1890553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身故赔偿总保额</c:v>
                </c:pt>
              </c:strCache>
            </c:strRef>
          </c:tx>
          <c:spPr>
            <a:ln w="31750">
              <a:solidFill>
                <a:srgbClr val="8A6A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Sheet1!$D$2:$D$76</c:f>
              <c:numCache>
                <c:formatCode>General</c:formatCode>
                <c:ptCount val="75"/>
                <c:pt idx="0">
                  <c:v>2000000</c:v>
                </c:pt>
                <c:pt idx="1">
                  <c:v>2000000</c:v>
                </c:pt>
                <c:pt idx="2">
                  <c:v>2000000</c:v>
                </c:pt>
                <c:pt idx="3">
                  <c:v>2000000</c:v>
                </c:pt>
                <c:pt idx="4">
                  <c:v>2000000</c:v>
                </c:pt>
                <c:pt idx="5">
                  <c:v>2000000</c:v>
                </c:pt>
                <c:pt idx="6">
                  <c:v>2000000</c:v>
                </c:pt>
                <c:pt idx="7">
                  <c:v>2000000</c:v>
                </c:pt>
                <c:pt idx="8">
                  <c:v>2000000</c:v>
                </c:pt>
                <c:pt idx="9">
                  <c:v>2000000</c:v>
                </c:pt>
                <c:pt idx="10">
                  <c:v>2000000</c:v>
                </c:pt>
                <c:pt idx="11">
                  <c:v>2000000</c:v>
                </c:pt>
                <c:pt idx="12">
                  <c:v>2000000</c:v>
                </c:pt>
                <c:pt idx="13">
                  <c:v>2000000</c:v>
                </c:pt>
                <c:pt idx="14">
                  <c:v>2000000</c:v>
                </c:pt>
                <c:pt idx="15">
                  <c:v>2000000</c:v>
                </c:pt>
                <c:pt idx="16">
                  <c:v>2000000</c:v>
                </c:pt>
                <c:pt idx="17">
                  <c:v>2000000</c:v>
                </c:pt>
                <c:pt idx="18">
                  <c:v>2000000</c:v>
                </c:pt>
                <c:pt idx="19">
                  <c:v>2000000</c:v>
                </c:pt>
                <c:pt idx="20">
                  <c:v>2000000</c:v>
                </c:pt>
                <c:pt idx="21">
                  <c:v>2000000</c:v>
                </c:pt>
                <c:pt idx="22">
                  <c:v>2000000</c:v>
                </c:pt>
                <c:pt idx="23">
                  <c:v>2000000</c:v>
                </c:pt>
                <c:pt idx="24">
                  <c:v>2000000</c:v>
                </c:pt>
                <c:pt idx="25">
                  <c:v>2000000</c:v>
                </c:pt>
                <c:pt idx="26">
                  <c:v>2000000</c:v>
                </c:pt>
                <c:pt idx="27">
                  <c:v>2000000</c:v>
                </c:pt>
                <c:pt idx="28">
                  <c:v>2000000</c:v>
                </c:pt>
                <c:pt idx="29">
                  <c:v>2000000</c:v>
                </c:pt>
                <c:pt idx="30">
                  <c:v>2000000</c:v>
                </c:pt>
                <c:pt idx="31">
                  <c:v>2000000</c:v>
                </c:pt>
                <c:pt idx="32">
                  <c:v>2000000</c:v>
                </c:pt>
                <c:pt idx="33">
                  <c:v>2000000</c:v>
                </c:pt>
                <c:pt idx="34">
                  <c:v>2000000</c:v>
                </c:pt>
                <c:pt idx="35">
                  <c:v>2000000</c:v>
                </c:pt>
                <c:pt idx="36">
                  <c:v>2000000</c:v>
                </c:pt>
                <c:pt idx="37">
                  <c:v>2000000</c:v>
                </c:pt>
                <c:pt idx="38">
                  <c:v>2000000</c:v>
                </c:pt>
                <c:pt idx="39">
                  <c:v>2000000</c:v>
                </c:pt>
                <c:pt idx="40">
                  <c:v>2000000</c:v>
                </c:pt>
                <c:pt idx="41">
                  <c:v>2000000</c:v>
                </c:pt>
                <c:pt idx="42">
                  <c:v>2000000</c:v>
                </c:pt>
                <c:pt idx="43">
                  <c:v>2000000</c:v>
                </c:pt>
                <c:pt idx="44">
                  <c:v>2000000</c:v>
                </c:pt>
                <c:pt idx="45">
                  <c:v>2000000</c:v>
                </c:pt>
                <c:pt idx="46">
                  <c:v>2000000</c:v>
                </c:pt>
                <c:pt idx="47">
                  <c:v>2000000</c:v>
                </c:pt>
                <c:pt idx="48">
                  <c:v>2000000</c:v>
                </c:pt>
                <c:pt idx="49">
                  <c:v>2000000</c:v>
                </c:pt>
                <c:pt idx="50">
                  <c:v>2000000</c:v>
                </c:pt>
                <c:pt idx="51">
                  <c:v>2000000</c:v>
                </c:pt>
                <c:pt idx="52">
                  <c:v>2000000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/>
                </a:pPr>
                <a:r>
                  <a:t>保单年度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0000.0"/>
          <c:min val="0.0"/>
        </c:scaling>
        <c:delete val="0"/>
        <c:axPos val="l"/>
        <c:majorGridlines>
          <c:spPr>
            <a:ln>
              <a:solidFill>
                <a:srgbClr val="4A5A6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900"/>
                </a:pPr>
                <a:r>
                  <a:t>金额 (USD)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A5A6A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匠心飞越储蓄保险计划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周大福人寿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84238" cy="1097280"/>
          </a:xfrm>
          <a:prstGeom prst="rect">
            <a:avLst/>
          </a:prstGeom>
        </p:spPr>
      </p:pic>
      <p:pic>
        <p:nvPicPr>
          <p:cNvPr id="10" name="Picture 9" descr="brand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1" name="Picture 10" descr="brand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2" name="Picture 11" descr="office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匠心飞越储蓄保险计划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财富传承专家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重疾/医疗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匠心系列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强积金 — 企业保障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周大福集团旗下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郑氏家族控股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立足香港近40年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1,433,573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2.87x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1,433,573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2,927,364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127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-99.69%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6,550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132,620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139,170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-14.43%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395,860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265,612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661,472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501,000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447,948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948,948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930,073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1,433,573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506,000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1,630,642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2,136,642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5.98%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13.09%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508,500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2,418,864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2,927,364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511,000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3,499,771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4,010,771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4,981,604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5,495,104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518,500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9,796,566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533,740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18,829,057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577,720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35,768,913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36,346,633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625,120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67,602,507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677,640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127,394,995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128,072,635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283.49%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742,770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239,667,172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240,409,942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479.82%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1（1 岁）起 · 每年提取 USD 101,000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572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101,000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101,000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1,101,000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6,550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117,300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1,117,300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17.45%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24.69%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451,987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292,300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903,974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1,196,274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351,891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467,300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703,782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1,171,082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8.95%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275,853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642,300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551,706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1,194,006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225,731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817,300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451,461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1,268,761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6.15%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190,254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992,300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380,507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1,372,807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164,500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1,167,300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328,999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1,496,299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3.18%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5.69%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146,231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1,342,300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292,461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1,634,761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124,340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1,692,300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248,680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1,940,980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2.75%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5.76%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113,472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2,042,300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226,943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2,269,243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108,104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2,392,300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216,207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2,608,507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2.39%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6.02%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105,490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2,742,300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210,980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2,953,280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104,247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3,092,300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208,493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3,300,793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2.12%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6.22%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103,708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3,442,300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207,415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3,649,715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103,476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3,792,300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206,952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3,999,252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1.91%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103,362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4,142,300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206,724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4,349,024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103,319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4,387,300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206,637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4,593,937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1.76%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6.45%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Y1 起每年提取 USD 101,000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1 起每年提取 USD 101,000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362,300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101K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818,341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467,300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101K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703,782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572,300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101K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604,938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712,300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101K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506,393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3,407,300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101K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207,481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1（受保人 1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方案协同 · 完整的家庭财务规划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攻守兼备，进退自如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0292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💰 现金流引擎 · 香港储蓄险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📈 复利增长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长期 IRR 5.5-6.5%，30年翻5倍+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💱 多元货币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支持7-10种货币自由转换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✂️ 保单拆分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无限次拆分，多子女传承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🏛️ 税务递延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香港免税增长，无资本利得税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👑 定向传承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无限次变更受保人，类信托赔付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💧 提取灵活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提取现金价值缴纳IUL保费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737360"/>
            <a:ext cx="5029200" cy="45720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📈 财富杠杆 · 新加坡IUL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🛡️ 下行保护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0%保证下限，市场跌不亏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📊 指数挂钩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挂钩标普500，上限率10%+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🇸🇬 主权独立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新加坡MAS监管，司法独立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💰 美元资产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美元计价，跨境资产配置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🏛️ 免税传承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身故赔偿免遗产税，隔离债务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👨‍👩‍👧‍👦 多代规划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保障至120岁+，跨代传承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5661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Calibri"/>
                <a:ea typeface="STHeiti Medium"/>
              </a:rPr>
              <a:t>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现金流 + 高杠杆 · 完美组合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储蓄提领缴纳IUL保费 → 稳定现金流 + 高额寿险保障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💰 储蓄险 · 稳定现金流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54863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70F1A"/>
                </a:solidFill>
                <a:latin typeface="Calibri"/>
                <a:ea typeface="STHeiti Medium"/>
              </a:rPr>
              <a:t>从 1 岁起，每年提取 USD 101,000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486399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这笔现金流可用于支付IUL保费，同时储蓄账户继续滚存增长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覆盖比例：约 152%（IUL年缴USD 66,355）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56616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8A6A2A"/>
                </a:solidFill>
                <a:latin typeface="Calibri"/>
                <a:ea typeface="STHeiti Medium"/>
              </a:rPr>
              <a:t>⬇ 保费支付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4864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📈 IUL · 高杠杆寿险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年缴保费 USD 66,355 × 5年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5486399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 USD 2,000,000（约 6.0 倍总保费杠杆）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指数账户增长潜力，下行风险可控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保证最低派息率，保障本金安全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身故赔偿免遗产税，财富定向传承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029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储蓄年提领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Calibri"/>
                <a:ea typeface="STHeiti Medium"/>
              </a:rPr>
              <a:t>USD 101,000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46888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468880"/>
            <a:ext cx="5029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6032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IUL年缴保费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3464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8A6A2A"/>
                </a:solidFill>
                <a:latin typeface="Calibri"/>
                <a:ea typeface="STHeiti Medium"/>
              </a:rPr>
              <a:t>USD 66,355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7472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502920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56616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保费覆盖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84048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C8963E"/>
                </a:solidFill>
                <a:latin typeface="Calibri"/>
                <a:ea typeface="STHeiti Medium"/>
              </a:rPr>
              <a:t>152%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48056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480560"/>
            <a:ext cx="5029200" cy="54864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57200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IUL总保费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4632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4A5A6A"/>
                </a:solidFill>
                <a:latin typeface="Calibri"/>
                <a:ea typeface="STHeiti Medium"/>
              </a:rPr>
              <a:t>USD 331,775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4864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486400"/>
            <a:ext cx="5029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57784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85216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943600"/>
            <a:ext cx="11155680" cy="7315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💡 规划理念：储蓄险创造稳定现金流，IUL提供高额寿险保障。用储蓄收益缴纳IUL保费，一份投入双重收获。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C8963E"/>
                </a:solidFill>
                <a:latin typeface="Calibri"/>
                <a:ea typeface="STHeiti Medium"/>
              </a:rPr>
              <a:t>财富杠杆 · 寿险保障篇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F8F9FB"/>
                </a:solidFill>
                <a:latin typeface="Calibri"/>
                <a:ea typeface="STHeiti Medium"/>
              </a:rPr>
              <a:t>高杠杆寿险规划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C8963E"/>
                </a:solidFill>
                <a:latin typeface="Calibri"/>
                <a:ea typeface="STHeiti Medium"/>
              </a:rPr>
              <a:t>用现金流撬动千万保障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931920"/>
            <a:ext cx="118872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D4B078"/>
                </a:solidFill>
                <a:latin typeface="Calibri"/>
                <a:ea typeface="STHeiti Medium"/>
              </a:rPr>
              <a:t>全美海外（新加坡） · 指数型万用寿险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关于全美海外（新加坡）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万用寿险 · 全美海外（新加坡）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匠心飞越储蓄保险计划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大额指数万能险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指数型万能寿险 — GIUL 3代系列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海外信托与保单统筹 — 资产隔离与税务合规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万能寿险 — 大额趸交/灵活缴费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保单融资与贴现 — 私人银行流动性方案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全美人寿总公司创立于1904年（旧金山）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隶属荷兰全球人寿保险集团（Aegon N.V.）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S&amp;P A+ / Moody's A1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新加坡MAS全牌照寿险公司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万用寿险概要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保费 · 身故赔偿 · 杠杆倍数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年缴保费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共USD 331,775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011680"/>
            <a:ext cx="2743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保障至终身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2743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杠杆倍数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8A6A2A"/>
                </a:solidFill>
                <a:latin typeface="Calibri"/>
                <a:ea typeface="STHeiti Medium"/>
              </a:rPr>
              <a:t>6.0x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身故赔偿/总保费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受保人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46岁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产品特点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指数账户挂钩市场表现，享有增长潜力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保证最低派息率，下行风险可控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保费灵活缴付，可根据现金流调整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身故赔偿免遗产税，财富定向传承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8368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已缴总保费 vs 身故赔偿总保额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保单年度 · 金额 · 杠杆效应趋势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57200" cy="27432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0" y="1554480"/>
            <a:ext cx="3200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91640"/>
            <a:ext cx="28346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📊 关键数据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965960"/>
            <a:ext cx="2834640" cy="18288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年缴保费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总保费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331,775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身故保额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2,000,000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保费杠杆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6.0x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保额锁定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缴费期内锁定额度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303520"/>
            <a:ext cx="283464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蓝色为累计已缴保费（5年缴清后持平），金色为身故赔偿保额。两条线的间距体现保费杠杆效应。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保单摘要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年龄 · 保单年度 · 保费 · 户口价值(非保证) · 保额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0972800" cy="590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645920"/>
                <a:gridCol w="1828800"/>
                <a:gridCol w="256032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年缴保费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累计已缴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户口价值 非保证(USD)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保额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50,300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132,710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107,975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199,065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169,132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265,420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233,981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303,508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310,920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318,574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326,469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334,606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342,950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490,561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804,423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1,201,620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1,668,413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7351776"/>
            <a:ext cx="105156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351776"/>
            <a:ext cx="103327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总缴保费: USD 331,775  预期回本年度: 第9年  末年倍数: 17.4x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671816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2,927,364。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Y1 起每年提取 USD 101,000，覆盖小学到大学。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642,300，本金仍持续滚存。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101K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>
                <a:solidFill>
                  <a:srgbClr val="F8F9FB"/>
                </a:solidFill>
                <a:latin typeface="Calibri"/>
                <a:ea typeface="STHeiti Medium"/>
              </a:rPr>
              <a:t>一份规划，三重守护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C8963E"/>
                </a:solidFill>
                <a:latin typeface="Calibri"/>
                <a:ea typeface="STHeiti Medium"/>
              </a:rPr>
              <a:t>现金流 + 保障 + 杠杆 · 完整的家庭财务规划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356616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本演示基于保险公司官方计划书数据生成 · 实际保单条款以保单文件为准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