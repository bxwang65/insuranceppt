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保证现价 (USD)</c:v>
                </c:pt>
              </c:strCache>
            </c:strRef>
          </c:tx>
          <c:spPr>
            <a:solidFill>
              <a:srgbClr val="1F2D3D"/>
            </a:solidFill>
          </c:spPr>
          <c:cat>
            <c:strRef>
              <c:f>Sheet1!$A$2:$A$29</c:f>
              <c:strCache>
                <c:ptCount val="28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Y6
(6岁)</c:v>
                </c:pt>
                <c:pt idx="4">
                  <c:v>Y7
(7岁)</c:v>
                </c:pt>
                <c:pt idx="5">
                  <c:v>Y8
(8岁)</c:v>
                </c:pt>
                <c:pt idx="6">
                  <c:v>Y9
(9岁)</c:v>
                </c:pt>
                <c:pt idx="7">
                  <c:v>Y10
(10岁)</c:v>
                </c:pt>
                <c:pt idx="8">
                  <c:v>Y11
(11岁)</c:v>
                </c:pt>
                <c:pt idx="9">
                  <c:v>Y12
(12岁)</c:v>
                </c:pt>
                <c:pt idx="10">
                  <c:v>Y13
(13岁)</c:v>
                </c:pt>
                <c:pt idx="11">
                  <c:v>Y14
(14岁)</c:v>
                </c:pt>
                <c:pt idx="12">
                  <c:v>Y15
(15岁)</c:v>
                </c:pt>
                <c:pt idx="13">
                  <c:v>Y16
(16岁)</c:v>
                </c:pt>
                <c:pt idx="14">
                  <c:v>Y17
(17岁)</c:v>
                </c:pt>
                <c:pt idx="15">
                  <c:v>Y18
(18岁)</c:v>
                </c:pt>
                <c:pt idx="16">
                  <c:v>Y19
(19岁)</c:v>
                </c:pt>
                <c:pt idx="17">
                  <c:v>Y20
(20岁)</c:v>
                </c:pt>
                <c:pt idx="18">
                  <c:v>Y21
(21岁)</c:v>
                </c:pt>
                <c:pt idx="19">
                  <c:v>Y22
(22岁)</c:v>
                </c:pt>
                <c:pt idx="20">
                  <c:v>Y23
(23岁)</c:v>
                </c:pt>
                <c:pt idx="21">
                  <c:v>Y24
(24岁)</c:v>
                </c:pt>
                <c:pt idx="22">
                  <c:v>Y25
(25岁)</c:v>
                </c:pt>
                <c:pt idx="23">
                  <c:v>Y26
(26岁)</c:v>
                </c:pt>
                <c:pt idx="24">
                  <c:v>Y27
(27岁)</c:v>
                </c:pt>
                <c:pt idx="25">
                  <c:v>Y28
(28岁)</c:v>
                </c:pt>
                <c:pt idx="26">
                  <c:v>Y29
(29岁)</c:v>
                </c:pt>
                <c:pt idx="27">
                  <c:v>Y30
(30岁)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1250</c:v>
                </c:pt>
                <c:pt idx="1">
                  <c:v>7000</c:v>
                </c:pt>
                <c:pt idx="2">
                  <c:v>17000</c:v>
                </c:pt>
                <c:pt idx="3">
                  <c:v>115000</c:v>
                </c:pt>
                <c:pt idx="4">
                  <c:v>285000</c:v>
                </c:pt>
                <c:pt idx="5">
                  <c:v>295000</c:v>
                </c:pt>
                <c:pt idx="6">
                  <c:v>302000</c:v>
                </c:pt>
                <c:pt idx="7">
                  <c:v>317500</c:v>
                </c:pt>
                <c:pt idx="8">
                  <c:v>328500</c:v>
                </c:pt>
                <c:pt idx="9">
                  <c:v>337000</c:v>
                </c:pt>
                <c:pt idx="10">
                  <c:v>346500</c:v>
                </c:pt>
                <c:pt idx="11">
                  <c:v>357000</c:v>
                </c:pt>
                <c:pt idx="12">
                  <c:v>367500</c:v>
                </c:pt>
                <c:pt idx="13">
                  <c:v>392000</c:v>
                </c:pt>
                <c:pt idx="14">
                  <c:v>418000</c:v>
                </c:pt>
                <c:pt idx="15">
                  <c:v>500000</c:v>
                </c:pt>
                <c:pt idx="16">
                  <c:v>500585</c:v>
                </c:pt>
                <c:pt idx="17">
                  <c:v>501355</c:v>
                </c:pt>
                <c:pt idx="18">
                  <c:v>501800</c:v>
                </c:pt>
                <c:pt idx="19">
                  <c:v>502345</c:v>
                </c:pt>
                <c:pt idx="20">
                  <c:v>502600</c:v>
                </c:pt>
                <c:pt idx="21">
                  <c:v>502850</c:v>
                </c:pt>
                <c:pt idx="22">
                  <c:v>503105</c:v>
                </c:pt>
                <c:pt idx="23">
                  <c:v>503360</c:v>
                </c:pt>
                <c:pt idx="24">
                  <c:v>503615</c:v>
                </c:pt>
                <c:pt idx="25">
                  <c:v>503870</c:v>
                </c:pt>
                <c:pt idx="26">
                  <c:v>504070</c:v>
                </c:pt>
                <c:pt idx="27">
                  <c:v>504210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非保证红利/分红 (USD)</c:v>
                </c:pt>
              </c:strCache>
            </c:strRef>
          </c:tx>
          <c:spPr>
            <a:solidFill>
              <a:srgbClr val="8FA3B8"/>
            </a:solidFill>
          </c:spPr>
          <c:cat>
            <c:strRef>
              <c:f>Sheet1!$A$2:$A$29</c:f>
              <c:strCache>
                <c:ptCount val="28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Y6
(6岁)</c:v>
                </c:pt>
                <c:pt idx="4">
                  <c:v>Y7
(7岁)</c:v>
                </c:pt>
                <c:pt idx="5">
                  <c:v>Y8
(8岁)</c:v>
                </c:pt>
                <c:pt idx="6">
                  <c:v>Y9
(9岁)</c:v>
                </c:pt>
                <c:pt idx="7">
                  <c:v>Y10
(10岁)</c:v>
                </c:pt>
                <c:pt idx="8">
                  <c:v>Y11
(11岁)</c:v>
                </c:pt>
                <c:pt idx="9">
                  <c:v>Y12
(12岁)</c:v>
                </c:pt>
                <c:pt idx="10">
                  <c:v>Y13
(13岁)</c:v>
                </c:pt>
                <c:pt idx="11">
                  <c:v>Y14
(14岁)</c:v>
                </c:pt>
                <c:pt idx="12">
                  <c:v>Y15
(15岁)</c:v>
                </c:pt>
                <c:pt idx="13">
                  <c:v>Y16
(16岁)</c:v>
                </c:pt>
                <c:pt idx="14">
                  <c:v>Y17
(17岁)</c:v>
                </c:pt>
                <c:pt idx="15">
                  <c:v>Y18
(18岁)</c:v>
                </c:pt>
                <c:pt idx="16">
                  <c:v>Y19
(19岁)</c:v>
                </c:pt>
                <c:pt idx="17">
                  <c:v>Y20
(20岁)</c:v>
                </c:pt>
                <c:pt idx="18">
                  <c:v>Y21
(21岁)</c:v>
                </c:pt>
                <c:pt idx="19">
                  <c:v>Y22
(22岁)</c:v>
                </c:pt>
                <c:pt idx="20">
                  <c:v>Y23
(23岁)</c:v>
                </c:pt>
                <c:pt idx="21">
                  <c:v>Y24
(24岁)</c:v>
                </c:pt>
                <c:pt idx="22">
                  <c:v>Y25
(25岁)</c:v>
                </c:pt>
                <c:pt idx="23">
                  <c:v>Y26
(26岁)</c:v>
                </c:pt>
                <c:pt idx="24">
                  <c:v>Y27
(27岁)</c:v>
                </c:pt>
                <c:pt idx="25">
                  <c:v>Y28
(28岁)</c:v>
                </c:pt>
                <c:pt idx="26">
                  <c:v>Y29
(29岁)</c:v>
                </c:pt>
                <c:pt idx="27">
                  <c:v>Y30
(30岁)</c:v>
                </c:pt>
              </c:strCache>
            </c: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>12881</c:v>
                </c:pt>
                <c:pt idx="1">
                  <c:v>25854</c:v>
                </c:pt>
                <c:pt idx="2">
                  <c:v>80950</c:v>
                </c:pt>
                <c:pt idx="3">
                  <c:v>93523</c:v>
                </c:pt>
                <c:pt idx="4">
                  <c:v>215750</c:v>
                </c:pt>
                <c:pt idx="5">
                  <c:v>240576</c:v>
                </c:pt>
                <c:pt idx="6">
                  <c:v>254203</c:v>
                </c:pt>
                <c:pt idx="7">
                  <c:v>331479</c:v>
                </c:pt>
                <c:pt idx="8">
                  <c:v>342487</c:v>
                </c:pt>
                <c:pt idx="9">
                  <c:v>377583</c:v>
                </c:pt>
                <c:pt idx="10">
                  <c:v>417850</c:v>
                </c:pt>
                <c:pt idx="11">
                  <c:v>466437</c:v>
                </c:pt>
                <c:pt idx="12">
                  <c:v>550816</c:v>
                </c:pt>
                <c:pt idx="13">
                  <c:v>575310</c:v>
                </c:pt>
                <c:pt idx="14">
                  <c:v>598766</c:v>
                </c:pt>
                <c:pt idx="15">
                  <c:v>612636</c:v>
                </c:pt>
                <c:pt idx="16">
                  <c:v>691947</c:v>
                </c:pt>
                <c:pt idx="17">
                  <c:v>846010</c:v>
                </c:pt>
                <c:pt idx="18">
                  <c:v>928321</c:v>
                </c:pt>
                <c:pt idx="19">
                  <c:v>1034958</c:v>
                </c:pt>
                <c:pt idx="20">
                  <c:v>1142841</c:v>
                </c:pt>
                <c:pt idx="21">
                  <c:v>1305041</c:v>
                </c:pt>
                <c:pt idx="22">
                  <c:v>1568168</c:v>
                </c:pt>
                <c:pt idx="23">
                  <c:v>1705589</c:v>
                </c:pt>
                <c:pt idx="24">
                  <c:v>1853802</c:v>
                </c:pt>
                <c:pt idx="25">
                  <c:v>2010189</c:v>
                </c:pt>
                <c:pt idx="26">
                  <c:v>2172761</c:v>
                </c:pt>
                <c:pt idx="27">
                  <c:v>2423174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6A7A8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6A7A8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3A4A5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退保发还总额 (USD)</c:v>
                </c:pt>
              </c:strCache>
            </c:strRef>
          </c:tx>
          <c:spPr>
            <a:solidFill>
              <a:srgbClr val="5A7088"/>
            </a:solidFill>
            <a:ln w="31750">
              <a:solidFill>
                <a:srgbClr val="5A7088"/>
              </a:solidFill>
            </a:ln>
          </c:spPr>
          <c:marker>
            <c:symbol val="circle"/>
            <c:size val="6"/>
          </c:marker>
          <c:cat>
            <c:strRef>
              <c:f>Sheet1!$A$2:$A$29</c:f>
              <c:strCache>
                <c:ptCount val="28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Y6
(6岁)</c:v>
                </c:pt>
                <c:pt idx="4">
                  <c:v>Y7
(7岁)</c:v>
                </c:pt>
                <c:pt idx="5">
                  <c:v>Y8
(8岁)</c:v>
                </c:pt>
                <c:pt idx="6">
                  <c:v>Y9
(9岁)</c:v>
                </c:pt>
                <c:pt idx="7">
                  <c:v>Y10
(10岁)</c:v>
                </c:pt>
                <c:pt idx="8">
                  <c:v>Y11
(11岁)</c:v>
                </c:pt>
                <c:pt idx="9">
                  <c:v>Y12
(12岁)</c:v>
                </c:pt>
                <c:pt idx="10">
                  <c:v>Y13
(13岁)</c:v>
                </c:pt>
                <c:pt idx="11">
                  <c:v>Y14
(14岁)</c:v>
                </c:pt>
                <c:pt idx="12">
                  <c:v>Y15
(15岁)</c:v>
                </c:pt>
                <c:pt idx="13">
                  <c:v>Y16
(16岁)</c:v>
                </c:pt>
                <c:pt idx="14">
                  <c:v>Y17
(17岁)</c:v>
                </c:pt>
                <c:pt idx="15">
                  <c:v>Y18
(18岁)</c:v>
                </c:pt>
                <c:pt idx="16">
                  <c:v>Y19
(19岁)</c:v>
                </c:pt>
                <c:pt idx="17">
                  <c:v>Y20
(20岁)</c:v>
                </c:pt>
                <c:pt idx="18">
                  <c:v>Y21
(21岁)</c:v>
                </c:pt>
                <c:pt idx="19">
                  <c:v>Y22
(22岁)</c:v>
                </c:pt>
                <c:pt idx="20">
                  <c:v>Y23
(23岁)</c:v>
                </c:pt>
                <c:pt idx="21">
                  <c:v>Y24
(24岁)</c:v>
                </c:pt>
                <c:pt idx="22">
                  <c:v>Y25
(25岁)</c:v>
                </c:pt>
                <c:pt idx="23">
                  <c:v>Y26
(26岁)</c:v>
                </c:pt>
                <c:pt idx="24">
                  <c:v>Y27
(27岁)</c:v>
                </c:pt>
                <c:pt idx="25">
                  <c:v>Y28
(28岁)</c:v>
                </c:pt>
                <c:pt idx="26">
                  <c:v>Y29
(29岁)</c:v>
                </c:pt>
                <c:pt idx="27">
                  <c:v>Y30
(30岁)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14131</c:v>
                </c:pt>
                <c:pt idx="1">
                  <c:v>32854</c:v>
                </c:pt>
                <c:pt idx="2">
                  <c:v>97950</c:v>
                </c:pt>
                <c:pt idx="3">
                  <c:v>208523</c:v>
                </c:pt>
                <c:pt idx="4">
                  <c:v>500750</c:v>
                </c:pt>
                <c:pt idx="5">
                  <c:v>535576</c:v>
                </c:pt>
                <c:pt idx="6">
                  <c:v>556203</c:v>
                </c:pt>
                <c:pt idx="7">
                  <c:v>648979</c:v>
                </c:pt>
                <c:pt idx="8">
                  <c:v>670987</c:v>
                </c:pt>
                <c:pt idx="9">
                  <c:v>714583</c:v>
                </c:pt>
                <c:pt idx="10">
                  <c:v>764350</c:v>
                </c:pt>
                <c:pt idx="11">
                  <c:v>823437</c:v>
                </c:pt>
                <c:pt idx="12">
                  <c:v>918316</c:v>
                </c:pt>
                <c:pt idx="13">
                  <c:v>967310</c:v>
                </c:pt>
                <c:pt idx="14">
                  <c:v>1016766</c:v>
                </c:pt>
                <c:pt idx="15">
                  <c:v>1112636</c:v>
                </c:pt>
                <c:pt idx="16">
                  <c:v>1192532</c:v>
                </c:pt>
                <c:pt idx="17">
                  <c:v>1347365</c:v>
                </c:pt>
                <c:pt idx="18">
                  <c:v>1430121</c:v>
                </c:pt>
                <c:pt idx="19">
                  <c:v>1537303</c:v>
                </c:pt>
                <c:pt idx="20">
                  <c:v>1645441</c:v>
                </c:pt>
                <c:pt idx="21">
                  <c:v>1807891</c:v>
                </c:pt>
                <c:pt idx="22">
                  <c:v>2071273</c:v>
                </c:pt>
                <c:pt idx="23">
                  <c:v>2208949</c:v>
                </c:pt>
                <c:pt idx="24">
                  <c:v>2357417</c:v>
                </c:pt>
                <c:pt idx="25">
                  <c:v>2514059</c:v>
                </c:pt>
                <c:pt idx="26">
                  <c:v>2676831</c:v>
                </c:pt>
                <c:pt idx="27">
                  <c:v>2927384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6A7A8A"/>
                </a:solidFill>
                <a:latin typeface="STHeiti Medium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6A7A8A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>
              <a:solidFill>
                <a:srgbClr val="3A4A5A"/>
              </a:solidFill>
              <a:latin typeface="STHeiti Medium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不提领 · 退保现价 (USD)</c:v>
                </c:pt>
              </c:strCache>
            </c:strRef>
          </c:tx>
          <c:spPr>
            <a:solidFill>
              <a:srgbClr val="1F2D3D"/>
            </a:solidFill>
          </c:spPr>
          <c:cat>
            <c:strRef>
              <c:f>Sheet1!$A$2:$A$12</c:f>
              <c:strCache>
                <c:ptCount val="11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Y10
(10岁)</c:v>
                </c:pt>
                <c:pt idx="4">
                  <c:v>Y15
(15岁)</c:v>
                </c:pt>
                <c:pt idx="5">
                  <c:v>Y20
(20岁)</c:v>
                </c:pt>
                <c:pt idx="6">
                  <c:v>Y25
(25岁)</c:v>
                </c:pt>
                <c:pt idx="7">
                  <c:v>Y30
(30岁)</c:v>
                </c:pt>
                <c:pt idx="8">
                  <c:v>Y31
(31岁)</c:v>
                </c:pt>
                <c:pt idx="9">
                  <c:v>Y41
(41岁)</c:v>
                </c:pt>
                <c:pt idx="10">
                  <c:v>Y51
(51岁)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14131</c:v>
                </c:pt>
                <c:pt idx="1">
                  <c:v>32854</c:v>
                </c:pt>
                <c:pt idx="2">
                  <c:v>97950</c:v>
                </c:pt>
                <c:pt idx="3">
                  <c:v>648979</c:v>
                </c:pt>
                <c:pt idx="4">
                  <c:v>918316</c:v>
                </c:pt>
                <c:pt idx="5">
                  <c:v>1347365</c:v>
                </c:pt>
                <c:pt idx="6">
                  <c:v>2071273</c:v>
                </c:pt>
                <c:pt idx="7">
                  <c:v>2927384</c:v>
                </c:pt>
                <c:pt idx="8">
                  <c:v>3117667</c:v>
                </c:pt>
                <c:pt idx="9">
                  <c:v>5852284</c:v>
                </c:pt>
                <c:pt idx="10">
                  <c:v>10985543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提领 · 累计+退保现价 (USD)</c:v>
                </c:pt>
              </c:strCache>
            </c:strRef>
          </c:tx>
          <c:spPr>
            <a:solidFill>
              <a:srgbClr val="8FA3B8"/>
            </a:solidFill>
          </c:spPr>
          <c:cat>
            <c:strRef>
              <c:f>Sheet1!$A$2:$A$12</c:f>
              <c:strCache>
                <c:ptCount val="11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Y10
(10岁)</c:v>
                </c:pt>
                <c:pt idx="4">
                  <c:v>Y15
(15岁)</c:v>
                </c:pt>
                <c:pt idx="5">
                  <c:v>Y20
(20岁)</c:v>
                </c:pt>
                <c:pt idx="6">
                  <c:v>Y25
(25岁)</c:v>
                </c:pt>
                <c:pt idx="7">
                  <c:v>Y30
(30岁)</c:v>
                </c:pt>
                <c:pt idx="8">
                  <c:v>Y31
(31岁)</c:v>
                </c:pt>
                <c:pt idx="9">
                  <c:v>Y41
(41岁)</c:v>
                </c:pt>
                <c:pt idx="10">
                  <c:v>Y51
(51岁)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14131</c:v>
                </c:pt>
                <c:pt idx="1">
                  <c:v>32854</c:v>
                </c:pt>
                <c:pt idx="2">
                  <c:v>97950</c:v>
                </c:pt>
                <c:pt idx="3">
                  <c:v>634579</c:v>
                </c:pt>
                <c:pt idx="4">
                  <c:v>829960</c:v>
                </c:pt>
                <c:pt idx="5">
                  <c:v>1070027</c:v>
                </c:pt>
                <c:pt idx="6">
                  <c:v>1391701</c:v>
                </c:pt>
                <c:pt idx="7">
                  <c:v>1710635</c:v>
                </c:pt>
                <c:pt idx="8">
                  <c:v>1775489</c:v>
                </c:pt>
                <c:pt idx="9">
                  <c:v>2573689</c:v>
                </c:pt>
                <c:pt idx="10">
                  <c:v>3805420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A7A8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971086.0"/>
          <c:min val="0.0"/>
        </c:scaling>
        <c:delete val="0"/>
        <c:axPos val="l"/>
        <c:majorGridlines/>
        <c:numFmt formatCode="$#,##0,, &quot;M&quot;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6A7A8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3A4A5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已交总保费</c:v>
                </c:pt>
              </c:strCache>
            </c:strRef>
          </c:tx>
          <c:spPr>
            <a:ln w="31750">
              <a:solidFill>
                <a:srgbClr val="1F2D3D"/>
              </a:solidFill>
            </a:ln>
          </c:spPr>
          <c:cat>
            <c:strRef>
              <c:f>Sheet1!$A$2:$A$76</c:f>
              <c:strCache>
                <c:ptCount val="75"/>
                <c:pt idx="0">
                  <c:v>Y1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Y10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>Y20</c:v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>Y30</c:v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>Y40</c:v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Y50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>Y60</c:v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>Y70</c:v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</c:strCache>
            </c:strRef>
          </c:cat>
          <c:val>
            <c:numRef>
              <c:f>Sheet1!$B$2:$B$76</c:f>
              <c:numCache>
                <c:formatCode>General</c:formatCode>
                <c:ptCount val="75"/>
                <c:pt idx="0">
                  <c:v>66355.0</c:v>
                </c:pt>
                <c:pt idx="1">
                  <c:v>132710.0</c:v>
                </c:pt>
                <c:pt idx="2">
                  <c:v>199065.0</c:v>
                </c:pt>
                <c:pt idx="3">
                  <c:v>265420.0</c:v>
                </c:pt>
                <c:pt idx="4">
                  <c:v>331775.0</c:v>
                </c:pt>
                <c:pt idx="5">
                  <c:v>331775.0</c:v>
                </c:pt>
                <c:pt idx="6">
                  <c:v>331775.0</c:v>
                </c:pt>
                <c:pt idx="7">
                  <c:v>331775.0</c:v>
                </c:pt>
                <c:pt idx="8">
                  <c:v>331775.0</c:v>
                </c:pt>
                <c:pt idx="9">
                  <c:v>331775.0</c:v>
                </c:pt>
                <c:pt idx="10">
                  <c:v>331775.0</c:v>
                </c:pt>
                <c:pt idx="11">
                  <c:v>331775.0</c:v>
                </c:pt>
                <c:pt idx="12">
                  <c:v>331775.0</c:v>
                </c:pt>
                <c:pt idx="13">
                  <c:v>331775.0</c:v>
                </c:pt>
                <c:pt idx="14">
                  <c:v>331775.0</c:v>
                </c:pt>
                <c:pt idx="15">
                  <c:v>331775.0</c:v>
                </c:pt>
                <c:pt idx="16">
                  <c:v>331775.0</c:v>
                </c:pt>
                <c:pt idx="17">
                  <c:v>331775.0</c:v>
                </c:pt>
                <c:pt idx="18">
                  <c:v>331775.0</c:v>
                </c:pt>
                <c:pt idx="19">
                  <c:v>331775.0</c:v>
                </c:pt>
                <c:pt idx="20">
                  <c:v>331775.0</c:v>
                </c:pt>
                <c:pt idx="21">
                  <c:v>331775.0</c:v>
                </c:pt>
                <c:pt idx="22">
                  <c:v>331775.0</c:v>
                </c:pt>
                <c:pt idx="23">
                  <c:v>331775.0</c:v>
                </c:pt>
                <c:pt idx="24">
                  <c:v>331775.0</c:v>
                </c:pt>
                <c:pt idx="25">
                  <c:v>331775.0</c:v>
                </c:pt>
                <c:pt idx="26">
                  <c:v>331775.0</c:v>
                </c:pt>
                <c:pt idx="27">
                  <c:v>331775.0</c:v>
                </c:pt>
                <c:pt idx="28">
                  <c:v>331775.0</c:v>
                </c:pt>
                <c:pt idx="29">
                  <c:v>331775.0</c:v>
                </c:pt>
                <c:pt idx="30">
                  <c:v>331775.0</c:v>
                </c:pt>
                <c:pt idx="31">
                  <c:v>331775.0</c:v>
                </c:pt>
                <c:pt idx="32">
                  <c:v>331775.0</c:v>
                </c:pt>
                <c:pt idx="33">
                  <c:v>331775.0</c:v>
                </c:pt>
                <c:pt idx="34">
                  <c:v>331775.0</c:v>
                </c:pt>
                <c:pt idx="35">
                  <c:v>331775.0</c:v>
                </c:pt>
                <c:pt idx="36">
                  <c:v>331775.0</c:v>
                </c:pt>
                <c:pt idx="37">
                  <c:v>331775.0</c:v>
                </c:pt>
                <c:pt idx="38">
                  <c:v>331775.0</c:v>
                </c:pt>
                <c:pt idx="39">
                  <c:v>331775.0</c:v>
                </c:pt>
                <c:pt idx="40">
                  <c:v>331775.0</c:v>
                </c:pt>
                <c:pt idx="41">
                  <c:v>331775.0</c:v>
                </c:pt>
                <c:pt idx="42">
                  <c:v>331775.0</c:v>
                </c:pt>
                <c:pt idx="43">
                  <c:v>331775.0</c:v>
                </c:pt>
                <c:pt idx="44">
                  <c:v>331775.0</c:v>
                </c:pt>
                <c:pt idx="45">
                  <c:v>331775.0</c:v>
                </c:pt>
                <c:pt idx="46">
                  <c:v>331775.0</c:v>
                </c:pt>
                <c:pt idx="47">
                  <c:v>331775.0</c:v>
                </c:pt>
                <c:pt idx="48">
                  <c:v>331775.0</c:v>
                </c:pt>
                <c:pt idx="49">
                  <c:v>331775.0</c:v>
                </c:pt>
                <c:pt idx="50">
                  <c:v>331775.0</c:v>
                </c:pt>
                <c:pt idx="51">
                  <c:v>331775.0</c:v>
                </c:pt>
                <c:pt idx="52">
                  <c:v>331775.0</c:v>
                </c:pt>
                <c:pt idx="53">
                  <c:v>331775.0</c:v>
                </c:pt>
                <c:pt idx="54">
                  <c:v>331775.0</c:v>
                </c:pt>
                <c:pt idx="55">
                  <c:v>331775.0</c:v>
                </c:pt>
                <c:pt idx="56">
                  <c:v>331775.0</c:v>
                </c:pt>
                <c:pt idx="57">
                  <c:v>331775.0</c:v>
                </c:pt>
                <c:pt idx="58">
                  <c:v>331775.0</c:v>
                </c:pt>
                <c:pt idx="59">
                  <c:v>331775.0</c:v>
                </c:pt>
                <c:pt idx="60">
                  <c:v>331775.0</c:v>
                </c:pt>
                <c:pt idx="61">
                  <c:v>331775.0</c:v>
                </c:pt>
                <c:pt idx="62">
                  <c:v>331775.0</c:v>
                </c:pt>
                <c:pt idx="63">
                  <c:v>331775.0</c:v>
                </c:pt>
                <c:pt idx="64">
                  <c:v>331775.0</c:v>
                </c:pt>
                <c:pt idx="65">
                  <c:v>331775.0</c:v>
                </c:pt>
                <c:pt idx="66">
                  <c:v>331775.0</c:v>
                </c:pt>
                <c:pt idx="67">
                  <c:v>331775.0</c:v>
                </c:pt>
                <c:pt idx="68">
                  <c:v>331775.0</c:v>
                </c:pt>
                <c:pt idx="69">
                  <c:v>331775.0</c:v>
                </c:pt>
                <c:pt idx="70">
                  <c:v>331775.0</c:v>
                </c:pt>
                <c:pt idx="71">
                  <c:v>331775.0</c:v>
                </c:pt>
                <c:pt idx="72">
                  <c:v>331775.0</c:v>
                </c:pt>
                <c:pt idx="73">
                  <c:v>331775.0</c:v>
                </c:pt>
                <c:pt idx="74">
                  <c:v>331775.0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非保证户口价值</c:v>
                </c:pt>
              </c:strCache>
            </c:strRef>
          </c:tx>
          <c:spPr>
            <a:ln w="31750">
              <a:solidFill>
                <a:srgbClr val="3A4D63"/>
              </a:solidFill>
            </a:ln>
          </c:spPr>
          <c:cat>
            <c:strRef>
              <c:f>Sheet1!$A$2:$A$76</c:f>
              <c:strCache>
                <c:ptCount val="75"/>
                <c:pt idx="0">
                  <c:v>Y1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Y10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>Y20</c:v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>Y30</c:v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>Y40</c:v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Y50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>Y60</c:v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>Y70</c:v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</c:strCache>
            </c:strRef>
          </c:cat>
          <c:val>
            <c:numRef>
              <c:f>Sheet1!$C$2:$C$76</c:f>
              <c:numCache>
                <c:formatCode>General</c:formatCode>
                <c:ptCount val="75"/>
                <c:pt idx="0">
                  <c:v>50300</c:v>
                </c:pt>
                <c:pt idx="1">
                  <c:v>107975</c:v>
                </c:pt>
                <c:pt idx="2">
                  <c:v>169132</c:v>
                </c:pt>
                <c:pt idx="3">
                  <c:v>233981</c:v>
                </c:pt>
                <c:pt idx="4">
                  <c:v>303508</c:v>
                </c:pt>
                <c:pt idx="5">
                  <c:v>310920</c:v>
                </c:pt>
                <c:pt idx="6">
                  <c:v>318574</c:v>
                </c:pt>
                <c:pt idx="7">
                  <c:v>326469</c:v>
                </c:pt>
                <c:pt idx="8">
                  <c:v>334606</c:v>
                </c:pt>
                <c:pt idx="9">
                  <c:v>342950</c:v>
                </c:pt>
                <c:pt idx="10">
                  <c:v>351500</c:v>
                </c:pt>
                <c:pt idx="11">
                  <c:v>360223</c:v>
                </c:pt>
                <c:pt idx="12">
                  <c:v>369080</c:v>
                </c:pt>
                <c:pt idx="13">
                  <c:v>378052</c:v>
                </c:pt>
                <c:pt idx="14">
                  <c:v>387118</c:v>
                </c:pt>
                <c:pt idx="15">
                  <c:v>405608</c:v>
                </c:pt>
                <c:pt idx="16">
                  <c:v>424731</c:v>
                </c:pt>
                <c:pt idx="17">
                  <c:v>444476</c:v>
                </c:pt>
                <c:pt idx="18">
                  <c:v>464852</c:v>
                </c:pt>
                <c:pt idx="19">
                  <c:v>490561</c:v>
                </c:pt>
                <c:pt idx="20">
                  <c:v>517084</c:v>
                </c:pt>
                <c:pt idx="21">
                  <c:v>544807</c:v>
                </c:pt>
                <c:pt idx="22">
                  <c:v>573701</c:v>
                </c:pt>
                <c:pt idx="23">
                  <c:v>603707</c:v>
                </c:pt>
                <c:pt idx="24">
                  <c:v>634731</c:v>
                </c:pt>
                <c:pt idx="25">
                  <c:v>666761</c:v>
                </c:pt>
                <c:pt idx="26">
                  <c:v>699780</c:v>
                </c:pt>
                <c:pt idx="27">
                  <c:v>733764</c:v>
                </c:pt>
                <c:pt idx="28">
                  <c:v>768660</c:v>
                </c:pt>
                <c:pt idx="29">
                  <c:v>804423</c:v>
                </c:pt>
                <c:pt idx="30">
                  <c:v>840989</c:v>
                </c:pt>
                <c:pt idx="31">
                  <c:v>878303</c:v>
                </c:pt>
                <c:pt idx="32">
                  <c:v>916277</c:v>
                </c:pt>
                <c:pt idx="33">
                  <c:v>956118</c:v>
                </c:pt>
                <c:pt idx="34">
                  <c:v>996672</c:v>
                </c:pt>
                <c:pt idx="35">
                  <c:v>1037903</c:v>
                </c:pt>
                <c:pt idx="36">
                  <c:v>1079744</c:v>
                </c:pt>
                <c:pt idx="37">
                  <c:v>1119854</c:v>
                </c:pt>
                <c:pt idx="38">
                  <c:v>1160486</c:v>
                </c:pt>
                <c:pt idx="39">
                  <c:v>1201620</c:v>
                </c:pt>
                <c:pt idx="40">
                  <c:v>1243271</c:v>
                </c:pt>
                <c:pt idx="41">
                  <c:v>1285485</c:v>
                </c:pt>
                <c:pt idx="42">
                  <c:v>1328374</c:v>
                </c:pt>
                <c:pt idx="43">
                  <c:v>1372094</c:v>
                </c:pt>
                <c:pt idx="44">
                  <c:v>1416880</c:v>
                </c:pt>
                <c:pt idx="45">
                  <c:v>1463094</c:v>
                </c:pt>
                <c:pt idx="46">
                  <c:v>1510578</c:v>
                </c:pt>
                <c:pt idx="47">
                  <c:v>1559934</c:v>
                </c:pt>
                <c:pt idx="48">
                  <c:v>1612083</c:v>
                </c:pt>
                <c:pt idx="49">
                  <c:v>1668413</c:v>
                </c:pt>
                <c:pt idx="50">
                  <c:v>1731071</c:v>
                </c:pt>
                <c:pt idx="51">
                  <c:v>1803371</c:v>
                </c:pt>
                <c:pt idx="52">
                  <c:v>1890553</c:v>
                </c:pt>
                <c:pt idx="53">
                  <c:v>2001077</c:v>
                </c:pt>
                <c:pt idx="54">
                  <c:v>2145588</c:v>
                </c:pt>
                <c:pt idx="55">
                  <c:v>2298958</c:v>
                </c:pt>
                <c:pt idx="56">
                  <c:v>2461860</c:v>
                </c:pt>
                <c:pt idx="57">
                  <c:v>2634887</c:v>
                </c:pt>
                <c:pt idx="58">
                  <c:v>2818668</c:v>
                </c:pt>
                <c:pt idx="59">
                  <c:v>3013873</c:v>
                </c:pt>
                <c:pt idx="60">
                  <c:v>3221210</c:v>
                </c:pt>
                <c:pt idx="61">
                  <c:v>3441434</c:v>
                </c:pt>
                <c:pt idx="62">
                  <c:v>3675345</c:v>
                </c:pt>
                <c:pt idx="63">
                  <c:v>3923796</c:v>
                </c:pt>
                <c:pt idx="64">
                  <c:v>4187688</c:v>
                </c:pt>
                <c:pt idx="65">
                  <c:v>4467983</c:v>
                </c:pt>
                <c:pt idx="66">
                  <c:v>4765699</c:v>
                </c:pt>
                <c:pt idx="67">
                  <c:v>5081919</c:v>
                </c:pt>
                <c:pt idx="68">
                  <c:v>5417794</c:v>
                </c:pt>
                <c:pt idx="69">
                  <c:v>5774545</c:v>
                </c:pt>
                <c:pt idx="70">
                  <c:v>6153469</c:v>
                </c:pt>
                <c:pt idx="71">
                  <c:v>6555945</c:v>
                </c:pt>
                <c:pt idx="72">
                  <c:v>6983437</c:v>
                </c:pt>
                <c:pt idx="73">
                  <c:v>7437499</c:v>
                </c:pt>
                <c:pt idx="74">
                  <c:v>7919783</c:v>
                </c:pt>
              </c:numCache>
            </c:numRef>
          </c:val>
          <c:smooth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身故赔偿总保额</c:v>
                </c:pt>
              </c:strCache>
            </c:strRef>
          </c:tx>
          <c:spPr>
            <a:ln w="31750">
              <a:solidFill>
                <a:srgbClr val="5A7088"/>
              </a:solidFill>
            </a:ln>
          </c:spPr>
          <c:cat>
            <c:strRef>
              <c:f>Sheet1!$A$2:$A$76</c:f>
              <c:strCache>
                <c:ptCount val="75"/>
                <c:pt idx="0">
                  <c:v>Y1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Y10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>Y20</c:v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>Y30</c:v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>Y40</c:v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Y50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>Y60</c:v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>Y70</c:v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</c:strCache>
            </c:strRef>
          </c:cat>
          <c:val>
            <c:numRef>
              <c:f>Sheet1!$D$2:$D$76</c:f>
              <c:numCache>
                <c:formatCode>General</c:formatCode>
                <c:ptCount val="75"/>
                <c:pt idx="0">
                  <c:v>2000000</c:v>
                </c:pt>
                <c:pt idx="1">
                  <c:v>2000000</c:v>
                </c:pt>
                <c:pt idx="2">
                  <c:v>2000000</c:v>
                </c:pt>
                <c:pt idx="3">
                  <c:v>2000000</c:v>
                </c:pt>
                <c:pt idx="4">
                  <c:v>2000000</c:v>
                </c:pt>
                <c:pt idx="5">
                  <c:v>2000000</c:v>
                </c:pt>
                <c:pt idx="6">
                  <c:v>2000000</c:v>
                </c:pt>
                <c:pt idx="7">
                  <c:v>2000000</c:v>
                </c:pt>
                <c:pt idx="8">
                  <c:v>2000000</c:v>
                </c:pt>
                <c:pt idx="9">
                  <c:v>2000000</c:v>
                </c:pt>
                <c:pt idx="10">
                  <c:v>2000000</c:v>
                </c:pt>
                <c:pt idx="11">
                  <c:v>2000000</c:v>
                </c:pt>
                <c:pt idx="12">
                  <c:v>2000000</c:v>
                </c:pt>
                <c:pt idx="13">
                  <c:v>2000000</c:v>
                </c:pt>
                <c:pt idx="14">
                  <c:v>2000000</c:v>
                </c:pt>
                <c:pt idx="15">
                  <c:v>2000000</c:v>
                </c:pt>
                <c:pt idx="16">
                  <c:v>2000000</c:v>
                </c:pt>
                <c:pt idx="17">
                  <c:v>2000000</c:v>
                </c:pt>
                <c:pt idx="18">
                  <c:v>2000000</c:v>
                </c:pt>
                <c:pt idx="19">
                  <c:v>2000000</c:v>
                </c:pt>
                <c:pt idx="20">
                  <c:v>2000000</c:v>
                </c:pt>
                <c:pt idx="21">
                  <c:v>2000000</c:v>
                </c:pt>
                <c:pt idx="22">
                  <c:v>2000000</c:v>
                </c:pt>
                <c:pt idx="23">
                  <c:v>2000000</c:v>
                </c:pt>
                <c:pt idx="24">
                  <c:v>2000000</c:v>
                </c:pt>
                <c:pt idx="25">
                  <c:v>2000000</c:v>
                </c:pt>
                <c:pt idx="26">
                  <c:v>2000000</c:v>
                </c:pt>
                <c:pt idx="27">
                  <c:v>2000000</c:v>
                </c:pt>
                <c:pt idx="28">
                  <c:v>2000000</c:v>
                </c:pt>
                <c:pt idx="29">
                  <c:v>2000000</c:v>
                </c:pt>
                <c:pt idx="30">
                  <c:v>2000000</c:v>
                </c:pt>
                <c:pt idx="31">
                  <c:v>2000000</c:v>
                </c:pt>
                <c:pt idx="32">
                  <c:v>2000000</c:v>
                </c:pt>
                <c:pt idx="33">
                  <c:v>2000000</c:v>
                </c:pt>
                <c:pt idx="34">
                  <c:v>2000000</c:v>
                </c:pt>
                <c:pt idx="35">
                  <c:v>2000000</c:v>
                </c:pt>
                <c:pt idx="36">
                  <c:v>2000000</c:v>
                </c:pt>
                <c:pt idx="37">
                  <c:v>2000000</c:v>
                </c:pt>
                <c:pt idx="38">
                  <c:v>2000000</c:v>
                </c:pt>
                <c:pt idx="39">
                  <c:v>2000000</c:v>
                </c:pt>
                <c:pt idx="40">
                  <c:v>2000000</c:v>
                </c:pt>
                <c:pt idx="41">
                  <c:v>2000000</c:v>
                </c:pt>
                <c:pt idx="42">
                  <c:v>2000000</c:v>
                </c:pt>
                <c:pt idx="43">
                  <c:v>2000000</c:v>
                </c:pt>
                <c:pt idx="44">
                  <c:v>2000000</c:v>
                </c:pt>
                <c:pt idx="45">
                  <c:v>2000000</c:v>
                </c:pt>
                <c:pt idx="46">
                  <c:v>2000000</c:v>
                </c:pt>
                <c:pt idx="47">
                  <c:v>2000000</c:v>
                </c:pt>
                <c:pt idx="48">
                  <c:v>2000000</c:v>
                </c:pt>
                <c:pt idx="49">
                  <c:v>2000000</c:v>
                </c:pt>
                <c:pt idx="50">
                  <c:v>2000000</c:v>
                </c:pt>
                <c:pt idx="51">
                  <c:v>2000000</c:v>
                </c:pt>
                <c:pt idx="52">
                  <c:v>2000000</c:v>
                </c:pt>
                <c:pt idx="53">
                  <c:v>2001077</c:v>
                </c:pt>
                <c:pt idx="54">
                  <c:v>2145588</c:v>
                </c:pt>
                <c:pt idx="55">
                  <c:v>2298958</c:v>
                </c:pt>
                <c:pt idx="56">
                  <c:v>2461860</c:v>
                </c:pt>
                <c:pt idx="57">
                  <c:v>2634887</c:v>
                </c:pt>
                <c:pt idx="58">
                  <c:v>2818668</c:v>
                </c:pt>
                <c:pt idx="59">
                  <c:v>3013873</c:v>
                </c:pt>
                <c:pt idx="60">
                  <c:v>3221210</c:v>
                </c:pt>
                <c:pt idx="61">
                  <c:v>3441434</c:v>
                </c:pt>
                <c:pt idx="62">
                  <c:v>3675345</c:v>
                </c:pt>
                <c:pt idx="63">
                  <c:v>3923796</c:v>
                </c:pt>
                <c:pt idx="64">
                  <c:v>4187688</c:v>
                </c:pt>
                <c:pt idx="65">
                  <c:v>4467983</c:v>
                </c:pt>
                <c:pt idx="66">
                  <c:v>4765699</c:v>
                </c:pt>
                <c:pt idx="67">
                  <c:v>5081919</c:v>
                </c:pt>
                <c:pt idx="68">
                  <c:v>5417794</c:v>
                </c:pt>
                <c:pt idx="69">
                  <c:v>5774545</c:v>
                </c:pt>
                <c:pt idx="70">
                  <c:v>6153469</c:v>
                </c:pt>
                <c:pt idx="71">
                  <c:v>6555945</c:v>
                </c:pt>
                <c:pt idx="72">
                  <c:v>6983437</c:v>
                </c:pt>
                <c:pt idx="73">
                  <c:v>7437499</c:v>
                </c:pt>
                <c:pt idx="74">
                  <c:v>7919783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/>
                </a:pPr>
                <a:r>
                  <a:t>保单年度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000000.0"/>
          <c:min val="0.0"/>
        </c:scaling>
        <c:delete val="0"/>
        <c:axPos val="l"/>
        <c:majorGridlines>
          <c:spPr>
            <a:ln>
              <a:solidFill>
                <a:srgbClr val="6A7A8A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900"/>
                </a:pPr>
                <a:r>
                  <a:t>金额 (USD)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6A7A8A"/>
            </a:solidFill>
          </a:ln>
        </c:sp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mpany-hero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STHeiti Medium"/>
              </a:rPr>
              <a:t>CLIFE  |  中国人寿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  <a:ea typeface="STHeiti Medium"/>
              </a:rPr>
              <a:t>PRIVATE CLIENT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「傲盛世儲蓄保險計劃」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MS.VIP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0352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STHeiti Medium"/>
              </a:rPr>
              <a:t>PRIVATE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5年缴 · USD 100,000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1792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受保人：VIP（1岁）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8F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1F2D3D"/>
                </a:solidFill>
                <a:latin typeface="Calibri"/>
                <a:ea typeface="STHeiti Medium"/>
              </a:rPr>
              <a:t>CLIFE  |  中国人寿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A7A8A"/>
                </a:solidFill>
                <a:latin typeface="Calibri"/>
                <a:ea typeface="STHeiti Medium"/>
              </a:rPr>
              <a:t>02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1A2A3A"/>
                </a:solidFill>
                <a:latin typeface="Calibri"/>
                <a:ea typeface="STHeiti Medium"/>
              </a:rPr>
              <a:t>关于我们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A7A8A"/>
                </a:solidFill>
                <a:latin typeface="Calibri"/>
                <a:ea typeface="STHeiti Medium"/>
              </a:rPr>
              <a:t>About Us  ·  中国人寿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1496906" cy="10972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572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590288"/>
            <a:ext cx="3657600" cy="73152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1A2A3A"/>
                </a:solidFill>
                <a:latin typeface="Calibri"/>
                <a:ea typeface="STHeiti Medium"/>
              </a:rPr>
              <a:t>1949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3A4A5A"/>
                </a:solidFill>
                <a:latin typeface="Calibri"/>
                <a:ea typeface="STHeiti Medium"/>
              </a:rPr>
              <a:t>成立年份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6A7A8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4590288"/>
            <a:ext cx="3657600" cy="73152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1A2A3A"/>
                </a:solidFill>
                <a:latin typeface="Calibri"/>
                <a:ea typeface="STHeiti Medium"/>
              </a:rPr>
              <a:t>A+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3A4A5A"/>
                </a:solidFill>
                <a:latin typeface="Calibri"/>
                <a:ea typeface="STHeiti Medium"/>
              </a:rPr>
              <a:t>财务实力评级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6A7A8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4590288"/>
            <a:ext cx="3657600" cy="73152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1A2A3A"/>
                </a:solidFill>
                <a:latin typeface="Calibri"/>
                <a:ea typeface="STHeiti Medium"/>
              </a:rPr>
              <a:t>「傲盛世儲蓄保險計劃」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3A4A5A"/>
                </a:solidFill>
                <a:latin typeface="Calibri"/>
                <a:ea typeface="STHeiti Medium"/>
              </a:rPr>
              <a:t>财富增值与传承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6A7A8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937760"/>
            <a:ext cx="274320" cy="36576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A2A3A"/>
                </a:solidFill>
                <a:latin typeface="Calibri"/>
                <a:ea typeface="STHeiti Medium"/>
              </a:rPr>
              <a:t>业务范围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A4A5A"/>
                </a:solidFill>
                <a:latin typeface="Calibri"/>
                <a:ea typeface="STHeiti Medium"/>
              </a:rPr>
              <a:t>· 人寿保险 — 储蓄/保障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A4A5A"/>
                </a:solidFill>
                <a:latin typeface="Calibri"/>
                <a:ea typeface="STHeiti Medium"/>
              </a:rPr>
              <a:t>· 健康保险 — 医疗/危疾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A4A5A"/>
                </a:solidFill>
                <a:latin typeface="Calibri"/>
                <a:ea typeface="STHeiti Medium"/>
              </a:rPr>
              <a:t>· 财富传承 — 年金/储蓄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0350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A4A5A"/>
                </a:solidFill>
                <a:latin typeface="Calibri"/>
                <a:ea typeface="STHeiti Medium"/>
              </a:rPr>
              <a:t>· 资产管理 — 国寿资管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937760"/>
            <a:ext cx="274320" cy="36576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A2A3A"/>
                </a:solidFill>
                <a:latin typeface="Calibri"/>
                <a:ea typeface="STHeiti Medium"/>
              </a:rPr>
              <a:t>品牌背景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A4A5A"/>
                </a:solidFill>
                <a:latin typeface="Calibri"/>
                <a:ea typeface="STHeiti Medium"/>
              </a:rPr>
              <a:t>· 中国人寿保险集团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A4A5A"/>
                </a:solidFill>
                <a:latin typeface="Calibri"/>
                <a:ea typeface="STHeiti Medium"/>
              </a:rPr>
              <a:t>· 副部级央企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A4A5A"/>
                </a:solidFill>
                <a:latin typeface="Calibri"/>
                <a:ea typeface="STHeiti Medium"/>
              </a:rPr>
              <a:t>· 三地上市(A+H+美股ADR)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60350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A4A5A"/>
                </a:solidFill>
                <a:latin typeface="Calibri"/>
                <a:ea typeface="STHeiti Medium"/>
              </a:rPr>
              <a:t>· 管理资产超5万亿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6A7A8A"/>
                </a:solidFill>
                <a:latin typeface="Calibri"/>
                <a:ea typeface="STHeiti Medium"/>
              </a:rPr>
              <a:t>数据来源：保险公司官方资料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8F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1F2D3D"/>
                </a:solidFill>
                <a:latin typeface="Calibri"/>
                <a:ea typeface="STHeiti Medium"/>
              </a:rPr>
              <a:t>CLIFE  |  中国人寿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A7A8A"/>
                </a:solidFill>
                <a:latin typeface="Calibri"/>
                <a:ea typeface="STHeiti Medium"/>
              </a:rPr>
              <a:t>03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1A2A3A"/>
                </a:solidFill>
                <a:latin typeface="Calibri"/>
                <a:ea typeface="STHeiti Medium"/>
              </a:rPr>
              <a:t>产品亮点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A7A8A"/>
                </a:solidFill>
                <a:latin typeface="Calibri"/>
                <a:ea typeface="STHeiti Medium"/>
              </a:rPr>
              <a:t>5 年缴 · 短期供款完成 · 终身财富复利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91440" cy="201168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1F2D3D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A2A3A"/>
                </a:solidFill>
                <a:latin typeface="Calibri"/>
                <a:ea typeface="STHeiti Medium"/>
              </a:rPr>
              <a:t>5 年短期缴付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A4A5A"/>
                </a:solidFill>
                <a:latin typeface="Calibri"/>
                <a:ea typeface="STHeiti Medium"/>
              </a:rPr>
              <a:t>只需 5 年完成缴费，</a:t>
            </a:r>
          </a:p>
          <a:p>
            <a:pPr algn="l"/>
            <a:r>
              <a:rPr sz="1000" b="0">
                <a:solidFill>
                  <a:srgbClr val="3A4A5A"/>
                </a:solidFill>
                <a:latin typeface="Calibri"/>
                <a:ea typeface="STHeiti Medium"/>
              </a:rPr>
              <a:t>后续无需再缴；缓解供款压力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1F2D3D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A7A8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194560"/>
            <a:ext cx="91440" cy="201168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1F2D3D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A2A3A"/>
                </a:solidFill>
                <a:latin typeface="Calibri"/>
                <a:ea typeface="STHeiti Medium"/>
              </a:rPr>
              <a:t>20 年财富复利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A4A5A"/>
                </a:solidFill>
                <a:latin typeface="Calibri"/>
                <a:ea typeface="STHeiti Medium"/>
              </a:rPr>
              <a:t>保证 + 非保证现金价值</a:t>
            </a:r>
          </a:p>
          <a:p>
            <a:pPr algn="l"/>
            <a:r>
              <a:rPr sz="1000" b="0">
                <a:solidFill>
                  <a:srgbClr val="3A4A5A"/>
                </a:solidFill>
                <a:latin typeface="Calibri"/>
                <a:ea typeface="STHeiti Medium"/>
              </a:rPr>
              <a:t>长期复利，稳健增长</a:t>
            </a:r>
          </a:p>
          <a:p>
            <a:pPr algn="l"/>
            <a:r>
              <a:rPr sz="1000" b="0">
                <a:solidFill>
                  <a:srgbClr val="3A4A5A"/>
                </a:solidFill>
                <a:latin typeface="Calibri"/>
                <a:ea typeface="STHeiti Medium"/>
              </a:rPr>
              <a:t>Y20 约 USD 1,347,365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1F2D3D"/>
                </a:solidFill>
                <a:latin typeface="Calibri"/>
                <a:ea typeface="STHeiti Medium"/>
              </a:rPr>
              <a:t>2.69x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A7A8A"/>
                </a:solidFill>
                <a:latin typeface="Calibri"/>
                <a:ea typeface="STHeiti Medium"/>
              </a:rPr>
              <a:t>20 年倍数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8912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389120"/>
            <a:ext cx="91440" cy="201168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57200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1F2D3D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66344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A2A3A"/>
                </a:solidFill>
                <a:latin typeface="Calibri"/>
                <a:ea typeface="STHeiti Medium"/>
              </a:rPr>
              <a:t>30 年财富复利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5780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A4A5A"/>
                </a:solidFill>
                <a:latin typeface="Calibri"/>
                <a:ea typeface="STHeiti Medium"/>
              </a:rPr>
              <a:t>持续滚存跨越复利临界点</a:t>
            </a:r>
          </a:p>
          <a:p>
            <a:pPr algn="l"/>
            <a:r>
              <a:rPr sz="1000" b="0">
                <a:solidFill>
                  <a:srgbClr val="3A4A5A"/>
                </a:solidFill>
                <a:latin typeface="Calibri"/>
                <a:ea typeface="STHeiti Medium"/>
              </a:rPr>
              <a:t>增值潜力可观</a:t>
            </a:r>
          </a:p>
          <a:p>
            <a:pPr algn="l"/>
            <a:r>
              <a:rPr sz="1000" b="0">
                <a:solidFill>
                  <a:srgbClr val="3A4A5A"/>
                </a:solidFill>
                <a:latin typeface="Calibri"/>
                <a:ea typeface="STHeiti Medium"/>
              </a:rPr>
              <a:t>Y30 约 USD 2,927,384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9788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1F2D3D"/>
                </a:solidFill>
                <a:latin typeface="Calibri"/>
                <a:ea typeface="STHeiti Medium"/>
              </a:rPr>
              <a:t>5.85x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17220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A7A8A"/>
                </a:solidFill>
                <a:latin typeface="Calibri"/>
                <a:ea typeface="STHeiti Medium"/>
              </a:rPr>
              <a:t>30 年倍数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6A7A8A"/>
                </a:solidFill>
                <a:latin typeface="Calibri"/>
                <a:ea typeface="STHeiti Medium"/>
              </a:rPr>
              <a:t>注：倍数基于不退保情形下「退保发还金额总额」÷「已缴保费总额」计算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67512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6A7A8A"/>
                </a:solidFill>
                <a:latin typeface="Calibri"/>
                <a:ea typeface="STHeiti Medium"/>
              </a:rPr>
              <a:t>数据来源：保险公司官方计划书 第3部分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8F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1F2D3D"/>
                </a:solidFill>
                <a:latin typeface="Calibri"/>
                <a:ea typeface="STHeiti Medium"/>
              </a:rPr>
              <a:t>CLIFE  |  中国人寿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A7A8A"/>
                </a:solidFill>
                <a:latin typeface="Calibri"/>
                <a:ea typeface="STHeiti Medium"/>
              </a:rPr>
              <a:t>04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1A2A3A"/>
                </a:solidFill>
                <a:latin typeface="Calibri"/>
                <a:ea typeface="STHeiti Medium"/>
              </a:rPr>
              <a:t>现金价值长期复利增长（不提领）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6A7A8A"/>
                </a:solidFill>
                <a:latin typeface="Calibri"/>
                <a:ea typeface="STHeiti Medium"/>
              </a:rPr>
              <a:t>保证 + 非保证现金价值 · 演示至保单年度 80 年（受保人 80 岁）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7432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03504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27432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6172200"/>
            <a:ext cx="54864" cy="502920"/>
          </a:xfrm>
          <a:prstGeom prst="rect">
            <a:avLst/>
          </a:prstGeom>
          <a:solidFill>
            <a:srgbClr val="10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1A2A3A"/>
                </a:solidFill>
                <a:latin typeface="Calibri"/>
                <a:ea typeface="STHeiti Medium"/>
              </a:rPr>
              <a:t>20年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01A28"/>
                </a:solidFill>
                <a:latin typeface="Calibri"/>
                <a:ea typeface="STHeiti Medium"/>
              </a:rPr>
              <a:t>x2.69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6A7A8A"/>
                </a:solidFill>
                <a:latin typeface="Calibri"/>
                <a:ea typeface="STHeiti Medium"/>
              </a:rPr>
              <a:t>USD 1,347,365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6172200"/>
            <a:ext cx="54864" cy="502920"/>
          </a:xfrm>
          <a:prstGeom prst="rect">
            <a:avLst/>
          </a:prstGeom>
          <a:solidFill>
            <a:srgbClr val="10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1A2A3A"/>
                </a:solidFill>
                <a:latin typeface="Calibri"/>
                <a:ea typeface="STHeiti Medium"/>
              </a:rPr>
              <a:t>30年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01A28"/>
                </a:solidFill>
                <a:latin typeface="Calibri"/>
                <a:ea typeface="STHeiti Medium"/>
              </a:rPr>
              <a:t>x5.85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6A7A8A"/>
                </a:solidFill>
                <a:latin typeface="Calibri"/>
                <a:ea typeface="STHeiti Medium"/>
              </a:rPr>
              <a:t>USD 2,927,384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6172200"/>
            <a:ext cx="54864" cy="502920"/>
          </a:xfrm>
          <a:prstGeom prst="rect">
            <a:avLst/>
          </a:prstGeom>
          <a:solidFill>
            <a:srgbClr val="5A7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1A2A3A"/>
                </a:solidFill>
                <a:latin typeface="Calibri"/>
                <a:ea typeface="STHeiti Medium"/>
              </a:rPr>
              <a:t>70年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5A7088"/>
                </a:solidFill>
                <a:latin typeface="Calibri"/>
                <a:ea typeface="STHeiti Medium"/>
              </a:rPr>
              <a:t>x73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6A7A8A"/>
                </a:solidFill>
                <a:latin typeface="Calibri"/>
                <a:ea typeface="STHeiti Medium"/>
              </a:rPr>
              <a:t>USD 36,346,633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72084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6A7A8A"/>
                </a:solidFill>
                <a:latin typeface="Calibri"/>
                <a:ea typeface="STHeiti Medium"/>
              </a:rPr>
              <a:t>数据来源：中国人寿官方计划书 第3部分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8F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1F2D3D"/>
                </a:solidFill>
                <a:latin typeface="Calibri"/>
                <a:ea typeface="STHeiti Medium"/>
              </a:rPr>
              <a:t>CLIFE  |  中国人寿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A7A8A"/>
                </a:solidFill>
                <a:latin typeface="Calibri"/>
                <a:ea typeface="STHeiti Medium"/>
              </a:rPr>
              <a:t>05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1A2A3A"/>
                </a:solidFill>
                <a:latin typeface="Calibri"/>
                <a:ea typeface="STHeiti Medium"/>
              </a:rPr>
              <a:t>不提领情形 · 退保发还金额明细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6A7A8A"/>
                </a:solidFill>
                <a:latin typeface="Calibri"/>
                <a:ea typeface="STHeiti Medium"/>
              </a:rPr>
              <a:t>至保单年度 137 · 40年前每5年/后每10年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83080"/>
          <a:ext cx="1127729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69"/>
                <a:gridCol w="805521"/>
                <a:gridCol w="1495967"/>
                <a:gridCol w="1726116"/>
                <a:gridCol w="1726116"/>
                <a:gridCol w="1956265"/>
                <a:gridCol w="1265818"/>
                <a:gridCol w="1265818"/>
              </a:tblGrid>
              <a:tr h="502920"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AFBFC"/>
                          </a:solidFill>
                          <a:latin typeface="STHeiti Medium"/>
                          <a:ea typeface="STHeiti Medium"/>
                        </a:rPr>
                        <a:t>保单年度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AFBFC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AFBFC"/>
                          </a:solidFill>
                          <a:latin typeface="STHeiti Medium"/>
                          <a:ea typeface="STHeiti Medium"/>
                        </a:rPr>
                        <a:t>已缴保费
(USD)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AFBFC"/>
                          </a:solidFill>
                          <a:latin typeface="STHeiti Medium"/>
                          <a:ea typeface="STHeiti Medium"/>
                        </a:rPr>
                        <a:t>保证现价
(USD)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AFBFC"/>
                          </a:solidFill>
                          <a:latin typeface="STHeiti Medium"/>
                          <a:ea typeface="STHeiti Medium"/>
                        </a:rPr>
                        <a:t>非保证金额
(USD)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AFBFC"/>
                          </a:solidFill>
                          <a:latin typeface="STHeiti Medium"/>
                          <a:ea typeface="STHeiti Medium"/>
                        </a:rPr>
                        <a:t>退保发还总额
(USD)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AFBFC"/>
                          </a:solidFill>
                          <a:latin typeface="STHeiti Medium"/>
                          <a:ea typeface="STHeiti Medium"/>
                        </a:rPr>
                        <a:t>复利 IRR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AFBFC"/>
                          </a:solidFill>
                          <a:latin typeface="STHeiti Medium"/>
                          <a:ea typeface="STHeiti Medium"/>
                        </a:rPr>
                        <a:t>单利IRR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3A4A5A"/>
                          </a:solidFill>
                          <a:latin typeface="STHeiti Medium"/>
                          <a:ea typeface="STHeiti Medium"/>
                        </a:rPr>
                        <a:t>100,000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F2D3D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5A7088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F2D3D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6A7A8A"/>
                          </a:solidFill>
                          <a:latin typeface="STHeiti Medium"/>
                          <a:ea typeface="STHeiti Medium"/>
                        </a:rPr>
                        <a:t>-100.00%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3A4A5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F2D3D"/>
                          </a:solidFill>
                          <a:latin typeface="STHeiti Medium"/>
                          <a:ea typeface="STHeiti Medium"/>
                        </a:rPr>
                        <a:t>17,000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5A7088"/>
                          </a:solidFill>
                          <a:latin typeface="STHeiti Medium"/>
                          <a:ea typeface="STHeiti Medium"/>
                        </a:rPr>
                        <a:t>80,950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97,950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F2D3D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6A7A8A"/>
                          </a:solidFill>
                          <a:latin typeface="STHeiti Medium"/>
                          <a:ea typeface="STHeiti Medium"/>
                        </a:rPr>
                        <a:t>-16.08%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3A4A5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F2D3D"/>
                          </a:solidFill>
                          <a:latin typeface="STHeiti Medium"/>
                          <a:ea typeface="STHeiti Medium"/>
                        </a:rPr>
                        <a:t>317,500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5A7088"/>
                          </a:solidFill>
                          <a:latin typeface="STHeiti Medium"/>
                          <a:ea typeface="STHeiti Medium"/>
                        </a:rPr>
                        <a:t>331,479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648,979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F2D3D"/>
                          </a:solidFill>
                          <a:latin typeface="STHeiti Medium"/>
                          <a:ea typeface="STHeiti Medium"/>
                        </a:rPr>
                        <a:t>2.64%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6A7A8A"/>
                          </a:solidFill>
                          <a:latin typeface="STHeiti Medium"/>
                          <a:ea typeface="STHeiti Medium"/>
                        </a:rPr>
                        <a:t>2.98%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3A4A5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F2D3D"/>
                          </a:solidFill>
                          <a:latin typeface="STHeiti Medium"/>
                          <a:ea typeface="STHeiti Medium"/>
                        </a:rPr>
                        <a:t>367,500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5A7088"/>
                          </a:solidFill>
                          <a:latin typeface="STHeiti Medium"/>
                          <a:ea typeface="STHeiti Medium"/>
                        </a:rPr>
                        <a:t>550,816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918,316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F2D3D"/>
                          </a:solidFill>
                          <a:latin typeface="STHeiti Medium"/>
                          <a:ea typeface="STHeiti Medium"/>
                        </a:rPr>
                        <a:t>4.14%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6A7A8A"/>
                          </a:solidFill>
                          <a:latin typeface="STHeiti Medium"/>
                          <a:ea typeface="STHeiti Medium"/>
                        </a:rPr>
                        <a:t>5.58%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3A4A5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F2D3D"/>
                          </a:solidFill>
                          <a:latin typeface="STHeiti Medium"/>
                          <a:ea typeface="STHeiti Medium"/>
                        </a:rPr>
                        <a:t>501,355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5A7088"/>
                          </a:solidFill>
                          <a:latin typeface="STHeiti Medium"/>
                          <a:ea typeface="STHeiti Medium"/>
                        </a:rPr>
                        <a:t>846,010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1,347,365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F2D3D"/>
                          </a:solidFill>
                          <a:latin typeface="STHeiti Medium"/>
                          <a:ea typeface="STHeiti Medium"/>
                        </a:rPr>
                        <a:t>5.08%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6A7A8A"/>
                          </a:solidFill>
                          <a:latin typeface="STHeiti Medium"/>
                          <a:ea typeface="STHeiti Medium"/>
                        </a:rPr>
                        <a:t>8.47%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3A4A5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F2D3D"/>
                          </a:solidFill>
                          <a:latin typeface="STHeiti Medium"/>
                          <a:ea typeface="STHeiti Medium"/>
                        </a:rPr>
                        <a:t>503,105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5A7088"/>
                          </a:solidFill>
                          <a:latin typeface="STHeiti Medium"/>
                          <a:ea typeface="STHeiti Medium"/>
                        </a:rPr>
                        <a:t>1,568,168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2,071,273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F2D3D"/>
                          </a:solidFill>
                          <a:latin typeface="STHeiti Medium"/>
                          <a:ea typeface="STHeiti Medium"/>
                        </a:rPr>
                        <a:t>5.85%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6A7A8A"/>
                          </a:solidFill>
                          <a:latin typeface="STHeiti Medium"/>
                          <a:ea typeface="STHeiti Medium"/>
                        </a:rPr>
                        <a:t>12.57%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3A4A5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F2D3D"/>
                          </a:solidFill>
                          <a:latin typeface="STHeiti Medium"/>
                          <a:ea typeface="STHeiti Medium"/>
                        </a:rPr>
                        <a:t>504,210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5A7088"/>
                          </a:solidFill>
                          <a:latin typeface="STHeiti Medium"/>
                          <a:ea typeface="STHeiti Medium"/>
                        </a:rPr>
                        <a:t>2,423,174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2,927,384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F2D3D"/>
                          </a:solidFill>
                          <a:latin typeface="STHeiti Medium"/>
                          <a:ea typeface="STHeiti Medium"/>
                        </a:rPr>
                        <a:t>6.07%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6A7A8A"/>
                          </a:solidFill>
                          <a:latin typeface="STHeiti Medium"/>
                          <a:ea typeface="STHeiti Medium"/>
                        </a:rPr>
                        <a:t>16.18%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3A4A5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F2D3D"/>
                          </a:solidFill>
                          <a:latin typeface="STHeiti Medium"/>
                          <a:ea typeface="STHeiti Medium"/>
                        </a:rPr>
                        <a:t>507,650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5A7088"/>
                          </a:solidFill>
                          <a:latin typeface="STHeiti Medium"/>
                          <a:ea typeface="STHeiti Medium"/>
                        </a:rPr>
                        <a:t>3,503,119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4,010,769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F2D3D"/>
                          </a:solidFill>
                          <a:latin typeface="STHeiti Medium"/>
                          <a:ea typeface="STHeiti Medium"/>
                        </a:rPr>
                        <a:t>6.13%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6A7A8A"/>
                          </a:solidFill>
                          <a:latin typeface="STHeiti Medium"/>
                          <a:ea typeface="STHeiti Medium"/>
                        </a:rPr>
                        <a:t>20.06%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3A4A5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F2D3D"/>
                          </a:solidFill>
                          <a:latin typeface="STHeiti Medium"/>
                          <a:ea typeface="STHeiti Medium"/>
                        </a:rPr>
                        <a:t>510,845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5A7088"/>
                          </a:solidFill>
                          <a:latin typeface="STHeiti Medium"/>
                          <a:ea typeface="STHeiti Medium"/>
                        </a:rPr>
                        <a:t>4,984,262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5,495,107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F2D3D"/>
                          </a:solidFill>
                          <a:latin typeface="STHeiti Medium"/>
                          <a:ea typeface="STHeiti Medium"/>
                        </a:rPr>
                        <a:t>6.18%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6A7A8A"/>
                          </a:solidFill>
                          <a:latin typeface="STHeiti Medium"/>
                          <a:ea typeface="STHeiti Medium"/>
                        </a:rPr>
                        <a:t>24.98%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3A4A5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F2D3D"/>
                          </a:solidFill>
                          <a:latin typeface="STHeiti Medium"/>
                          <a:ea typeface="STHeiti Medium"/>
                        </a:rPr>
                        <a:t>517,280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5A7088"/>
                          </a:solidFill>
                          <a:latin typeface="STHeiti Medium"/>
                          <a:ea typeface="STHeiti Medium"/>
                        </a:rPr>
                        <a:t>9,797,787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10,315,067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F2D3D"/>
                          </a:solidFill>
                          <a:latin typeface="STHeiti Medium"/>
                          <a:ea typeface="STHeiti Medium"/>
                        </a:rPr>
                        <a:t>6.24%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6A7A8A"/>
                          </a:solidFill>
                          <a:latin typeface="STHeiti Medium"/>
                          <a:ea typeface="STHeiti Medium"/>
                        </a:rPr>
                        <a:t>39.26%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3A4A5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F2D3D"/>
                          </a:solidFill>
                          <a:latin typeface="STHeiti Medium"/>
                          <a:ea typeface="STHeiti Medium"/>
                        </a:rPr>
                        <a:t>530,935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5A7088"/>
                          </a:solidFill>
                          <a:latin typeface="STHeiti Medium"/>
                          <a:ea typeface="STHeiti Medium"/>
                        </a:rPr>
                        <a:t>18,831,863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19,362,798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F2D3D"/>
                          </a:solidFill>
                          <a:latin typeface="STHeiti Medium"/>
                          <a:ea typeface="STHeiti Medium"/>
                        </a:rPr>
                        <a:t>6.28%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6A7A8A"/>
                          </a:solidFill>
                          <a:latin typeface="STHeiti Medium"/>
                          <a:ea typeface="STHeiti Medium"/>
                        </a:rPr>
                        <a:t>62.88%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3A4A5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F2D3D"/>
                          </a:solidFill>
                          <a:latin typeface="STHeiti Medium"/>
                          <a:ea typeface="STHeiti Medium"/>
                        </a:rPr>
                        <a:t>544,660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5A7088"/>
                          </a:solidFill>
                          <a:latin typeface="STHeiti Medium"/>
                          <a:ea typeface="STHeiti Medium"/>
                        </a:rPr>
                        <a:t>35,801,973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36,346,633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F2D3D"/>
                          </a:solidFill>
                          <a:latin typeface="STHeiti Medium"/>
                          <a:ea typeface="STHeiti Medium"/>
                        </a:rPr>
                        <a:t>6.31%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6A7A8A"/>
                          </a:solidFill>
                          <a:latin typeface="STHeiti Medium"/>
                          <a:ea typeface="STHeiti Medium"/>
                        </a:rPr>
                        <a:t>102.42%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3A4A5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F2D3D"/>
                          </a:solidFill>
                          <a:latin typeface="STHeiti Medium"/>
                          <a:ea typeface="STHeiti Medium"/>
                        </a:rPr>
                        <a:t>563,735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5A7088"/>
                          </a:solidFill>
                          <a:latin typeface="STHeiti Medium"/>
                          <a:ea typeface="STHeiti Medium"/>
                        </a:rPr>
                        <a:t>67,663,891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68,227,626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F2D3D"/>
                          </a:solidFill>
                          <a:latin typeface="STHeiti Medium"/>
                          <a:ea typeface="STHeiti Medium"/>
                        </a:rPr>
                        <a:t>6.34%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6A7A8A"/>
                          </a:solidFill>
                          <a:latin typeface="STHeiti Medium"/>
                          <a:ea typeface="STHeiti Medium"/>
                        </a:rPr>
                        <a:t>169.32%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3A4A5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F2D3D"/>
                          </a:solidFill>
                          <a:latin typeface="STHeiti Medium"/>
                          <a:ea typeface="STHeiti Medium"/>
                        </a:rPr>
                        <a:t>582,855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5A7088"/>
                          </a:solidFill>
                          <a:latin typeface="STHeiti Medium"/>
                          <a:ea typeface="STHeiti Medium"/>
                        </a:rPr>
                        <a:t>127,489,779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128,072,634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F2D3D"/>
                          </a:solidFill>
                          <a:latin typeface="STHeiti Medium"/>
                          <a:ea typeface="STHeiti Medium"/>
                        </a:rPr>
                        <a:t>6.36%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6A7A8A"/>
                          </a:solidFill>
                          <a:latin typeface="STHeiti Medium"/>
                          <a:ea typeface="STHeiti Medium"/>
                        </a:rPr>
                        <a:t>283.49%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3A4A5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F2D3D"/>
                          </a:solidFill>
                          <a:latin typeface="STHeiti Medium"/>
                          <a:ea typeface="STHeiti Medium"/>
                        </a:rPr>
                        <a:t>602,015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5A7088"/>
                          </a:solidFill>
                          <a:latin typeface="STHeiti Medium"/>
                          <a:ea typeface="STHeiti Medium"/>
                        </a:rPr>
                        <a:t>239,807,932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240,409,947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1F2D3D"/>
                          </a:solidFill>
                          <a:latin typeface="STHeiti Medium"/>
                          <a:ea typeface="STHeiti Medium"/>
                        </a:rPr>
                        <a:t>6.37%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6A7A8A"/>
                          </a:solidFill>
                          <a:latin typeface="STHeiti Medium"/>
                          <a:ea typeface="STHeiti Medium"/>
                        </a:rPr>
                        <a:t>479.82%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669280"/>
            <a:ext cx="73152" cy="77724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715000"/>
            <a:ext cx="4572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1A2A3A"/>
                </a:solidFill>
                <a:latin typeface="Calibri"/>
                <a:ea typeface="STHeiti Medium"/>
              </a:rPr>
              <a:t>数据口径说明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893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3A4A5A"/>
                </a:solidFill>
                <a:latin typeface="Calibri"/>
                <a:ea typeface="STHeiti Medium"/>
              </a:rPr>
              <a:t>· 已缴保费：5年×计划 = USD 500,000    · 复利IRR = (总额/保费)^(1/年数) - 1    · 单利IRR = (总额-保费)/保费/年数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179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3A4A5A"/>
                </a:solidFill>
                <a:latin typeface="Calibri"/>
                <a:ea typeface="STHeiti Medium"/>
              </a:rPr>
              <a:t>· 非保证金额含复归红利+终期分红    · 演示至保单80年；计划保障至128岁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6A7A8A"/>
                </a:solidFill>
                <a:latin typeface="Calibri"/>
                <a:ea typeface="STHeiti Medium"/>
              </a:rPr>
              <a:t>数据来源：中国人寿官方计划书 第3部分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8F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1F2D3D"/>
                </a:solidFill>
                <a:latin typeface="Calibri"/>
                <a:ea typeface="STHeiti Medium"/>
              </a:rPr>
              <a:t>CLIFE  |  中国人寿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A7A8A"/>
                </a:solidFill>
                <a:latin typeface="Calibri"/>
                <a:ea typeface="STHeiti Medium"/>
              </a:rPr>
              <a:t>06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1A2A3A"/>
                </a:solidFill>
                <a:latin typeface="Calibri"/>
                <a:ea typeface="STHeiti Medium"/>
              </a:rPr>
              <a:t>提领方案 · 退保发还金额及累计提取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6A7A8A"/>
                </a:solidFill>
                <a:latin typeface="Calibri"/>
                <a:ea typeface="STHeiti Medium"/>
              </a:rPr>
              <a:t>保单年度 6（6 岁）起 · 每年提取 USD 30,000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737360"/>
          <a:ext cx="11429995" cy="6016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846"/>
                <a:gridCol w="762000"/>
                <a:gridCol w="1348153"/>
                <a:gridCol w="1172307"/>
                <a:gridCol w="1406769"/>
                <a:gridCol w="1641230"/>
                <a:gridCol w="1817076"/>
                <a:gridCol w="1172307"/>
                <a:gridCol w="1172307"/>
              </a:tblGrid>
              <a:tr h="457200"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AFBFC"/>
                          </a:solidFill>
                          <a:latin typeface="STHeiti Medium"/>
                          <a:ea typeface="STHeiti Medium"/>
                        </a:rPr>
                        <a:t>保单
年度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AFBFC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AFBFC"/>
                          </a:solidFill>
                          <a:latin typeface="STHeiti Medium"/>
                          <a:ea typeface="STHeiti Medium"/>
                        </a:rPr>
                        <a:t>已缴保费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AFBFC"/>
                          </a:solidFill>
                          <a:latin typeface="STHeiti Medium"/>
                          <a:ea typeface="STHeiti Medium"/>
                        </a:rPr>
                        <a:t>年提取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AFBFC"/>
                          </a:solidFill>
                          <a:latin typeface="STHeiti Medium"/>
                          <a:ea typeface="STHeiti Medium"/>
                        </a:rPr>
                        <a:t>累计提取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AFBFC"/>
                          </a:solidFill>
                          <a:latin typeface="STHeiti Medium"/>
                          <a:ea typeface="STHeiti Medium"/>
                        </a:rPr>
                        <a:t>退保发还总额
(B+C+D)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AFBFC"/>
                          </a:solidFill>
                          <a:latin typeface="STHeiti Medium"/>
                          <a:ea typeface="STHeiti Medium"/>
                        </a:rPr>
                        <a:t>累计已领+
退保现价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AFBFC"/>
                          </a:solidFill>
                          <a:latin typeface="STHeiti Medium"/>
                          <a:ea typeface="STHeiti Medium"/>
                        </a:rPr>
                        <a:t>复利
IRR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AFBFC"/>
                          </a:solidFill>
                          <a:latin typeface="STHeiti Medium"/>
                          <a:ea typeface="STHeiti Medium"/>
                        </a:rPr>
                        <a:t>单利
IRR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3A4A5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01A28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01A28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97,950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5A7088"/>
                          </a:solidFill>
                          <a:latin typeface="STHeiti Medium"/>
                          <a:ea typeface="STHeiti Medium"/>
                        </a:rPr>
                        <a:t>97,950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F2D3D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6A7A8A"/>
                          </a:solidFill>
                          <a:latin typeface="STHeiti Medium"/>
                          <a:ea typeface="STHeiti Medium"/>
                        </a:rPr>
                        <a:t>-16.08%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6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6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3A4A5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01A28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01A28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178,523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5A7088"/>
                          </a:solidFill>
                          <a:latin typeface="STHeiti Medium"/>
                          <a:ea typeface="STHeiti Medium"/>
                        </a:rPr>
                        <a:t>208,523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F2D3D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6A7A8A"/>
                          </a:solidFill>
                          <a:latin typeface="STHeiti Medium"/>
                          <a:ea typeface="STHeiti Medium"/>
                        </a:rPr>
                        <a:t>-9.72%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3A4A5A"/>
                          </a:solidFill>
                          <a:latin typeface="STHeiti Medium"/>
                          <a:ea typeface="STHeiti Medium"/>
                        </a:rPr>
                        <a:t>425,184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01A28"/>
                          </a:solidFill>
                          <a:latin typeface="STHeiti Medium"/>
                          <a:ea typeface="STHeiti Medium"/>
                        </a:rPr>
                        <a:t>30,001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01A28"/>
                          </a:solidFill>
                          <a:latin typeface="STHeiti Medium"/>
                          <a:ea typeface="STHeiti Medium"/>
                        </a:rPr>
                        <a:t>150,001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484,578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5A7088"/>
                          </a:solidFill>
                          <a:latin typeface="STHeiti Medium"/>
                          <a:ea typeface="STHeiti Medium"/>
                        </a:rPr>
                        <a:t>634,579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F2D3D"/>
                          </a:solidFill>
                          <a:latin typeface="STHeiti Medium"/>
                          <a:ea typeface="STHeiti Medium"/>
                        </a:rPr>
                        <a:t>2.41%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6A7A8A"/>
                          </a:solidFill>
                          <a:latin typeface="STHeiti Medium"/>
                          <a:ea typeface="STHeiti Medium"/>
                        </a:rPr>
                        <a:t>2.69%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3A4A5A"/>
                          </a:solidFill>
                          <a:latin typeface="STHeiti Medium"/>
                          <a:ea typeface="STHeiti Medium"/>
                        </a:rPr>
                        <a:t>322,208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01A28"/>
                          </a:solidFill>
                          <a:latin typeface="STHeiti Medium"/>
                          <a:ea typeface="STHeiti Medium"/>
                        </a:rPr>
                        <a:t>30,001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01A28"/>
                          </a:solidFill>
                          <a:latin typeface="STHeiti Medium"/>
                          <a:ea typeface="STHeiti Medium"/>
                        </a:rPr>
                        <a:t>300,005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529,955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5A7088"/>
                          </a:solidFill>
                          <a:latin typeface="STHeiti Medium"/>
                          <a:ea typeface="STHeiti Medium"/>
                        </a:rPr>
                        <a:t>829,960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F2D3D"/>
                          </a:solidFill>
                          <a:latin typeface="STHeiti Medium"/>
                          <a:ea typeface="STHeiti Medium"/>
                        </a:rPr>
                        <a:t>3.44%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6A7A8A"/>
                          </a:solidFill>
                          <a:latin typeface="STHeiti Medium"/>
                          <a:ea typeface="STHeiti Medium"/>
                        </a:rPr>
                        <a:t>4.40%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3A4A5A"/>
                          </a:solidFill>
                          <a:latin typeface="STHeiti Medium"/>
                          <a:ea typeface="STHeiti Medium"/>
                        </a:rPr>
                        <a:t>251,456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01A28"/>
                          </a:solidFill>
                          <a:latin typeface="STHeiti Medium"/>
                          <a:ea typeface="STHeiti Medium"/>
                        </a:rPr>
                        <a:t>30,001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01A28"/>
                          </a:solidFill>
                          <a:latin typeface="STHeiti Medium"/>
                          <a:ea typeface="STHeiti Medium"/>
                        </a:rPr>
                        <a:t>450,009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620,018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5A7088"/>
                          </a:solidFill>
                          <a:latin typeface="STHeiti Medium"/>
                          <a:ea typeface="STHeiti Medium"/>
                        </a:rPr>
                        <a:t>1,070,027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F2D3D"/>
                          </a:solidFill>
                          <a:latin typeface="STHeiti Medium"/>
                          <a:ea typeface="STHeiti Medium"/>
                        </a:rPr>
                        <a:t>3.88%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6A7A8A"/>
                          </a:solidFill>
                          <a:latin typeface="STHeiti Medium"/>
                          <a:ea typeface="STHeiti Medium"/>
                        </a:rPr>
                        <a:t>5.70%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3A4A5A"/>
                          </a:solidFill>
                          <a:latin typeface="STHeiti Medium"/>
                          <a:ea typeface="STHeiti Medium"/>
                        </a:rPr>
                        <a:t>203,806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01A28"/>
                          </a:solidFill>
                          <a:latin typeface="STHeiti Medium"/>
                          <a:ea typeface="STHeiti Medium"/>
                        </a:rPr>
                        <a:t>30,002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01A28"/>
                          </a:solidFill>
                          <a:latin typeface="STHeiti Medium"/>
                          <a:ea typeface="STHeiti Medium"/>
                        </a:rPr>
                        <a:t>600,019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791,682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5A7088"/>
                          </a:solidFill>
                          <a:latin typeface="STHeiti Medium"/>
                          <a:ea typeface="STHeiti Medium"/>
                        </a:rPr>
                        <a:t>1,391,701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F2D3D"/>
                          </a:solidFill>
                          <a:latin typeface="STHeiti Medium"/>
                          <a:ea typeface="STHeiti Medium"/>
                        </a:rPr>
                        <a:t>4.18%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6A7A8A"/>
                          </a:solidFill>
                          <a:latin typeface="STHeiti Medium"/>
                          <a:ea typeface="STHeiti Medium"/>
                        </a:rPr>
                        <a:t>7.13%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3A4A5A"/>
                          </a:solidFill>
                          <a:latin typeface="STHeiti Medium"/>
                          <a:ea typeface="STHeiti Medium"/>
                        </a:rPr>
                        <a:t>172,687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01A28"/>
                          </a:solidFill>
                          <a:latin typeface="STHeiti Medium"/>
                          <a:ea typeface="STHeiti Medium"/>
                        </a:rPr>
                        <a:t>30,003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01A28"/>
                          </a:solidFill>
                          <a:latin typeface="STHeiti Medium"/>
                          <a:ea typeface="STHeiti Medium"/>
                        </a:rPr>
                        <a:t>750,029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960,606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5A7088"/>
                          </a:solidFill>
                          <a:latin typeface="STHeiti Medium"/>
                          <a:ea typeface="STHeiti Medium"/>
                        </a:rPr>
                        <a:t>1,710,635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F2D3D"/>
                          </a:solidFill>
                          <a:latin typeface="STHeiti Medium"/>
                          <a:ea typeface="STHeiti Medium"/>
                        </a:rPr>
                        <a:t>4.19%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6A7A8A"/>
                          </a:solidFill>
                          <a:latin typeface="STHeiti Medium"/>
                          <a:ea typeface="STHeiti Medium"/>
                        </a:rPr>
                        <a:t>8.07%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3A4A5A"/>
                          </a:solidFill>
                          <a:latin typeface="STHeiti Medium"/>
                          <a:ea typeface="STHeiti Medium"/>
                        </a:rPr>
                        <a:t>150,702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01A28"/>
                          </a:solidFill>
                          <a:latin typeface="STHeiti Medium"/>
                          <a:ea typeface="STHeiti Medium"/>
                        </a:rPr>
                        <a:t>30,002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01A28"/>
                          </a:solidFill>
                          <a:latin typeface="STHeiti Medium"/>
                          <a:ea typeface="STHeiti Medium"/>
                        </a:rPr>
                        <a:t>900,042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1,158,552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5A7088"/>
                          </a:solidFill>
                          <a:latin typeface="STHeiti Medium"/>
                          <a:ea typeface="STHeiti Medium"/>
                        </a:rPr>
                        <a:t>2,058,594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F2D3D"/>
                          </a:solidFill>
                          <a:latin typeface="STHeiti Medium"/>
                          <a:ea typeface="STHeiti Medium"/>
                        </a:rPr>
                        <a:t>4.13%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6A7A8A"/>
                          </a:solidFill>
                          <a:latin typeface="STHeiti Medium"/>
                          <a:ea typeface="STHeiti Medium"/>
                        </a:rPr>
                        <a:t>8.91%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3A4A5A"/>
                          </a:solidFill>
                          <a:latin typeface="STHeiti Medium"/>
                          <a:ea typeface="STHeiti Medium"/>
                        </a:rPr>
                        <a:t>134,765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01A28"/>
                          </a:solidFill>
                          <a:latin typeface="STHeiti Medium"/>
                          <a:ea typeface="STHeiti Medium"/>
                        </a:rPr>
                        <a:t>30,006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01A28"/>
                          </a:solidFill>
                          <a:latin typeface="STHeiti Medium"/>
                          <a:ea typeface="STHeiti Medium"/>
                        </a:rPr>
                        <a:t>1,050,066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1,428,700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5A7088"/>
                          </a:solidFill>
                          <a:latin typeface="STHeiti Medium"/>
                          <a:ea typeface="STHeiti Medium"/>
                        </a:rPr>
                        <a:t>2,478,766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F2D3D"/>
                          </a:solidFill>
                          <a:latin typeface="STHeiti Medium"/>
                          <a:ea typeface="STHeiti Medium"/>
                        </a:rPr>
                        <a:t>4.08%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6A7A8A"/>
                          </a:solidFill>
                          <a:latin typeface="STHeiti Medium"/>
                          <a:ea typeface="STHeiti Medium"/>
                        </a:rPr>
                        <a:t>9.89%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3A4A5A"/>
                          </a:solidFill>
                          <a:latin typeface="STHeiti Medium"/>
                          <a:ea typeface="STHeiti Medium"/>
                        </a:rPr>
                        <a:t>114,795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01A28"/>
                          </a:solidFill>
                          <a:latin typeface="STHeiti Medium"/>
                          <a:ea typeface="STHeiti Medium"/>
                        </a:rPr>
                        <a:t>30,013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01A28"/>
                          </a:solidFill>
                          <a:latin typeface="STHeiti Medium"/>
                          <a:ea typeface="STHeiti Medium"/>
                        </a:rPr>
                        <a:t>1,350,162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2,303,631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5A7088"/>
                          </a:solidFill>
                          <a:latin typeface="STHeiti Medium"/>
                          <a:ea typeface="STHeiti Medium"/>
                        </a:rPr>
                        <a:t>3,653,793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F2D3D"/>
                          </a:solidFill>
                          <a:latin typeface="STHeiti Medium"/>
                          <a:ea typeface="STHeiti Medium"/>
                        </a:rPr>
                        <a:t>4.06%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6A7A8A"/>
                          </a:solidFill>
                          <a:latin typeface="STHeiti Medium"/>
                          <a:ea typeface="STHeiti Medium"/>
                        </a:rPr>
                        <a:t>12.62%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3A4A5A"/>
                          </a:solidFill>
                          <a:latin typeface="STHeiti Medium"/>
                          <a:ea typeface="STHeiti Medium"/>
                        </a:rPr>
                        <a:t>104,253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01A28"/>
                          </a:solidFill>
                          <a:latin typeface="STHeiti Medium"/>
                          <a:ea typeface="STHeiti Medium"/>
                        </a:rPr>
                        <a:t>30,031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01A28"/>
                          </a:solidFill>
                          <a:latin typeface="STHeiti Medium"/>
                          <a:ea typeface="STHeiti Medium"/>
                        </a:rPr>
                        <a:t>1,650,311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3,944,230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5A7088"/>
                          </a:solidFill>
                          <a:latin typeface="STHeiti Medium"/>
                          <a:ea typeface="STHeiti Medium"/>
                        </a:rPr>
                        <a:t>5,594,541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F2D3D"/>
                          </a:solidFill>
                          <a:latin typeface="STHeiti Medium"/>
                          <a:ea typeface="STHeiti Medium"/>
                        </a:rPr>
                        <a:t>4.11%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6A7A8A"/>
                          </a:solidFill>
                          <a:latin typeface="STHeiti Medium"/>
                          <a:ea typeface="STHeiti Medium"/>
                        </a:rPr>
                        <a:t>16.98%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3A4A5A"/>
                          </a:solidFill>
                          <a:latin typeface="STHeiti Medium"/>
                          <a:ea typeface="STHeiti Medium"/>
                        </a:rPr>
                        <a:t>98,690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01A28"/>
                          </a:solidFill>
                          <a:latin typeface="STHeiti Medium"/>
                          <a:ea typeface="STHeiti Medium"/>
                        </a:rPr>
                        <a:t>30,067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01A28"/>
                          </a:solidFill>
                          <a:latin typeface="STHeiti Medium"/>
                          <a:ea typeface="STHeiti Medium"/>
                        </a:rPr>
                        <a:t>1,950,704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7,022,592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5A7088"/>
                          </a:solidFill>
                          <a:latin typeface="STHeiti Medium"/>
                          <a:ea typeface="STHeiti Medium"/>
                        </a:rPr>
                        <a:t>8,973,296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F2D3D"/>
                          </a:solidFill>
                          <a:latin typeface="STHeiti Medium"/>
                          <a:ea typeface="STHeiti Medium"/>
                        </a:rPr>
                        <a:t>4.21%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6A7A8A"/>
                          </a:solidFill>
                          <a:latin typeface="STHeiti Medium"/>
                          <a:ea typeface="STHeiti Medium"/>
                        </a:rPr>
                        <a:t>24.21%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3A4A5A"/>
                          </a:solidFill>
                          <a:latin typeface="STHeiti Medium"/>
                          <a:ea typeface="STHeiti Medium"/>
                        </a:rPr>
                        <a:t>95,773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01A28"/>
                          </a:solidFill>
                          <a:latin typeface="STHeiti Medium"/>
                          <a:ea typeface="STHeiti Medium"/>
                        </a:rPr>
                        <a:t>30,065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01A28"/>
                          </a:solidFill>
                          <a:latin typeface="STHeiti Medium"/>
                          <a:ea typeface="STHeiti Medium"/>
                        </a:rPr>
                        <a:t>2,251,027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12,799,988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5A7088"/>
                          </a:solidFill>
                          <a:latin typeface="STHeiti Medium"/>
                          <a:ea typeface="STHeiti Medium"/>
                        </a:rPr>
                        <a:t>15,051,015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F2D3D"/>
                          </a:solidFill>
                          <a:latin typeface="STHeiti Medium"/>
                          <a:ea typeface="STHeiti Medium"/>
                        </a:rPr>
                        <a:t>4.35%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6A7A8A"/>
                          </a:solidFill>
                          <a:latin typeface="STHeiti Medium"/>
                          <a:ea typeface="STHeiti Medium"/>
                        </a:rPr>
                        <a:t>36.38%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3A4A5A"/>
                          </a:solidFill>
                          <a:latin typeface="STHeiti Medium"/>
                          <a:ea typeface="STHeiti Medium"/>
                        </a:rPr>
                        <a:t>94,258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01A28"/>
                          </a:solidFill>
                          <a:latin typeface="STHeiti Medium"/>
                          <a:ea typeface="STHeiti Medium"/>
                        </a:rPr>
                        <a:t>30,134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01A28"/>
                          </a:solidFill>
                          <a:latin typeface="STHeiti Medium"/>
                          <a:ea typeface="STHeiti Medium"/>
                        </a:rPr>
                        <a:t>2,552,183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23,641,060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5A7088"/>
                          </a:solidFill>
                          <a:latin typeface="STHeiti Medium"/>
                          <a:ea typeface="STHeiti Medium"/>
                        </a:rPr>
                        <a:t>26,193,243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F2D3D"/>
                          </a:solidFill>
                          <a:latin typeface="STHeiti Medium"/>
                          <a:ea typeface="STHeiti Medium"/>
                        </a:rPr>
                        <a:t>4.50%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6A7A8A"/>
                          </a:solidFill>
                          <a:latin typeface="STHeiti Medium"/>
                          <a:ea typeface="STHeiti Medium"/>
                        </a:rPr>
                        <a:t>57.10%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3A4A5A"/>
                          </a:solidFill>
                          <a:latin typeface="STHeiti Medium"/>
                          <a:ea typeface="STHeiti Medium"/>
                        </a:rPr>
                        <a:t>93,489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01A28"/>
                          </a:solidFill>
                          <a:latin typeface="STHeiti Medium"/>
                          <a:ea typeface="STHeiti Medium"/>
                        </a:rPr>
                        <a:t>30,452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01A28"/>
                          </a:solidFill>
                          <a:latin typeface="STHeiti Medium"/>
                          <a:ea typeface="STHeiti Medium"/>
                        </a:rPr>
                        <a:t>2,854,998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43,982,332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5A7088"/>
                          </a:solidFill>
                          <a:latin typeface="STHeiti Medium"/>
                          <a:ea typeface="STHeiti Medium"/>
                        </a:rPr>
                        <a:t>46,837,330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F2D3D"/>
                          </a:solidFill>
                          <a:latin typeface="STHeiti Medium"/>
                          <a:ea typeface="STHeiti Medium"/>
                        </a:rPr>
                        <a:t>4.64%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6A7A8A"/>
                          </a:solidFill>
                          <a:latin typeface="STHeiti Medium"/>
                          <a:ea typeface="STHeiti Medium"/>
                        </a:rPr>
                        <a:t>92.67%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110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110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3A4A5A"/>
                          </a:solidFill>
                          <a:latin typeface="STHeiti Medium"/>
                          <a:ea typeface="STHeiti Medium"/>
                        </a:rPr>
                        <a:t>93,121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01A28"/>
                          </a:solidFill>
                          <a:latin typeface="STHeiti Medium"/>
                          <a:ea typeface="STHeiti Medium"/>
                        </a:rPr>
                        <a:t>30,446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01A28"/>
                          </a:solidFill>
                          <a:latin typeface="STHeiti Medium"/>
                          <a:ea typeface="STHeiti Medium"/>
                        </a:rPr>
                        <a:t>3,158,587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82,149,823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5A7088"/>
                          </a:solidFill>
                          <a:latin typeface="STHeiti Medium"/>
                          <a:ea typeface="STHeiti Medium"/>
                        </a:rPr>
                        <a:t>85,308,410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F2D3D"/>
                          </a:solidFill>
                          <a:latin typeface="STHeiti Medium"/>
                          <a:ea typeface="STHeiti Medium"/>
                        </a:rPr>
                        <a:t>4.78%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6A7A8A"/>
                          </a:solidFill>
                          <a:latin typeface="STHeiti Medium"/>
                          <a:ea typeface="STHeiti Medium"/>
                        </a:rPr>
                        <a:t>154.20%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3A4A5A"/>
                          </a:solidFill>
                          <a:latin typeface="STHeiti Medium"/>
                          <a:ea typeface="STHeiti Medium"/>
                        </a:rPr>
                        <a:t>92,967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01A28"/>
                          </a:solidFill>
                          <a:latin typeface="STHeiti Medium"/>
                          <a:ea typeface="STHeiti Medium"/>
                        </a:rPr>
                        <a:t>30,437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01A28"/>
                          </a:solidFill>
                          <a:latin typeface="STHeiti Medium"/>
                          <a:ea typeface="STHeiti Medium"/>
                        </a:rPr>
                        <a:t>3,463,391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153,762,549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5A7088"/>
                          </a:solidFill>
                          <a:latin typeface="STHeiti Medium"/>
                          <a:ea typeface="STHeiti Medium"/>
                        </a:rPr>
                        <a:t>157,225,940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F2D3D"/>
                          </a:solidFill>
                          <a:latin typeface="STHeiti Medium"/>
                          <a:ea typeface="STHeiti Medium"/>
                        </a:rPr>
                        <a:t>4.91%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6A7A8A"/>
                          </a:solidFill>
                          <a:latin typeface="STHeiti Medium"/>
                          <a:ea typeface="STHeiti Medium"/>
                        </a:rPr>
                        <a:t>261.21%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130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130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3A4A5A"/>
                          </a:solidFill>
                          <a:latin typeface="STHeiti Medium"/>
                          <a:ea typeface="STHeiti Medium"/>
                        </a:rPr>
                        <a:t>92,926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01A28"/>
                          </a:solidFill>
                          <a:latin typeface="STHeiti Medium"/>
                          <a:ea typeface="STHeiti Medium"/>
                        </a:rPr>
                        <a:t>32,085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01A28"/>
                          </a:solidFill>
                          <a:latin typeface="STHeiti Medium"/>
                          <a:ea typeface="STHeiti Medium"/>
                        </a:rPr>
                        <a:t>3,773,586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288,118,921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5A7088"/>
                          </a:solidFill>
                          <a:latin typeface="STHeiti Medium"/>
                          <a:ea typeface="STHeiti Medium"/>
                        </a:rPr>
                        <a:t>291,892,507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F2D3D"/>
                          </a:solidFill>
                          <a:latin typeface="STHeiti Medium"/>
                          <a:ea typeface="STHeiti Medium"/>
                        </a:rPr>
                        <a:t>5.02%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6A7A8A"/>
                          </a:solidFill>
                          <a:latin typeface="STHeiti Medium"/>
                          <a:ea typeface="STHeiti Medium"/>
                        </a:rPr>
                        <a:t>448.30%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3A4A5A"/>
                          </a:solidFill>
                          <a:latin typeface="STHeiti Medium"/>
                          <a:ea typeface="STHeiti Medium"/>
                        </a:rPr>
                        <a:t>92,926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01A28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01A28"/>
                          </a:solidFill>
                          <a:latin typeface="STHeiti Medium"/>
                          <a:ea typeface="STHeiti Medium"/>
                        </a:rPr>
                        <a:t>3,983,587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447,350,079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5A7088"/>
                          </a:solidFill>
                          <a:latin typeface="STHeiti Medium"/>
                          <a:ea typeface="STHeiti Medium"/>
                        </a:rPr>
                        <a:t>451,333,666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1F2D3D"/>
                          </a:solidFill>
                          <a:latin typeface="STHeiti Medium"/>
                          <a:ea typeface="STHeiti Medium"/>
                        </a:rPr>
                        <a:t>5.09%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6A7A8A"/>
                          </a:solidFill>
                          <a:latin typeface="STHeiti Medium"/>
                          <a:ea typeface="STHeiti Medium"/>
                        </a:rPr>
                        <a:t>658.15%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6080760"/>
            <a:ext cx="73152" cy="50292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26480"/>
            <a:ext cx="2743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1A2A3A"/>
                </a:solidFill>
                <a:latin typeface="Calibri"/>
                <a:ea typeface="STHeiti Medium"/>
              </a:rPr>
              <a:t>数据口径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3A4A5A"/>
                </a:solidFill>
                <a:latin typeface="Calibri"/>
                <a:ea typeface="STHeiti Medium"/>
              </a:rPr>
              <a:t>· Y6 起每年提取 USD 30,000    · 累计已领+退保现价 = 年提取累计 + 期末退保发还金额    · 复利IRR = (累计+退保现价)/保费^(1/年数)-1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656832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6A7A8A"/>
                </a:solidFill>
                <a:latin typeface="Calibri"/>
                <a:ea typeface="STHeiti Medium"/>
              </a:rPr>
              <a:t>数据来源：中国人寿官方计划书 第5部分（现金提取）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8F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1F2D3D"/>
                </a:solidFill>
                <a:latin typeface="Calibri"/>
                <a:ea typeface="STHeiti Medium"/>
              </a:rPr>
              <a:t>CLIFE  |  中国人寿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A7A8A"/>
                </a:solidFill>
                <a:latin typeface="Calibri"/>
                <a:ea typeface="STHeiti Medium"/>
              </a:rPr>
              <a:t>07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1A2A3A"/>
                </a:solidFill>
                <a:latin typeface="Calibri"/>
                <a:ea typeface="STHeiti Medium"/>
              </a:rPr>
              <a:t>不提领 vs 提领 · 总收益对比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6A7A8A"/>
                </a:solidFill>
                <a:latin typeface="Calibri"/>
                <a:ea typeface="STHeiti Medium"/>
              </a:rPr>
              <a:t>累计已领 + 期末退保现价 · 关键年限对比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65760" y="1691640"/>
          <a:ext cx="6858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406640" y="1737360"/>
            <a:ext cx="274320" cy="36576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691640"/>
            <a:ext cx="457199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A2A3A"/>
                </a:solidFill>
                <a:latin typeface="Calibri"/>
                <a:ea typeface="STHeiti Medium"/>
              </a:rPr>
              <a:t>不提领 vs 提领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2860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2286000"/>
            <a:ext cx="73152" cy="164592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23774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📈 不提领策略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6517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3A4A5A"/>
                </a:solidFill>
                <a:latin typeface="Calibri"/>
                <a:ea typeface="STHeiti Medium"/>
              </a:rPr>
              <a:t>账户价值持续滚存，享受复利增长</a:t>
            </a:r>
          </a:p>
          <a:p>
            <a:pPr algn="l"/>
            <a:r>
              <a:rPr sz="850" b="0">
                <a:solidFill>
                  <a:srgbClr val="3A4A5A"/>
                </a:solidFill>
                <a:latin typeface="Calibri"/>
                <a:ea typeface="STHeiti Medium"/>
              </a:rPr>
              <a:t>适合：长期财富传承需求</a:t>
            </a:r>
          </a:p>
          <a:p>
            <a:pPr algn="l"/>
            <a:r>
              <a:rPr sz="850" b="0">
                <a:solidFill>
                  <a:srgbClr val="3A4A5A"/>
                </a:solidFill>
                <a:latin typeface="Calibri"/>
                <a:ea typeface="STHeiti Medium"/>
              </a:rPr>
              <a:t>无需现金流补充的场景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1148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114800"/>
            <a:ext cx="73152" cy="1645920"/>
          </a:xfrm>
          <a:prstGeom prst="rect">
            <a:avLst/>
          </a:prstGeom>
          <a:solidFill>
            <a:srgbClr val="8F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42062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💳 提领策略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4805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3A4A5A"/>
                </a:solidFill>
                <a:latin typeface="Calibri"/>
                <a:ea typeface="STHeiti Medium"/>
              </a:rPr>
              <a:t>定期提取现金补充现金流</a:t>
            </a:r>
          </a:p>
          <a:p>
            <a:pPr algn="l"/>
            <a:r>
              <a:rPr sz="850" b="0">
                <a:solidFill>
                  <a:srgbClr val="3A4A5A"/>
                </a:solidFill>
                <a:latin typeface="Calibri"/>
                <a:ea typeface="STHeiti Medium"/>
              </a:rPr>
              <a:t>适合：教育金/养老金规划</a:t>
            </a:r>
          </a:p>
          <a:p>
            <a:pPr algn="l"/>
            <a:r>
              <a:rPr sz="850" b="0">
                <a:solidFill>
                  <a:srgbClr val="3A4A5A"/>
                </a:solidFill>
                <a:latin typeface="Calibri"/>
                <a:ea typeface="STHeiti Medium"/>
              </a:rPr>
              <a:t>兼顾当下现金流与长期增长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00800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6A7A8A"/>
                </a:solidFill>
                <a:latin typeface="Calibri"/>
                <a:ea typeface="STHeiti Medium"/>
              </a:rPr>
              <a:t>注：纵轴使用对数刻度；不提领按退保发还总额计算，提领按累计已领+退保现价计算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8F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1F2D3D"/>
                </a:solidFill>
                <a:latin typeface="Calibri"/>
                <a:ea typeface="STHeiti Medium"/>
              </a:rPr>
              <a:t>CLIFE  |  中国人寿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A7A8A"/>
                </a:solidFill>
                <a:latin typeface="Calibri"/>
                <a:ea typeface="STHeiti Medium"/>
              </a:rPr>
              <a:t>08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1A2A3A"/>
                </a:solidFill>
                <a:latin typeface="Calibri"/>
                <a:ea typeface="STHeiti Medium"/>
              </a:rPr>
              <a:t>教育金现金流 · 与受保人年龄节点结合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6A7A8A"/>
                </a:solidFill>
                <a:latin typeface="Calibri"/>
                <a:ea typeface="STHeiti Medium"/>
              </a:rPr>
              <a:t>保单年度 6 起每年提取 USD 30,000 · 从小学到大学的稳健现金流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11277295" cy="27432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44752" y="1819655"/>
            <a:ext cx="146304" cy="146304"/>
          </a:xfrm>
          <a:prstGeom prst="rect">
            <a:avLst/>
          </a:prstGeom>
          <a:solidFill>
            <a:srgbClr val="8F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1A2A3A"/>
                </a:solidFill>
                <a:latin typeface="Calibri"/>
                <a:ea typeface="STHeiti Medium"/>
              </a:rPr>
              <a:t>6-12岁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349240"/>
            <a:ext cx="2121408" cy="502920"/>
          </a:xfrm>
          <a:prstGeom prst="rect">
            <a:avLst/>
          </a:prstGeom>
          <a:solidFill>
            <a:srgbClr val="3A4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AFBFC"/>
                </a:solidFill>
                <a:latin typeface="Calibri"/>
                <a:ea typeface="STHeiti Medium"/>
              </a:rPr>
              <a:t>小学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6A7A8A"/>
                </a:solidFill>
                <a:latin typeface="Calibri"/>
                <a:ea typeface="STHeiti Medium"/>
              </a:rPr>
              <a:t>Y6-Y12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6A7A8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3A4D63"/>
                </a:solidFill>
                <a:latin typeface="Calibri"/>
                <a:ea typeface="STHeiti Medium"/>
              </a:rPr>
              <a:t>USD 210,003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1755648" cy="18288"/>
          </a:xfrm>
          <a:prstGeom prst="rect">
            <a:avLst/>
          </a:prstGeom>
          <a:solidFill>
            <a:srgbClr val="C8D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3A4A5A"/>
                </a:solidFill>
                <a:latin typeface="Calibri"/>
                <a:ea typeface="STHeiti Medium"/>
              </a:rPr>
              <a:t>每年 30K</a:t>
            </a:r>
          </a:p>
          <a:p>
            <a:pPr algn="ctr"/>
            <a:r>
              <a:rPr sz="900" b="0">
                <a:solidFill>
                  <a:srgbClr val="3A4A5A"/>
                </a:solidFill>
                <a:latin typeface="Calibri"/>
                <a:ea typeface="STHeiti Medium"/>
              </a:rPr>
              <a:t>兴趣班/课外辅导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1A2A3A"/>
                </a:solidFill>
                <a:latin typeface="Calibri"/>
                <a:ea typeface="STHeiti Medium"/>
              </a:rPr>
              <a:t>保单现价 USD 477,378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3320" y="1819655"/>
            <a:ext cx="146304" cy="146304"/>
          </a:xfrm>
          <a:prstGeom prst="rect">
            <a:avLst/>
          </a:prstGeom>
          <a:solidFill>
            <a:srgbClr val="8F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5768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1A2A3A"/>
                </a:solidFill>
                <a:latin typeface="Calibri"/>
                <a:ea typeface="STHeiti Medium"/>
              </a:rPr>
              <a:t>13-15岁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15768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15768" y="5349240"/>
            <a:ext cx="2121408" cy="50292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15768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AFBFC"/>
                </a:solidFill>
                <a:latin typeface="Calibri"/>
                <a:ea typeface="STHeiti Medium"/>
              </a:rPr>
              <a:t>初中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15768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6A7A8A"/>
                </a:solidFill>
                <a:latin typeface="Calibri"/>
                <a:ea typeface="STHeiti Medium"/>
              </a:rPr>
              <a:t>Y13-Y15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5768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6A7A8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15768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1F2D3D"/>
                </a:solidFill>
                <a:latin typeface="Calibri"/>
                <a:ea typeface="STHeiti Medium"/>
              </a:rPr>
              <a:t>USD 300,005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98648" y="3566160"/>
            <a:ext cx="1755648" cy="18288"/>
          </a:xfrm>
          <a:prstGeom prst="rect">
            <a:avLst/>
          </a:prstGeom>
          <a:solidFill>
            <a:srgbClr val="C8D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52928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3A4A5A"/>
                </a:solidFill>
                <a:latin typeface="Calibri"/>
                <a:ea typeface="STHeiti Medium"/>
              </a:rPr>
              <a:t>每年 30K</a:t>
            </a:r>
          </a:p>
          <a:p>
            <a:pPr algn="ctr"/>
            <a:r>
              <a:rPr sz="900" b="0">
                <a:solidFill>
                  <a:srgbClr val="3A4A5A"/>
                </a:solidFill>
                <a:latin typeface="Calibri"/>
                <a:ea typeface="STHeiti Medium"/>
              </a:rPr>
              <a:t>升学辅导/素质拓展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15768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1A2A3A"/>
                </a:solidFill>
                <a:latin typeface="Calibri"/>
                <a:ea typeface="STHeiti Medium"/>
              </a:rPr>
              <a:t>保单现价 USD 529,955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61888" y="1819655"/>
            <a:ext cx="146304" cy="146304"/>
          </a:xfrm>
          <a:prstGeom prst="rect">
            <a:avLst/>
          </a:prstGeom>
          <a:solidFill>
            <a:srgbClr val="8F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74336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1A2A3A"/>
                </a:solidFill>
                <a:latin typeface="Calibri"/>
                <a:ea typeface="STHeiti Medium"/>
              </a:rPr>
              <a:t>16-18岁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74336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74336" y="5349240"/>
            <a:ext cx="2121408" cy="502920"/>
          </a:xfrm>
          <a:prstGeom prst="rect">
            <a:avLst/>
          </a:prstGeom>
          <a:solidFill>
            <a:srgbClr val="10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74336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AFBFC"/>
                </a:solidFill>
                <a:latin typeface="Calibri"/>
                <a:ea typeface="STHeiti Medium"/>
              </a:rPr>
              <a:t>高中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74336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6A7A8A"/>
                </a:solidFill>
                <a:latin typeface="Calibri"/>
                <a:ea typeface="STHeiti Medium"/>
              </a:rPr>
              <a:t>Y16-Y18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74336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6A7A8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74336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101A28"/>
                </a:solidFill>
                <a:latin typeface="Calibri"/>
                <a:ea typeface="STHeiti Medium"/>
              </a:rPr>
              <a:t>USD 390,008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57216" y="3566160"/>
            <a:ext cx="1755648" cy="18288"/>
          </a:xfrm>
          <a:prstGeom prst="rect">
            <a:avLst/>
          </a:prstGeom>
          <a:solidFill>
            <a:srgbClr val="C8D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11496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3A4A5A"/>
                </a:solidFill>
                <a:latin typeface="Calibri"/>
                <a:ea typeface="STHeiti Medium"/>
              </a:rPr>
              <a:t>每年 30K</a:t>
            </a:r>
          </a:p>
          <a:p>
            <a:pPr algn="ctr"/>
            <a:r>
              <a:rPr sz="900" b="0">
                <a:solidFill>
                  <a:srgbClr val="3A4A5A"/>
                </a:solidFill>
                <a:latin typeface="Calibri"/>
                <a:ea typeface="STHeiti Medium"/>
              </a:rPr>
              <a:t>国际课程/留学预备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74336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1A2A3A"/>
                </a:solidFill>
                <a:latin typeface="Calibri"/>
                <a:ea typeface="STHeiti Medium"/>
              </a:rPr>
              <a:t>保单现价 USD 556,242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0456" y="1819655"/>
            <a:ext cx="146304" cy="146304"/>
          </a:xfrm>
          <a:prstGeom prst="rect">
            <a:avLst/>
          </a:prstGeom>
          <a:solidFill>
            <a:srgbClr val="8F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32904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1A2A3A"/>
                </a:solidFill>
                <a:latin typeface="Calibri"/>
                <a:ea typeface="STHeiti Medium"/>
              </a:rPr>
              <a:t>19-22岁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32904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232904" y="5349240"/>
            <a:ext cx="2121408" cy="502920"/>
          </a:xfrm>
          <a:prstGeom prst="rect">
            <a:avLst/>
          </a:prstGeom>
          <a:solidFill>
            <a:srgbClr val="5A7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AFBFC"/>
                </a:solidFill>
                <a:latin typeface="Calibri"/>
                <a:ea typeface="STHeiti Medium"/>
              </a:rPr>
              <a:t>大学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32904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6A7A8A"/>
                </a:solidFill>
                <a:latin typeface="Calibri"/>
                <a:ea typeface="STHeiti Medium"/>
              </a:rPr>
              <a:t>Y19-Y22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32904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6A7A8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32904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5A7088"/>
                </a:solidFill>
                <a:latin typeface="Calibri"/>
                <a:ea typeface="STHeiti Medium"/>
              </a:rPr>
              <a:t>USD 510,014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15784" y="3566160"/>
            <a:ext cx="1755648" cy="18288"/>
          </a:xfrm>
          <a:prstGeom prst="rect">
            <a:avLst/>
          </a:prstGeom>
          <a:solidFill>
            <a:srgbClr val="C8D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70064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3A4A5A"/>
                </a:solidFill>
                <a:latin typeface="Calibri"/>
                <a:ea typeface="STHeiti Medium"/>
              </a:rPr>
              <a:t>每年 30K</a:t>
            </a:r>
          </a:p>
          <a:p>
            <a:pPr algn="ctr"/>
            <a:r>
              <a:rPr sz="900" b="0">
                <a:solidFill>
                  <a:srgbClr val="3A4A5A"/>
                </a:solidFill>
                <a:latin typeface="Calibri"/>
                <a:ea typeface="STHeiti Medium"/>
              </a:rPr>
              <a:t>学费/生活费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32904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1A2A3A"/>
                </a:solidFill>
                <a:latin typeface="Calibri"/>
                <a:ea typeface="STHeiti Medium"/>
              </a:rPr>
              <a:t>保单现价 USD 651,932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479024" y="1819655"/>
            <a:ext cx="146304" cy="146304"/>
          </a:xfrm>
          <a:prstGeom prst="rect">
            <a:avLst/>
          </a:prstGeom>
          <a:solidFill>
            <a:srgbClr val="8F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91472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1A2A3A"/>
                </a:solidFill>
                <a:latin typeface="Calibri"/>
                <a:ea typeface="STHeiti Medium"/>
              </a:rPr>
              <a:t>23-99岁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91472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491472" y="5349240"/>
            <a:ext cx="2121408" cy="502920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91472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B0C0D0"/>
                </a:solidFill>
                <a:latin typeface="Calibri"/>
                <a:ea typeface="STHeiti Medium"/>
              </a:rPr>
              <a:t>研究生/创业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91472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6A7A8A"/>
                </a:solidFill>
                <a:latin typeface="Calibri"/>
                <a:ea typeface="STHeiti Medium"/>
              </a:rPr>
              <a:t>Y23-Y99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91472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6A7A8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91472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1A2A3A"/>
                </a:solidFill>
                <a:latin typeface="Calibri"/>
                <a:ea typeface="STHeiti Medium"/>
              </a:rPr>
              <a:t>USD 2,824,546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74352" y="3566160"/>
            <a:ext cx="1755648" cy="18288"/>
          </a:xfrm>
          <a:prstGeom prst="rect">
            <a:avLst/>
          </a:prstGeom>
          <a:solidFill>
            <a:srgbClr val="C8D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28632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3A4A5A"/>
                </a:solidFill>
                <a:latin typeface="Calibri"/>
                <a:ea typeface="STHeiti Medium"/>
              </a:rPr>
              <a:t>每年 30K</a:t>
            </a:r>
          </a:p>
          <a:p>
            <a:pPr algn="ctr"/>
            <a:r>
              <a:rPr sz="900" b="0">
                <a:solidFill>
                  <a:srgbClr val="3A4A5A"/>
                </a:solidFill>
                <a:latin typeface="Calibri"/>
                <a:ea typeface="STHeiti Medium"/>
              </a:rPr>
              <a:t>灵活支取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91472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1A2A3A"/>
                </a:solidFill>
                <a:latin typeface="Calibri"/>
                <a:ea typeface="STHeiti Medium"/>
              </a:rPr>
              <a:t>保单现价 USD 41,326,020</a:t>
            </a:r>
          </a:p>
        </p:txBody>
      </p:sp>
      <p:pic>
        <p:nvPicPr>
          <p:cNvPr id="65" name="Picture 64" descr="child-growth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035040"/>
            <a:ext cx="2560320" cy="640080"/>
          </a:xfrm>
          <a:prstGeom prst="rect">
            <a:avLst/>
          </a:prstGeom>
        </p:spPr>
      </p:pic>
      <p:pic>
        <p:nvPicPr>
          <p:cNvPr id="66" name="Picture 65" descr="graduation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6035040"/>
            <a:ext cx="2560320" cy="640080"/>
          </a:xfrm>
          <a:prstGeom prst="rect">
            <a:avLst/>
          </a:prstGeom>
        </p:spPr>
      </p:pic>
      <p:pic>
        <p:nvPicPr>
          <p:cNvPr id="67" name="Picture 66" descr="family-outdoor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6035040"/>
            <a:ext cx="2560320" cy="64008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1A2A3A"/>
                </a:solidFill>
                <a:latin typeface="Calibri"/>
                <a:ea typeface="STHeiti Medium"/>
              </a:rPr>
              <a:t>保单年度 6（受保人 6 岁）开始提领 → 精准覆盖小学到大学教育支出 → 本金持续滚存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400800"/>
            <a:ext cx="11277295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6A7A8A"/>
                </a:solidFill>
                <a:latin typeface="Calibri"/>
                <a:ea typeface="STHeiti Medium"/>
              </a:rPr>
              <a:t>数据来源：中国人寿官方计划书 第5部分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8F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1F2D3D"/>
                </a:solidFill>
                <a:latin typeface="Calibri"/>
                <a:ea typeface="STHeiti Medium"/>
              </a:rPr>
              <a:t>CLIFE  |  中国人寿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A7A8A"/>
                </a:solidFill>
                <a:latin typeface="Calibri"/>
                <a:ea typeface="STHeiti Medium"/>
              </a:rPr>
              <a:t>09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1A2A3A"/>
                </a:solidFill>
                <a:latin typeface="Calibri"/>
                <a:ea typeface="STHeiti Medium"/>
              </a:rPr>
              <a:t>方案协同 · 完整的家庭财务规划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6A7A8A"/>
                </a:solidFill>
                <a:latin typeface="Calibri"/>
                <a:ea typeface="STHeiti Medium"/>
              </a:rPr>
              <a:t>攻守兼备，进退自如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737360"/>
            <a:ext cx="5029200" cy="45720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FAFBFC"/>
                </a:solidFill>
                <a:latin typeface="Calibri"/>
                <a:ea typeface="STHeiti Medium"/>
              </a:rPr>
              <a:t>💰 现金流引擎 · 香港储蓄险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7744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1F2D3D"/>
                </a:solidFill>
                <a:latin typeface="Calibri"/>
                <a:ea typeface="STHeiti Medium"/>
              </a:rPr>
              <a:t>📈 复利增长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7860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3A4A5A"/>
                </a:solidFill>
                <a:latin typeface="Calibri"/>
                <a:ea typeface="STHeiti Medium"/>
              </a:rPr>
              <a:t>长期 IRR 5.5-6.5%，30年翻5倍+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8036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1F2D3D"/>
                </a:solidFill>
                <a:latin typeface="Calibri"/>
                <a:ea typeface="STHeiti Medium"/>
              </a:rPr>
              <a:t>💱 多元货币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08152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3A4A5A"/>
                </a:solidFill>
                <a:latin typeface="Calibri"/>
                <a:ea typeface="STHeiti Medium"/>
              </a:rPr>
              <a:t>支持7-10种货币自由转换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38328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1F2D3D"/>
                </a:solidFill>
                <a:latin typeface="Calibri"/>
                <a:ea typeface="STHeiti Medium"/>
              </a:rPr>
              <a:t>✂️ 保单拆分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58444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3A4A5A"/>
                </a:solidFill>
                <a:latin typeface="Calibri"/>
                <a:ea typeface="STHeiti Medium"/>
              </a:rPr>
              <a:t>无限次拆分，多子女传承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88620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1F2D3D"/>
                </a:solidFill>
                <a:latin typeface="Calibri"/>
                <a:ea typeface="STHeiti Medium"/>
              </a:rPr>
              <a:t>🏛️ 税务递延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08736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3A4A5A"/>
                </a:solidFill>
                <a:latin typeface="Calibri"/>
                <a:ea typeface="STHeiti Medium"/>
              </a:rPr>
              <a:t>香港免税增长，无资本利得税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38912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1F2D3D"/>
                </a:solidFill>
                <a:latin typeface="Calibri"/>
                <a:ea typeface="STHeiti Medium"/>
              </a:rPr>
              <a:t>👑 定向传承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9028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3A4A5A"/>
                </a:solidFill>
                <a:latin typeface="Calibri"/>
                <a:ea typeface="STHeiti Medium"/>
              </a:rPr>
              <a:t>无限次变更受保人，类信托赔付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89204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1F2D3D"/>
                </a:solidFill>
                <a:latin typeface="Calibri"/>
                <a:ea typeface="STHeiti Medium"/>
              </a:rPr>
              <a:t>💧 提取灵活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09320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3A4A5A"/>
                </a:solidFill>
                <a:latin typeface="Calibri"/>
                <a:ea typeface="STHeiti Medium"/>
              </a:rPr>
              <a:t>提取现金价值缴纳IUL保费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1737360"/>
            <a:ext cx="5029200" cy="457200"/>
          </a:xfrm>
          <a:prstGeom prst="rect">
            <a:avLst/>
          </a:prstGeom>
          <a:solidFill>
            <a:srgbClr val="5A7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0" y="182880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FAFBFC"/>
                </a:solidFill>
                <a:latin typeface="Calibri"/>
                <a:ea typeface="STHeiti Medium"/>
              </a:rPr>
              <a:t>📈 财富杠杆 · 新加坡IUL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237744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5A7088"/>
                </a:solidFill>
                <a:latin typeface="Calibri"/>
                <a:ea typeface="STHeiti Medium"/>
              </a:rPr>
              <a:t>🛡️ 下行保护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257860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3A4A5A"/>
                </a:solidFill>
                <a:latin typeface="Calibri"/>
                <a:ea typeface="STHeiti Medium"/>
              </a:rPr>
              <a:t>0%保证下限，市场跌不亏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288036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5A7088"/>
                </a:solidFill>
                <a:latin typeface="Calibri"/>
                <a:ea typeface="STHeiti Medium"/>
              </a:rPr>
              <a:t>📊 指数挂钩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308152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3A4A5A"/>
                </a:solidFill>
                <a:latin typeface="Calibri"/>
                <a:ea typeface="STHeiti Medium"/>
              </a:rPr>
              <a:t>挂钩标普500，上限率10%+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338328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5A7088"/>
                </a:solidFill>
                <a:latin typeface="Calibri"/>
                <a:ea typeface="STHeiti Medium"/>
              </a:rPr>
              <a:t>🇸🇬 主权独立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358444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3A4A5A"/>
                </a:solidFill>
                <a:latin typeface="Calibri"/>
                <a:ea typeface="STHeiti Medium"/>
              </a:rPr>
              <a:t>新加坡MAS监管，司法独立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6440" y="388620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5A7088"/>
                </a:solidFill>
                <a:latin typeface="Calibri"/>
                <a:ea typeface="STHeiti Medium"/>
              </a:rPr>
              <a:t>💰 美元资产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408736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3A4A5A"/>
                </a:solidFill>
                <a:latin typeface="Calibri"/>
                <a:ea typeface="STHeiti Medium"/>
              </a:rPr>
              <a:t>美元计价，跨境资产配置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438912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5A7088"/>
                </a:solidFill>
                <a:latin typeface="Calibri"/>
                <a:ea typeface="STHeiti Medium"/>
              </a:rPr>
              <a:t>🏛️ 免税传承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459028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3A4A5A"/>
                </a:solidFill>
                <a:latin typeface="Calibri"/>
                <a:ea typeface="STHeiti Medium"/>
              </a:rPr>
              <a:t>身故赔偿免遗产税，隔离债务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489204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5A7088"/>
                </a:solidFill>
                <a:latin typeface="Calibri"/>
                <a:ea typeface="STHeiti Medium"/>
              </a:rPr>
              <a:t>👨‍👩‍👧‍👦 多代规划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40" y="509320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3A4A5A"/>
                </a:solidFill>
                <a:latin typeface="Calibri"/>
                <a:ea typeface="STHeiti Medium"/>
              </a:rPr>
              <a:t>保障至120岁+，跨代传承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356616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400" b="1">
                <a:solidFill>
                  <a:srgbClr val="1F2D3D"/>
                </a:solidFill>
                <a:latin typeface="Calibri"/>
                <a:ea typeface="STHeiti Medium"/>
              </a:rPr>
              <a:t>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583680"/>
            <a:ext cx="10972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6A7A8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8F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1F2D3D"/>
                </a:solidFill>
                <a:latin typeface="Calibri"/>
                <a:ea typeface="STHeiti Medium"/>
              </a:rPr>
              <a:t>TA  |  全美海外（新加坡）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A7A8A"/>
                </a:solidFill>
                <a:latin typeface="Calibri"/>
                <a:ea typeface="STHeiti Medium"/>
              </a:rPr>
              <a:t>10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02920"/>
            <a:ext cx="73152" cy="320040"/>
          </a:xfrm>
          <a:prstGeom prst="rect">
            <a:avLst/>
          </a:prstGeom>
          <a:solidFill>
            <a:srgbClr val="8F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1A2A3A"/>
                </a:solidFill>
                <a:latin typeface="Calibri"/>
                <a:ea typeface="STHeiti Medium"/>
              </a:rPr>
              <a:t>现金流 + 高杠杆 · 完美组合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9144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A7A8A"/>
                </a:solidFill>
                <a:latin typeface="Calibri"/>
                <a:ea typeface="STHeiti Medium"/>
              </a:rPr>
              <a:t>储蓄提领缴纳IUL保费 → 稳定现金流 + 高额寿险保障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10515600" cy="13716"/>
          </a:xfrm>
          <a:prstGeom prst="rect">
            <a:avLst/>
          </a:prstGeom>
          <a:solidFill>
            <a:srgbClr val="B0C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548640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5486400" cy="54864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00200"/>
            <a:ext cx="54863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A2A3A"/>
                </a:solidFill>
                <a:latin typeface="Calibri"/>
                <a:ea typeface="STHeiti Medium"/>
              </a:rPr>
              <a:t>💰 储蓄险 · 稳定现金流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11680"/>
            <a:ext cx="548639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01A28"/>
                </a:solidFill>
                <a:latin typeface="Calibri"/>
                <a:ea typeface="STHeiti Medium"/>
              </a:rPr>
              <a:t>从 6 岁起，每年提取 USD 30,000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68880"/>
            <a:ext cx="5486399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3A4A5A"/>
                </a:solidFill>
                <a:latin typeface="Calibri"/>
                <a:ea typeface="STHeiti Medium"/>
              </a:rPr>
              <a:t>这笔现金流可用于支付IUL保费，同时储蓄账户继续滚存增长</a:t>
            </a:r>
          </a:p>
          <a:p>
            <a:pPr algn="l"/>
            <a:r>
              <a:rPr sz="900" b="0">
                <a:solidFill>
                  <a:srgbClr val="3A4A5A"/>
                </a:solidFill>
                <a:latin typeface="Calibri"/>
                <a:ea typeface="STHeiti Medium"/>
              </a:rPr>
              <a:t>覆盖比例：约 45%（IUL年缴USD 66,355）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566160"/>
            <a:ext cx="13716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1">
                <a:solidFill>
                  <a:srgbClr val="5A7088"/>
                </a:solidFill>
                <a:latin typeface="Calibri"/>
                <a:ea typeface="STHeiti Medium"/>
              </a:rPr>
              <a:t>⬇ 保费支付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023360"/>
            <a:ext cx="548640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023360"/>
            <a:ext cx="5486400" cy="54864"/>
          </a:xfrm>
          <a:prstGeom prst="rect">
            <a:avLst/>
          </a:prstGeom>
          <a:solidFill>
            <a:srgbClr val="5A7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160520"/>
            <a:ext cx="54863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A2A3A"/>
                </a:solidFill>
                <a:latin typeface="Calibri"/>
                <a:ea typeface="STHeiti Medium"/>
              </a:rPr>
              <a:t>📈 IUL · 高杠杆寿险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54863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5A7088"/>
                </a:solidFill>
                <a:latin typeface="Calibri"/>
                <a:ea typeface="STHeiti Medium"/>
              </a:rPr>
              <a:t>年缴保费 USD 66,355 × 5年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937760"/>
            <a:ext cx="5486399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3A4A5A"/>
                </a:solidFill>
                <a:latin typeface="Calibri"/>
                <a:ea typeface="STHeiti Medium"/>
              </a:rPr>
              <a:t>• 身故赔偿 USD 2,000,000（约 6.0 倍总保费杠杆）</a:t>
            </a:r>
          </a:p>
          <a:p>
            <a:pPr algn="l"/>
            <a:r>
              <a:rPr sz="900" b="0">
                <a:solidFill>
                  <a:srgbClr val="3A4A5A"/>
                </a:solidFill>
                <a:latin typeface="Calibri"/>
                <a:ea typeface="STHeiti Medium"/>
              </a:rPr>
              <a:t>• 指数账户增长潜力，下行风险可控</a:t>
            </a:r>
          </a:p>
          <a:p>
            <a:pPr algn="l"/>
            <a:r>
              <a:rPr sz="900" b="0">
                <a:solidFill>
                  <a:srgbClr val="3A4A5A"/>
                </a:solidFill>
                <a:latin typeface="Calibri"/>
                <a:ea typeface="STHeiti Medium"/>
              </a:rPr>
              <a:t>• 保证最低派息率，保障本金安全</a:t>
            </a:r>
          </a:p>
          <a:p>
            <a:pPr algn="l"/>
            <a:r>
              <a:rPr sz="900" b="0">
                <a:solidFill>
                  <a:srgbClr val="3A4A5A"/>
                </a:solidFill>
                <a:latin typeface="Calibri"/>
                <a:ea typeface="STHeiti Medium"/>
              </a:rPr>
              <a:t>• 身故赔偿免遗产税，财富定向传承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46304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1463040"/>
            <a:ext cx="5029200" cy="54864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55448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A7A8A"/>
                </a:solidFill>
                <a:latin typeface="Calibri"/>
                <a:ea typeface="STHeiti Medium"/>
              </a:rPr>
              <a:t>储蓄年提领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182880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1F2D3D"/>
                </a:solidFill>
                <a:latin typeface="Calibri"/>
                <a:ea typeface="STHeiti Medium"/>
              </a:rPr>
              <a:t>USD 30,000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46888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2468880"/>
            <a:ext cx="5029200" cy="54864"/>
          </a:xfrm>
          <a:prstGeom prst="rect">
            <a:avLst/>
          </a:prstGeom>
          <a:solidFill>
            <a:srgbClr val="5A7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256032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A7A8A"/>
                </a:solidFill>
                <a:latin typeface="Calibri"/>
                <a:ea typeface="STHeiti Medium"/>
              </a:rPr>
              <a:t>IUL年缴保费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83464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5A7088"/>
                </a:solidFill>
                <a:latin typeface="Calibri"/>
                <a:ea typeface="STHeiti Medium"/>
              </a:rPr>
              <a:t>USD 66,355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47472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3474720"/>
            <a:ext cx="5029200" cy="54864"/>
          </a:xfrm>
          <a:prstGeom prst="rect">
            <a:avLst/>
          </a:prstGeom>
          <a:solidFill>
            <a:srgbClr val="8F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356616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A7A8A"/>
                </a:solidFill>
                <a:latin typeface="Calibri"/>
                <a:ea typeface="STHeiti Medium"/>
              </a:rPr>
              <a:t>保费覆盖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84048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8FA3B8"/>
                </a:solidFill>
                <a:latin typeface="Calibri"/>
                <a:ea typeface="STHeiti Medium"/>
              </a:rPr>
              <a:t>45%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48056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4480560"/>
            <a:ext cx="5029200" cy="54864"/>
          </a:xfrm>
          <a:prstGeom prst="rect">
            <a:avLst/>
          </a:prstGeom>
          <a:solidFill>
            <a:srgbClr val="6A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457200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A7A8A"/>
                </a:solidFill>
                <a:latin typeface="Calibri"/>
                <a:ea typeface="STHeiti Medium"/>
              </a:rPr>
              <a:t>IUL总保费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84632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6A7A8A"/>
                </a:solidFill>
                <a:latin typeface="Calibri"/>
                <a:ea typeface="STHeiti Medium"/>
              </a:rPr>
              <a:t>USD 331,775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548640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5486400"/>
            <a:ext cx="5029200" cy="54864"/>
          </a:xfrm>
          <a:prstGeom prst="rect">
            <a:avLst/>
          </a:prstGeom>
          <a:solidFill>
            <a:srgbClr val="10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557784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A7A8A"/>
                </a:solidFill>
                <a:latin typeface="Calibri"/>
                <a:ea typeface="STHeiti Medium"/>
              </a:rPr>
              <a:t>身故赔偿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85216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101A28"/>
                </a:solidFill>
                <a:latin typeface="Calibri"/>
                <a:ea typeface="STHeiti Medium"/>
              </a:rPr>
              <a:t>USD 2,000,000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943600"/>
            <a:ext cx="11155680" cy="7315"/>
          </a:xfrm>
          <a:prstGeom prst="rect">
            <a:avLst/>
          </a:prstGeom>
          <a:solidFill>
            <a:srgbClr val="B0C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3A4A5A"/>
                </a:solidFill>
                <a:latin typeface="Calibri"/>
                <a:ea typeface="STHeiti Medium"/>
              </a:rPr>
              <a:t>💡 规划理念：储蓄险创造稳定现金流，IUL提供高额寿险保障。用储蓄收益缴纳IUL保费，一份投入双重收获。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537960"/>
            <a:ext cx="10972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6A7A8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8F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8FA3B8"/>
                </a:solidFill>
                <a:latin typeface="Calibri"/>
                <a:ea typeface="STHeiti Medium"/>
              </a:rPr>
              <a:t>财富杠杆 · 寿险保障篇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0972800" cy="9144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600" b="1">
                <a:solidFill>
                  <a:srgbClr val="FAFBFC"/>
                </a:solidFill>
                <a:latin typeface="Calibri"/>
                <a:ea typeface="STHeiti Medium"/>
              </a:rPr>
              <a:t>高杠杆寿险规划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0972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0">
                <a:solidFill>
                  <a:srgbClr val="8FA3B8"/>
                </a:solidFill>
                <a:latin typeface="Calibri"/>
                <a:ea typeface="STHeiti Medium"/>
              </a:rPr>
              <a:t>用现金流撬动千万保障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3931920"/>
            <a:ext cx="1188720" cy="36576"/>
          </a:xfrm>
          <a:prstGeom prst="rect">
            <a:avLst/>
          </a:prstGeom>
          <a:solidFill>
            <a:srgbClr val="8F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0">
                <a:solidFill>
                  <a:srgbClr val="B0C0D0"/>
                </a:solidFill>
                <a:latin typeface="Calibri"/>
                <a:ea typeface="STHeiti Medium"/>
              </a:rPr>
              <a:t>全美海外（新加坡） · 指数型万用寿险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8F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1F2D3D"/>
                </a:solidFill>
                <a:latin typeface="Calibri"/>
                <a:ea typeface="STHeiti Medium"/>
              </a:rPr>
              <a:t>TA  |  全美海外（新加坡）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A7A8A"/>
                </a:solidFill>
                <a:latin typeface="Calibri"/>
                <a:ea typeface="STHeiti Medium"/>
              </a:rPr>
              <a:t>12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1A2A3A"/>
                </a:solidFill>
                <a:latin typeface="Calibri"/>
                <a:ea typeface="STHeiti Medium"/>
              </a:rPr>
              <a:t>关于全美海外（新加坡）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6A7A8A"/>
                </a:solidFill>
                <a:latin typeface="Calibri"/>
                <a:ea typeface="STHeiti Medium"/>
              </a:rPr>
              <a:t>万用寿险 · 全美海外（新加坡）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493008"/>
            <a:ext cx="3657600" cy="73152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1A2A3A"/>
                </a:solidFill>
                <a:latin typeface="Calibri"/>
                <a:ea typeface="STHeiti Medium"/>
              </a:rPr>
              <a:t>1904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3A4A5A"/>
                </a:solidFill>
                <a:latin typeface="Calibri"/>
                <a:ea typeface="STHeiti Medium"/>
              </a:rPr>
              <a:t>成立年份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3756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6A7A8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219456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3493008"/>
            <a:ext cx="3657600" cy="73152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33172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1A2A3A"/>
                </a:solidFill>
                <a:latin typeface="Calibri"/>
                <a:ea typeface="STHeiti Medium"/>
              </a:rPr>
              <a:t>A+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20040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3A4A5A"/>
                </a:solidFill>
                <a:latin typeface="Calibri"/>
                <a:ea typeface="STHeiti Medium"/>
              </a:rPr>
              <a:t>财务实力评级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33756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6A7A8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19456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3493008"/>
            <a:ext cx="3657600" cy="73152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33172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1A2A3A"/>
                </a:solidFill>
                <a:latin typeface="Calibri"/>
                <a:ea typeface="STHeiti Medium"/>
              </a:rPr>
              <a:t>「傲盛世儲蓄保險計劃」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20040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3A4A5A"/>
                </a:solidFill>
                <a:latin typeface="Calibri"/>
                <a:ea typeface="STHeiti Medium"/>
              </a:rPr>
              <a:t>大额指数万能险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33756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6A7A8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31920"/>
            <a:ext cx="274320" cy="36576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84048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A2A3A"/>
                </a:solidFill>
                <a:latin typeface="Calibri"/>
                <a:ea typeface="STHeiti Medium"/>
              </a:rPr>
              <a:t>业务范围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2976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A4A5A"/>
                </a:solidFill>
                <a:latin typeface="Calibri"/>
                <a:ea typeface="STHeiti Medium"/>
              </a:rPr>
              <a:t>· 指数型万能寿险 — GIUL 3代系列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5720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A4A5A"/>
                </a:solidFill>
                <a:latin typeface="Calibri"/>
                <a:ea typeface="STHeiti Medium"/>
              </a:rPr>
              <a:t>· 海外信托与保单统筹 — 资产隔离与税务合规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8463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A4A5A"/>
                </a:solidFill>
                <a:latin typeface="Calibri"/>
                <a:ea typeface="STHeiti Medium"/>
              </a:rPr>
              <a:t>· 万能寿险 — 大额趸交/灵活缴费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1206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A4A5A"/>
                </a:solidFill>
                <a:latin typeface="Calibri"/>
                <a:ea typeface="STHeiti Medium"/>
              </a:rPr>
              <a:t>· 保单融资与贴现 — 私人银行流动性方案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931920"/>
            <a:ext cx="274320" cy="36576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384048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A2A3A"/>
                </a:solidFill>
                <a:latin typeface="Calibri"/>
                <a:ea typeface="STHeiti Medium"/>
              </a:rPr>
              <a:t>品牌背景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42976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A4A5A"/>
                </a:solidFill>
                <a:latin typeface="Calibri"/>
                <a:ea typeface="STHeiti Medium"/>
              </a:rPr>
              <a:t>· 全美人寿总公司创立于1904年（旧金山）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45720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A4A5A"/>
                </a:solidFill>
                <a:latin typeface="Calibri"/>
                <a:ea typeface="STHeiti Medium"/>
              </a:rPr>
              <a:t>· 隶属荷兰全球人寿保险集团（Aegon N.V.）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48463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A4A5A"/>
                </a:solidFill>
                <a:latin typeface="Calibri"/>
                <a:ea typeface="STHeiti Medium"/>
              </a:rPr>
              <a:t>· S&amp;P A+ / Moody's A1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1206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A4A5A"/>
                </a:solidFill>
                <a:latin typeface="Calibri"/>
                <a:ea typeface="STHeiti Medium"/>
              </a:rPr>
              <a:t>· 新加坡MAS全牌照寿险公司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6A7A8A"/>
                </a:solidFill>
                <a:latin typeface="Calibri"/>
                <a:ea typeface="STHeiti Medium"/>
              </a:rPr>
              <a:t>数据来源：保险公司官方资料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8F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1F2D3D"/>
                </a:solidFill>
                <a:latin typeface="Calibri"/>
                <a:ea typeface="STHeiti Medium"/>
              </a:rPr>
              <a:t>TA  |  全美海外（新加坡）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A7A8A"/>
                </a:solidFill>
                <a:latin typeface="Calibri"/>
                <a:ea typeface="STHeiti Medium"/>
              </a:rPr>
              <a:t>13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1A2A3A"/>
                </a:solidFill>
                <a:latin typeface="Calibri"/>
                <a:ea typeface="STHeiti Medium"/>
              </a:rPr>
              <a:t>万用寿险概要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6A7A8A"/>
                </a:solidFill>
                <a:latin typeface="Calibri"/>
                <a:ea typeface="STHeiti Medium"/>
              </a:rPr>
              <a:t>保费 · 身故赔偿 · 杠杆倍数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011680"/>
            <a:ext cx="27432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011680"/>
            <a:ext cx="2743200" cy="54864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2743199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A7A8A"/>
                </a:solidFill>
                <a:latin typeface="Calibri"/>
                <a:ea typeface="STHeiti Medium"/>
              </a:rPr>
              <a:t>年缴保费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68880"/>
            <a:ext cx="2743199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1F2D3D"/>
                </a:solidFill>
                <a:latin typeface="Calibri"/>
                <a:ea typeface="STHeiti Medium"/>
              </a:rPr>
              <a:t>USD 66,355 × 5年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17520"/>
            <a:ext cx="27431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3A4A5A"/>
                </a:solidFill>
                <a:latin typeface="Calibri"/>
                <a:ea typeface="STHeiti Medium"/>
              </a:rPr>
              <a:t>共USD 331,775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2011680"/>
            <a:ext cx="27432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2011680"/>
            <a:ext cx="2743200" cy="54864"/>
          </a:xfrm>
          <a:prstGeom prst="rect">
            <a:avLst/>
          </a:prstGeom>
          <a:solidFill>
            <a:srgbClr val="10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2194560"/>
            <a:ext cx="2743199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A7A8A"/>
                </a:solidFill>
                <a:latin typeface="Calibri"/>
                <a:ea typeface="STHeiti Medium"/>
              </a:rPr>
              <a:t>身故赔偿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468880"/>
            <a:ext cx="2743199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101A28"/>
                </a:solidFill>
                <a:latin typeface="Calibri"/>
                <a:ea typeface="STHeiti Medium"/>
              </a:rPr>
              <a:t>USD 2,000,000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017520"/>
            <a:ext cx="27431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3A4A5A"/>
                </a:solidFill>
                <a:latin typeface="Calibri"/>
                <a:ea typeface="STHeiti Medium"/>
              </a:rPr>
              <a:t>保障至终身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011680"/>
            <a:ext cx="27432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2011680"/>
            <a:ext cx="2743200" cy="54864"/>
          </a:xfrm>
          <a:prstGeom prst="rect">
            <a:avLst/>
          </a:prstGeom>
          <a:solidFill>
            <a:srgbClr val="5A7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194560"/>
            <a:ext cx="2743199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A7A8A"/>
                </a:solidFill>
                <a:latin typeface="Calibri"/>
                <a:ea typeface="STHeiti Medium"/>
              </a:rPr>
              <a:t>杠杆倍数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468880"/>
            <a:ext cx="2743199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5A7088"/>
                </a:solidFill>
                <a:latin typeface="Calibri"/>
                <a:ea typeface="STHeiti Medium"/>
              </a:rPr>
              <a:t>6.0x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017520"/>
            <a:ext cx="27431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3A4A5A"/>
                </a:solidFill>
                <a:latin typeface="Calibri"/>
                <a:ea typeface="STHeiti Medium"/>
              </a:rPr>
              <a:t>身故赔偿/总保费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81160" y="2011680"/>
            <a:ext cx="27432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81160" y="2011680"/>
            <a:ext cx="2743200" cy="54864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64040" y="2194560"/>
            <a:ext cx="2743199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A7A8A"/>
                </a:solidFill>
                <a:latin typeface="Calibri"/>
                <a:ea typeface="STHeiti Medium"/>
              </a:rPr>
              <a:t>受保人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2468880"/>
            <a:ext cx="2743199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1A2A3A"/>
                </a:solidFill>
                <a:latin typeface="Calibri"/>
                <a:ea typeface="STHeiti Medium"/>
              </a:rPr>
              <a:t>Client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3017520"/>
            <a:ext cx="27431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3A4A5A"/>
                </a:solidFill>
                <a:latin typeface="Calibri"/>
                <a:ea typeface="STHeiti Medium"/>
              </a:rPr>
              <a:t>46岁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114800"/>
            <a:ext cx="274320" cy="36576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023360"/>
            <a:ext cx="9144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A2A3A"/>
                </a:solidFill>
                <a:latin typeface="Calibri"/>
                <a:ea typeface="STHeiti Medium"/>
              </a:rPr>
              <a:t>产品特点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480560"/>
            <a:ext cx="10515600" cy="18288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ts val="1900"/>
              </a:lnSpc>
            </a:pPr>
            <a:r>
              <a:rPr sz="1250">
                <a:solidFill>
                  <a:srgbClr val="3A4A5A"/>
                </a:solidFill>
                <a:latin typeface="STHeiti Medium"/>
              </a:rPr>
              <a:t>· 指数账户挂钩市场表现，享有增长潜力</a:t>
            </a:r>
          </a:p>
          <a:p>
            <a:pPr>
              <a:lnSpc>
                <a:spcPts val="1900"/>
              </a:lnSpc>
            </a:pPr>
            <a:r>
              <a:rPr sz="1250">
                <a:solidFill>
                  <a:srgbClr val="3A4A5A"/>
                </a:solidFill>
                <a:latin typeface="STHeiti Medium"/>
              </a:rPr>
              <a:t>· 保证最低派息率，下行风险可控</a:t>
            </a:r>
          </a:p>
          <a:p>
            <a:pPr>
              <a:lnSpc>
                <a:spcPts val="1900"/>
              </a:lnSpc>
            </a:pPr>
            <a:r>
              <a:rPr sz="1250">
                <a:solidFill>
                  <a:srgbClr val="3A4A5A"/>
                </a:solidFill>
                <a:latin typeface="STHeiti Medium"/>
              </a:rPr>
              <a:t>· 保费灵活缴付，可根据现金流调整</a:t>
            </a:r>
          </a:p>
          <a:p>
            <a:pPr>
              <a:lnSpc>
                <a:spcPts val="1900"/>
              </a:lnSpc>
            </a:pPr>
            <a:r>
              <a:rPr sz="1250">
                <a:solidFill>
                  <a:srgbClr val="3A4A5A"/>
                </a:solidFill>
                <a:latin typeface="STHeiti Medium"/>
              </a:rPr>
              <a:t>· 身故赔偿免遗产税，财富定向传承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58368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6A7A8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8F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1F2D3D"/>
                </a:solidFill>
                <a:latin typeface="Calibri"/>
                <a:ea typeface="STHeiti Medium"/>
              </a:rPr>
              <a:t>TA  |  全美海外（新加坡）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A7A8A"/>
                </a:solidFill>
                <a:latin typeface="Calibri"/>
                <a:ea typeface="STHeiti Medium"/>
              </a:rPr>
              <a:t>14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1A2A3A"/>
                </a:solidFill>
                <a:latin typeface="Calibri"/>
                <a:ea typeface="STHeiti Medium"/>
              </a:rPr>
              <a:t>已缴总保费 vs 身故赔偿总保额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A7A8A"/>
                </a:solidFill>
                <a:latin typeface="Calibri"/>
                <a:ea typeface="STHeiti Medium"/>
              </a:rPr>
              <a:t>保单年度 · 金额 · 杠杆效应趋势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457200" cy="27432"/>
          </a:xfrm>
          <a:prstGeom prst="rect">
            <a:avLst/>
          </a:prstGeom>
          <a:solidFill>
            <a:srgbClr val="8F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274320" y="1554480"/>
          <a:ext cx="7772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8229600" y="1554480"/>
            <a:ext cx="3200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A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691640"/>
            <a:ext cx="28346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A2A3A"/>
                </a:solidFill>
                <a:latin typeface="Calibri"/>
                <a:ea typeface="STHeiti Medium"/>
              </a:rPr>
              <a:t>📊 关键数据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1965960"/>
            <a:ext cx="2834640" cy="18288"/>
          </a:xfrm>
          <a:prstGeom prst="rect">
            <a:avLst/>
          </a:prstGeom>
          <a:solidFill>
            <a:srgbClr val="8F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1945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A7A8A"/>
                </a:solidFill>
              </a:defRPr>
            </a:pPr>
            <a:r>
              <a:t>年缴保费</a:t>
            </a:r>
          </a:p>
          <a:p>
            <a:pPr>
              <a:defRPr sz="1400" b="1">
                <a:solidFill>
                  <a:srgbClr val="1A2A3A"/>
                </a:solidFill>
              </a:defRPr>
            </a:pPr>
            <a:r>
              <a:t>USD 66,355 × 5年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697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A7A8A"/>
                </a:solidFill>
              </a:defRPr>
            </a:pPr>
            <a:r>
              <a:t>总保费</a:t>
            </a:r>
          </a:p>
          <a:p>
            <a:pPr>
              <a:defRPr sz="1400" b="1">
                <a:solidFill>
                  <a:srgbClr val="1A2A3A"/>
                </a:solidFill>
              </a:defRPr>
            </a:pPr>
            <a:r>
              <a:t>USD 331,775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200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A7A8A"/>
                </a:solidFill>
              </a:defRPr>
            </a:pPr>
            <a:r>
              <a:t>身故保额</a:t>
            </a:r>
          </a:p>
          <a:p>
            <a:pPr>
              <a:defRPr sz="1400" b="1">
                <a:solidFill>
                  <a:srgbClr val="1A2A3A"/>
                </a:solidFill>
              </a:defRPr>
            </a:pPr>
            <a:r>
              <a:t>USD 2,000,000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703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A7A8A"/>
                </a:solidFill>
              </a:defRPr>
            </a:pPr>
            <a:r>
              <a:t>保费杠杆</a:t>
            </a:r>
          </a:p>
          <a:p>
            <a:pPr>
              <a:defRPr sz="1400" b="1">
                <a:solidFill>
                  <a:srgbClr val="1A2A3A"/>
                </a:solidFill>
              </a:defRPr>
            </a:pPr>
            <a:r>
              <a:t>6.0x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206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A7A8A"/>
                </a:solidFill>
              </a:defRPr>
            </a:pPr>
            <a:r>
              <a:t>保额锁定</a:t>
            </a:r>
          </a:p>
          <a:p>
            <a:pPr>
              <a:defRPr sz="1400" b="1">
                <a:solidFill>
                  <a:srgbClr val="1A2A3A"/>
                </a:solidFill>
              </a:defRPr>
            </a:pPr>
            <a:r>
              <a:t>缴费期内锁定额度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5303520"/>
            <a:ext cx="283464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3A4A5A"/>
                </a:solidFill>
                <a:latin typeface="Calibri"/>
                <a:ea typeface="STHeiti Medium"/>
              </a:rPr>
              <a:t>蓝色为累计已缴保费（5年缴清后持平），金色为身故赔偿保额。两条线的间距体现保费杠杆效应。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00800"/>
            <a:ext cx="10972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6A7A8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8F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1F2D3D"/>
                </a:solidFill>
                <a:latin typeface="Calibri"/>
                <a:ea typeface="STHeiti Medium"/>
              </a:rPr>
              <a:t>TA  |  全美海外（新加坡）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A7A8A"/>
                </a:solidFill>
                <a:latin typeface="Calibri"/>
                <a:ea typeface="STHeiti Medium"/>
              </a:rPr>
              <a:t>15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02920"/>
            <a:ext cx="73152" cy="320040"/>
          </a:xfrm>
          <a:prstGeom prst="rect">
            <a:avLst/>
          </a:prstGeom>
          <a:solidFill>
            <a:srgbClr val="8F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1A2A3A"/>
                </a:solidFill>
                <a:latin typeface="Calibri"/>
                <a:ea typeface="STHeiti Medium"/>
              </a:rPr>
              <a:t>保单摘要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9144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A7A8A"/>
                </a:solidFill>
                <a:latin typeface="Calibri"/>
                <a:ea typeface="STHeiti Medium"/>
              </a:rPr>
              <a:t>年龄 · 保单年度 · 保费 · 户口价值(非保证) · 保额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10515600" cy="13716"/>
          </a:xfrm>
          <a:prstGeom prst="rect">
            <a:avLst/>
          </a:prstGeom>
          <a:solidFill>
            <a:srgbClr val="B0C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71600"/>
          <a:ext cx="10972800" cy="5907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188720"/>
                <a:gridCol w="1645920"/>
                <a:gridCol w="1828800"/>
                <a:gridCol w="2560320"/>
                <a:gridCol w="265176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年龄</a:t>
                      </a:r>
                    </a:p>
                  </a:txBody>
                  <a:tcPr anchor="ctr">
                    <a:solidFill>
                      <a:srgbClr val="1F2D3D"/>
                    </a:solidFill>
                    <a:lnB w="12700">
                      <a:solidFill>
                        <a:srgbClr val="8FA3B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保单年度</a:t>
                      </a:r>
                    </a:p>
                  </a:txBody>
                  <a:tcPr anchor="ctr">
                    <a:solidFill>
                      <a:srgbClr val="1F2D3D"/>
                    </a:solidFill>
                    <a:lnB w="12700">
                      <a:solidFill>
                        <a:srgbClr val="8FA3B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年缴保费 (USD)</a:t>
                      </a:r>
                    </a:p>
                  </a:txBody>
                  <a:tcPr anchor="ctr">
                    <a:solidFill>
                      <a:srgbClr val="1F2D3D"/>
                    </a:solidFill>
                    <a:lnB w="12700">
                      <a:solidFill>
                        <a:srgbClr val="8FA3B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累计已缴 (USD)</a:t>
                      </a:r>
                    </a:p>
                  </a:txBody>
                  <a:tcPr anchor="ctr">
                    <a:solidFill>
                      <a:srgbClr val="1F2D3D"/>
                    </a:solidFill>
                    <a:lnB w="12700">
                      <a:solidFill>
                        <a:srgbClr val="8FA3B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户口价值 非保证(USD)</a:t>
                      </a:r>
                    </a:p>
                  </a:txBody>
                  <a:tcPr anchor="ctr">
                    <a:solidFill>
                      <a:srgbClr val="1F2D3D"/>
                    </a:solidFill>
                    <a:lnB w="12700">
                      <a:solidFill>
                        <a:srgbClr val="8FA3B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保额 (USD)</a:t>
                      </a:r>
                    </a:p>
                  </a:txBody>
                  <a:tcPr anchor="ctr">
                    <a:solidFill>
                      <a:srgbClr val="1F2D3D"/>
                    </a:solidFill>
                    <a:lnB w="12700">
                      <a:solidFill>
                        <a:srgbClr val="8FA3B8"/>
                      </a:solidFill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FA3B8"/>
                          </a:solidFill>
                        </a:defRPr>
                      </a:pPr>
                      <a:r>
                        <a:t>50,300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132,710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FA3B8"/>
                          </a:solidFill>
                        </a:defRPr>
                      </a:pPr>
                      <a:r>
                        <a:t>107,975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199,065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FA3B8"/>
                          </a:solidFill>
                        </a:defRPr>
                      </a:pPr>
                      <a:r>
                        <a:t>169,132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265,420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FA3B8"/>
                          </a:solidFill>
                        </a:defRPr>
                      </a:pPr>
                      <a:r>
                        <a:t>233,981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FA3B8"/>
                          </a:solidFill>
                        </a:defRPr>
                      </a:pPr>
                      <a:r>
                        <a:t>303,508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FA3B8"/>
                          </a:solidFill>
                        </a:defRPr>
                      </a:pPr>
                      <a:r>
                        <a:t>310,920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FA3B8"/>
                          </a:solidFill>
                        </a:defRPr>
                      </a:pPr>
                      <a:r>
                        <a:t>318,574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FA3B8"/>
                          </a:solidFill>
                        </a:defRPr>
                      </a:pPr>
                      <a:r>
                        <a:t>326,469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5A7088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B0C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5A7088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B0C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5A708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B0C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5A7088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B0C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5A7088"/>
                          </a:solidFill>
                        </a:defRPr>
                      </a:pPr>
                      <a:r>
                        <a:t>334,606</a:t>
                      </a:r>
                    </a:p>
                  </a:txBody>
                  <a:tcPr anchor="ctr">
                    <a:solidFill>
                      <a:srgbClr val="B0C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5A7088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B0C0D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FA3B8"/>
                          </a:solidFill>
                        </a:defRPr>
                      </a:pPr>
                      <a:r>
                        <a:t>342,950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65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FA3B8"/>
                          </a:solidFill>
                        </a:defRPr>
                      </a:pPr>
                      <a:r>
                        <a:t>490,561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FA3B8"/>
                          </a:solidFill>
                        </a:defRPr>
                      </a:pPr>
                      <a:r>
                        <a:t>804,423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FA3B8"/>
                          </a:solidFill>
                        </a:defRPr>
                      </a:pPr>
                      <a:r>
                        <a:t>1,201,620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FA3B8"/>
                          </a:solidFill>
                        </a:defRPr>
                      </a:pPr>
                      <a:r>
                        <a:t>1,668,413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FA3B8"/>
                          </a:solidFill>
                        </a:defRPr>
                      </a:pPr>
                      <a:r>
                        <a:t>3,013,873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3,013,873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115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FA3B8"/>
                          </a:solidFill>
                        </a:defRPr>
                      </a:pPr>
                      <a:r>
                        <a:t>5,774,545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2A3A"/>
                          </a:solidFill>
                        </a:defRPr>
                      </a:pPr>
                      <a:r>
                        <a:t>5,774,545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7351776"/>
            <a:ext cx="1051560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7351776"/>
            <a:ext cx="1033272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3A4A5A"/>
                </a:solidFill>
                <a:latin typeface="Calibri"/>
                <a:ea typeface="STHeiti Medium"/>
              </a:rPr>
              <a:t>总缴保费: USD 331,775  预期回本年度: 第9年  末年倍数: 17.4x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671816"/>
            <a:ext cx="10972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6A7A8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8F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1F2D3D"/>
                </a:solidFill>
                <a:latin typeface="Calibri"/>
                <a:ea typeface="STHeiti Medium"/>
              </a:rPr>
              <a:t>CLIFE  |  中国人寿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A7A8A"/>
                </a:solidFill>
                <a:latin typeface="Calibri"/>
                <a:ea typeface="STHeiti Medium"/>
              </a:rPr>
              <a:t>16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1A2A3A"/>
                </a:solidFill>
                <a:latin typeface="Calibri"/>
                <a:ea typeface="STHeiti Medium"/>
              </a:rPr>
              <a:t>重要事项声明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6A7A8A"/>
                </a:solidFill>
                <a:latin typeface="Calibri"/>
                <a:ea typeface="STHeiti Medium"/>
              </a:rPr>
              <a:t>Important Notes · 客户须知的风险与限制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5577840" cy="502920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8FA3B8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AFBFC"/>
                </a:solidFill>
                <a:latin typeface="Calibri"/>
                <a:ea typeface="STHeiti Medium"/>
              </a:rPr>
              <a:t>非保证利益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A4A5A"/>
                </a:solidFill>
                <a:latin typeface="Calibri"/>
                <a:ea typeface="STHeiti Medium"/>
              </a:rPr>
              <a:t>本计划所演示之非保证金额（包括复归红利及终期分红）乃基于现时假设投资回报计算，并非保证。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A4A5A"/>
                </a:solidFill>
                <a:latin typeface="Calibri"/>
                <a:ea typeface="STHeiti Medium"/>
              </a:rPr>
              <a:t>实际金额或会因投资市场波动而调整，在某些情况下非保证金额可能为零。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828800"/>
            <a:ext cx="5577840" cy="502920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8FA3B8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AFBFC"/>
                </a:solidFill>
                <a:latin typeface="Calibri"/>
                <a:ea typeface="STHeiti Medium"/>
              </a:rPr>
              <a:t>汇率风险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A4A5A"/>
                </a:solidFill>
                <a:latin typeface="Calibri"/>
                <a:ea typeface="STHeiti Medium"/>
              </a:rPr>
              <a:t>若以保单货币（美元）以外的其他货币支付保费或收取利益，将按本公司不时厘定的汇率兑换。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A4A5A"/>
                </a:solidFill>
                <a:latin typeface="Calibri"/>
                <a:ea typeface="STHeiti Medium"/>
              </a:rPr>
              <a:t>外币汇率波动可能影响实际支付金额。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31920"/>
            <a:ext cx="5577840" cy="502920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8FA3B8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AFBFC"/>
                </a:solidFill>
                <a:latin typeface="Calibri"/>
                <a:ea typeface="STHeiti Medium"/>
              </a:rPr>
              <a:t>提领限制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A4A5A"/>
                </a:solidFill>
                <a:latin typeface="Calibri"/>
                <a:ea typeface="STHeiti Medium"/>
              </a:rPr>
              <a:t>现金提取须符合本公司最低投保单位要求；若提取导致投保单位低于最低要求，则不可提取。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A4A5A"/>
                </a:solidFill>
                <a:latin typeface="Calibri"/>
                <a:ea typeface="STHeiti Medium"/>
              </a:rPr>
              <a:t>所演示之提取金额基于非保证红利与分红，未必可维持。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931920"/>
            <a:ext cx="5577840" cy="502920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8FA3B8"/>
                </a:solidFill>
                <a:latin typeface="Calibri"/>
                <a:ea typeface="STHeiti Medium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AFBFC"/>
                </a:solidFill>
                <a:latin typeface="Calibri"/>
                <a:ea typeface="STHeiti Medium"/>
              </a:rPr>
              <a:t>通胀风险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A4A5A"/>
                </a:solidFill>
                <a:latin typeface="Calibri"/>
                <a:ea typeface="STHeiti Medium"/>
              </a:rPr>
              <a:t>未来生活成本可能因通胀而上升；本计划之金额为名义金额，未必能完全追上通胀。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A4A5A"/>
                </a:solidFill>
                <a:latin typeface="Calibri"/>
                <a:ea typeface="STHeiti Medium"/>
              </a:rPr>
              <a:t>建议结合其他投资工具作综合规划。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943600"/>
            <a:ext cx="112772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943600"/>
            <a:ext cx="73152" cy="64008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98932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1A2A3A"/>
                </a:solidFill>
                <a:latin typeface="Calibri"/>
                <a:ea typeface="STHeiti Medium"/>
              </a:rPr>
              <a:t>完整条款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3A4A5A"/>
                </a:solidFill>
                <a:latin typeface="Calibri"/>
                <a:ea typeface="STHeiti Medium"/>
              </a:rPr>
              <a:t>本文件不包含完整的计划条款，详情参阅保单文件及主要产品推销刊物。阁下应向持牌保险中介人查询。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8F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1F2D3D"/>
                </a:solidFill>
                <a:latin typeface="Calibri"/>
                <a:ea typeface="STHeiti Medium"/>
              </a:rPr>
              <a:t>CLIFE  |  中国人寿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A7A8A"/>
                </a:solidFill>
                <a:latin typeface="Calibri"/>
                <a:ea typeface="STHeiti Medium"/>
              </a:rPr>
              <a:t>17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1A2A3A"/>
                </a:solidFill>
                <a:latin typeface="Calibri"/>
                <a:ea typeface="STHeiti Medium"/>
              </a:rPr>
              <a:t>总结与建议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6A7A8A"/>
                </a:solidFill>
                <a:latin typeface="Calibri"/>
                <a:ea typeface="STHeiti Medium"/>
              </a:rPr>
              <a:t>Summary &amp;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3657600" cy="640080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AFBFC"/>
                </a:solidFill>
                <a:latin typeface="Calibri"/>
                <a:ea typeface="STHeiti Mediu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AFBFC"/>
                </a:solidFill>
                <a:latin typeface="Calibri"/>
                <a:ea typeface="STHeiti Medium"/>
              </a:rPr>
              <a:t>短期供款 · 终身受惠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A4A5A"/>
                </a:solidFill>
                <a:latin typeface="Calibri"/>
                <a:ea typeface="STHeiti Medium"/>
              </a:rPr>
              <a:t>5 年缴清 USD 500,000，后续无需再缴费。</a:t>
            </a:r>
          </a:p>
          <a:p>
            <a:pPr algn="l"/>
            <a:r>
              <a:rPr sz="1000" b="0">
                <a:solidFill>
                  <a:srgbClr val="3A4A5A"/>
                </a:solidFill>
                <a:latin typeface="Calibri"/>
                <a:ea typeface="STHeiti Medium"/>
              </a:rPr>
              <a:t>保单持续滚存至 128 岁，长期复利效应明显。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1F2D3D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6A7A8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828800"/>
            <a:ext cx="3657600" cy="640080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AFBFC"/>
                </a:solidFill>
                <a:latin typeface="Calibri"/>
                <a:ea typeface="STHeiti Medium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AFBFC"/>
                </a:solidFill>
                <a:latin typeface="Calibri"/>
                <a:ea typeface="STHeiti Medium"/>
              </a:rPr>
              <a:t>稳健回本 · 风险可控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A4A5A"/>
                </a:solidFill>
                <a:latin typeface="Calibri"/>
                <a:ea typeface="STHeiti Medium"/>
              </a:rPr>
              <a:t>保单第 — 年回本（退保现价 &gt; 已缴保费）。</a:t>
            </a:r>
          </a:p>
          <a:p>
            <a:pPr algn="l"/>
            <a:r>
              <a:rPr sz="1000" b="0">
                <a:solidFill>
                  <a:srgbClr val="3A4A5A"/>
                </a:solidFill>
                <a:latin typeface="Calibri"/>
                <a:ea typeface="STHeiti Medium"/>
              </a:rPr>
              <a:t>Y30 约 USD 2,927,384。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1F2D3D"/>
                </a:solidFill>
                <a:latin typeface="Calibri"/>
                <a:ea typeface="STHeiti Medium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6A7A8A"/>
                </a:solidFill>
                <a:latin typeface="Calibri"/>
                <a:ea typeface="STHeiti Medium"/>
              </a:rPr>
              <a:t>回本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1828800"/>
            <a:ext cx="3657600" cy="640080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AFBFC"/>
                </a:solidFill>
                <a:latin typeface="Calibri"/>
                <a:ea typeface="STHeiti Medium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AFBFC"/>
                </a:solidFill>
                <a:latin typeface="Calibri"/>
                <a:ea typeface="STHeiti Medium"/>
              </a:rPr>
              <a:t>灵活提领 · 教育无忧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A4A5A"/>
                </a:solidFill>
                <a:latin typeface="Calibri"/>
                <a:ea typeface="STHeiti Medium"/>
              </a:rPr>
              <a:t>Y6 起每年提取 USD 30,000，覆盖小学到大学。</a:t>
            </a:r>
          </a:p>
          <a:p>
            <a:pPr algn="l"/>
            <a:r>
              <a:rPr sz="1000" b="0">
                <a:solidFill>
                  <a:srgbClr val="3A4A5A"/>
                </a:solidFill>
                <a:latin typeface="Calibri"/>
                <a:ea typeface="STHeiti Medium"/>
              </a:rPr>
              <a:t>Y20 累计提取 USD 450,009，本金仍持续滚存。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1F2D3D"/>
                </a:solidFill>
                <a:latin typeface="Calibri"/>
                <a:ea typeface="STHeiti Medium"/>
              </a:rPr>
              <a:t>30K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6A7A8A"/>
                </a:solidFill>
                <a:latin typeface="Calibri"/>
                <a:ea typeface="STHeiti Medium"/>
              </a:rPr>
              <a:t>年提取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94960"/>
            <a:ext cx="11277295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394960"/>
            <a:ext cx="73152" cy="12801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4406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综合建议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76072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A4A5A"/>
                </a:solidFill>
                <a:latin typeface="Calibri"/>
                <a:ea typeface="STHeiti Medium"/>
              </a:rPr>
              <a:t>本计划适合具备 5 年供款能力、追求稳健长期财富传承、且有子女教育金规划需求的高净值家庭。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A4A5A"/>
                </a:solidFill>
                <a:latin typeface="Calibri"/>
                <a:ea typeface="STHeiti Medium"/>
              </a:rPr>
              <a:t>· 短期供款压力适中  ·  长期复利跨越代际  ·  提领方案精准对接教育节点  ·  兼顾传承与流动性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A7A8A"/>
                </a:solidFill>
                <a:latin typeface="Calibri"/>
                <a:ea typeface="STHeiti Medium"/>
              </a:rPr>
              <a:t>实际收益取决于投资市场表现，建议结合整体资产配置作综合考虑。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8F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>
                <a:solidFill>
                  <a:srgbClr val="8FA3B8"/>
                </a:solidFill>
                <a:latin typeface="Calibri"/>
                <a:ea typeface="STHeiti Medium"/>
              </a:rPr>
              <a:t>CLIFE  |  中国人寿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8229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000" b="1">
                <a:solidFill>
                  <a:srgbClr val="FAFBFC"/>
                </a:solidFill>
                <a:latin typeface="Calibri"/>
                <a:ea typeface="STHeiti Medium"/>
              </a:rPr>
              <a:t>一份规划，三重守护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1277295" cy="8229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>
                <a:solidFill>
                  <a:srgbClr val="8FA3B8"/>
                </a:solidFill>
                <a:latin typeface="Calibri"/>
                <a:ea typeface="STHeiti Medium"/>
              </a:rPr>
              <a:t>现金流 + 保障 + 杠杆 · 完整的家庭财务规划</a:t>
            </a:r>
          </a:p>
        </p:txBody>
      </p:sp>
      <p:sp>
        <p:nvSpPr>
          <p:cNvPr id="7" name="Rectangle 6"/>
          <p:cNvSpPr/>
          <p:nvPr/>
        </p:nvSpPr>
        <p:spPr>
          <a:xfrm>
            <a:off x="5641848" y="3566160"/>
            <a:ext cx="914400" cy="36576"/>
          </a:xfrm>
          <a:prstGeom prst="rect">
            <a:avLst/>
          </a:prstGeom>
          <a:solidFill>
            <a:srgbClr val="8F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11277295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0">
                <a:solidFill>
                  <a:srgbClr val="FAFBFC"/>
                </a:solidFill>
                <a:latin typeface="Calibri"/>
                <a:ea typeface="STHeiti Medium"/>
              </a:rPr>
              <a:t>—— 致 VIP 与家人  ——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8F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B0C0D0"/>
                </a:solidFill>
                <a:latin typeface="Calibri"/>
                <a:ea typeface="STHeiti Medium"/>
              </a:rPr>
              <a:t>本演示基于保险公司官方计划书数据生成 · 实际保单条款以保单文件为准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800" b="0">
                <a:solidFill>
                  <a:srgbClr val="B0C0D0"/>
                </a:solidFill>
                <a:latin typeface="Calibri"/>
                <a:ea typeface="STHeiti Medium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