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</c:v>
                </c:pt>
                <c:pt idx="1">
                  <c:v>53000</c:v>
                </c:pt>
                <c:pt idx="2">
                  <c:v>145400</c:v>
                </c:pt>
                <c:pt idx="3">
                  <c:v>262600</c:v>
                </c:pt>
                <c:pt idx="4">
                  <c:v>1058840</c:v>
                </c:pt>
                <c:pt idx="5">
                  <c:v>1141020</c:v>
                </c:pt>
                <c:pt idx="6">
                  <c:v>1187820</c:v>
                </c:pt>
                <c:pt idx="7">
                  <c:v>1235460</c:v>
                </c:pt>
                <c:pt idx="8">
                  <c:v>1283780</c:v>
                </c:pt>
                <c:pt idx="9">
                  <c:v>1379880</c:v>
                </c:pt>
                <c:pt idx="10">
                  <c:v>1483600</c:v>
                </c:pt>
                <c:pt idx="11">
                  <c:v>1596200</c:v>
                </c:pt>
                <c:pt idx="12">
                  <c:v>1719200</c:v>
                </c:pt>
                <c:pt idx="13">
                  <c:v>1853360</c:v>
                </c:pt>
                <c:pt idx="14">
                  <c:v>2000000</c:v>
                </c:pt>
                <c:pt idx="15">
                  <c:v>2048620</c:v>
                </c:pt>
                <c:pt idx="16">
                  <c:v>2095480</c:v>
                </c:pt>
                <c:pt idx="17">
                  <c:v>2140140</c:v>
                </c:pt>
                <c:pt idx="18">
                  <c:v>2160620</c:v>
                </c:pt>
                <c:pt idx="19">
                  <c:v>2175360</c:v>
                </c:pt>
                <c:pt idx="20">
                  <c:v>2190200</c:v>
                </c:pt>
                <c:pt idx="21">
                  <c:v>2205140</c:v>
                </c:pt>
                <c:pt idx="22">
                  <c:v>2220180</c:v>
                </c:pt>
                <c:pt idx="23">
                  <c:v>2235320</c:v>
                </c:pt>
                <c:pt idx="24">
                  <c:v>2250580</c:v>
                </c:pt>
                <c:pt idx="25">
                  <c:v>2265940</c:v>
                </c:pt>
                <c:pt idx="26">
                  <c:v>2281400</c:v>
                </c:pt>
                <c:pt idx="27">
                  <c:v>2296960</c:v>
                </c:pt>
                <c:pt idx="28">
                  <c:v>2312660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160000</c:v>
                </c:pt>
                <c:pt idx="1">
                  <c:v>334704</c:v>
                </c:pt>
                <c:pt idx="2">
                  <c:v>525463</c:v>
                </c:pt>
                <c:pt idx="3">
                  <c:v>733753</c:v>
                </c:pt>
                <c:pt idx="4">
                  <c:v>941185</c:v>
                </c:pt>
                <c:pt idx="5">
                  <c:v>1035480</c:v>
                </c:pt>
                <c:pt idx="6">
                  <c:v>1138441</c:v>
                </c:pt>
                <c:pt idx="7">
                  <c:v>1250864</c:v>
                </c:pt>
                <c:pt idx="8">
                  <c:v>1373618</c:v>
                </c:pt>
                <c:pt idx="9">
                  <c:v>1507653</c:v>
                </c:pt>
                <c:pt idx="10">
                  <c:v>1654007</c:v>
                </c:pt>
                <c:pt idx="11">
                  <c:v>1813148</c:v>
                </c:pt>
                <c:pt idx="12">
                  <c:v>1985401</c:v>
                </c:pt>
                <c:pt idx="13">
                  <c:v>2172086</c:v>
                </c:pt>
                <c:pt idx="14">
                  <c:v>2374070</c:v>
                </c:pt>
                <c:pt idx="15">
                  <c:v>2592687</c:v>
                </c:pt>
                <c:pt idx="16">
                  <c:v>2829422</c:v>
                </c:pt>
                <c:pt idx="17">
                  <c:v>3085645</c:v>
                </c:pt>
                <c:pt idx="18">
                  <c:v>3384462</c:v>
                </c:pt>
                <c:pt idx="19">
                  <c:v>3732791</c:v>
                </c:pt>
                <c:pt idx="20">
                  <c:v>4252058</c:v>
                </c:pt>
                <c:pt idx="21">
                  <c:v>4832116</c:v>
                </c:pt>
                <c:pt idx="22">
                  <c:v>5379571</c:v>
                </c:pt>
                <c:pt idx="23">
                  <c:v>5974949</c:v>
                </c:pt>
                <c:pt idx="24">
                  <c:v>6614200</c:v>
                </c:pt>
                <c:pt idx="25">
                  <c:v>7427792</c:v>
                </c:pt>
                <c:pt idx="26">
                  <c:v>8042425</c:v>
                </c:pt>
                <c:pt idx="27">
                  <c:v>8697914</c:v>
                </c:pt>
                <c:pt idx="28">
                  <c:v>9396881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160000</c:v>
                </c:pt>
                <c:pt idx="1">
                  <c:v>387704</c:v>
                </c:pt>
                <c:pt idx="2">
                  <c:v>670863</c:v>
                </c:pt>
                <c:pt idx="3">
                  <c:v>996353</c:v>
                </c:pt>
                <c:pt idx="4">
                  <c:v>2000025</c:v>
                </c:pt>
                <c:pt idx="5">
                  <c:v>2176500</c:v>
                </c:pt>
                <c:pt idx="6">
                  <c:v>2326261</c:v>
                </c:pt>
                <c:pt idx="7">
                  <c:v>2486324</c:v>
                </c:pt>
                <c:pt idx="8">
                  <c:v>2657398</c:v>
                </c:pt>
                <c:pt idx="9">
                  <c:v>2887533</c:v>
                </c:pt>
                <c:pt idx="10">
                  <c:v>3137607</c:v>
                </c:pt>
                <c:pt idx="11">
                  <c:v>3409348</c:v>
                </c:pt>
                <c:pt idx="12">
                  <c:v>3704601</c:v>
                </c:pt>
                <c:pt idx="13">
                  <c:v>4025446</c:v>
                </c:pt>
                <c:pt idx="14">
                  <c:v>4374070</c:v>
                </c:pt>
                <c:pt idx="15">
                  <c:v>4641307</c:v>
                </c:pt>
                <c:pt idx="16">
                  <c:v>4924902</c:v>
                </c:pt>
                <c:pt idx="17">
                  <c:v>5225785</c:v>
                </c:pt>
                <c:pt idx="18">
                  <c:v>5545082</c:v>
                </c:pt>
                <c:pt idx="19">
                  <c:v>5908151</c:v>
                </c:pt>
                <c:pt idx="20">
                  <c:v>6442258</c:v>
                </c:pt>
                <c:pt idx="21">
                  <c:v>7037256</c:v>
                </c:pt>
                <c:pt idx="22">
                  <c:v>7599751</c:v>
                </c:pt>
                <c:pt idx="23">
                  <c:v>8210269</c:v>
                </c:pt>
                <c:pt idx="24">
                  <c:v>8864780</c:v>
                </c:pt>
                <c:pt idx="25">
                  <c:v>9693732</c:v>
                </c:pt>
                <c:pt idx="26">
                  <c:v>10323825</c:v>
                </c:pt>
                <c:pt idx="27">
                  <c:v>10994874</c:v>
                </c:pt>
                <c:pt idx="28">
                  <c:v>11709541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Sheet1!$A$2:$A$8</c:f>
              <c:strCache>
                <c:ptCount val="7"/>
                <c:pt idx="0">
                  <c:v>Y15
(72岁)</c:v>
                </c:pt>
                <c:pt idx="1">
                  <c:v>Y20
(77岁)</c:v>
                </c:pt>
                <c:pt idx="2">
                  <c:v>Y25
(82岁)</c:v>
                </c:pt>
                <c:pt idx="3">
                  <c:v>Y30
(87岁)</c:v>
                </c:pt>
                <c:pt idx="4">
                  <c:v>Y31
(88岁)</c:v>
                </c:pt>
                <c:pt idx="5">
                  <c:v>Y41
(98岁)</c:v>
                </c:pt>
                <c:pt idx="6">
                  <c:v>Y51
(108岁)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4025446</c:v>
                </c:pt>
                <c:pt idx="1">
                  <c:v>5545082</c:v>
                </c:pt>
                <c:pt idx="2">
                  <c:v>8210269</c:v>
                </c:pt>
                <c:pt idx="3">
                  <c:v>11709541</c:v>
                </c:pt>
                <c:pt idx="4">
                  <c:v>12470661</c:v>
                </c:pt>
                <c:pt idx="5">
                  <c:v>23409145</c:v>
                </c:pt>
                <c:pt idx="6">
                  <c:v>43942183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Sheet1!$A$2:$A$8</c:f>
              <c:strCache>
                <c:ptCount val="7"/>
                <c:pt idx="0">
                  <c:v>Y15
(72岁)</c:v>
                </c:pt>
                <c:pt idx="1">
                  <c:v>Y20
(77岁)</c:v>
                </c:pt>
                <c:pt idx="2">
                  <c:v>Y25
(82岁)</c:v>
                </c:pt>
                <c:pt idx="3">
                  <c:v>Y30
(87岁)</c:v>
                </c:pt>
                <c:pt idx="4">
                  <c:v>Y31
(88岁)</c:v>
                </c:pt>
                <c:pt idx="5">
                  <c:v>Y41
(98岁)</c:v>
                </c:pt>
                <c:pt idx="6">
                  <c:v>Y51
(108岁)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3133592</c:v>
                </c:pt>
                <c:pt idx="1">
                  <c:v>3666053</c:v>
                </c:pt>
                <c:pt idx="2">
                  <c:v>4146503</c:v>
                </c:pt>
                <c:pt idx="3">
                  <c:v>4413276</c:v>
                </c:pt>
                <c:pt idx="4">
                  <c:v>4433455</c:v>
                </c:pt>
                <c:pt idx="5">
                  <c:v>9190772</c:v>
                </c:pt>
                <c:pt idx="6">
                  <c:v>11220101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7884366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宏挚家传承保险计划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400,000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受保人：VIP（58岁）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新加坡宏利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732846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宏挚家传承保险计划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投资相连险(ILPs) — 环球顶级基金直通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全生命周期退休年金 — DBS独家银保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大额身故保障与保单融资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家族办公室与信托统筹方案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母公司宏利金融创立于1887年（加拿大）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AA- / Moody's A1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1898年签发新加坡首张保单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新加坡D-SII系统重要性寿险公司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5,545,082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11,709,541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5,545,082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11,709,541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62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262,600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733,753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996,353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1,283,780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1,373,618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2,657,398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1,853,360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2,172,086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4,025,446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2,160,620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3,384,462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5,545,082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8.86%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2,235,320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5,974,949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8,210,269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2,312,660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9,396,881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11,709,541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2,391,420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13,651,665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16,043,085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2,472,880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19,507,538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21,980,418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38,620,266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41,260,266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2,829,960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74,621,231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77,451,191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2,000,000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11（68 岁）起 · 每年提取 USD 200,000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2,241,383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2,441,383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2,133,592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3,133,592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3.78%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1,666,053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3,666,053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1,146,503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4,146,503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4.29%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413,276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4,413,276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3,017,824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8,017,824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8.60%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2,996,015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8,996,015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3,005,187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11,005,187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3,301,423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13,301,423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10,400,000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3,408,347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13,808,347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9.52%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Y11 起每年提取 USD 200,000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养老金现金流 · 与退休年龄节点结合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11（68 岁）起每年提取 USD 200,000 · 退休生活从容有品质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60-65岁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退休初期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C8963E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200K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环球旅行/兴趣爱好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65-75岁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活跃养老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Y11-Y18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1,600,000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200K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品质生活/健康管理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1,896,844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75-85岁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稳健养老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Y18-Y28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3,600,000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200K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医疗护理/居家服务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747,791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85-95岁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享老晚年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Y28-Y38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5,600,000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200K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专业照护/尊严养老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3,005,571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95+岁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财富传承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Y38-Y62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10,400,000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200K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遗产规划/代际传承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3,408,347</a:t>
            </a:r>
          </a:p>
        </p:txBody>
      </p:sp>
      <p:pic>
        <p:nvPicPr>
          <p:cNvPr id="65" name="Picture 64" descr="family-outdoor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senior-lif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senior-travel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从 68 岁开始每年领取 US$200,000 → 退休收入稳定补充 → 剩余价值持续滚存 → 财富代际传承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所有数据均直接源自宏利官方计划书原文（pdfplumber按列精确提取）；如需进一步核验，可逐项对照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2,000,000，后续无需再缴费。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11,709,541。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Y11 起每年提取 USD 200,000，覆盖小学到大学。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2,000,000，本金仍持续滚存。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200K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58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本演示基于宏利官方计划书数据生成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