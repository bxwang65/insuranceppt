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保证现价 (USD)</c:v>
                </c:pt>
              </c:strCache>
            </c:strRef>
          </c:tx>
          <c:spPr>
            <a:solidFill>
              <a:srgbClr val="0D1B2A"/>
            </a:solidFill>
          </c:spPr>
          <c:cat>
            <c:strRef>
              <c:f>Sheet1!$A$2:$A$30</c:f>
              <c:strCache>
                <c:ptCount val="29"/>
                <c:pt idx="0">
                  <c:v>Y2
(59岁)</c:v>
                </c:pt>
                <c:pt idx="1">
                  <c:v>Y3
(60岁)</c:v>
                </c:pt>
                <c:pt idx="2">
                  <c:v>Y4
(61岁)</c:v>
                </c:pt>
                <c:pt idx="3">
                  <c:v>Y5
(62岁)</c:v>
                </c:pt>
                <c:pt idx="4">
                  <c:v>Y6
(63岁)</c:v>
                </c:pt>
                <c:pt idx="5">
                  <c:v>Y7
(64岁)</c:v>
                </c:pt>
                <c:pt idx="6">
                  <c:v>Y8
(65岁)</c:v>
                </c:pt>
                <c:pt idx="7">
                  <c:v>Y9
(66岁)</c:v>
                </c:pt>
                <c:pt idx="8">
                  <c:v>Y10
(67岁)</c:v>
                </c:pt>
                <c:pt idx="9">
                  <c:v>Y11
(68岁)</c:v>
                </c:pt>
                <c:pt idx="10">
                  <c:v>Y12
(69岁)</c:v>
                </c:pt>
                <c:pt idx="11">
                  <c:v>Y13
(70岁)</c:v>
                </c:pt>
                <c:pt idx="12">
                  <c:v>Y14
(71岁)</c:v>
                </c:pt>
                <c:pt idx="13">
                  <c:v>Y15
(72岁)</c:v>
                </c:pt>
                <c:pt idx="14">
                  <c:v>Y16
(73岁)</c:v>
                </c:pt>
                <c:pt idx="15">
                  <c:v>Y17
(74岁)</c:v>
                </c:pt>
                <c:pt idx="16">
                  <c:v>Y18
(75岁)</c:v>
                </c:pt>
                <c:pt idx="17">
                  <c:v>Y19
(76岁)</c:v>
                </c:pt>
                <c:pt idx="18">
                  <c:v>Y20
(77岁)</c:v>
                </c:pt>
                <c:pt idx="19">
                  <c:v>Y21
(78岁)</c:v>
                </c:pt>
                <c:pt idx="20">
                  <c:v>Y22
(79岁)</c:v>
                </c:pt>
                <c:pt idx="21">
                  <c:v>Y23
(80岁)</c:v>
                </c:pt>
                <c:pt idx="22">
                  <c:v>Y24
(81岁)</c:v>
                </c:pt>
                <c:pt idx="23">
                  <c:v>Y25
(82岁)</c:v>
                </c:pt>
                <c:pt idx="24">
                  <c:v>Y26
(83岁)</c:v>
                </c:pt>
                <c:pt idx="25">
                  <c:v>Y27
(84岁)</c:v>
                </c:pt>
                <c:pt idx="26">
                  <c:v>Y28
(85岁)</c:v>
                </c:pt>
                <c:pt idx="27">
                  <c:v>Y29
(86岁)</c:v>
                </c:pt>
                <c:pt idx="28">
                  <c:v>Y30
(87岁)</c:v>
                </c:pt>
              </c:strCache>
            </c:strRef>
          </c:cat>
          <c:val>
            <c:numRef>
              <c:f>Sheet1!$B$2:$B$30</c:f>
              <c:numCache>
                <c:formatCode>General</c:formatCode>
                <c:ptCount val="29"/>
                <c:pt idx="0">
                  <c:v>5000</c:v>
                </c:pt>
                <c:pt idx="1">
                  <c:v>25000</c:v>
                </c:pt>
                <c:pt idx="2">
                  <c:v>50000</c:v>
                </c:pt>
                <c:pt idx="3">
                  <c:v>125000</c:v>
                </c:pt>
                <c:pt idx="4">
                  <c:v>240000</c:v>
                </c:pt>
                <c:pt idx="5">
                  <c:v>260000</c:v>
                </c:pt>
                <c:pt idx="6">
                  <c:v>275000</c:v>
                </c:pt>
                <c:pt idx="7">
                  <c:v>282500</c:v>
                </c:pt>
                <c:pt idx="8">
                  <c:v>300000</c:v>
                </c:pt>
                <c:pt idx="9">
                  <c:v>323750</c:v>
                </c:pt>
                <c:pt idx="10">
                  <c:v>341250</c:v>
                </c:pt>
                <c:pt idx="11">
                  <c:v>362500</c:v>
                </c:pt>
                <c:pt idx="12">
                  <c:v>385000</c:v>
                </c:pt>
                <c:pt idx="13">
                  <c:v>408750</c:v>
                </c:pt>
                <c:pt idx="14">
                  <c:v>437500</c:v>
                </c:pt>
                <c:pt idx="15">
                  <c:v>470000</c:v>
                </c:pt>
                <c:pt idx="16">
                  <c:v>500000</c:v>
                </c:pt>
                <c:pt idx="17">
                  <c:v>530000</c:v>
                </c:pt>
                <c:pt idx="18">
                  <c:v>540000</c:v>
                </c:pt>
                <c:pt idx="19">
                  <c:v>545920</c:v>
                </c:pt>
                <c:pt idx="20">
                  <c:v>549470</c:v>
                </c:pt>
                <c:pt idx="21">
                  <c:v>553040</c:v>
                </c:pt>
                <c:pt idx="22">
                  <c:v>556635</c:v>
                </c:pt>
                <c:pt idx="23">
                  <c:v>560255</c:v>
                </c:pt>
                <c:pt idx="24">
                  <c:v>563895</c:v>
                </c:pt>
                <c:pt idx="25">
                  <c:v>567560</c:v>
                </c:pt>
                <c:pt idx="26">
                  <c:v>571250</c:v>
                </c:pt>
                <c:pt idx="27">
                  <c:v>574960</c:v>
                </c:pt>
                <c:pt idx="28">
                  <c:v>578700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非保证红利/分红 (USD)</c:v>
                </c:pt>
              </c:strCache>
            </c:strRef>
          </c:tx>
          <c:spPr>
            <a:solidFill>
              <a:srgbClr val="C8963E"/>
            </a:solidFill>
          </c:spPr>
          <c:cat>
            <c:strRef>
              <c:f>Sheet1!$A$2:$A$30</c:f>
              <c:strCache>
                <c:ptCount val="29"/>
                <c:pt idx="0">
                  <c:v>Y2
(59岁)</c:v>
                </c:pt>
                <c:pt idx="1">
                  <c:v>Y3
(60岁)</c:v>
                </c:pt>
                <c:pt idx="2">
                  <c:v>Y4
(61岁)</c:v>
                </c:pt>
                <c:pt idx="3">
                  <c:v>Y5
(62岁)</c:v>
                </c:pt>
                <c:pt idx="4">
                  <c:v>Y6
(63岁)</c:v>
                </c:pt>
                <c:pt idx="5">
                  <c:v>Y7
(64岁)</c:v>
                </c:pt>
                <c:pt idx="6">
                  <c:v>Y8
(65岁)</c:v>
                </c:pt>
                <c:pt idx="7">
                  <c:v>Y9
(66岁)</c:v>
                </c:pt>
                <c:pt idx="8">
                  <c:v>Y10
(67岁)</c:v>
                </c:pt>
                <c:pt idx="9">
                  <c:v>Y11
(68岁)</c:v>
                </c:pt>
                <c:pt idx="10">
                  <c:v>Y12
(69岁)</c:v>
                </c:pt>
                <c:pt idx="11">
                  <c:v>Y13
(70岁)</c:v>
                </c:pt>
                <c:pt idx="12">
                  <c:v>Y14
(71岁)</c:v>
                </c:pt>
                <c:pt idx="13">
                  <c:v>Y15
(72岁)</c:v>
                </c:pt>
                <c:pt idx="14">
                  <c:v>Y16
(73岁)</c:v>
                </c:pt>
                <c:pt idx="15">
                  <c:v>Y17
(74岁)</c:v>
                </c:pt>
                <c:pt idx="16">
                  <c:v>Y18
(75岁)</c:v>
                </c:pt>
                <c:pt idx="17">
                  <c:v>Y19
(76岁)</c:v>
                </c:pt>
                <c:pt idx="18">
                  <c:v>Y20
(77岁)</c:v>
                </c:pt>
                <c:pt idx="19">
                  <c:v>Y21
(78岁)</c:v>
                </c:pt>
                <c:pt idx="20">
                  <c:v>Y22
(79岁)</c:v>
                </c:pt>
                <c:pt idx="21">
                  <c:v>Y23
(80岁)</c:v>
                </c:pt>
                <c:pt idx="22">
                  <c:v>Y24
(81岁)</c:v>
                </c:pt>
                <c:pt idx="23">
                  <c:v>Y25
(82岁)</c:v>
                </c:pt>
                <c:pt idx="24">
                  <c:v>Y26
(83岁)</c:v>
                </c:pt>
                <c:pt idx="25">
                  <c:v>Y27
(84岁)</c:v>
                </c:pt>
                <c:pt idx="26">
                  <c:v>Y28
(85岁)</c:v>
                </c:pt>
                <c:pt idx="27">
                  <c:v>Y29
(86岁)</c:v>
                </c:pt>
                <c:pt idx="28">
                  <c:v>Y30
(87岁)</c:v>
                </c:pt>
              </c:strCache>
            </c:strRef>
          </c:cat>
          <c:val>
            <c:numRef>
              <c:f>Sheet1!$C$2:$C$30</c:f>
              <c:numCache>
                <c:formatCode>General</c:formatCode>
                <c:ptCount val="29"/>
                <c:pt idx="0">
                  <c:v>40000</c:v>
                </c:pt>
                <c:pt idx="1">
                  <c:v>83676</c:v>
                </c:pt>
                <c:pt idx="2">
                  <c:v>131366</c:v>
                </c:pt>
                <c:pt idx="3">
                  <c:v>180938</c:v>
                </c:pt>
                <c:pt idx="4">
                  <c:v>260067</c:v>
                </c:pt>
                <c:pt idx="5">
                  <c:v>297919</c:v>
                </c:pt>
                <c:pt idx="6">
                  <c:v>345602</c:v>
                </c:pt>
                <c:pt idx="7">
                  <c:v>380684</c:v>
                </c:pt>
                <c:pt idx="8">
                  <c:v>400698</c:v>
                </c:pt>
                <c:pt idx="9">
                  <c:v>471151</c:v>
                </c:pt>
                <c:pt idx="10">
                  <c:v>519809</c:v>
                </c:pt>
                <c:pt idx="11">
                  <c:v>574250</c:v>
                </c:pt>
                <c:pt idx="12">
                  <c:v>606994</c:v>
                </c:pt>
                <c:pt idx="13">
                  <c:v>643504</c:v>
                </c:pt>
                <c:pt idx="14">
                  <c:v>676566</c:v>
                </c:pt>
                <c:pt idx="15">
                  <c:v>713985</c:v>
                </c:pt>
                <c:pt idx="16">
                  <c:v>761088</c:v>
                </c:pt>
                <c:pt idx="17">
                  <c:v>818586</c:v>
                </c:pt>
                <c:pt idx="18">
                  <c:v>892050</c:v>
                </c:pt>
                <c:pt idx="19">
                  <c:v>972131</c:v>
                </c:pt>
                <c:pt idx="20">
                  <c:v>1059734</c:v>
                </c:pt>
                <c:pt idx="21">
                  <c:v>1152795</c:v>
                </c:pt>
                <c:pt idx="22">
                  <c:v>1251935</c:v>
                </c:pt>
                <c:pt idx="23">
                  <c:v>1356920</c:v>
                </c:pt>
                <c:pt idx="24">
                  <c:v>1468550</c:v>
                </c:pt>
                <c:pt idx="25">
                  <c:v>1587284</c:v>
                </c:pt>
                <c:pt idx="26">
                  <c:v>1719579</c:v>
                </c:pt>
                <c:pt idx="27">
                  <c:v>1867602</c:v>
                </c:pt>
                <c:pt idx="28">
                  <c:v>2028043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  <a:latin typeface="STHeiti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#,##0,,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solidFill>
                <a:srgbClr val="1A2A3A"/>
              </a:solidFill>
              <a:latin typeface="STHeiti Medium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退保发还总额 (USD)</c:v>
                </c:pt>
              </c:strCache>
            </c:strRef>
          </c:tx>
          <c:spPr>
            <a:solidFill>
              <a:srgbClr val="8A6A2A"/>
            </a:solidFill>
            <a:ln w="31750">
              <a:solidFill>
                <a:srgbClr val="8A6A2A"/>
              </a:solidFill>
            </a:ln>
          </c:spPr>
          <c:marker>
            <c:symbol val="circle"/>
            <c:size val="6"/>
          </c:marker>
          <c:cat>
            <c:strRef>
              <c:f>Sheet1!$A$2:$A$30</c:f>
              <c:strCache>
                <c:ptCount val="29"/>
                <c:pt idx="0">
                  <c:v>Y2
(59岁)</c:v>
                </c:pt>
                <c:pt idx="1">
                  <c:v>Y3
(60岁)</c:v>
                </c:pt>
                <c:pt idx="2">
                  <c:v>Y4
(61岁)</c:v>
                </c:pt>
                <c:pt idx="3">
                  <c:v>Y5
(62岁)</c:v>
                </c:pt>
                <c:pt idx="4">
                  <c:v>Y6
(63岁)</c:v>
                </c:pt>
                <c:pt idx="5">
                  <c:v>Y7
(64岁)</c:v>
                </c:pt>
                <c:pt idx="6">
                  <c:v>Y8
(65岁)</c:v>
                </c:pt>
                <c:pt idx="7">
                  <c:v>Y9
(66岁)</c:v>
                </c:pt>
                <c:pt idx="8">
                  <c:v>Y10
(67岁)</c:v>
                </c:pt>
                <c:pt idx="9">
                  <c:v>Y11
(68岁)</c:v>
                </c:pt>
                <c:pt idx="10">
                  <c:v>Y12
(69岁)</c:v>
                </c:pt>
                <c:pt idx="11">
                  <c:v>Y13
(70岁)</c:v>
                </c:pt>
                <c:pt idx="12">
                  <c:v>Y14
(71岁)</c:v>
                </c:pt>
                <c:pt idx="13">
                  <c:v>Y15
(72岁)</c:v>
                </c:pt>
                <c:pt idx="14">
                  <c:v>Y16
(73岁)</c:v>
                </c:pt>
                <c:pt idx="15">
                  <c:v>Y17
(74岁)</c:v>
                </c:pt>
                <c:pt idx="16">
                  <c:v>Y18
(75岁)</c:v>
                </c:pt>
                <c:pt idx="17">
                  <c:v>Y19
(76岁)</c:v>
                </c:pt>
                <c:pt idx="18">
                  <c:v>Y20
(77岁)</c:v>
                </c:pt>
                <c:pt idx="19">
                  <c:v>Y21
(78岁)</c:v>
                </c:pt>
                <c:pt idx="20">
                  <c:v>Y22
(79岁)</c:v>
                </c:pt>
                <c:pt idx="21">
                  <c:v>Y23
(80岁)</c:v>
                </c:pt>
                <c:pt idx="22">
                  <c:v>Y24
(81岁)</c:v>
                </c:pt>
                <c:pt idx="23">
                  <c:v>Y25
(82岁)</c:v>
                </c:pt>
                <c:pt idx="24">
                  <c:v>Y26
(83岁)</c:v>
                </c:pt>
                <c:pt idx="25">
                  <c:v>Y27
(84岁)</c:v>
                </c:pt>
                <c:pt idx="26">
                  <c:v>Y28
(85岁)</c:v>
                </c:pt>
                <c:pt idx="27">
                  <c:v>Y29
(86岁)</c:v>
                </c:pt>
                <c:pt idx="28">
                  <c:v>Y30
(87岁)</c:v>
                </c:pt>
              </c:strCache>
            </c:strRef>
          </c:cat>
          <c:val>
            <c:numRef>
              <c:f>Sheet1!$B$2:$B$30</c:f>
              <c:numCache>
                <c:formatCode>General</c:formatCode>
                <c:ptCount val="29"/>
                <c:pt idx="0">
                  <c:v>45000</c:v>
                </c:pt>
                <c:pt idx="1">
                  <c:v>108676</c:v>
                </c:pt>
                <c:pt idx="2">
                  <c:v>181366</c:v>
                </c:pt>
                <c:pt idx="3">
                  <c:v>305938</c:v>
                </c:pt>
                <c:pt idx="4">
                  <c:v>500067</c:v>
                </c:pt>
                <c:pt idx="5">
                  <c:v>557919</c:v>
                </c:pt>
                <c:pt idx="6">
                  <c:v>620602</c:v>
                </c:pt>
                <c:pt idx="7">
                  <c:v>663184</c:v>
                </c:pt>
                <c:pt idx="8">
                  <c:v>700698</c:v>
                </c:pt>
                <c:pt idx="9">
                  <c:v>794901</c:v>
                </c:pt>
                <c:pt idx="10">
                  <c:v>861059</c:v>
                </c:pt>
                <c:pt idx="11">
                  <c:v>936750</c:v>
                </c:pt>
                <c:pt idx="12">
                  <c:v>991994</c:v>
                </c:pt>
                <c:pt idx="13">
                  <c:v>1052254</c:v>
                </c:pt>
                <c:pt idx="14">
                  <c:v>1114066</c:v>
                </c:pt>
                <c:pt idx="15">
                  <c:v>1183985</c:v>
                </c:pt>
                <c:pt idx="16">
                  <c:v>1261088</c:v>
                </c:pt>
                <c:pt idx="17">
                  <c:v>1348586</c:v>
                </c:pt>
                <c:pt idx="18">
                  <c:v>1432050</c:v>
                </c:pt>
                <c:pt idx="19">
                  <c:v>1518051</c:v>
                </c:pt>
                <c:pt idx="20">
                  <c:v>1609204</c:v>
                </c:pt>
                <c:pt idx="21">
                  <c:v>1705835</c:v>
                </c:pt>
                <c:pt idx="22">
                  <c:v>1808570</c:v>
                </c:pt>
                <c:pt idx="23">
                  <c:v>1917175</c:v>
                </c:pt>
                <c:pt idx="24">
                  <c:v>2032445</c:v>
                </c:pt>
                <c:pt idx="25">
                  <c:v>2154844</c:v>
                </c:pt>
                <c:pt idx="26">
                  <c:v>2290829</c:v>
                </c:pt>
                <c:pt idx="27">
                  <c:v>2442562</c:v>
                </c:pt>
                <c:pt idx="28">
                  <c:v>2606743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  <a:latin typeface="STHeiti Medium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#,##0,,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800">
              <a:solidFill>
                <a:srgbClr val="1A2A3A"/>
              </a:solidFill>
              <a:latin typeface="STHeiti Medium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不提领 · 退保现价 (USD)</c:v>
                </c:pt>
              </c:strCache>
            </c:strRef>
          </c:tx>
          <c:spPr>
            <a:solidFill>
              <a:srgbClr val="0D1B2A"/>
            </a:solidFill>
          </c:spPr>
          <c:cat>
            <c:strRef>
              <c:f>Sheet1!$A$2:$A$13</c:f>
              <c:strCache>
                <c:ptCount val="12"/>
                <c:pt idx="0">
                  <c:v>Y2
(59岁)</c:v>
                </c:pt>
                <c:pt idx="1">
                  <c:v>Y3
(60岁)</c:v>
                </c:pt>
                <c:pt idx="2">
                  <c:v>Y4
(61岁)</c:v>
                </c:pt>
                <c:pt idx="3">
                  <c:v>Y5
(62岁)</c:v>
                </c:pt>
                <c:pt idx="4">
                  <c:v>Y10
(67岁)</c:v>
                </c:pt>
                <c:pt idx="5">
                  <c:v>Y15
(72岁)</c:v>
                </c:pt>
                <c:pt idx="6">
                  <c:v>Y20
(77岁)</c:v>
                </c:pt>
                <c:pt idx="7">
                  <c:v>Y25
(82岁)</c:v>
                </c:pt>
                <c:pt idx="8">
                  <c:v>Y30
(87岁)</c:v>
                </c:pt>
                <c:pt idx="9">
                  <c:v>Y31
(88岁)</c:v>
                </c:pt>
                <c:pt idx="10">
                  <c:v>Y41
(98岁)</c:v>
                </c:pt>
                <c:pt idx="11">
                  <c:v>Y51
(108岁)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45000</c:v>
                </c:pt>
                <c:pt idx="1">
                  <c:v>108676</c:v>
                </c:pt>
                <c:pt idx="2">
                  <c:v>181366</c:v>
                </c:pt>
                <c:pt idx="3">
                  <c:v>305938</c:v>
                </c:pt>
                <c:pt idx="4">
                  <c:v>700698</c:v>
                </c:pt>
                <c:pt idx="5">
                  <c:v>1052254</c:v>
                </c:pt>
                <c:pt idx="6">
                  <c:v>1432050</c:v>
                </c:pt>
                <c:pt idx="7">
                  <c:v>1917175</c:v>
                </c:pt>
                <c:pt idx="8">
                  <c:v>2606743</c:v>
                </c:pt>
                <c:pt idx="9">
                  <c:v>2783392</c:v>
                </c:pt>
                <c:pt idx="10">
                  <c:v>5558752</c:v>
                </c:pt>
                <c:pt idx="11">
                  <c:v>10985545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提领 · 累计+退保现价 (USD)</c:v>
                </c:pt>
              </c:strCache>
            </c:strRef>
          </c:tx>
          <c:spPr>
            <a:solidFill>
              <a:srgbClr val="C8963E"/>
            </a:solidFill>
          </c:spPr>
          <c:cat>
            <c:strRef>
              <c:f>Sheet1!$A$2:$A$13</c:f>
              <c:strCache>
                <c:ptCount val="12"/>
                <c:pt idx="0">
                  <c:v>Y2
(59岁)</c:v>
                </c:pt>
                <c:pt idx="1">
                  <c:v>Y3
(60岁)</c:v>
                </c:pt>
                <c:pt idx="2">
                  <c:v>Y4
(61岁)</c:v>
                </c:pt>
                <c:pt idx="3">
                  <c:v>Y5
(62岁)</c:v>
                </c:pt>
                <c:pt idx="4">
                  <c:v>Y10
(67岁)</c:v>
                </c:pt>
                <c:pt idx="5">
                  <c:v>Y15
(72岁)</c:v>
                </c:pt>
                <c:pt idx="6">
                  <c:v>Y20
(77岁)</c:v>
                </c:pt>
                <c:pt idx="7">
                  <c:v>Y25
(82岁)</c:v>
                </c:pt>
                <c:pt idx="8">
                  <c:v>Y30
(87岁)</c:v>
                </c:pt>
                <c:pt idx="9">
                  <c:v>Y31
(88岁)</c:v>
                </c:pt>
                <c:pt idx="10">
                  <c:v>Y41
(98岁)</c:v>
                </c:pt>
                <c:pt idx="11">
                  <c:v>Y51
(108岁)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45000</c:v>
                </c:pt>
                <c:pt idx="1">
                  <c:v>108676</c:v>
                </c:pt>
                <c:pt idx="2">
                  <c:v>181366</c:v>
                </c:pt>
                <c:pt idx="3">
                  <c:v>305938</c:v>
                </c:pt>
                <c:pt idx="4">
                  <c:v>671201</c:v>
                </c:pt>
                <c:pt idx="5">
                  <c:v>894612</c:v>
                </c:pt>
                <c:pt idx="6">
                  <c:v>1066948</c:v>
                </c:pt>
                <c:pt idx="7">
                  <c:v>1228202</c:v>
                </c:pt>
                <c:pt idx="8">
                  <c:v>1393776</c:v>
                </c:pt>
                <c:pt idx="9">
                  <c:v>1428931</c:v>
                </c:pt>
                <c:pt idx="10">
                  <c:v>1806609</c:v>
                </c:pt>
                <c:pt idx="11">
                  <c:v>2253526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4A5A6A"/>
                </a:solidFill>
                <a:latin typeface="STHeiti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1971090.0"/>
          <c:min val="0.0"/>
        </c:scaling>
        <c:delete val="0"/>
        <c:axPos val="l"/>
        <c:majorGridlines/>
        <c:numFmt formatCode="$#,##0,, &quot;M&quot;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1A2A3A"/>
              </a:solidFill>
              <a:latin typeface="STHeiti Medium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mpany-hero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5486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  <a:ea typeface="STHeiti Medium"/>
              </a:rPr>
              <a:t>PRIVATE CLIENT 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宏挚传承保障计划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5943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MR.VIP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  <a:ea typeface="STHeiti Medium"/>
              </a:rPr>
              <a:t>PRIVATE 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5年缴 · USD 100,000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49040"/>
            <a:ext cx="5943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受保人：VIP（58岁）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02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关于我们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Calibri"/>
                <a:ea typeface="STHeiti Medium"/>
              </a:rPr>
              <a:t>About Us  ·  新加坡宏利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4732846" cy="1097280"/>
          </a:xfrm>
          <a:prstGeom prst="rect">
            <a:avLst/>
          </a:prstGeom>
        </p:spPr>
      </p:pic>
      <p:pic>
        <p:nvPicPr>
          <p:cNvPr id="10" name="Picture 9" descr="brand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828800"/>
            <a:ext cx="2011680" cy="1280160"/>
          </a:xfrm>
          <a:prstGeom prst="rect">
            <a:avLst/>
          </a:prstGeom>
        </p:spPr>
      </p:pic>
      <p:pic>
        <p:nvPicPr>
          <p:cNvPr id="11" name="Picture 10" descr="brand-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1828800"/>
            <a:ext cx="2011680" cy="1280160"/>
          </a:xfrm>
          <a:prstGeom prst="rect">
            <a:avLst/>
          </a:prstGeom>
        </p:spPr>
      </p:pic>
      <p:pic>
        <p:nvPicPr>
          <p:cNvPr id="12" name="Picture 11" descr="office-0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0" y="1828800"/>
            <a:ext cx="2011680" cy="128016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572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1887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成立年份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AA-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财务实力评级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宏挚传承保障计划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财富传承专家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93776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846320"/>
            <a:ext cx="4572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业务范围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21208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投资相连险(ILPs) — 环球顶级基金直通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48640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全生命周期退休年金 — DBS独家银保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76072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万能寿险 — 大额身故保障与保单融资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603504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家族办公室与信托统筹方案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493776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20840" y="4846320"/>
            <a:ext cx="4572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品牌背景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521208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母公司宏利金融创立于1887年（加拿大）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0840" y="548640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S&amp;P AA- / Moody's A1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576072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1898年签发新加坡首张保单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20840" y="603504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新加坡D-SII系统重要性寿险公司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53796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数据来源：保险公司官方资料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03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产品亮点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Calibri"/>
                <a:ea typeface="STHeiti Medium"/>
              </a:rPr>
              <a:t>5 年缴 · 短期供款完成 · 终身财富复利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9456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37744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46888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5 年短期缴付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6324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只需 5 年完成缴费，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后续无需再缴；缓解供款压力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7764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年缴清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19456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219456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37744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246888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20 年财富复利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06324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保证 + 非保证现金价值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长期复利，稳健增长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Y20 约 USD 1,432,050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70332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2.86x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97764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20 年倍数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38912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38912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57200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466344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30 年财富复利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25780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持续滚存跨越复利临界点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增值潜力可观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Y30 约 USD 2,606,743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89788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5.21x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17220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30 年倍数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注：倍数基于不退保情形下「退保发还金额总额」÷「已缴保费总额」计算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675120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数据来源：保险公司官方计划书 第3部分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04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现金价值长期复利增长（不提领）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保证 + 非保证现金价值 · 演示至保单年度 80 年（受保人 80 岁）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74320" y="1691640"/>
          <a:ext cx="54864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035040" y="1691640"/>
          <a:ext cx="5486400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Rectangle 10"/>
          <p:cNvSpPr/>
          <p:nvPr/>
        </p:nvSpPr>
        <p:spPr>
          <a:xfrm>
            <a:off x="27432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6172200"/>
            <a:ext cx="54864" cy="50292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Calibri"/>
                <a:ea typeface="STHeiti Medium"/>
              </a:rPr>
              <a:t>20年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70F1A"/>
                </a:solidFill>
                <a:latin typeface="Calibri"/>
                <a:ea typeface="STHeiti Medium"/>
              </a:rPr>
              <a:t>x2.86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USD 1,432,050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6172200"/>
            <a:ext cx="54864" cy="50292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Calibri"/>
                <a:ea typeface="STHeiti Medium"/>
              </a:rPr>
              <a:t>30年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4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70F1A"/>
                </a:solidFill>
                <a:latin typeface="Calibri"/>
                <a:ea typeface="STHeiti Medium"/>
              </a:rPr>
              <a:t>x5.21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USD 2,606,743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6172200"/>
            <a:ext cx="54864" cy="502920"/>
          </a:xfrm>
          <a:prstGeom prst="rect">
            <a:avLst/>
          </a:prstGeom>
          <a:solidFill>
            <a:srgbClr val="8A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Calibri"/>
                <a:ea typeface="STHeiti Medium"/>
              </a:rPr>
              <a:t>70年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8A6A2A"/>
                </a:solidFill>
                <a:latin typeface="Calibri"/>
                <a:ea typeface="STHeiti Medium"/>
              </a:rPr>
              <a:t>x73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USD 36,346,633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6720840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数据来源：宏利官方计划书 第3部分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05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不提领情形 · 退保发还金额明细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至保单年度 119 · 40年前每5年/后每10年 · 含 IRR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83080"/>
          <a:ext cx="1127729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669"/>
                <a:gridCol w="805521"/>
                <a:gridCol w="1495967"/>
                <a:gridCol w="1726116"/>
                <a:gridCol w="1726116"/>
                <a:gridCol w="1956265"/>
                <a:gridCol w="1265818"/>
                <a:gridCol w="1265818"/>
              </a:tblGrid>
              <a:tr h="502920"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保单年度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年龄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已缴保费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保证现价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非保证金额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退保发还总额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复利 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单利IRR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125,000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180,938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305,938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-7.76%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400,698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700,698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3.43%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4.01%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408,750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643,504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1,052,254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5.09%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7.36%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540,000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892,050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1,432,050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5.40%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9.32%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560,255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1,356,920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1,917,175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11.34%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578,700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2,028,043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2,606,743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5.66%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14.04%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597,755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3,046,404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3,644,159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5.84%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17.97%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617,435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4,554,511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5,171,946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6.01%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23.36%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658,765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9,656,301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10,315,066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6.24%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39.26%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117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706,355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18,656,442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19,362,797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6.28%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62.88%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757,390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35,589,243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36,346,633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102.42%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137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812,105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67,415,522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68,227,627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6.34%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169.32%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870,780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127,201,855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128,072,635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6.36%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283.49%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933,690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239,476,252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240,409,942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6.37%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479.82%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1,001,150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450,281,360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451,282,510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819.60%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5669280"/>
            <a:ext cx="112772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669280"/>
            <a:ext cx="73152" cy="7772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715000"/>
            <a:ext cx="4572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数据口径说明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8932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· 已缴保费：5年×计划 = USD 500,000    · 复利IRR = (总额/保费)^(1/年数) - 1    · 单利IRR = (总额-保费)/保费/年数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21792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· 非保证金额含复归红利+终期分红    · 演示至保单80年；计划保障至128岁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65392"/>
            <a:ext cx="114300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数据来源：宏利官方计划书 第3部分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06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提领方案 · 退保发还金额及累计提取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保单年度 6（63 岁）起 · 每年提取 USD 35,000 · 含 IRR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737360"/>
          <a:ext cx="11429995" cy="5431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7846"/>
                <a:gridCol w="762000"/>
                <a:gridCol w="1348153"/>
                <a:gridCol w="1172307"/>
                <a:gridCol w="1406769"/>
                <a:gridCol w="1641230"/>
                <a:gridCol w="1817076"/>
                <a:gridCol w="1172307"/>
                <a:gridCol w="1172307"/>
              </a:tblGrid>
              <a:tr h="457200"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保单
年度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年龄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已缴保费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年提取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累计提取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退保发还总额
(B+C+D)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累计已领+
退保现价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复利
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单利
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305,938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305,938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-7.76%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465,066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500,066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0.00%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0.00%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175,000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496,201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671,201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2.99%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3.42%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544,612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894,612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3.95%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5.26%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525,000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541,948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1,066,948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3.86%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5.67%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700,000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528,202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1,228,202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3.66%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5.83%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875,000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518,776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1,393,776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3.48%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5.96%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1,050,000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523,965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1,573,965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3.33%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6.14%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1,225,000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541,138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1,766,138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3.21%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6.33%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1,575,000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629,152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2,204,152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3.01%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6.82%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1,925,000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842,405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2,767,405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2.89%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7.56%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127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2,275,000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1,303,242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3,578,242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2.85%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8.79%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2,625,000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2,303,938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4,928,938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11.07%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147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2,975,000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4,251,721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7,226,721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3.01%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14.95%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3,325,000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8,273,382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11,598,382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22.20%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110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167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3,675,000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16,576,919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20,251,919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3.42%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35.91%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3,990,000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31,396,562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35,386,562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3.64%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58.63%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5760" y="6080760"/>
            <a:ext cx="114300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6080760"/>
            <a:ext cx="73152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126480"/>
            <a:ext cx="2743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  <a:latin typeface="Calibri"/>
                <a:ea typeface="STHeiti Medium"/>
              </a:rPr>
              <a:t>数据口径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· Y6 起每年提取 USD 35,000    · 累计已领+退保现价 = 年提取累计 + 期末退保发还金额    · 复利IRR = (累计+退保现价)/保费^(1/年数)-1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656832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数据来源：宏利官方计划书 第5部分（现金提取）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07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不提领 vs 提领 · 总收益对比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累计已领 + 期末退保现价 · 关键年限对比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365760" y="1691640"/>
          <a:ext cx="68580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406640" y="173736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1691640"/>
            <a:ext cx="457199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不提领 vs 提领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2286000"/>
            <a:ext cx="45720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06640" y="2286000"/>
            <a:ext cx="73152" cy="1645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0" y="2377440"/>
            <a:ext cx="45719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📈 不提领策略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2651760"/>
            <a:ext cx="4571999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账户价值持续滚存，享受复利增长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适合：长期财富传承需求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无需现金流补充的场景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4114800"/>
            <a:ext cx="45720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4114800"/>
            <a:ext cx="73152" cy="1645920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0" y="4206240"/>
            <a:ext cx="45719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💳 提领策略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4480560"/>
            <a:ext cx="4571999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定期提取现金补充现金流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适合：教育金/养老金规划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兼顾当下现金流与长期增长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00800"/>
            <a:ext cx="114300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注：纵轴使用对数刻度；不提领按退保发还总额计算，提领按累计已领+退保现价计算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08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养老金现金流 · 与退休年龄节点结合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保单年度 6（63 岁）起每年提取 USD 35,000 · 退休生活从容有品质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74519"/>
            <a:ext cx="11277295" cy="274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44752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60-65岁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5349240"/>
            <a:ext cx="2121408" cy="502920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退休初期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Y3-Y8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C8963E"/>
                </a:solidFill>
                <a:latin typeface="Calibri"/>
                <a:ea typeface="STHeiti Medium"/>
              </a:rPr>
              <a:t>USD 105,000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35K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环球旅行/兴趣爱好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503,233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03320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15768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65-75岁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15768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15768" y="5349240"/>
            <a:ext cx="2121408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15768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活跃养老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15768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Y8-Y18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15768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15768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1B2A4A"/>
                </a:solidFill>
                <a:latin typeface="Calibri"/>
                <a:ea typeface="STHeiti Medium"/>
              </a:rPr>
              <a:t>USD 455,000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98648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52928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35K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品质生活/健康管理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15768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540,800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61888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74336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75-85岁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74336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974336" y="5349240"/>
            <a:ext cx="2121408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74336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稳健养老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74336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Y18-Y28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74336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74336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USD 805,000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57216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11496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35K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医疗护理/居家服务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74336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519,489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0456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32904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85-95岁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32904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232904" y="5349240"/>
            <a:ext cx="2121408" cy="50292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享老晚年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32904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Y28-Y38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32904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32904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070F1A"/>
                </a:solidFill>
                <a:latin typeface="Calibri"/>
                <a:ea typeface="STHeiti Medium"/>
              </a:rPr>
              <a:t>USD 1,155,000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15784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70064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35K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专业照护/尊严养老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32904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532,823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479024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91472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95+岁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491472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491472" y="5349240"/>
            <a:ext cx="2121408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491472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D4B078"/>
                </a:solidFill>
                <a:latin typeface="Calibri"/>
                <a:ea typeface="STHeiti Medium"/>
              </a:rPr>
              <a:t>财富传承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491472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Y38-Y63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491472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91472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USD 2,030,000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674352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28632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35K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遗产规划/代际传承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491472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945,312</a:t>
            </a:r>
          </a:p>
        </p:txBody>
      </p:sp>
      <p:pic>
        <p:nvPicPr>
          <p:cNvPr id="65" name="Picture 64" descr="family-outdoor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035040"/>
            <a:ext cx="2560320" cy="640080"/>
          </a:xfrm>
          <a:prstGeom prst="rect">
            <a:avLst/>
          </a:prstGeom>
        </p:spPr>
      </p:pic>
      <p:pic>
        <p:nvPicPr>
          <p:cNvPr id="66" name="Picture 65" descr="senior-life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6035040"/>
            <a:ext cx="2560320" cy="640080"/>
          </a:xfrm>
          <a:prstGeom prst="rect">
            <a:avLst/>
          </a:prstGeom>
        </p:spPr>
      </p:pic>
      <p:pic>
        <p:nvPicPr>
          <p:cNvPr id="67" name="Picture 66" descr="senior-travel-0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6035040"/>
            <a:ext cx="2560320" cy="64008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  <a:latin typeface="Calibri"/>
                <a:ea typeface="STHeiti Medium"/>
              </a:rPr>
              <a:t>从 63 岁开始每年领取 US$35,000 → 退休收入稳定补充 → 剩余价值持续滚存 → 财富代际传承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" y="6400800"/>
            <a:ext cx="11277295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数据来源：宏利官方计划书 第5部分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09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重要事项声明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Important Notes · 客户须知的风险与限制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7452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87452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非保证利益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4688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本计划所演示之非保证金额（包括复归红利及终期分红）乃基于现时假设投资回报计算，并非保证。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10896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实际金额或会因投资市场波动而调整，在某些情况下非保证金额可能为零。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82880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82880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87452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187452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汇率风险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4688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若以保单货币（美元）以外的其他货币支付保费或收取利益，将按本公司不时厘定的汇率兑换。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10896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外币汇率波动可能影响实际支付金额。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93192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93192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97764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97764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提领限制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57200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现金提取须符合本公司最低投保单位要求；若提取导致投保单位低于最低要求，则不可提取。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2120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所演示之提取金额基于非保证红利与分红，未必可维持。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393192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393192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397764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397764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通胀风险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57200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未来生活成本可能因通胀而上升；本计划之金额为名义金额，未必能完全追上通胀。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52120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建议结合其他投资工具作综合规划。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943600"/>
            <a:ext cx="112772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5943600"/>
            <a:ext cx="73152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98932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完整条款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本文件不包含完整的计划条款，详情参阅保单文件及主要产品推销刊物。阁下应向持牌保险中介人查询。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10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数据来源与回溯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Data Sources · 全部数据可逐项回溯至官方计划书页码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83080"/>
          <a:ext cx="11247120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1645920"/>
                <a:gridCol w="5486400"/>
              </a:tblGrid>
              <a:tr h="457200">
                <a:tc>
                  <a:txBody>
                    <a:bodyPr lIns="36000" rIns="36000" tIns="18000" bIns="18000"/>
                    <a:lstStyle/>
                    <a:p>
                      <a:pPr algn="l"/>
                      <a:r>
                        <a:rPr sz="10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数据项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l"/>
                      <a:r>
                        <a:rPr sz="10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PDF 页码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l"/>
                      <a:r>
                        <a:rPr sz="10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来源说明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保障摘要 · 保额/保费/年期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受保人资料 + 投保资料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不提领 · 退保发还金额（Y1-Y40）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基本计划-说明摘要（第3部分）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不提领 · 退保发还金额（Y41-Y80）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基本计划-说明摘要（第3部分）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不提领 · 身故赔偿额说明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p17-19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身故赔偿额-不同投资回报下的说明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提领 · 退保发还金额（Y1-Y40）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p42-43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基本计划-说明摘要（续）-现金提取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提领 · 退保发还金额（Y41-Y80）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p44-45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基本计划-说明摘要（续）-现金提取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提领 · 身故赔偿额说明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p47-50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身故赔偿额下的说明（提取）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注释与重要事项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p20-22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本计划之注释条款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产品详细说明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p23-41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财富增值选项、跃进选项等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6035040"/>
            <a:ext cx="11277295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6035040"/>
            <a:ext cx="73152" cy="5486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08076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核验方法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所有数据均直接源自宏利官方计划书原文（pdfplumber按列精确提取）；如需进一步核验，可逐项对照 PDF 指定页码。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11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总结与建议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Summary &amp;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短期供款 · 终身受惠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5 年缴清 USD 500,000，后续无需再缴费。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保单持续滚存至 128 岁，长期复利效应明显。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年缴清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8056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稳健回本 · 风险可控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保单第 — 年回本（退保现价 &gt; 已缴保费）。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Y30 约 USD 2,606,743。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回本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2104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灵活提领 · 教育无忧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Y6 起每年提取 USD 35,000，覆盖小学到大学。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Y20 累计提取 USD 525,000，本金仍持续滚存。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35K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年提取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394960"/>
            <a:ext cx="11277295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5394960"/>
            <a:ext cx="73152" cy="128016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4406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综合建议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76072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1A2A3A"/>
                </a:solidFill>
                <a:latin typeface="Calibri"/>
                <a:ea typeface="STHeiti Medium"/>
              </a:rPr>
              <a:t>本计划适合具备 5 年供款能力、追求稳健长期财富传承、且有子女教育金规划需求的高净值家庭。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03504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· 短期供款压力适中  ·  长期复利跨越代际  ·  提领方案精准对接教育节点  ·  兼顾传承与流动性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4A5A6A"/>
                </a:solidFill>
                <a:latin typeface="Calibri"/>
                <a:ea typeface="STHeiti Medium"/>
              </a:rPr>
              <a:t>实际收益取决于投资市场表现，建议结合整体资产配置作综合考虑。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1">
                <a:solidFill>
                  <a:srgbClr val="C8963E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77295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F8F9FB"/>
                </a:solidFill>
                <a:latin typeface="Calibri"/>
                <a:ea typeface="STHeiti Medium"/>
              </a:rPr>
              <a:t>愿这份规划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11277295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C8963E"/>
                </a:solidFill>
                <a:latin typeface="Calibri"/>
                <a:ea typeface="STHeiti Medium"/>
              </a:rPr>
              <a:t>陪伴孩子稳健成长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11277295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0">
                <a:solidFill>
                  <a:srgbClr val="D4B078"/>
                </a:solidFill>
                <a:latin typeface="Calibri"/>
                <a:ea typeface="STHeiti Medium"/>
              </a:rPr>
              <a:t>让爱与财富，代代相传</a:t>
            </a:r>
          </a:p>
        </p:txBody>
      </p:sp>
      <p:sp>
        <p:nvSpPr>
          <p:cNvPr id="8" name="Rectangle 7"/>
          <p:cNvSpPr/>
          <p:nvPr/>
        </p:nvSpPr>
        <p:spPr>
          <a:xfrm>
            <a:off x="5641848" y="4114800"/>
            <a:ext cx="914400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343400"/>
            <a:ext cx="11277295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300" b="0">
                <a:solidFill>
                  <a:srgbClr val="F8F9FB"/>
                </a:solidFill>
                <a:latin typeface="Calibri"/>
                <a:ea typeface="STHeiti Medium"/>
              </a:rPr>
              <a:t>—— 致 VIP 与家人  ——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00600"/>
            <a:ext cx="11277295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D4B078"/>
                </a:solidFill>
                <a:latin typeface="Calibri"/>
                <a:ea typeface="STHeiti Medium"/>
              </a:rPr>
              <a:t>规划起点 · 受保人 58 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675120"/>
            <a:ext cx="73152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D4B078"/>
                </a:solidFill>
                <a:latin typeface="Calibri"/>
                <a:ea typeface="STHeiti Medium"/>
              </a:rPr>
              <a:t>本演示基于宏利官方计划书数据生成 · 实际保单条款以保单文件为准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675120"/>
            <a:ext cx="13716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800" b="0">
                <a:solidFill>
                  <a:srgbClr val="D4B078"/>
                </a:solidFill>
                <a:latin typeface="Calibri"/>
                <a:ea typeface="STHeiti Medium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