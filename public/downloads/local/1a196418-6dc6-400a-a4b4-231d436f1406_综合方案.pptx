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4500</c:v>
                </c:pt>
                <c:pt idx="1">
                  <c:v>10000</c:v>
                </c:pt>
                <c:pt idx="2">
                  <c:v>22500</c:v>
                </c:pt>
                <c:pt idx="3">
                  <c:v>35000</c:v>
                </c:pt>
                <c:pt idx="4">
                  <c:v>54000</c:v>
                </c:pt>
                <c:pt idx="5">
                  <c:v>84000</c:v>
                </c:pt>
                <c:pt idx="6">
                  <c:v>97000</c:v>
                </c:pt>
                <c:pt idx="7">
                  <c:v>121000</c:v>
                </c:pt>
                <c:pt idx="8">
                  <c:v>145500</c:v>
                </c:pt>
                <c:pt idx="9">
                  <c:v>159000</c:v>
                </c:pt>
                <c:pt idx="10">
                  <c:v>174000</c:v>
                </c:pt>
                <c:pt idx="11">
                  <c:v>190000</c:v>
                </c:pt>
                <c:pt idx="12">
                  <c:v>207500</c:v>
                </c:pt>
                <c:pt idx="13">
                  <c:v>227000</c:v>
                </c:pt>
                <c:pt idx="14">
                  <c:v>248000</c:v>
                </c:pt>
                <c:pt idx="15">
                  <c:v>271000</c:v>
                </c:pt>
                <c:pt idx="16">
                  <c:v>296500</c:v>
                </c:pt>
                <c:pt idx="17">
                  <c:v>324000</c:v>
                </c:pt>
                <c:pt idx="18">
                  <c:v>354000</c:v>
                </c:pt>
                <c:pt idx="19">
                  <c:v>387000</c:v>
                </c:pt>
                <c:pt idx="20">
                  <c:v>423000</c:v>
                </c:pt>
                <c:pt idx="21">
                  <c:v>462000</c:v>
                </c:pt>
                <c:pt idx="22">
                  <c:v>505000</c:v>
                </c:pt>
                <c:pt idx="23">
                  <c:v>506500</c:v>
                </c:pt>
                <c:pt idx="24">
                  <c:v>507000</c:v>
                </c:pt>
                <c:pt idx="25">
                  <c:v>508500</c:v>
                </c:pt>
                <c:pt idx="26">
                  <c:v>509500</c:v>
                </c:pt>
                <c:pt idx="27">
                  <c:v>510000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26320</c:v>
                </c:pt>
                <c:pt idx="1">
                  <c:v>47428</c:v>
                </c:pt>
                <c:pt idx="2">
                  <c:v>343920</c:v>
                </c:pt>
                <c:pt idx="3">
                  <c:v>404092</c:v>
                </c:pt>
                <c:pt idx="4">
                  <c:v>454100</c:v>
                </c:pt>
                <c:pt idx="5">
                  <c:v>485188</c:v>
                </c:pt>
                <c:pt idx="6">
                  <c:v>512860</c:v>
                </c:pt>
                <c:pt idx="7">
                  <c:v>539340</c:v>
                </c:pt>
                <c:pt idx="8">
                  <c:v>562120</c:v>
                </c:pt>
                <c:pt idx="9">
                  <c:v>602528</c:v>
                </c:pt>
                <c:pt idx="10">
                  <c:v>639044</c:v>
                </c:pt>
                <c:pt idx="11">
                  <c:v>683380</c:v>
                </c:pt>
                <c:pt idx="12">
                  <c:v>739140</c:v>
                </c:pt>
                <c:pt idx="13">
                  <c:v>783724</c:v>
                </c:pt>
                <c:pt idx="14">
                  <c:v>834484</c:v>
                </c:pt>
                <c:pt idx="15">
                  <c:v>877080</c:v>
                </c:pt>
                <c:pt idx="16">
                  <c:v>964400</c:v>
                </c:pt>
                <c:pt idx="17">
                  <c:v>1063972</c:v>
                </c:pt>
                <c:pt idx="18">
                  <c:v>1126752</c:v>
                </c:pt>
                <c:pt idx="19">
                  <c:v>1192712</c:v>
                </c:pt>
                <c:pt idx="20">
                  <c:v>1263388</c:v>
                </c:pt>
                <c:pt idx="21">
                  <c:v>1338160</c:v>
                </c:pt>
                <c:pt idx="22">
                  <c:v>1442556</c:v>
                </c:pt>
                <c:pt idx="23">
                  <c:v>1586560</c:v>
                </c:pt>
                <c:pt idx="24">
                  <c:v>1755328</c:v>
                </c:pt>
                <c:pt idx="25">
                  <c:v>1937204</c:v>
                </c:pt>
                <c:pt idx="26">
                  <c:v>2135620</c:v>
                </c:pt>
                <c:pt idx="27">
                  <c:v>2415600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439092</c:v>
                </c:pt>
                <c:pt idx="4">
                  <c:v>508100</c:v>
                </c:pt>
                <c:pt idx="5">
                  <c:v>569188</c:v>
                </c:pt>
                <c:pt idx="6">
                  <c:v>609860</c:v>
                </c:pt>
                <c:pt idx="7">
                  <c:v>660340</c:v>
                </c:pt>
                <c:pt idx="8">
                  <c:v>707620</c:v>
                </c:pt>
                <c:pt idx="9">
                  <c:v>761528</c:v>
                </c:pt>
                <c:pt idx="10">
                  <c:v>813044</c:v>
                </c:pt>
                <c:pt idx="11">
                  <c:v>873380</c:v>
                </c:pt>
                <c:pt idx="12">
                  <c:v>946640</c:v>
                </c:pt>
                <c:pt idx="13">
                  <c:v>1010724</c:v>
                </c:pt>
                <c:pt idx="14">
                  <c:v>1082484</c:v>
                </c:pt>
                <c:pt idx="15">
                  <c:v>1148080</c:v>
                </c:pt>
                <c:pt idx="16">
                  <c:v>1260900</c:v>
                </c:pt>
                <c:pt idx="17">
                  <c:v>1387972</c:v>
                </c:pt>
                <c:pt idx="18">
                  <c:v>1480752</c:v>
                </c:pt>
                <c:pt idx="19">
                  <c:v>1579712</c:v>
                </c:pt>
                <c:pt idx="20">
                  <c:v>1686388</c:v>
                </c:pt>
                <c:pt idx="21">
                  <c:v>1800160</c:v>
                </c:pt>
                <c:pt idx="22">
                  <c:v>1947556</c:v>
                </c:pt>
                <c:pt idx="23">
                  <c:v>2093060</c:v>
                </c:pt>
                <c:pt idx="24">
                  <c:v>2262328</c:v>
                </c:pt>
                <c:pt idx="25">
                  <c:v>2445704</c:v>
                </c:pt>
                <c:pt idx="26">
                  <c:v>2645120</c:v>
                </c:pt>
                <c:pt idx="27">
                  <c:v>2925600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660340</c:v>
                </c:pt>
                <c:pt idx="4">
                  <c:v>946640</c:v>
                </c:pt>
                <c:pt idx="5">
                  <c:v>1387972</c:v>
                </c:pt>
                <c:pt idx="6">
                  <c:v>1947556</c:v>
                </c:pt>
                <c:pt idx="7">
                  <c:v>2925600</c:v>
                </c:pt>
                <c:pt idx="8">
                  <c:v>3115900</c:v>
                </c:pt>
                <c:pt idx="9">
                  <c:v>5848268</c:v>
                </c:pt>
                <c:pt idx="10">
                  <c:v>10976800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30820</c:v>
                </c:pt>
                <c:pt idx="1">
                  <c:v>57428</c:v>
                </c:pt>
                <c:pt idx="2">
                  <c:v>366420</c:v>
                </c:pt>
                <c:pt idx="3">
                  <c:v>656907</c:v>
                </c:pt>
                <c:pt idx="4">
                  <c:v>907735</c:v>
                </c:pt>
                <c:pt idx="5">
                  <c:v>1229134</c:v>
                </c:pt>
                <c:pt idx="6">
                  <c:v>1496173</c:v>
                </c:pt>
                <c:pt idx="7">
                  <c:v>1795923</c:v>
                </c:pt>
                <c:pt idx="8">
                  <c:v>1861959</c:v>
                </c:pt>
                <c:pt idx="9">
                  <c:v>2679838</c:v>
                </c:pt>
                <c:pt idx="10">
                  <c:v>3951970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5360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已交总保费</c:v>
                </c:pt>
              </c:strCache>
            </c:strRef>
          </c:tx>
          <c:spPr>
            <a:ln w="31750">
              <a:solidFill>
                <a:srgbClr val="0D1B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Sheet1!$B$2:$B$76</c:f>
              <c:numCache>
                <c:formatCode>General</c:formatCode>
                <c:ptCount val="75"/>
                <c:pt idx="0">
                  <c:v>66355.0</c:v>
                </c:pt>
                <c:pt idx="1">
                  <c:v>132710.0</c:v>
                </c:pt>
                <c:pt idx="2">
                  <c:v>199065.0</c:v>
                </c:pt>
                <c:pt idx="3">
                  <c:v>265420.0</c:v>
                </c:pt>
                <c:pt idx="4">
                  <c:v>331775.0</c:v>
                </c:pt>
                <c:pt idx="5">
                  <c:v>331775.0</c:v>
                </c:pt>
                <c:pt idx="6">
                  <c:v>331775.0</c:v>
                </c:pt>
                <c:pt idx="7">
                  <c:v>331775.0</c:v>
                </c:pt>
                <c:pt idx="8">
                  <c:v>331775.0</c:v>
                </c:pt>
                <c:pt idx="9">
                  <c:v>331775.0</c:v>
                </c:pt>
                <c:pt idx="10">
                  <c:v>331775.0</c:v>
                </c:pt>
                <c:pt idx="11">
                  <c:v>331775.0</c:v>
                </c:pt>
                <c:pt idx="12">
                  <c:v>331775.0</c:v>
                </c:pt>
                <c:pt idx="13">
                  <c:v>331775.0</c:v>
                </c:pt>
                <c:pt idx="14">
                  <c:v>331775.0</c:v>
                </c:pt>
                <c:pt idx="15">
                  <c:v>331775.0</c:v>
                </c:pt>
                <c:pt idx="16">
                  <c:v>331775.0</c:v>
                </c:pt>
                <c:pt idx="17">
                  <c:v>331775.0</c:v>
                </c:pt>
                <c:pt idx="18">
                  <c:v>331775.0</c:v>
                </c:pt>
                <c:pt idx="19">
                  <c:v>331775.0</c:v>
                </c:pt>
                <c:pt idx="20">
                  <c:v>331775.0</c:v>
                </c:pt>
                <c:pt idx="21">
                  <c:v>331775.0</c:v>
                </c:pt>
                <c:pt idx="22">
                  <c:v>331775.0</c:v>
                </c:pt>
                <c:pt idx="23">
                  <c:v>331775.0</c:v>
                </c:pt>
                <c:pt idx="24">
                  <c:v>331775.0</c:v>
                </c:pt>
                <c:pt idx="25">
                  <c:v>331775.0</c:v>
                </c:pt>
                <c:pt idx="26">
                  <c:v>331775.0</c:v>
                </c:pt>
                <c:pt idx="27">
                  <c:v>331775.0</c:v>
                </c:pt>
                <c:pt idx="28">
                  <c:v>331775.0</c:v>
                </c:pt>
                <c:pt idx="29">
                  <c:v>331775.0</c:v>
                </c:pt>
                <c:pt idx="30">
                  <c:v>331775.0</c:v>
                </c:pt>
                <c:pt idx="31">
                  <c:v>331775.0</c:v>
                </c:pt>
                <c:pt idx="32">
                  <c:v>331775.0</c:v>
                </c:pt>
                <c:pt idx="33">
                  <c:v>331775.0</c:v>
                </c:pt>
                <c:pt idx="34">
                  <c:v>331775.0</c:v>
                </c:pt>
                <c:pt idx="35">
                  <c:v>331775.0</c:v>
                </c:pt>
                <c:pt idx="36">
                  <c:v>331775.0</c:v>
                </c:pt>
                <c:pt idx="37">
                  <c:v>331775.0</c:v>
                </c:pt>
                <c:pt idx="38">
                  <c:v>331775.0</c:v>
                </c:pt>
                <c:pt idx="39">
                  <c:v>331775.0</c:v>
                </c:pt>
                <c:pt idx="40">
                  <c:v>331775.0</c:v>
                </c:pt>
                <c:pt idx="41">
                  <c:v>331775.0</c:v>
                </c:pt>
                <c:pt idx="42">
                  <c:v>331775.0</c:v>
                </c:pt>
                <c:pt idx="43">
                  <c:v>331775.0</c:v>
                </c:pt>
                <c:pt idx="44">
                  <c:v>331775.0</c:v>
                </c:pt>
                <c:pt idx="45">
                  <c:v>331775.0</c:v>
                </c:pt>
                <c:pt idx="46">
                  <c:v>331775.0</c:v>
                </c:pt>
                <c:pt idx="47">
                  <c:v>331775.0</c:v>
                </c:pt>
                <c:pt idx="48">
                  <c:v>331775.0</c:v>
                </c:pt>
                <c:pt idx="49">
                  <c:v>331775.0</c:v>
                </c:pt>
                <c:pt idx="50">
                  <c:v>331775.0</c:v>
                </c:pt>
                <c:pt idx="51">
                  <c:v>331775.0</c:v>
                </c:pt>
                <c:pt idx="52">
                  <c:v>331775.0</c:v>
                </c:pt>
                <c:pt idx="53">
                  <c:v>331775.0</c:v>
                </c:pt>
                <c:pt idx="54">
                  <c:v>331775.0</c:v>
                </c:pt>
                <c:pt idx="55">
                  <c:v>331775.0</c:v>
                </c:pt>
                <c:pt idx="56">
                  <c:v>331775.0</c:v>
                </c:pt>
                <c:pt idx="57">
                  <c:v>331775.0</c:v>
                </c:pt>
                <c:pt idx="58">
                  <c:v>331775.0</c:v>
                </c:pt>
                <c:pt idx="59">
                  <c:v>331775.0</c:v>
                </c:pt>
                <c:pt idx="60">
                  <c:v>331775.0</c:v>
                </c:pt>
                <c:pt idx="61">
                  <c:v>331775.0</c:v>
                </c:pt>
                <c:pt idx="62">
                  <c:v>331775.0</c:v>
                </c:pt>
                <c:pt idx="63">
                  <c:v>331775.0</c:v>
                </c:pt>
                <c:pt idx="64">
                  <c:v>331775.0</c:v>
                </c:pt>
                <c:pt idx="65">
                  <c:v>331775.0</c:v>
                </c:pt>
                <c:pt idx="66">
                  <c:v>331775.0</c:v>
                </c:pt>
                <c:pt idx="67">
                  <c:v>331775.0</c:v>
                </c:pt>
                <c:pt idx="68">
                  <c:v>331775.0</c:v>
                </c:pt>
                <c:pt idx="69">
                  <c:v>331775.0</c:v>
                </c:pt>
                <c:pt idx="70">
                  <c:v>331775.0</c:v>
                </c:pt>
                <c:pt idx="71">
                  <c:v>331775.0</c:v>
                </c:pt>
                <c:pt idx="72">
                  <c:v>331775.0</c:v>
                </c:pt>
                <c:pt idx="73">
                  <c:v>331775.0</c:v>
                </c:pt>
                <c:pt idx="74">
                  <c:v>331775.0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非保证户口价值</c:v>
                </c:pt>
              </c:strCache>
            </c:strRef>
          </c:tx>
          <c:spPr>
            <a:ln w="31750">
              <a:solidFill>
                <a:srgbClr val="1B2A4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Sheet1!$C$2:$C$76</c:f>
              <c:numCache>
                <c:formatCode>General</c:formatCode>
                <c:ptCount val="75"/>
                <c:pt idx="0">
                  <c:v>50300</c:v>
                </c:pt>
                <c:pt idx="1">
                  <c:v>107975</c:v>
                </c:pt>
                <c:pt idx="2">
                  <c:v>169132</c:v>
                </c:pt>
                <c:pt idx="3">
                  <c:v>233981</c:v>
                </c:pt>
                <c:pt idx="4">
                  <c:v>303508</c:v>
                </c:pt>
                <c:pt idx="5">
                  <c:v>310920</c:v>
                </c:pt>
                <c:pt idx="6">
                  <c:v>318574</c:v>
                </c:pt>
                <c:pt idx="7">
                  <c:v>326469</c:v>
                </c:pt>
                <c:pt idx="8">
                  <c:v>334606</c:v>
                </c:pt>
                <c:pt idx="9">
                  <c:v>342950</c:v>
                </c:pt>
                <c:pt idx="10">
                  <c:v>351500</c:v>
                </c:pt>
                <c:pt idx="11">
                  <c:v>360223</c:v>
                </c:pt>
                <c:pt idx="12">
                  <c:v>369080</c:v>
                </c:pt>
                <c:pt idx="13">
                  <c:v>378052</c:v>
                </c:pt>
                <c:pt idx="14">
                  <c:v>387118</c:v>
                </c:pt>
                <c:pt idx="15">
                  <c:v>405608</c:v>
                </c:pt>
                <c:pt idx="16">
                  <c:v>424731</c:v>
                </c:pt>
                <c:pt idx="17">
                  <c:v>444476</c:v>
                </c:pt>
                <c:pt idx="18">
                  <c:v>464852</c:v>
                </c:pt>
                <c:pt idx="19">
                  <c:v>490561</c:v>
                </c:pt>
                <c:pt idx="20">
                  <c:v>517084</c:v>
                </c:pt>
                <c:pt idx="21">
                  <c:v>544807</c:v>
                </c:pt>
                <c:pt idx="22">
                  <c:v>573701</c:v>
                </c:pt>
                <c:pt idx="23">
                  <c:v>603707</c:v>
                </c:pt>
                <c:pt idx="24">
                  <c:v>634731</c:v>
                </c:pt>
                <c:pt idx="25">
                  <c:v>666761</c:v>
                </c:pt>
                <c:pt idx="26">
                  <c:v>699780</c:v>
                </c:pt>
                <c:pt idx="27">
                  <c:v>733764</c:v>
                </c:pt>
                <c:pt idx="28">
                  <c:v>768660</c:v>
                </c:pt>
                <c:pt idx="29">
                  <c:v>804423</c:v>
                </c:pt>
                <c:pt idx="30">
                  <c:v>840989</c:v>
                </c:pt>
                <c:pt idx="31">
                  <c:v>878303</c:v>
                </c:pt>
                <c:pt idx="32">
                  <c:v>916277</c:v>
                </c:pt>
                <c:pt idx="33">
                  <c:v>956118</c:v>
                </c:pt>
                <c:pt idx="34">
                  <c:v>996672</c:v>
                </c:pt>
                <c:pt idx="35">
                  <c:v>1037903</c:v>
                </c:pt>
                <c:pt idx="36">
                  <c:v>1079744</c:v>
                </c:pt>
                <c:pt idx="37">
                  <c:v>1119854</c:v>
                </c:pt>
                <c:pt idx="38">
                  <c:v>1160486</c:v>
                </c:pt>
                <c:pt idx="39">
                  <c:v>1201620</c:v>
                </c:pt>
                <c:pt idx="40">
                  <c:v>1243271</c:v>
                </c:pt>
                <c:pt idx="41">
                  <c:v>1285485</c:v>
                </c:pt>
                <c:pt idx="42">
                  <c:v>1328374</c:v>
                </c:pt>
                <c:pt idx="43">
                  <c:v>1372094</c:v>
                </c:pt>
                <c:pt idx="44">
                  <c:v>1416880</c:v>
                </c:pt>
                <c:pt idx="45">
                  <c:v>1463094</c:v>
                </c:pt>
                <c:pt idx="46">
                  <c:v>1510578</c:v>
                </c:pt>
                <c:pt idx="47">
                  <c:v>1559934</c:v>
                </c:pt>
                <c:pt idx="48">
                  <c:v>1612083</c:v>
                </c:pt>
                <c:pt idx="49">
                  <c:v>1668413</c:v>
                </c:pt>
                <c:pt idx="50">
                  <c:v>1731071</c:v>
                </c:pt>
                <c:pt idx="51">
                  <c:v>1803371</c:v>
                </c:pt>
                <c:pt idx="52">
                  <c:v>1890553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身故赔偿总保额</c:v>
                </c:pt>
              </c:strCache>
            </c:strRef>
          </c:tx>
          <c:spPr>
            <a:ln w="31750">
              <a:solidFill>
                <a:srgbClr val="8A6A2A"/>
              </a:solidFill>
            </a:ln>
          </c:spPr>
          <c:cat>
            <c:strRef>
              <c:f>Sheet1!$A$2:$A$76</c:f>
              <c:strCache>
                <c:ptCount val="75"/>
                <c:pt idx="0">
                  <c:v>Y1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Y10</c:v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>Y20</c:v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>Y30</c:v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>Y40</c:v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>Y50</c:v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>Y60</c:v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>Y70</c:v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</c:strCache>
            </c:strRef>
          </c:cat>
          <c:val>
            <c:numRef>
              <c:f>Sheet1!$D$2:$D$76</c:f>
              <c:numCache>
                <c:formatCode>General</c:formatCode>
                <c:ptCount val="75"/>
                <c:pt idx="0">
                  <c:v>2000000</c:v>
                </c:pt>
                <c:pt idx="1">
                  <c:v>2000000</c:v>
                </c:pt>
                <c:pt idx="2">
                  <c:v>2000000</c:v>
                </c:pt>
                <c:pt idx="3">
                  <c:v>2000000</c:v>
                </c:pt>
                <c:pt idx="4">
                  <c:v>2000000</c:v>
                </c:pt>
                <c:pt idx="5">
                  <c:v>2000000</c:v>
                </c:pt>
                <c:pt idx="6">
                  <c:v>2000000</c:v>
                </c:pt>
                <c:pt idx="7">
                  <c:v>2000000</c:v>
                </c:pt>
                <c:pt idx="8">
                  <c:v>2000000</c:v>
                </c:pt>
                <c:pt idx="9">
                  <c:v>2000000</c:v>
                </c:pt>
                <c:pt idx="10">
                  <c:v>2000000</c:v>
                </c:pt>
                <c:pt idx="11">
                  <c:v>2000000</c:v>
                </c:pt>
                <c:pt idx="12">
                  <c:v>2000000</c:v>
                </c:pt>
                <c:pt idx="13">
                  <c:v>2000000</c:v>
                </c:pt>
                <c:pt idx="14">
                  <c:v>2000000</c:v>
                </c:pt>
                <c:pt idx="15">
                  <c:v>2000000</c:v>
                </c:pt>
                <c:pt idx="16">
                  <c:v>2000000</c:v>
                </c:pt>
                <c:pt idx="17">
                  <c:v>2000000</c:v>
                </c:pt>
                <c:pt idx="18">
                  <c:v>2000000</c:v>
                </c:pt>
                <c:pt idx="19">
                  <c:v>2000000</c:v>
                </c:pt>
                <c:pt idx="20">
                  <c:v>2000000</c:v>
                </c:pt>
                <c:pt idx="21">
                  <c:v>2000000</c:v>
                </c:pt>
                <c:pt idx="22">
                  <c:v>2000000</c:v>
                </c:pt>
                <c:pt idx="23">
                  <c:v>2000000</c:v>
                </c:pt>
                <c:pt idx="24">
                  <c:v>2000000</c:v>
                </c:pt>
                <c:pt idx="25">
                  <c:v>2000000</c:v>
                </c:pt>
                <c:pt idx="26">
                  <c:v>2000000</c:v>
                </c:pt>
                <c:pt idx="27">
                  <c:v>2000000</c:v>
                </c:pt>
                <c:pt idx="28">
                  <c:v>2000000</c:v>
                </c:pt>
                <c:pt idx="29">
                  <c:v>2000000</c:v>
                </c:pt>
                <c:pt idx="30">
                  <c:v>2000000</c:v>
                </c:pt>
                <c:pt idx="31">
                  <c:v>2000000</c:v>
                </c:pt>
                <c:pt idx="32">
                  <c:v>2000000</c:v>
                </c:pt>
                <c:pt idx="33">
                  <c:v>2000000</c:v>
                </c:pt>
                <c:pt idx="34">
                  <c:v>2000000</c:v>
                </c:pt>
                <c:pt idx="35">
                  <c:v>2000000</c:v>
                </c:pt>
                <c:pt idx="36">
                  <c:v>2000000</c:v>
                </c:pt>
                <c:pt idx="37">
                  <c:v>2000000</c:v>
                </c:pt>
                <c:pt idx="38">
                  <c:v>2000000</c:v>
                </c:pt>
                <c:pt idx="39">
                  <c:v>2000000</c:v>
                </c:pt>
                <c:pt idx="40">
                  <c:v>2000000</c:v>
                </c:pt>
                <c:pt idx="41">
                  <c:v>2000000</c:v>
                </c:pt>
                <c:pt idx="42">
                  <c:v>2000000</c:v>
                </c:pt>
                <c:pt idx="43">
                  <c:v>2000000</c:v>
                </c:pt>
                <c:pt idx="44">
                  <c:v>2000000</c:v>
                </c:pt>
                <c:pt idx="45">
                  <c:v>2000000</c:v>
                </c:pt>
                <c:pt idx="46">
                  <c:v>2000000</c:v>
                </c:pt>
                <c:pt idx="47">
                  <c:v>2000000</c:v>
                </c:pt>
                <c:pt idx="48">
                  <c:v>2000000</c:v>
                </c:pt>
                <c:pt idx="49">
                  <c:v>2000000</c:v>
                </c:pt>
                <c:pt idx="50">
                  <c:v>2000000</c:v>
                </c:pt>
                <c:pt idx="51">
                  <c:v>2000000</c:v>
                </c:pt>
                <c:pt idx="52">
                  <c:v>2000000</c:v>
                </c:pt>
                <c:pt idx="53">
                  <c:v>2001077</c:v>
                </c:pt>
                <c:pt idx="54">
                  <c:v>2145588</c:v>
                </c:pt>
                <c:pt idx="55">
                  <c:v>2298958</c:v>
                </c:pt>
                <c:pt idx="56">
                  <c:v>2461860</c:v>
                </c:pt>
                <c:pt idx="57">
                  <c:v>2634887</c:v>
                </c:pt>
                <c:pt idx="58">
                  <c:v>2818668</c:v>
                </c:pt>
                <c:pt idx="59">
                  <c:v>3013873</c:v>
                </c:pt>
                <c:pt idx="60">
                  <c:v>3221210</c:v>
                </c:pt>
                <c:pt idx="61">
                  <c:v>3441434</c:v>
                </c:pt>
                <c:pt idx="62">
                  <c:v>3675345</c:v>
                </c:pt>
                <c:pt idx="63">
                  <c:v>3923796</c:v>
                </c:pt>
                <c:pt idx="64">
                  <c:v>4187688</c:v>
                </c:pt>
                <c:pt idx="65">
                  <c:v>4467983</c:v>
                </c:pt>
                <c:pt idx="66">
                  <c:v>4765699</c:v>
                </c:pt>
                <c:pt idx="67">
                  <c:v>5081919</c:v>
                </c:pt>
                <c:pt idx="68">
                  <c:v>5417794</c:v>
                </c:pt>
                <c:pt idx="69">
                  <c:v>5774545</c:v>
                </c:pt>
                <c:pt idx="70">
                  <c:v>6153469</c:v>
                </c:pt>
                <c:pt idx="71">
                  <c:v>6555945</c:v>
                </c:pt>
                <c:pt idx="72">
                  <c:v>6983437</c:v>
                </c:pt>
                <c:pt idx="73">
                  <c:v>7437499</c:v>
                </c:pt>
                <c:pt idx="74">
                  <c:v>7919783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/>
                </a:pPr>
                <a:r>
                  <a:t>保单年度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000000.0"/>
          <c:min val="0.0"/>
        </c:scaling>
        <c:delete val="0"/>
        <c:axPos val="l"/>
        <c:majorGridlines>
          <c:spPr>
            <a:ln>
              <a:solidFill>
                <a:srgbClr val="4A5A6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900"/>
                </a:pPr>
                <a:r>
                  <a:t>金额 (USD)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4A5A6A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盛II儲蓄保險–至尊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安盛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39111" cy="1097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1816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盛II儲蓄保險–至尊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储蓄保险至尊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医疗/危疾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财产保险 — 车险/家财险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资产管理 — 全球投资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法国安盛集团 (AXA)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1816年创立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全球最大保险集团之一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管理资产超1万亿欧元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1,387,972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2.78x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2,925,600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1,387,972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2,925,600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36,306,844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137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343,920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366,420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-5.34%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539,340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660,340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739,140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946,640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324,000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1,063,972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1,387,972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8.88%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1,442,556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1,947,556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2,415,600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2,925,600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3,490,960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4,007,960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526,500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4,964,928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5,491,428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552,500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9,754,516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10,307,016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18,776,028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19,344,028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583,000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35,723,844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36,306,844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67,543,888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68,141,888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613,000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127,278,896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127,891,896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628,000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239,404,908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240,032,908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479.07%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449,861,212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450,503,712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818.19%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5（5 岁）起 · 每年提取 USD 30,000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6016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57,428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-22.13%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336,420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366,420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-5.34%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476,907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656,907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907,735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5.44%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749,134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1,229,134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630,000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866,173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1,496,173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1,015,923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1,795,923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930,000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1,221,094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2,151,094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1,502,196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2,582,196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1,380,000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2,414,995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3,794,995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13.18%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1,680,000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4,128,447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5,808,447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7,344,830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9,324,830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25.21%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13,382,421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15,662,421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37.91%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2,580,000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24,715,813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27,295,813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59.55%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2,880,000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45,990,146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48,870,146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96.74%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3,180,000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85,924,995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89,104,995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161.10%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3,480,000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160,888,194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164,368,194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273.11%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3,780,000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301,604,424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305,384,424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469.05%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3,990,000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468,433,531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472,423,531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688.94%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Y5 起每年提取 USD 30,000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5 起每年提取 USD 30,000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511,022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330,000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577,735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420,000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645,227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540,000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796,515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2,850,000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30K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43,211,405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5（受保人 5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数据来源：安盛官方计划书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方案协同 · 完整的家庭财务规划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攻守兼备，进退自如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502920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💰 现金流引擎 · 香港储蓄险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📈 复利增长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长期 IRR 5.5-6.5%，30年翻5倍+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💱 多元货币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支持7-10种货币自由转换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✂️ 保单拆分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无限次拆分，多子女传承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🏛️ 税务递延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香港免税增长，无资本利得税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👑 定向传承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无限次变更受保人，类信托赔付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0D1B2A"/>
                </a:solidFill>
                <a:latin typeface="Calibri"/>
                <a:ea typeface="STHeiti Medium"/>
              </a:rPr>
              <a:t>💧 提取灵活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提取现金价值缴纳IUL保费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1737360"/>
            <a:ext cx="5029200" cy="45720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F8F9FB"/>
                </a:solidFill>
                <a:latin typeface="Calibri"/>
                <a:ea typeface="STHeiti Medium"/>
              </a:rPr>
              <a:t>📈 财富杠杆 · 新加坡IUL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3774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🛡️ 下行保护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25786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0%保证下限，市场跌不亏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288036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📊 指数挂钩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8152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挂钩标普500，上限率10%+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38328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🇸🇬 主权独立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358444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新加坡MAS监管，司法独立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88620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💰 美元资产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08736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美元计价，跨境资产配置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38912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🏛️ 免税传承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459028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身故赔偿免遗产税，隔离债务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92040"/>
            <a:ext cx="1188720" cy="20116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1">
                <a:solidFill>
                  <a:srgbClr val="8A6A2A"/>
                </a:solidFill>
                <a:latin typeface="Calibri"/>
                <a:ea typeface="STHeiti Medium"/>
              </a:rPr>
              <a:t>👨‍👩‍👧‍👦 多代规划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5093208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50" b="0">
                <a:solidFill>
                  <a:srgbClr val="1A2A3A"/>
                </a:solidFill>
                <a:latin typeface="Calibri"/>
                <a:ea typeface="STHeiti Medium"/>
              </a:rPr>
              <a:t>保障至120岁+，跨代传承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400" b="1">
                <a:solidFill>
                  <a:srgbClr val="0D1B2A"/>
                </a:solidFill>
                <a:latin typeface="Calibri"/>
                <a:ea typeface="STHeiti Medium"/>
              </a:rPr>
              <a:t>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8368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现金流 + 高杠杆 · 完美组合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储蓄提领缴纳IUL保费 → 稳定现金流 + 高额寿险保障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54864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💰 储蓄险 · 稳定现金流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4863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70F1A"/>
                </a:solidFill>
                <a:latin typeface="Calibri"/>
                <a:ea typeface="STHeiti Medium"/>
              </a:rPr>
              <a:t>从 5 岁起，每年提取 USD 30,000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80"/>
            <a:ext cx="5486399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这笔现金流可用于支付IUL保费，同时储蓄账户继续滚存增长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覆盖比例：约 45%（IUL年缴USD 66,355）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6616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8A6A2A"/>
                </a:solidFill>
                <a:latin typeface="Calibri"/>
                <a:ea typeface="STHeiti Medium"/>
              </a:rPr>
              <a:t>⬇ 保费支付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4864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4864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📈 IUL · 高杠杆寿险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54863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年缴保费 USD 66,355 × 5年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37760"/>
            <a:ext cx="5486399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 USD 2,000,000（约 6.0 倍总保费杠杆）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指数账户增长潜力，下行风险可控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保证最低派息率，保障本金安全</a:t>
            </a:r>
          </a:p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• 身故赔偿免遗产税，财富定向传承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4630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463040"/>
            <a:ext cx="5029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储蓄年提领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82880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  <a:latin typeface="Calibri"/>
                <a:ea typeface="STHeiti Medium"/>
              </a:rPr>
              <a:t>USD 30,000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468880"/>
            <a:ext cx="5029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56032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IUL年缴保费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8A6A2A"/>
                </a:solidFill>
                <a:latin typeface="Calibri"/>
                <a:ea typeface="STHeiti Medium"/>
              </a:rPr>
              <a:t>USD 66,355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47472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3474720"/>
            <a:ext cx="5029200" cy="5486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保费覆盖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84048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C8963E"/>
                </a:solidFill>
                <a:latin typeface="Calibri"/>
                <a:ea typeface="STHeiti Medium"/>
              </a:rPr>
              <a:t>45%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4480560"/>
            <a:ext cx="5029200" cy="54864"/>
          </a:xfrm>
          <a:prstGeom prst="rect">
            <a:avLst/>
          </a:prstGeom>
          <a:solidFill>
            <a:srgbClr val="4A5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IUL总保费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4632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4A5A6A"/>
                </a:solidFill>
                <a:latin typeface="Calibri"/>
                <a:ea typeface="STHeiti Medium"/>
              </a:rPr>
              <a:t>USD 331,775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4864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5486400"/>
            <a:ext cx="5029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77840"/>
            <a:ext cx="5029199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852160"/>
            <a:ext cx="502919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8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43600"/>
            <a:ext cx="11155680" cy="7315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💡 规划理念：储蓄险创造稳定现金流，IUL提供高额寿险保障。用储蓄收益缴纳IUL保费，一份投入双重收获。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3796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C8963E"/>
                </a:solidFill>
                <a:latin typeface="Calibri"/>
                <a:ea typeface="STHeiti Medium"/>
              </a:rPr>
              <a:t>财富杠杆 · 寿险保障篇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F8F9FB"/>
                </a:solidFill>
                <a:latin typeface="Calibri"/>
                <a:ea typeface="STHeiti Medium"/>
              </a:rPr>
              <a:t>高杠杆寿险规划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>
                <a:solidFill>
                  <a:srgbClr val="C8963E"/>
                </a:solidFill>
                <a:latin typeface="Calibri"/>
                <a:ea typeface="STHeiti Medium"/>
              </a:rPr>
              <a:t>用现金流撬动千万保障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931920"/>
            <a:ext cx="118872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D4B078"/>
                </a:solidFill>
                <a:latin typeface="Calibri"/>
                <a:ea typeface="STHeiti Medium"/>
              </a:rPr>
              <a:t>全美海外（新加坡） · 指数型万用寿险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关于全美海外（新加坡）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万用寿险 · 全美海外（新加坡）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349300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33172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盛II儲蓄保險–至尊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大额指数万能险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指数型万能寿险 — GIUL 3代系列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海外信托与保单统筹 — 资产隔离与税务合规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万能寿险 — 大额趸交/灵活缴费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保单融资与贴现 — 私人银行流动性方案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84048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2976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全美人寿总公司创立于1904年（旧金山）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5720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隶属荷兰全球人寿保险集团（Aegon N.V.）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S&amp;P A+ / Moody's A1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206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新加坡MAS全牌照寿险公司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13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万用寿险概要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保费 · 身故赔偿 · 杠杆倍数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年缴保费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共USD 331,775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2011680"/>
            <a:ext cx="2743200" cy="54864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身故赔偿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70F1A"/>
                </a:solidFill>
                <a:latin typeface="Calibri"/>
                <a:ea typeface="STHeiti Medium"/>
              </a:rPr>
              <a:t>USD 2,000,000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保障至终身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011680"/>
            <a:ext cx="2743200" cy="54864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杠杆倍数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8A6A2A"/>
                </a:solidFill>
                <a:latin typeface="Calibri"/>
                <a:ea typeface="STHeiti Medium"/>
              </a:rPr>
              <a:t>6.0x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身故赔偿/总保费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011680"/>
            <a:ext cx="27432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81160" y="201168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194560"/>
            <a:ext cx="2743199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受保人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468880"/>
            <a:ext cx="2743199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3017520"/>
            <a:ext cx="27431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46岁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产品特点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指数账户挂钩市场表现，享有增长潜力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保证最低派息率，下行风险可控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保费灵活缴付，可根据现金流调整</a:t>
            </a:r>
          </a:p>
          <a:p>
            <a:pPr>
              <a:lnSpc>
                <a:spcPts val="1900"/>
              </a:lnSpc>
            </a:pPr>
            <a:r>
              <a:rPr sz="1250">
                <a:solidFill>
                  <a:srgbClr val="1A2A3A"/>
                </a:solidFill>
                <a:latin typeface="STHeiti Medium"/>
              </a:rPr>
              <a:t>· 身故赔偿免遗产税，财富定向传承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已缴总保费 vs 身故赔偿总保额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保单年度 · 金额 · 杠杆效应趋势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457200" cy="27432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0" y="1554480"/>
            <a:ext cx="3200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5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691640"/>
            <a:ext cx="28346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  <a:latin typeface="Calibri"/>
                <a:ea typeface="STHeiti Medium"/>
              </a:rPr>
              <a:t>📊 关键数据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965960"/>
            <a:ext cx="2834640" cy="18288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94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年缴保费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66,355 × 5年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总保费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331,775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身故保额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USD 2,000,000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保费杠杆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6.0x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5A6A"/>
                </a:solidFill>
              </a:defRPr>
            </a:pPr>
            <a:r>
              <a:t>保额锁定</a:t>
            </a:r>
          </a:p>
          <a:p>
            <a:pPr>
              <a:defRPr sz="1400" b="1">
                <a:solidFill>
                  <a:srgbClr val="0D1B2A"/>
                </a:solidFill>
              </a:defRPr>
            </a:pPr>
            <a:r>
              <a:t>缴费期内锁定额度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303520"/>
            <a:ext cx="283464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蓝色为累计已缴保费（5年缴清后持平），金色为身故赔偿保额。两条线的间距体现保费杠杆效应。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TA  |  全美海外（新加坡）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15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02920"/>
            <a:ext cx="73152" cy="32004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保单摘要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9144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4A5A6A"/>
                </a:solidFill>
                <a:latin typeface="Calibri"/>
                <a:ea typeface="STHeiti Medium"/>
              </a:rPr>
              <a:t>年龄 · 保单年度 · 保费 · 户口价值(非保证) · 保额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0515600" cy="13716"/>
          </a:xfrm>
          <a:prstGeom prst="rect">
            <a:avLst/>
          </a:prstGeom>
          <a:solidFill>
            <a:srgbClr val="D4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371600"/>
          <a:ext cx="10972800" cy="5907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645920"/>
                <a:gridCol w="1828800"/>
                <a:gridCol w="256032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年龄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保单年度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年缴保费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累计已缴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户口价值 非保证(USD)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保额 (USD)</a:t>
                      </a:r>
                    </a:p>
                  </a:txBody>
                  <a:tcPr anchor="ctr">
                    <a:solidFill>
                      <a:srgbClr val="0D1B2A"/>
                    </a:solidFill>
                    <a:lnB w="12700">
                      <a:solidFill>
                        <a:srgbClr val="C8963E"/>
                      </a:solidFill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50,300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132,710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107,975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199,065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169,132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265,420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233,981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66,355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303,508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310,920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318,574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326,469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334,606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8A6A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D4B0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342,950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490,561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804,423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1,201,620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1,668,413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2,000,000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3,013,873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331,775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8963E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0D1B2A"/>
                          </a:solidFill>
                        </a:defRPr>
                      </a:pPr>
                      <a:r>
                        <a:t>5,774,545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7351776"/>
            <a:ext cx="1051560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7351776"/>
            <a:ext cx="103327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1A2A3A"/>
                </a:solidFill>
                <a:latin typeface="Calibri"/>
                <a:ea typeface="STHeiti Medium"/>
              </a:rPr>
              <a:t>总缴保费: USD 331,775  预期回本年度: 第9年  末年倍数: 17.4x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671816"/>
            <a:ext cx="109728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17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2,925,600。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Y5 起每年提取 USD 30,000，覆盖小学到大学。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480,000，本金仍持续滚存。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30K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AXA  |  安盛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000" b="1">
                <a:solidFill>
                  <a:srgbClr val="F8F9FB"/>
                </a:solidFill>
                <a:latin typeface="Calibri"/>
                <a:ea typeface="STHeiti Medium"/>
              </a:rPr>
              <a:t>一份规划，三重守护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200" b="1">
                <a:solidFill>
                  <a:srgbClr val="C8963E"/>
                </a:solidFill>
                <a:latin typeface="Calibri"/>
                <a:ea typeface="STHeiti Medium"/>
              </a:rPr>
              <a:t>现金流 + 保障 + 杠杆 · 完整的家庭财务规划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356616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本演示基于保险公司官方计划书数据生成 · 实际保单条款以保单文件为准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