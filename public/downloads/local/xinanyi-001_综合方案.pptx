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32202</c:v>
                </c:pt>
                <c:pt idx="1">
                  <c:v>93901</c:v>
                </c:pt>
                <c:pt idx="2">
                  <c:v>196103</c:v>
                </c:pt>
                <c:pt idx="3">
                  <c:v>219503</c:v>
                </c:pt>
                <c:pt idx="4">
                  <c:v>244403</c:v>
                </c:pt>
                <c:pt idx="5">
                  <c:v>300003</c:v>
                </c:pt>
                <c:pt idx="6">
                  <c:v>323076</c:v>
                </c:pt>
                <c:pt idx="7">
                  <c:v>346152</c:v>
                </c:pt>
                <c:pt idx="8">
                  <c:v>369229</c:v>
                </c:pt>
                <c:pt idx="9">
                  <c:v>392305</c:v>
                </c:pt>
                <c:pt idx="10">
                  <c:v>408403</c:v>
                </c:pt>
                <c:pt idx="11">
                  <c:v>422110</c:v>
                </c:pt>
                <c:pt idx="12">
                  <c:v>436423</c:v>
                </c:pt>
                <c:pt idx="13">
                  <c:v>451397</c:v>
                </c:pt>
                <c:pt idx="14">
                  <c:v>466430</c:v>
                </c:pt>
                <c:pt idx="15">
                  <c:v>482756</c:v>
                </c:pt>
                <c:pt idx="16">
                  <c:v>499850</c:v>
                </c:pt>
                <c:pt idx="17">
                  <c:v>517751</c:v>
                </c:pt>
                <c:pt idx="18">
                  <c:v>536498</c:v>
                </c:pt>
                <c:pt idx="19">
                  <c:v>556140</c:v>
                </c:pt>
                <c:pt idx="20">
                  <c:v>576723</c:v>
                </c:pt>
                <c:pt idx="21">
                  <c:v>598302</c:v>
                </c:pt>
                <c:pt idx="22">
                  <c:v>620925</c:v>
                </c:pt>
                <c:pt idx="23">
                  <c:v>644652</c:v>
                </c:pt>
                <c:pt idx="24">
                  <c:v>669547</c:v>
                </c:pt>
                <c:pt idx="25">
                  <c:v>695668</c:v>
                </c:pt>
                <c:pt idx="26">
                  <c:v>723091</c:v>
                </c:pt>
                <c:pt idx="27">
                  <c:v>751883</c:v>
                </c:pt>
                <c:pt idx="28">
                  <c:v>782123</c:v>
                </c:pt>
                <c:pt idx="29">
                  <c:v>813893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32202</c:v>
                </c:pt>
                <c:pt idx="1">
                  <c:v>93901</c:v>
                </c:pt>
                <c:pt idx="2">
                  <c:v>196103</c:v>
                </c:pt>
                <c:pt idx="3">
                  <c:v>219503</c:v>
                </c:pt>
                <c:pt idx="4">
                  <c:v>244403</c:v>
                </c:pt>
                <c:pt idx="5">
                  <c:v>300003</c:v>
                </c:pt>
                <c:pt idx="6">
                  <c:v>323076</c:v>
                </c:pt>
                <c:pt idx="7">
                  <c:v>346152</c:v>
                </c:pt>
                <c:pt idx="8">
                  <c:v>369229</c:v>
                </c:pt>
                <c:pt idx="9">
                  <c:v>392305</c:v>
                </c:pt>
                <c:pt idx="10">
                  <c:v>408403</c:v>
                </c:pt>
                <c:pt idx="11">
                  <c:v>422110</c:v>
                </c:pt>
                <c:pt idx="12">
                  <c:v>436423</c:v>
                </c:pt>
                <c:pt idx="13">
                  <c:v>451397</c:v>
                </c:pt>
                <c:pt idx="14">
                  <c:v>466430</c:v>
                </c:pt>
                <c:pt idx="15">
                  <c:v>482756</c:v>
                </c:pt>
                <c:pt idx="16">
                  <c:v>499850</c:v>
                </c:pt>
                <c:pt idx="17">
                  <c:v>517751</c:v>
                </c:pt>
                <c:pt idx="18">
                  <c:v>536498</c:v>
                </c:pt>
                <c:pt idx="19">
                  <c:v>556140</c:v>
                </c:pt>
                <c:pt idx="20">
                  <c:v>576723</c:v>
                </c:pt>
                <c:pt idx="21">
                  <c:v>598302</c:v>
                </c:pt>
                <c:pt idx="22">
                  <c:v>620925</c:v>
                </c:pt>
                <c:pt idx="23">
                  <c:v>644652</c:v>
                </c:pt>
                <c:pt idx="24">
                  <c:v>669547</c:v>
                </c:pt>
                <c:pt idx="25">
                  <c:v>695668</c:v>
                </c:pt>
                <c:pt idx="26">
                  <c:v>723091</c:v>
                </c:pt>
                <c:pt idx="27">
                  <c:v>751883</c:v>
                </c:pt>
                <c:pt idx="28">
                  <c:v>782123</c:v>
                </c:pt>
                <c:pt idx="29">
                  <c:v>813893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安逸储蓄保险计划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3年缴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富卫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947339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盈聚天下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盈聚系列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退休规划 — 年金/财富管理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盈科拓展集团旗下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业务覆盖亚洲10个市场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致力保险创新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556,140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1.85x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813,893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x1.85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556,140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813,893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数据来源：富卫官方计划书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30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32,202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32,202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-89.27%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244,403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244,403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-3.71%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392,305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392,305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466,430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466,430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3.70%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556,140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556,140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669,547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669,547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813,893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813,893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已缴保费：3年×计划 = USD 300,000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数据来源：富卫官方计划书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退保发还金额增长趋势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关键年限数据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329184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保单年度 5    |    5 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退保发还总额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88920"/>
            <a:ext cx="329183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USD 244,403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329183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倍数: 0.81x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57600"/>
            <a:ext cx="32918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保证: USD 244,403    非保证: USD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114800"/>
            <a:ext cx="2174766999098" cy="109728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114800"/>
            <a:ext cx="2174766999098" cy="1097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0116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2011680"/>
            <a:ext cx="329184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14884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保单年度 10    |    10 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56032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退保发还总额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88920"/>
            <a:ext cx="329183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USD 392,305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37560"/>
            <a:ext cx="329183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倍数: 1.31x    |    IRR: 2.72%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57600"/>
            <a:ext cx="32918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保证: USD 392,305    非保证: USD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114800"/>
            <a:ext cx="2174766999098" cy="109728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4114800"/>
            <a:ext cx="2174766999098" cy="1097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0116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011680"/>
            <a:ext cx="329184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4884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保单年度 15    |    15 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032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退保发还总额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788920"/>
            <a:ext cx="329183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USD 466,430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37560"/>
            <a:ext cx="329183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倍数: 1.55x    |    IRR: 2.99%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657600"/>
            <a:ext cx="32918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保证: USD 466,430    非保证: USD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114800"/>
            <a:ext cx="2174766999098" cy="109728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4114800"/>
            <a:ext cx="2174766999098" cy="1097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47548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4754880"/>
            <a:ext cx="329184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89204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保单年度 20    |    20 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30352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退保发还总额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532120"/>
            <a:ext cx="329183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USD 556,140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080760"/>
            <a:ext cx="329183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倍数: 1.85x    |    IRR: 3.13%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400800"/>
            <a:ext cx="32918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保证: USD 556,140    非保证: USD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6858000"/>
            <a:ext cx="2174766999098" cy="109728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97280" y="6858000"/>
            <a:ext cx="2174766999098" cy="1097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0560" y="47548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80560" y="4754880"/>
            <a:ext cx="329184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489204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保单年度 25    |    25 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530352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退保发还总额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532120"/>
            <a:ext cx="329183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USD 669,547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6080760"/>
            <a:ext cx="329183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倍数: 2.23x    |    IRR: 3.26%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6400800"/>
            <a:ext cx="32918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保证: USD 669,547    非保证: USD 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6858000"/>
            <a:ext cx="2174766999098" cy="109728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3440" y="6858000"/>
            <a:ext cx="2174766999098" cy="1097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47548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0" y="4754880"/>
            <a:ext cx="329184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489204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保单年度 30    |    30 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303520"/>
            <a:ext cx="32918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退保发还总额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532120"/>
            <a:ext cx="329183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USD 813,893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6080760"/>
            <a:ext cx="329183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倍数: 2.71x    |    IRR: 3.38%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6400800"/>
            <a:ext cx="32918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保证: USD 813,893    非保证: USD 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6858000"/>
            <a:ext cx="2174766999098" cy="109728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6858000"/>
            <a:ext cx="2174766999098" cy="10972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所有数据均直接源自富卫官方计划书原文（pdfplumber按列精确提取）；如需进一步核验，可逐项对照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300,000，后续无需再缴费。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813,893。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保单持续滚存，可灵活提取现金价值应对人生各阶段需求。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灵活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支取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FWD  |  富卫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本演示基于富卫官方计划书数据生成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