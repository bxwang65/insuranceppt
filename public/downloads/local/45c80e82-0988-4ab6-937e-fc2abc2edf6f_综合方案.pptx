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1250</c:v>
                </c:pt>
                <c:pt idx="1">
                  <c:v>7000</c:v>
                </c:pt>
                <c:pt idx="2">
                  <c:v>17000</c:v>
                </c:pt>
                <c:pt idx="3">
                  <c:v>115000</c:v>
                </c:pt>
                <c:pt idx="4">
                  <c:v>285000</c:v>
                </c:pt>
                <c:pt idx="5">
                  <c:v>295000</c:v>
                </c:pt>
                <c:pt idx="6">
                  <c:v>302000</c:v>
                </c:pt>
                <c:pt idx="7">
                  <c:v>317500</c:v>
                </c:pt>
                <c:pt idx="8">
                  <c:v>328500</c:v>
                </c:pt>
                <c:pt idx="9">
                  <c:v>337000</c:v>
                </c:pt>
                <c:pt idx="10">
                  <c:v>346500</c:v>
                </c:pt>
                <c:pt idx="11">
                  <c:v>357000</c:v>
                </c:pt>
                <c:pt idx="12">
                  <c:v>367500</c:v>
                </c:pt>
                <c:pt idx="13">
                  <c:v>392000</c:v>
                </c:pt>
                <c:pt idx="14">
                  <c:v>418000</c:v>
                </c:pt>
                <c:pt idx="15">
                  <c:v>500000</c:v>
                </c:pt>
                <c:pt idx="16">
                  <c:v>500585</c:v>
                </c:pt>
                <c:pt idx="17">
                  <c:v>501355</c:v>
                </c:pt>
                <c:pt idx="18">
                  <c:v>501800</c:v>
                </c:pt>
                <c:pt idx="19">
                  <c:v>502345</c:v>
                </c:pt>
                <c:pt idx="20">
                  <c:v>502600</c:v>
                </c:pt>
                <c:pt idx="21">
                  <c:v>502850</c:v>
                </c:pt>
                <c:pt idx="22">
                  <c:v>503105</c:v>
                </c:pt>
                <c:pt idx="23">
                  <c:v>503360</c:v>
                </c:pt>
                <c:pt idx="24">
                  <c:v>503615</c:v>
                </c:pt>
                <c:pt idx="25">
                  <c:v>503870</c:v>
                </c:pt>
                <c:pt idx="26">
                  <c:v>504070</c:v>
                </c:pt>
                <c:pt idx="27">
                  <c:v>504210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12881</c:v>
                </c:pt>
                <c:pt idx="1">
                  <c:v>25854</c:v>
                </c:pt>
                <c:pt idx="2">
                  <c:v>80950</c:v>
                </c:pt>
                <c:pt idx="3">
                  <c:v>93523</c:v>
                </c:pt>
                <c:pt idx="4">
                  <c:v>215750</c:v>
                </c:pt>
                <c:pt idx="5">
                  <c:v>240576</c:v>
                </c:pt>
                <c:pt idx="6">
                  <c:v>254203</c:v>
                </c:pt>
                <c:pt idx="7">
                  <c:v>331479</c:v>
                </c:pt>
                <c:pt idx="8">
                  <c:v>342487</c:v>
                </c:pt>
                <c:pt idx="9">
                  <c:v>377583</c:v>
                </c:pt>
                <c:pt idx="10">
                  <c:v>417850</c:v>
                </c:pt>
                <c:pt idx="11">
                  <c:v>466437</c:v>
                </c:pt>
                <c:pt idx="12">
                  <c:v>550816</c:v>
                </c:pt>
                <c:pt idx="13">
                  <c:v>575310</c:v>
                </c:pt>
                <c:pt idx="14">
                  <c:v>598766</c:v>
                </c:pt>
                <c:pt idx="15">
                  <c:v>612636</c:v>
                </c:pt>
                <c:pt idx="16">
                  <c:v>691947</c:v>
                </c:pt>
                <c:pt idx="17">
                  <c:v>846010</c:v>
                </c:pt>
                <c:pt idx="18">
                  <c:v>928321</c:v>
                </c:pt>
                <c:pt idx="19">
                  <c:v>1034958</c:v>
                </c:pt>
                <c:pt idx="20">
                  <c:v>1142841</c:v>
                </c:pt>
                <c:pt idx="21">
                  <c:v>1305041</c:v>
                </c:pt>
                <c:pt idx="22">
                  <c:v>1568168</c:v>
                </c:pt>
                <c:pt idx="23">
                  <c:v>1705589</c:v>
                </c:pt>
                <c:pt idx="24">
                  <c:v>1853802</c:v>
                </c:pt>
                <c:pt idx="25">
                  <c:v>2010189</c:v>
                </c:pt>
                <c:pt idx="26">
                  <c:v>2172761</c:v>
                </c:pt>
                <c:pt idx="27">
                  <c:v>2423174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14131</c:v>
                </c:pt>
                <c:pt idx="1">
                  <c:v>32854</c:v>
                </c:pt>
                <c:pt idx="2">
                  <c:v>97950</c:v>
                </c:pt>
                <c:pt idx="3">
                  <c:v>208523</c:v>
                </c:pt>
                <c:pt idx="4">
                  <c:v>500750</c:v>
                </c:pt>
                <c:pt idx="5">
                  <c:v>535576</c:v>
                </c:pt>
                <c:pt idx="6">
                  <c:v>556203</c:v>
                </c:pt>
                <c:pt idx="7">
                  <c:v>648979</c:v>
                </c:pt>
                <c:pt idx="8">
                  <c:v>670987</c:v>
                </c:pt>
                <c:pt idx="9">
                  <c:v>714583</c:v>
                </c:pt>
                <c:pt idx="10">
                  <c:v>764350</c:v>
                </c:pt>
                <c:pt idx="11">
                  <c:v>823437</c:v>
                </c:pt>
                <c:pt idx="12">
                  <c:v>918316</c:v>
                </c:pt>
                <c:pt idx="13">
                  <c:v>967310</c:v>
                </c:pt>
                <c:pt idx="14">
                  <c:v>1016766</c:v>
                </c:pt>
                <c:pt idx="15">
                  <c:v>1112636</c:v>
                </c:pt>
                <c:pt idx="16">
                  <c:v>1192532</c:v>
                </c:pt>
                <c:pt idx="17">
                  <c:v>1347365</c:v>
                </c:pt>
                <c:pt idx="18">
                  <c:v>1430121</c:v>
                </c:pt>
                <c:pt idx="19">
                  <c:v>1537303</c:v>
                </c:pt>
                <c:pt idx="20">
                  <c:v>1645441</c:v>
                </c:pt>
                <c:pt idx="21">
                  <c:v>1807891</c:v>
                </c:pt>
                <c:pt idx="22">
                  <c:v>2071273</c:v>
                </c:pt>
                <c:pt idx="23">
                  <c:v>2208949</c:v>
                </c:pt>
                <c:pt idx="24">
                  <c:v>2357417</c:v>
                </c:pt>
                <c:pt idx="25">
                  <c:v>2514059</c:v>
                </c:pt>
                <c:pt idx="26">
                  <c:v>2676831</c:v>
                </c:pt>
                <c:pt idx="27">
                  <c:v>2927384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14131</c:v>
                </c:pt>
                <c:pt idx="1">
                  <c:v>32854</c:v>
                </c:pt>
                <c:pt idx="2">
                  <c:v>97950</c:v>
                </c:pt>
                <c:pt idx="3">
                  <c:v>648979</c:v>
                </c:pt>
                <c:pt idx="4">
                  <c:v>918316</c:v>
                </c:pt>
                <c:pt idx="5">
                  <c:v>1347365</c:v>
                </c:pt>
                <c:pt idx="6">
                  <c:v>2071273</c:v>
                </c:pt>
                <c:pt idx="7">
                  <c:v>2927384</c:v>
                </c:pt>
                <c:pt idx="8">
                  <c:v>3117667</c:v>
                </c:pt>
                <c:pt idx="9">
                  <c:v>5852284</c:v>
                </c:pt>
                <c:pt idx="10">
                  <c:v>10985543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14131</c:v>
                </c:pt>
                <c:pt idx="1">
                  <c:v>32854</c:v>
                </c:pt>
                <c:pt idx="2">
                  <c:v>97950</c:v>
                </c:pt>
                <c:pt idx="3">
                  <c:v>634579</c:v>
                </c:pt>
                <c:pt idx="4">
                  <c:v>829960</c:v>
                </c:pt>
                <c:pt idx="5">
                  <c:v>1070027</c:v>
                </c:pt>
                <c:pt idx="6">
                  <c:v>1391701</c:v>
                </c:pt>
                <c:pt idx="7">
                  <c:v>1710635</c:v>
                </c:pt>
                <c:pt idx="8">
                  <c:v>1775489</c:v>
                </c:pt>
                <c:pt idx="9">
                  <c:v>2573689</c:v>
                </c:pt>
                <c:pt idx="10">
                  <c:v>3805420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86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31750">
              <a:solidFill>
                <a:srgbClr val="0D1B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66355.0</c:v>
                </c:pt>
                <c:pt idx="1">
                  <c:v>132710.0</c:v>
                </c:pt>
                <c:pt idx="2">
                  <c:v>199065.0</c:v>
                </c:pt>
                <c:pt idx="3">
                  <c:v>265420.0</c:v>
                </c:pt>
                <c:pt idx="4">
                  <c:v>331775.0</c:v>
                </c:pt>
                <c:pt idx="5">
                  <c:v>331775.0</c:v>
                </c:pt>
                <c:pt idx="6">
                  <c:v>331775.0</c:v>
                </c:pt>
                <c:pt idx="7">
                  <c:v>331775.0</c:v>
                </c:pt>
                <c:pt idx="8">
                  <c:v>331775.0</c:v>
                </c:pt>
                <c:pt idx="9">
                  <c:v>331775.0</c:v>
                </c:pt>
                <c:pt idx="10">
                  <c:v>331775.0</c:v>
                </c:pt>
                <c:pt idx="11">
                  <c:v>331775.0</c:v>
                </c:pt>
                <c:pt idx="12">
                  <c:v>331775.0</c:v>
                </c:pt>
                <c:pt idx="13">
                  <c:v>331775.0</c:v>
                </c:pt>
                <c:pt idx="14">
                  <c:v>331775.0</c:v>
                </c:pt>
                <c:pt idx="15">
                  <c:v>331775.0</c:v>
                </c:pt>
                <c:pt idx="16">
                  <c:v>331775.0</c:v>
                </c:pt>
                <c:pt idx="17">
                  <c:v>331775.0</c:v>
                </c:pt>
                <c:pt idx="18">
                  <c:v>331775.0</c:v>
                </c:pt>
                <c:pt idx="19">
                  <c:v>331775.0</c:v>
                </c:pt>
                <c:pt idx="20">
                  <c:v>331775.0</c:v>
                </c:pt>
                <c:pt idx="21">
                  <c:v>331775.0</c:v>
                </c:pt>
                <c:pt idx="22">
                  <c:v>331775.0</c:v>
                </c:pt>
                <c:pt idx="23">
                  <c:v>331775.0</c:v>
                </c:pt>
                <c:pt idx="24">
                  <c:v>331775.0</c:v>
                </c:pt>
                <c:pt idx="25">
                  <c:v>331775.0</c:v>
                </c:pt>
                <c:pt idx="26">
                  <c:v>331775.0</c:v>
                </c:pt>
                <c:pt idx="27">
                  <c:v>331775.0</c:v>
                </c:pt>
                <c:pt idx="28">
                  <c:v>331775.0</c:v>
                </c:pt>
                <c:pt idx="29">
                  <c:v>331775.0</c:v>
                </c:pt>
                <c:pt idx="30">
                  <c:v>331775.0</c:v>
                </c:pt>
                <c:pt idx="31">
                  <c:v>331775.0</c:v>
                </c:pt>
                <c:pt idx="32">
                  <c:v>331775.0</c:v>
                </c:pt>
                <c:pt idx="33">
                  <c:v>331775.0</c:v>
                </c:pt>
                <c:pt idx="34">
                  <c:v>331775.0</c:v>
                </c:pt>
                <c:pt idx="35">
                  <c:v>331775.0</c:v>
                </c:pt>
                <c:pt idx="36">
                  <c:v>331775.0</c:v>
                </c:pt>
                <c:pt idx="37">
                  <c:v>331775.0</c:v>
                </c:pt>
                <c:pt idx="38">
                  <c:v>331775.0</c:v>
                </c:pt>
                <c:pt idx="39">
                  <c:v>331775.0</c:v>
                </c:pt>
                <c:pt idx="40">
                  <c:v>331775.0</c:v>
                </c:pt>
                <c:pt idx="41">
                  <c:v>331775.0</c:v>
                </c:pt>
                <c:pt idx="42">
                  <c:v>331775.0</c:v>
                </c:pt>
                <c:pt idx="43">
                  <c:v>331775.0</c:v>
                </c:pt>
                <c:pt idx="44">
                  <c:v>331775.0</c:v>
                </c:pt>
                <c:pt idx="45">
                  <c:v>331775.0</c:v>
                </c:pt>
                <c:pt idx="46">
                  <c:v>331775.0</c:v>
                </c:pt>
                <c:pt idx="47">
                  <c:v>331775.0</c:v>
                </c:pt>
                <c:pt idx="48">
                  <c:v>331775.0</c:v>
                </c:pt>
                <c:pt idx="49">
                  <c:v>331775.0</c:v>
                </c:pt>
                <c:pt idx="50">
                  <c:v>331775.0</c:v>
                </c:pt>
                <c:pt idx="51">
                  <c:v>331775.0</c:v>
                </c:pt>
                <c:pt idx="52">
                  <c:v>331775.0</c:v>
                </c:pt>
                <c:pt idx="53">
                  <c:v>331775.0</c:v>
                </c:pt>
                <c:pt idx="54">
                  <c:v>331775.0</c:v>
                </c:pt>
                <c:pt idx="55">
                  <c:v>331775.0</c:v>
                </c:pt>
                <c:pt idx="56">
                  <c:v>331775.0</c:v>
                </c:pt>
                <c:pt idx="57">
                  <c:v>331775.0</c:v>
                </c:pt>
                <c:pt idx="58">
                  <c:v>331775.0</c:v>
                </c:pt>
                <c:pt idx="59">
                  <c:v>331775.0</c:v>
                </c:pt>
                <c:pt idx="60">
                  <c:v>331775.0</c:v>
                </c:pt>
                <c:pt idx="61">
                  <c:v>331775.0</c:v>
                </c:pt>
                <c:pt idx="62">
                  <c:v>331775.0</c:v>
                </c:pt>
                <c:pt idx="63">
                  <c:v>331775.0</c:v>
                </c:pt>
                <c:pt idx="64">
                  <c:v>331775.0</c:v>
                </c:pt>
                <c:pt idx="65">
                  <c:v>331775.0</c:v>
                </c:pt>
                <c:pt idx="66">
                  <c:v>331775.0</c:v>
                </c:pt>
                <c:pt idx="67">
                  <c:v>331775.0</c:v>
                </c:pt>
                <c:pt idx="68">
                  <c:v>331775.0</c:v>
                </c:pt>
                <c:pt idx="69">
                  <c:v>331775.0</c:v>
                </c:pt>
                <c:pt idx="70">
                  <c:v>331775.0</c:v>
                </c:pt>
                <c:pt idx="71">
                  <c:v>331775.0</c:v>
                </c:pt>
                <c:pt idx="72">
                  <c:v>331775.0</c:v>
                </c:pt>
                <c:pt idx="73">
                  <c:v>331775.0</c:v>
                </c:pt>
                <c:pt idx="74">
                  <c:v>331775.0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非保证户口价值</c:v>
                </c:pt>
              </c:strCache>
            </c:strRef>
          </c:tx>
          <c:spPr>
            <a:ln w="31750">
              <a:solidFill>
                <a:srgbClr val="1B2A4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50300</c:v>
                </c:pt>
                <c:pt idx="1">
                  <c:v>107975</c:v>
                </c:pt>
                <c:pt idx="2">
                  <c:v>169132</c:v>
                </c:pt>
                <c:pt idx="3">
                  <c:v>233981</c:v>
                </c:pt>
                <c:pt idx="4">
                  <c:v>303508</c:v>
                </c:pt>
                <c:pt idx="5">
                  <c:v>310920</c:v>
                </c:pt>
                <c:pt idx="6">
                  <c:v>318574</c:v>
                </c:pt>
                <c:pt idx="7">
                  <c:v>326469</c:v>
                </c:pt>
                <c:pt idx="8">
                  <c:v>334606</c:v>
                </c:pt>
                <c:pt idx="9">
                  <c:v>342950</c:v>
                </c:pt>
                <c:pt idx="10">
                  <c:v>351500</c:v>
                </c:pt>
                <c:pt idx="11">
                  <c:v>360223</c:v>
                </c:pt>
                <c:pt idx="12">
                  <c:v>369080</c:v>
                </c:pt>
                <c:pt idx="13">
                  <c:v>378052</c:v>
                </c:pt>
                <c:pt idx="14">
                  <c:v>387118</c:v>
                </c:pt>
                <c:pt idx="15">
                  <c:v>405608</c:v>
                </c:pt>
                <c:pt idx="16">
                  <c:v>424731</c:v>
                </c:pt>
                <c:pt idx="17">
                  <c:v>444476</c:v>
                </c:pt>
                <c:pt idx="18">
                  <c:v>464852</c:v>
                </c:pt>
                <c:pt idx="19">
                  <c:v>490561</c:v>
                </c:pt>
                <c:pt idx="20">
                  <c:v>517084</c:v>
                </c:pt>
                <c:pt idx="21">
                  <c:v>544807</c:v>
                </c:pt>
                <c:pt idx="22">
                  <c:v>573701</c:v>
                </c:pt>
                <c:pt idx="23">
                  <c:v>603707</c:v>
                </c:pt>
                <c:pt idx="24">
                  <c:v>634731</c:v>
                </c:pt>
                <c:pt idx="25">
                  <c:v>666761</c:v>
                </c:pt>
                <c:pt idx="26">
                  <c:v>699780</c:v>
                </c:pt>
                <c:pt idx="27">
                  <c:v>733764</c:v>
                </c:pt>
                <c:pt idx="28">
                  <c:v>768660</c:v>
                </c:pt>
                <c:pt idx="29">
                  <c:v>804423</c:v>
                </c:pt>
                <c:pt idx="30">
                  <c:v>840989</c:v>
                </c:pt>
                <c:pt idx="31">
                  <c:v>878303</c:v>
                </c:pt>
                <c:pt idx="32">
                  <c:v>916277</c:v>
                </c:pt>
                <c:pt idx="33">
                  <c:v>956118</c:v>
                </c:pt>
                <c:pt idx="34">
                  <c:v>996672</c:v>
                </c:pt>
                <c:pt idx="35">
                  <c:v>1037903</c:v>
                </c:pt>
                <c:pt idx="36">
                  <c:v>1079744</c:v>
                </c:pt>
                <c:pt idx="37">
                  <c:v>1119854</c:v>
                </c:pt>
                <c:pt idx="38">
                  <c:v>1160486</c:v>
                </c:pt>
                <c:pt idx="39">
                  <c:v>1201620</c:v>
                </c:pt>
                <c:pt idx="40">
                  <c:v>1243271</c:v>
                </c:pt>
                <c:pt idx="41">
                  <c:v>1285485</c:v>
                </c:pt>
                <c:pt idx="42">
                  <c:v>1328374</c:v>
                </c:pt>
                <c:pt idx="43">
                  <c:v>1372094</c:v>
                </c:pt>
                <c:pt idx="44">
                  <c:v>1416880</c:v>
                </c:pt>
                <c:pt idx="45">
                  <c:v>1463094</c:v>
                </c:pt>
                <c:pt idx="46">
                  <c:v>1510578</c:v>
                </c:pt>
                <c:pt idx="47">
                  <c:v>1559934</c:v>
                </c:pt>
                <c:pt idx="48">
                  <c:v>1612083</c:v>
                </c:pt>
                <c:pt idx="49">
                  <c:v>1668413</c:v>
                </c:pt>
                <c:pt idx="50">
                  <c:v>1731071</c:v>
                </c:pt>
                <c:pt idx="51">
                  <c:v>1803371</c:v>
                </c:pt>
                <c:pt idx="52">
                  <c:v>1890553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身故赔偿总保额</c:v>
                </c:pt>
              </c:strCache>
            </c:strRef>
          </c:tx>
          <c:spPr>
            <a:ln w="31750">
              <a:solidFill>
                <a:srgbClr val="8A6A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  <c:pt idx="8">
                  <c:v>2000000</c:v>
                </c:pt>
                <c:pt idx="9">
                  <c:v>2000000</c:v>
                </c:pt>
                <c:pt idx="10">
                  <c:v>2000000</c:v>
                </c:pt>
                <c:pt idx="11">
                  <c:v>2000000</c:v>
                </c:pt>
                <c:pt idx="12">
                  <c:v>2000000</c:v>
                </c:pt>
                <c:pt idx="13">
                  <c:v>2000000</c:v>
                </c:pt>
                <c:pt idx="14">
                  <c:v>2000000</c:v>
                </c:pt>
                <c:pt idx="15">
                  <c:v>2000000</c:v>
                </c:pt>
                <c:pt idx="16">
                  <c:v>2000000</c:v>
                </c:pt>
                <c:pt idx="17">
                  <c:v>2000000</c:v>
                </c:pt>
                <c:pt idx="18">
                  <c:v>2000000</c:v>
                </c:pt>
                <c:pt idx="19">
                  <c:v>2000000</c:v>
                </c:pt>
                <c:pt idx="20">
                  <c:v>2000000</c:v>
                </c:pt>
                <c:pt idx="21">
                  <c:v>2000000</c:v>
                </c:pt>
                <c:pt idx="22">
                  <c:v>2000000</c:v>
                </c:pt>
                <c:pt idx="23">
                  <c:v>2000000</c:v>
                </c:pt>
                <c:pt idx="24">
                  <c:v>2000000</c:v>
                </c:pt>
                <c:pt idx="25">
                  <c:v>2000000</c:v>
                </c:pt>
                <c:pt idx="26">
                  <c:v>2000000</c:v>
                </c:pt>
                <c:pt idx="27">
                  <c:v>2000000</c:v>
                </c:pt>
                <c:pt idx="28">
                  <c:v>2000000</c:v>
                </c:pt>
                <c:pt idx="29">
                  <c:v>2000000</c:v>
                </c:pt>
                <c:pt idx="30">
                  <c:v>2000000</c:v>
                </c:pt>
                <c:pt idx="31">
                  <c:v>2000000</c:v>
                </c:pt>
                <c:pt idx="32">
                  <c:v>2000000</c:v>
                </c:pt>
                <c:pt idx="33">
                  <c:v>2000000</c:v>
                </c:pt>
                <c:pt idx="34">
                  <c:v>2000000</c:v>
                </c:pt>
                <c:pt idx="35">
                  <c:v>2000000</c:v>
                </c:pt>
                <c:pt idx="36">
                  <c:v>2000000</c:v>
                </c:pt>
                <c:pt idx="37">
                  <c:v>2000000</c:v>
                </c:pt>
                <c:pt idx="38">
                  <c:v>2000000</c:v>
                </c:pt>
                <c:pt idx="39">
                  <c:v>2000000</c:v>
                </c:pt>
                <c:pt idx="40">
                  <c:v>2000000</c:v>
                </c:pt>
                <c:pt idx="41">
                  <c:v>2000000</c:v>
                </c:pt>
                <c:pt idx="42">
                  <c:v>2000000</c:v>
                </c:pt>
                <c:pt idx="43">
                  <c:v>2000000</c:v>
                </c:pt>
                <c:pt idx="44">
                  <c:v>2000000</c:v>
                </c:pt>
                <c:pt idx="45">
                  <c:v>2000000</c:v>
                </c:pt>
                <c:pt idx="46">
                  <c:v>2000000</c:v>
                </c:pt>
                <c:pt idx="47">
                  <c:v>2000000</c:v>
                </c:pt>
                <c:pt idx="48">
                  <c:v>2000000</c:v>
                </c:pt>
                <c:pt idx="49">
                  <c:v>2000000</c:v>
                </c:pt>
                <c:pt idx="50">
                  <c:v>2000000</c:v>
                </c:pt>
                <c:pt idx="51">
                  <c:v>2000000</c:v>
                </c:pt>
                <c:pt idx="52">
                  <c:v>2000000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/>
                </a:pPr>
                <a:r>
                  <a:t>保单年度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000.0"/>
          <c:min val="0.0"/>
        </c:scaling>
        <c:delete val="0"/>
        <c:axPos val="l"/>
        <c:majorGridlines>
          <c:spPr>
            <a:ln>
              <a:solidFill>
                <a:srgbClr val="4A5A6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金额 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A5A6A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「傲盛世儲蓄保險計劃」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MS.VIP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中国人寿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496906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「傲盛世儲蓄保險計劃」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财富增值与传承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年金/储蓄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资产管理 — 国寿资管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中国人寿保险集团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副部级央企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三地上市(A+H+美股ADR)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管理资产超5万亿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1,347,365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2.69x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1,347,365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数据来源：中国人寿官方计划书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137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80,950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97,950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-16.08%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331,479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648,979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367,500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550,816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918,316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5.58%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501,355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846,010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1,347,365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503,105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1,568,168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2,071,273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12.57%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504,210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2,423,174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507,650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3,503,119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4,010,769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510,845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4,984,262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517,280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9,797,787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530,935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18,831,863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544,660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35,801,973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563,735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67,663,891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582,855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127,489,779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128,072,634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602,015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239,807,932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240,409,947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数据来源：中国人寿官方计划书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30,000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6016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97,950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-16.08%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178,523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208,523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-9.72%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425,184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150,001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484,578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634,579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322,208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300,005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529,955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829,960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4.40%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251,456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450,009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620,018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1,070,027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203,806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600,019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791,682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1,391,701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172,687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750,029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960,606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1,710,635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150,702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900,042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1,158,552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2,058,594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8.91%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134,765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1,428,700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2,478,766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114,795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1,350,162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2,303,631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3,653,793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12.62%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104,253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1,650,311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3,944,230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5,594,541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98,690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1,950,704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7,022,592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8,973,296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95,773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2,251,027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12,799,988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15,051,015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94,258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30,134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2,552,183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23,641,060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26,193,243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4.50%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57.10%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93,489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2,854,998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43,982,332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46,837,330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92.67%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93,121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30,446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3,158,587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82,149,823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85,308,410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4.78%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154.20%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92,967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3,463,391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153,762,549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157,225,940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261.21%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92,926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32,085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3,773,586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288,118,921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291,892,507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448.30%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92,926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3,983,587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447,350,079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451,333,666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658.15%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30,000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数据来源：中国人寿官方计划书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30,000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210,003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477,378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300,005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529,955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390,008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556,242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510,014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651,932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2,824,546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41,326,020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数据来源：中国人寿官方计划书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方案协同 · 完整的家庭财务规划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攻守兼备，进退自如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0292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💰 现金流引擎 · 香港储蓄险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📈 复利增长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长期 IRR 5.5-6.5%，30年翻5倍+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💱 多元货币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支持7-10种货币自由转换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✂️ 保单拆分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无限次拆分，多子女传承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🏛️ 税务递延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香港免税增长，无资本利得税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👑 定向传承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无限次变更受保人，类信托赔付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💧 提取灵活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提取现金价值缴纳IUL保费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37360"/>
            <a:ext cx="5029200" cy="45720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📈 财富杠杆 · 新加坡IUL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🛡️ 下行保护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0%保证下限，市场跌不亏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📊 指数挂钩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挂钩标普500，上限率10%+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🇸🇬 主权独立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新加坡MAS监管，司法独立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💰 美元资产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美元计价，跨境资产配置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🏛️ 免税传承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身故赔偿免遗产税，隔离债务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👨‍👩‍👧‍👦 多代规划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保障至120岁+，跨代传承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Calibri"/>
                <a:ea typeface="STHeiti Medium"/>
              </a:rPr>
              <a:t>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现金流 + 高杠杆 · 完美组合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储蓄提领缴纳IUL保费 → 稳定现金流 + 高额寿险保障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💰 储蓄险 · 稳定现金流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4863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70F1A"/>
                </a:solidFill>
                <a:latin typeface="Calibri"/>
                <a:ea typeface="STHeiti Medium"/>
              </a:rPr>
              <a:t>从 6 岁起，每年提取 USD 30,000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86399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这笔现金流可用于支付IUL保费，同时储蓄账户继续滚存增长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覆盖比例：约 45%（IUL年缴USD 66,355）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8A6A2A"/>
                </a:solidFill>
                <a:latin typeface="Calibri"/>
                <a:ea typeface="STHeiti Medium"/>
              </a:rPr>
              <a:t>⬇ 保费支付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4864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📈 IUL · 高杠杆寿险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年缴保费 USD 66,355 × 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486399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 USD 2,000,000（约 6.0 倍总保费杠杆）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指数账户增长潜力，下行风险可控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保证最低派息率，保障本金安全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身故赔偿免遗产税，财富定向传承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储蓄年提领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Calibri"/>
                <a:ea typeface="STHeiti Medium"/>
              </a:rPr>
              <a:t>USD 30,000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029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IUL年缴保费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8A6A2A"/>
                </a:solidFill>
                <a:latin typeface="Calibri"/>
                <a:ea typeface="STHeiti Medium"/>
              </a:rPr>
              <a:t>USD 66,355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保费覆盖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C8963E"/>
                </a:solidFill>
                <a:latin typeface="Calibri"/>
                <a:ea typeface="STHeiti Medium"/>
              </a:rPr>
              <a:t>45%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029200" cy="54864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IUL总保费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4A5A6A"/>
                </a:solidFill>
                <a:latin typeface="Calibri"/>
                <a:ea typeface="STHeiti Medium"/>
              </a:rPr>
              <a:t>USD 331,775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029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7784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11155680" cy="7315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💡 规划理念：储蓄险创造稳定现金流，IUL提供高额寿险保障。用储蓄收益缴纳IUL保费，一份投入双重收获。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C8963E"/>
                </a:solidFill>
                <a:latin typeface="Calibri"/>
                <a:ea typeface="STHeiti Medium"/>
              </a:rPr>
              <a:t>财富杠杆 · 寿险保障篇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8F9FB"/>
                </a:solidFill>
                <a:latin typeface="Calibri"/>
                <a:ea typeface="STHeiti Medium"/>
              </a:rPr>
              <a:t>高杠杆寿险规划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C8963E"/>
                </a:solidFill>
                <a:latin typeface="Calibri"/>
                <a:ea typeface="STHeiti Medium"/>
              </a:rPr>
              <a:t>用现金流撬动千万保障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931920"/>
            <a:ext cx="118872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D4B078"/>
                </a:solidFill>
                <a:latin typeface="Calibri"/>
                <a:ea typeface="STHeiti Medium"/>
              </a:rPr>
              <a:t>全美海外（新加坡） · 指数型万用寿险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关于全美海外（新加坡）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万用寿险 · 全美海外（新加坡）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「傲盛世儲蓄保險計劃」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大额指数万能险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指数型万能寿险 — GIUL 3代系列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海外信托与保单统筹 — 资产隔离与税务合规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大额趸交/灵活缴费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保单融资与贴现 — 私人银行流动性方案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全美人寿总公司创立于1904年（旧金山）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隶属荷兰全球人寿保险集团（Aegon N.V.）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A+ / Moody's A1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新加坡MAS全牌照寿险公司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万用寿险概要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保费 · 身故赔偿 · 杠杆倍数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年缴保费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共USD 331,775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43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保障至终身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杠杆倍数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A6A2A"/>
                </a:solidFill>
                <a:latin typeface="Calibri"/>
                <a:ea typeface="STHeiti Medium"/>
              </a:rPr>
              <a:t>6.0x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身故赔偿/总保费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受保人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46岁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产品特点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指数账户挂钩市场表现，享有增长潜力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保证最低派息率，下行风险可控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保费灵活缴付，可根据现金流调整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身故赔偿免遗产税，财富定向传承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已缴总保费 vs 身故赔偿总保额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保单年度 · 金额 · 杠杆效应趋势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" cy="2743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200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📊 关键数据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2834640" cy="18288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年缴保费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总保费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331,775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身故保额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2,000,000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保费杠杆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6.0x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保额锁定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缴费期内锁定额度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03520"/>
            <a:ext cx="28346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蓝色为累计已缴保费（5年缴清后持平），金色为身故赔偿保额。两条线的间距体现保费杠杆效应。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保单摘要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年龄 · 保单年度 · 保费 · 户口价值(非保证) · 保额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097280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645920"/>
                <a:gridCol w="182880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年缴保费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累计已缴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户口价值 非保证(USD)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保额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50,300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132,710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107,975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199,065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169,132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265,420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233,981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303,508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310,920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318,574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326,469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334,606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342,950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490,561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804,423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1,201,620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1,668,413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7351776"/>
            <a:ext cx="105156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51776"/>
            <a:ext cx="10332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总缴保费: USD 331,775  预期回本年度: 第9年  末年倍数: 17.4x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71816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2,927,384。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30,000，覆盖小学到大学。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450,009，本金仍持续滚存。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CLIFE  |  中国人寿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8F9FB"/>
                </a:solidFill>
                <a:latin typeface="Calibri"/>
                <a:ea typeface="STHeiti Medium"/>
              </a:rPr>
              <a:t>一份规划，三重守护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C8963E"/>
                </a:solidFill>
                <a:latin typeface="Calibri"/>
                <a:ea typeface="STHeiti Medium"/>
              </a:rPr>
              <a:t>现金流 + 保障 + 杠杆 · 完整的家庭财务规划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56616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本演示基于保险公司官方计划书数据生成 · 实际保单条款以保单文件为准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