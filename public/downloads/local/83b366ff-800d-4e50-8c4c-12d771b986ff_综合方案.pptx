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保证现价 (USD)</c:v>
                </c:pt>
              </c:strCache>
            </c:strRef>
          </c:tx>
          <c:spPr>
            <a:solidFill>
              <a:srgbClr val="0D1B2A"/>
            </a:solidFill>
          </c:spPr>
          <c:cat>
            <c:strRef>
              <c:f>Sheet1!$A$2:$A$29</c:f>
              <c:strCache>
                <c:ptCount val="28"/>
                <c:pt idx="0">
                  <c:v>Y3
(3岁)</c:v>
                </c:pt>
                <c:pt idx="1">
                  <c:v>Y4
(4岁)</c:v>
                </c:pt>
                <c:pt idx="2">
                  <c:v>Y5
(5岁)</c:v>
                </c:pt>
                <c:pt idx="3">
                  <c:v>Y6
(6岁)</c:v>
                </c:pt>
                <c:pt idx="4">
                  <c:v>Y7
(7岁)</c:v>
                </c:pt>
                <c:pt idx="5">
                  <c:v>Y8
(8岁)</c:v>
                </c:pt>
                <c:pt idx="6">
                  <c:v>Y9
(9岁)</c:v>
                </c:pt>
                <c:pt idx="7">
                  <c:v>Y10
(10岁)</c:v>
                </c:pt>
                <c:pt idx="8">
                  <c:v>Y11
(11岁)</c:v>
                </c:pt>
                <c:pt idx="9">
                  <c:v>Y12
(12岁)</c:v>
                </c:pt>
                <c:pt idx="10">
                  <c:v>Y13
(13岁)</c:v>
                </c:pt>
                <c:pt idx="11">
                  <c:v>Y14
(14岁)</c:v>
                </c:pt>
                <c:pt idx="12">
                  <c:v>Y15
(15岁)</c:v>
                </c:pt>
                <c:pt idx="13">
                  <c:v>Y16
(16岁)</c:v>
                </c:pt>
                <c:pt idx="14">
                  <c:v>Y17
(17岁)</c:v>
                </c:pt>
                <c:pt idx="15">
                  <c:v>Y18
(18岁)</c:v>
                </c:pt>
                <c:pt idx="16">
                  <c:v>Y19
(19岁)</c:v>
                </c:pt>
                <c:pt idx="17">
                  <c:v>Y20
(20岁)</c:v>
                </c:pt>
                <c:pt idx="18">
                  <c:v>Y21
(21岁)</c:v>
                </c:pt>
                <c:pt idx="19">
                  <c:v>Y22
(22岁)</c:v>
                </c:pt>
                <c:pt idx="20">
                  <c:v>Y23
(23岁)</c:v>
                </c:pt>
                <c:pt idx="21">
                  <c:v>Y24
(24岁)</c:v>
                </c:pt>
                <c:pt idx="22">
                  <c:v>Y25
(25岁)</c:v>
                </c:pt>
                <c:pt idx="23">
                  <c:v>Y26
(26岁)</c:v>
                </c:pt>
                <c:pt idx="24">
                  <c:v>Y27
(27岁)</c:v>
                </c:pt>
                <c:pt idx="25">
                  <c:v>Y28
(28岁)</c:v>
                </c:pt>
                <c:pt idx="26">
                  <c:v>Y29
(29岁)</c:v>
                </c:pt>
                <c:pt idx="27">
                  <c:v>Y30
(30岁)</c:v>
                </c:pt>
              </c:strCache>
            </c:strRef>
          </c:cat>
          <c:val>
            <c:numRef>
              <c:f>Sheet1!$B$2:$B$29</c:f>
              <c:numCache>
                <c:formatCode>General</c:formatCode>
                <c:ptCount val="28"/>
                <c:pt idx="0">
                  <c:v>59210</c:v>
                </c:pt>
                <c:pt idx="1">
                  <c:v>99660</c:v>
                </c:pt>
                <c:pt idx="2">
                  <c:v>149280</c:v>
                </c:pt>
                <c:pt idx="3">
                  <c:v>205065</c:v>
                </c:pt>
                <c:pt idx="4">
                  <c:v>247730</c:v>
                </c:pt>
                <c:pt idx="5">
                  <c:v>307485</c:v>
                </c:pt>
                <c:pt idx="6">
                  <c:v>323375</c:v>
                </c:pt>
                <c:pt idx="7">
                  <c:v>346250</c:v>
                </c:pt>
                <c:pt idx="8">
                  <c:v>354400</c:v>
                </c:pt>
                <c:pt idx="9">
                  <c:v>366290</c:v>
                </c:pt>
                <c:pt idx="10">
                  <c:v>378695</c:v>
                </c:pt>
                <c:pt idx="11">
                  <c:v>390600</c:v>
                </c:pt>
                <c:pt idx="12">
                  <c:v>401505</c:v>
                </c:pt>
                <c:pt idx="13">
                  <c:v>418625</c:v>
                </c:pt>
                <c:pt idx="14">
                  <c:v>436015</c:v>
                </c:pt>
                <c:pt idx="15">
                  <c:v>504630</c:v>
                </c:pt>
                <c:pt idx="16">
                  <c:v>508755</c:v>
                </c:pt>
                <c:pt idx="17">
                  <c:v>511640</c:v>
                </c:pt>
                <c:pt idx="18">
                  <c:v>513155</c:v>
                </c:pt>
                <c:pt idx="19">
                  <c:v>515170</c:v>
                </c:pt>
                <c:pt idx="20">
                  <c:v>517935</c:v>
                </c:pt>
                <c:pt idx="21">
                  <c:v>519950</c:v>
                </c:pt>
                <c:pt idx="22">
                  <c:v>522715</c:v>
                </c:pt>
                <c:pt idx="23">
                  <c:v>525230</c:v>
                </c:pt>
                <c:pt idx="24">
                  <c:v>527000</c:v>
                </c:pt>
                <c:pt idx="25">
                  <c:v>529015</c:v>
                </c:pt>
                <c:pt idx="26">
                  <c:v>531030</c:v>
                </c:pt>
                <c:pt idx="27">
                  <c:v>533545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非保证红利/分红 (USD)</c:v>
                </c:pt>
              </c:strCache>
            </c:strRef>
          </c:tx>
          <c:spPr>
            <a:solidFill>
              <a:srgbClr val="C8963E"/>
            </a:solidFill>
          </c:spPr>
          <c:cat>
            <c:strRef>
              <c:f>Sheet1!$A$2:$A$29</c:f>
              <c:strCache>
                <c:ptCount val="28"/>
                <c:pt idx="0">
                  <c:v>Y3
(3岁)</c:v>
                </c:pt>
                <c:pt idx="1">
                  <c:v>Y4
(4岁)</c:v>
                </c:pt>
                <c:pt idx="2">
                  <c:v>Y5
(5岁)</c:v>
                </c:pt>
                <c:pt idx="3">
                  <c:v>Y6
(6岁)</c:v>
                </c:pt>
                <c:pt idx="4">
                  <c:v>Y7
(7岁)</c:v>
                </c:pt>
                <c:pt idx="5">
                  <c:v>Y8
(8岁)</c:v>
                </c:pt>
                <c:pt idx="6">
                  <c:v>Y9
(9岁)</c:v>
                </c:pt>
                <c:pt idx="7">
                  <c:v>Y10
(10岁)</c:v>
                </c:pt>
                <c:pt idx="8">
                  <c:v>Y11
(11岁)</c:v>
                </c:pt>
                <c:pt idx="9">
                  <c:v>Y12
(12岁)</c:v>
                </c:pt>
                <c:pt idx="10">
                  <c:v>Y13
(13岁)</c:v>
                </c:pt>
                <c:pt idx="11">
                  <c:v>Y14
(14岁)</c:v>
                </c:pt>
                <c:pt idx="12">
                  <c:v>Y15
(15岁)</c:v>
                </c:pt>
                <c:pt idx="13">
                  <c:v>Y16
(16岁)</c:v>
                </c:pt>
                <c:pt idx="14">
                  <c:v>Y17
(17岁)</c:v>
                </c:pt>
                <c:pt idx="15">
                  <c:v>Y18
(18岁)</c:v>
                </c:pt>
                <c:pt idx="16">
                  <c:v>Y19
(19岁)</c:v>
                </c:pt>
                <c:pt idx="17">
                  <c:v>Y20
(20岁)</c:v>
                </c:pt>
                <c:pt idx="18">
                  <c:v>Y21
(21岁)</c:v>
                </c:pt>
                <c:pt idx="19">
                  <c:v>Y22
(22岁)</c:v>
                </c:pt>
                <c:pt idx="20">
                  <c:v>Y23
(23岁)</c:v>
                </c:pt>
                <c:pt idx="21">
                  <c:v>Y24
(24岁)</c:v>
                </c:pt>
                <c:pt idx="22">
                  <c:v>Y25
(25岁)</c:v>
                </c:pt>
                <c:pt idx="23">
                  <c:v>Y26
(26岁)</c:v>
                </c:pt>
                <c:pt idx="24">
                  <c:v>Y27
(27岁)</c:v>
                </c:pt>
                <c:pt idx="25">
                  <c:v>Y28
(28岁)</c:v>
                </c:pt>
                <c:pt idx="26">
                  <c:v>Y29
(29岁)</c:v>
                </c:pt>
                <c:pt idx="27">
                  <c:v>Y30
(30岁)</c:v>
                </c:pt>
              </c:strCache>
            </c:strRef>
          </c:cat>
          <c:val>
            <c:numRef>
              <c:f>Sheet1!$C$2:$C$29</c:f>
              <c:numCache>
                <c:formatCode>General</c:formatCode>
                <c:ptCount val="28"/>
                <c:pt idx="0">
                  <c:v>65225</c:v>
                </c:pt>
                <c:pt idx="1">
                  <c:v>93163</c:v>
                </c:pt>
                <c:pt idx="2">
                  <c:v>107314</c:v>
                </c:pt>
                <c:pt idx="3">
                  <c:v>171839</c:v>
                </c:pt>
                <c:pt idx="4">
                  <c:v>188372</c:v>
                </c:pt>
                <c:pt idx="5">
                  <c:v>226887</c:v>
                </c:pt>
                <c:pt idx="6">
                  <c:v>255647</c:v>
                </c:pt>
                <c:pt idx="7">
                  <c:v>292946</c:v>
                </c:pt>
                <c:pt idx="8">
                  <c:v>322195</c:v>
                </c:pt>
                <c:pt idx="9">
                  <c:v>374680</c:v>
                </c:pt>
                <c:pt idx="10">
                  <c:v>425379</c:v>
                </c:pt>
                <c:pt idx="11">
                  <c:v>480509</c:v>
                </c:pt>
                <c:pt idx="12">
                  <c:v>543171</c:v>
                </c:pt>
                <c:pt idx="13">
                  <c:v>586653</c:v>
                </c:pt>
                <c:pt idx="14">
                  <c:v>645101</c:v>
                </c:pt>
                <c:pt idx="15">
                  <c:v>668713</c:v>
                </c:pt>
                <c:pt idx="16">
                  <c:v>757055</c:v>
                </c:pt>
                <c:pt idx="17">
                  <c:v>874030</c:v>
                </c:pt>
                <c:pt idx="18">
                  <c:v>1004170</c:v>
                </c:pt>
                <c:pt idx="19">
                  <c:v>1105458</c:v>
                </c:pt>
                <c:pt idx="20">
                  <c:v>1252644</c:v>
                </c:pt>
                <c:pt idx="21">
                  <c:v>1391832</c:v>
                </c:pt>
                <c:pt idx="22">
                  <c:v>1544624</c:v>
                </c:pt>
                <c:pt idx="23">
                  <c:v>1703521</c:v>
                </c:pt>
                <c:pt idx="24">
                  <c:v>1878473</c:v>
                </c:pt>
                <c:pt idx="25">
                  <c:v>2051090</c:v>
                </c:pt>
                <c:pt idx="26">
                  <c:v>2216770</c:v>
                </c:pt>
                <c:pt idx="27">
                  <c:v>2392866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4A5A6A"/>
                </a:solidFill>
                <a:latin typeface="STHeiti Medium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numFmt formatCode="#,##0,," sourceLinked="0"/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4A5A6A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800">
              <a:solidFill>
                <a:srgbClr val="1A2A3A"/>
              </a:solidFill>
              <a:latin typeface="STHeiti Medium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退保发还总额 (USD)</c:v>
                </c:pt>
              </c:strCache>
            </c:strRef>
          </c:tx>
          <c:spPr>
            <a:solidFill>
              <a:srgbClr val="8A6A2A"/>
            </a:solidFill>
            <a:ln w="31750">
              <a:solidFill>
                <a:srgbClr val="8A6A2A"/>
              </a:solidFill>
            </a:ln>
          </c:spPr>
          <c:marker>
            <c:symbol val="circle"/>
            <c:size val="6"/>
          </c:marker>
          <c:cat>
            <c:strRef>
              <c:f>Sheet1!$A$2:$A$29</c:f>
              <c:strCache>
                <c:ptCount val="28"/>
                <c:pt idx="0">
                  <c:v>Y3
(3岁)</c:v>
                </c:pt>
                <c:pt idx="1">
                  <c:v>Y4
(4岁)</c:v>
                </c:pt>
                <c:pt idx="2">
                  <c:v>Y5
(5岁)</c:v>
                </c:pt>
                <c:pt idx="3">
                  <c:v>Y6
(6岁)</c:v>
                </c:pt>
                <c:pt idx="4">
                  <c:v>Y7
(7岁)</c:v>
                </c:pt>
                <c:pt idx="5">
                  <c:v>Y8
(8岁)</c:v>
                </c:pt>
                <c:pt idx="6">
                  <c:v>Y9
(9岁)</c:v>
                </c:pt>
                <c:pt idx="7">
                  <c:v>Y10
(10岁)</c:v>
                </c:pt>
                <c:pt idx="8">
                  <c:v>Y11
(11岁)</c:v>
                </c:pt>
                <c:pt idx="9">
                  <c:v>Y12
(12岁)</c:v>
                </c:pt>
                <c:pt idx="10">
                  <c:v>Y13
(13岁)</c:v>
                </c:pt>
                <c:pt idx="11">
                  <c:v>Y14
(14岁)</c:v>
                </c:pt>
                <c:pt idx="12">
                  <c:v>Y15
(15岁)</c:v>
                </c:pt>
                <c:pt idx="13">
                  <c:v>Y16
(16岁)</c:v>
                </c:pt>
                <c:pt idx="14">
                  <c:v>Y17
(17岁)</c:v>
                </c:pt>
                <c:pt idx="15">
                  <c:v>Y18
(18岁)</c:v>
                </c:pt>
                <c:pt idx="16">
                  <c:v>Y19
(19岁)</c:v>
                </c:pt>
                <c:pt idx="17">
                  <c:v>Y20
(20岁)</c:v>
                </c:pt>
                <c:pt idx="18">
                  <c:v>Y21
(21岁)</c:v>
                </c:pt>
                <c:pt idx="19">
                  <c:v>Y22
(22岁)</c:v>
                </c:pt>
                <c:pt idx="20">
                  <c:v>Y23
(23岁)</c:v>
                </c:pt>
                <c:pt idx="21">
                  <c:v>Y24
(24岁)</c:v>
                </c:pt>
                <c:pt idx="22">
                  <c:v>Y25
(25岁)</c:v>
                </c:pt>
                <c:pt idx="23">
                  <c:v>Y26
(26岁)</c:v>
                </c:pt>
                <c:pt idx="24">
                  <c:v>Y27
(27岁)</c:v>
                </c:pt>
                <c:pt idx="25">
                  <c:v>Y28
(28岁)</c:v>
                </c:pt>
                <c:pt idx="26">
                  <c:v>Y29
(29岁)</c:v>
                </c:pt>
                <c:pt idx="27">
                  <c:v>Y30
(30岁)</c:v>
                </c:pt>
              </c:strCache>
            </c:strRef>
          </c:cat>
          <c:val>
            <c:numRef>
              <c:f>Sheet1!$B$2:$B$29</c:f>
              <c:numCache>
                <c:formatCode>General</c:formatCode>
                <c:ptCount val="28"/>
                <c:pt idx="0">
                  <c:v>124435</c:v>
                </c:pt>
                <c:pt idx="1">
                  <c:v>192823</c:v>
                </c:pt>
                <c:pt idx="2">
                  <c:v>256594</c:v>
                </c:pt>
                <c:pt idx="3">
                  <c:v>376904</c:v>
                </c:pt>
                <c:pt idx="4">
                  <c:v>436102</c:v>
                </c:pt>
                <c:pt idx="5">
                  <c:v>534372</c:v>
                </c:pt>
                <c:pt idx="6">
                  <c:v>579022</c:v>
                </c:pt>
                <c:pt idx="7">
                  <c:v>639196</c:v>
                </c:pt>
                <c:pt idx="8">
                  <c:v>676595</c:v>
                </c:pt>
                <c:pt idx="9">
                  <c:v>740970</c:v>
                </c:pt>
                <c:pt idx="10">
                  <c:v>804074</c:v>
                </c:pt>
                <c:pt idx="11">
                  <c:v>871109</c:v>
                </c:pt>
                <c:pt idx="12">
                  <c:v>944676</c:v>
                </c:pt>
                <c:pt idx="13">
                  <c:v>1005278</c:v>
                </c:pt>
                <c:pt idx="14">
                  <c:v>1081116</c:v>
                </c:pt>
                <c:pt idx="15">
                  <c:v>1173343</c:v>
                </c:pt>
                <c:pt idx="16">
                  <c:v>1265810</c:v>
                </c:pt>
                <c:pt idx="17">
                  <c:v>1385670</c:v>
                </c:pt>
                <c:pt idx="18">
                  <c:v>1517325</c:v>
                </c:pt>
                <c:pt idx="19">
                  <c:v>1620628</c:v>
                </c:pt>
                <c:pt idx="20">
                  <c:v>1770579</c:v>
                </c:pt>
                <c:pt idx="21">
                  <c:v>1911782</c:v>
                </c:pt>
                <c:pt idx="22">
                  <c:v>2067339</c:v>
                </c:pt>
                <c:pt idx="23">
                  <c:v>2228751</c:v>
                </c:pt>
                <c:pt idx="24">
                  <c:v>2405473</c:v>
                </c:pt>
                <c:pt idx="25">
                  <c:v>2580105</c:v>
                </c:pt>
                <c:pt idx="26">
                  <c:v>2747800</c:v>
                </c:pt>
                <c:pt idx="27">
                  <c:v>2926411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4A5A6A"/>
                </a:solidFill>
                <a:latin typeface="STHeiti Medium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numFmt formatCode="#,##0,," sourceLinked="0"/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4A5A6A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800">
              <a:solidFill>
                <a:srgbClr val="1A2A3A"/>
              </a:solidFill>
              <a:latin typeface="STHeiti Medium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不提领 · 退保现价 (USD)</c:v>
                </c:pt>
              </c:strCache>
            </c:strRef>
          </c:tx>
          <c:spPr>
            <a:solidFill>
              <a:srgbClr val="0D1B2A"/>
            </a:solidFill>
          </c:spPr>
          <c:cat>
            <c:strRef>
              <c:f>Sheet1!$A$2:$A$12</c:f>
              <c:strCache>
                <c:ptCount val="11"/>
                <c:pt idx="0">
                  <c:v>Y3
(3岁)</c:v>
                </c:pt>
                <c:pt idx="1">
                  <c:v>Y4
(4岁)</c:v>
                </c:pt>
                <c:pt idx="2">
                  <c:v>Y5
(5岁)</c:v>
                </c:pt>
                <c:pt idx="3">
                  <c:v>Y10
(10岁)</c:v>
                </c:pt>
                <c:pt idx="4">
                  <c:v>Y15
(15岁)</c:v>
                </c:pt>
                <c:pt idx="5">
                  <c:v>Y20
(20岁)</c:v>
                </c:pt>
                <c:pt idx="6">
                  <c:v>Y25
(25岁)</c:v>
                </c:pt>
                <c:pt idx="7">
                  <c:v>Y30
(30岁)</c:v>
                </c:pt>
                <c:pt idx="8">
                  <c:v>Y31
(31岁)</c:v>
                </c:pt>
                <c:pt idx="9">
                  <c:v>Y41
(41岁)</c:v>
                </c:pt>
                <c:pt idx="10">
                  <c:v>Y51
(51岁)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124435</c:v>
                </c:pt>
                <c:pt idx="1">
                  <c:v>192823</c:v>
                </c:pt>
                <c:pt idx="2">
                  <c:v>256594</c:v>
                </c:pt>
                <c:pt idx="3">
                  <c:v>639196</c:v>
                </c:pt>
                <c:pt idx="4">
                  <c:v>944676</c:v>
                </c:pt>
                <c:pt idx="5">
                  <c:v>1385670</c:v>
                </c:pt>
                <c:pt idx="6">
                  <c:v>2067339</c:v>
                </c:pt>
                <c:pt idx="7">
                  <c:v>2926411</c:v>
                </c:pt>
                <c:pt idx="8">
                  <c:v>3115690</c:v>
                </c:pt>
                <c:pt idx="9">
                  <c:v>5849905</c:v>
                </c:pt>
                <c:pt idx="10">
                  <c:v>10982665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提领 · 累计+退保现价 (USD)</c:v>
                </c:pt>
              </c:strCache>
            </c:strRef>
          </c:tx>
          <c:spPr>
            <a:solidFill>
              <a:srgbClr val="C8963E"/>
            </a:solidFill>
          </c:spPr>
          <c:cat>
            <c:strRef>
              <c:f>Sheet1!$A$2:$A$12</c:f>
              <c:strCache>
                <c:ptCount val="11"/>
                <c:pt idx="0">
                  <c:v>Y3
(3岁)</c:v>
                </c:pt>
                <c:pt idx="1">
                  <c:v>Y4
(4岁)</c:v>
                </c:pt>
                <c:pt idx="2">
                  <c:v>Y5
(5岁)</c:v>
                </c:pt>
                <c:pt idx="3">
                  <c:v>Y10
(10岁)</c:v>
                </c:pt>
                <c:pt idx="4">
                  <c:v>Y15
(15岁)</c:v>
                </c:pt>
                <c:pt idx="5">
                  <c:v>Y20
(20岁)</c:v>
                </c:pt>
                <c:pt idx="6">
                  <c:v>Y25
(25岁)</c:v>
                </c:pt>
                <c:pt idx="7">
                  <c:v>Y30
(30岁)</c:v>
                </c:pt>
                <c:pt idx="8">
                  <c:v>Y31
(31岁)</c:v>
                </c:pt>
                <c:pt idx="9">
                  <c:v>Y41
(41岁)</c:v>
                </c:pt>
                <c:pt idx="10">
                  <c:v>Y51
(51岁)</c:v>
                </c:pt>
              </c:strCache>
            </c: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124435</c:v>
                </c:pt>
                <c:pt idx="1">
                  <c:v>192822</c:v>
                </c:pt>
                <c:pt idx="2">
                  <c:v>256594</c:v>
                </c:pt>
                <c:pt idx="3">
                  <c:v>610250</c:v>
                </c:pt>
                <c:pt idx="4">
                  <c:v>806201</c:v>
                </c:pt>
                <c:pt idx="5">
                  <c:v>1008886</c:v>
                </c:pt>
                <c:pt idx="6">
                  <c:v>1240140</c:v>
                </c:pt>
                <c:pt idx="7">
                  <c:v>1458325</c:v>
                </c:pt>
                <c:pt idx="8">
                  <c:v>1498863</c:v>
                </c:pt>
                <c:pt idx="9">
                  <c:v>1928971</c:v>
                </c:pt>
                <c:pt idx="10">
                  <c:v>2424324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4A5A6A"/>
                </a:solidFill>
                <a:latin typeface="STHeiti Medium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1965330.0"/>
          <c:min val="0.0"/>
        </c:scaling>
        <c:delete val="0"/>
        <c:axPos val="l"/>
        <c:majorGridlines/>
        <c:numFmt formatCode="$#,##0,, &quot;M&quot;" sourceLinked="0"/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4A5A6A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>
              <a:solidFill>
                <a:srgbClr val="1A2A3A"/>
              </a:solidFill>
              <a:latin typeface="STHeiti Medium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jpg"/><Relationship Id="rId4" Type="http://schemas.openxmlformats.org/officeDocument/2006/relationships/image" Target="../media/image5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mpany-hero-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54864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  <a:ea typeface="STHeiti Medium"/>
              </a:rPr>
              <a:t>PRU  |  保诚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54864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  <a:ea typeface="STHeiti Medium"/>
              </a:rPr>
              <a:t>PRIVATE CLIENT BRIEFING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59436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  <a:ea typeface="STHeiti Medium"/>
              </a:rPr>
              <a:t>「信守明天」多元貨幣計劃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77440"/>
            <a:ext cx="59436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  <a:ea typeface="STHeiti Medium"/>
              </a:rPr>
              <a:t>MS.VIP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834640"/>
            <a:ext cx="59436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  <a:ea typeface="STHeiti Medium"/>
              </a:rPr>
              <a:t>PRIVATE CLIENT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91840"/>
            <a:ext cx="59436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  <a:ea typeface="STHeiti Medium"/>
              </a:rPr>
              <a:t>5年缴 · USD 100,000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749040"/>
            <a:ext cx="59436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  <a:ea typeface="STHeiti Medium"/>
              </a:rPr>
              <a:t>受保人：VIP（1岁）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PRU  |  保诚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02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800" b="1">
                <a:solidFill>
                  <a:srgbClr val="0D1B2A"/>
                </a:solidFill>
                <a:latin typeface="Calibri"/>
                <a:ea typeface="STHeiti Medium"/>
              </a:rPr>
              <a:t>关于我们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4A5A6A"/>
                </a:solidFill>
                <a:latin typeface="Calibri"/>
                <a:ea typeface="STHeiti Medium"/>
              </a:rPr>
              <a:t>About Us  ·  保诚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0"/>
            <a:ext cx="1577788" cy="109728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457200" y="3291840"/>
            <a:ext cx="365760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4590288"/>
            <a:ext cx="3657600" cy="7315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429000"/>
            <a:ext cx="329184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>
                <a:solidFill>
                  <a:srgbClr val="0D1B2A"/>
                </a:solidFill>
                <a:latin typeface="Calibri"/>
                <a:ea typeface="STHeiti Medium"/>
              </a:rPr>
              <a:t>1848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297680"/>
            <a:ext cx="329184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1A2A3A"/>
                </a:solidFill>
                <a:latin typeface="Calibri"/>
                <a:ea typeface="STHeiti Medium"/>
              </a:rPr>
              <a:t>成立年份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434840"/>
            <a:ext cx="32918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/>
            </a:r>
          </a:p>
        </p:txBody>
      </p:sp>
      <p:sp>
        <p:nvSpPr>
          <p:cNvPr id="15" name="Rectangle 14"/>
          <p:cNvSpPr/>
          <p:nvPr/>
        </p:nvSpPr>
        <p:spPr>
          <a:xfrm>
            <a:off x="4343400" y="3291840"/>
            <a:ext cx="365760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3400" y="4590288"/>
            <a:ext cx="3657600" cy="7315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26280" y="3429000"/>
            <a:ext cx="329184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>
                <a:solidFill>
                  <a:srgbClr val="0D1B2A"/>
                </a:solidFill>
                <a:latin typeface="Calibri"/>
                <a:ea typeface="STHeiti Medium"/>
              </a:rPr>
              <a:t>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4297680"/>
            <a:ext cx="329184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1A2A3A"/>
                </a:solidFill>
                <a:latin typeface="Calibri"/>
                <a:ea typeface="STHeiti Medium"/>
              </a:rPr>
              <a:t>财务实力评级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4434840"/>
            <a:ext cx="32918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/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0" y="3291840"/>
            <a:ext cx="365760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29600" y="4590288"/>
            <a:ext cx="3657600" cy="7315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0" y="3429000"/>
            <a:ext cx="329184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>
                <a:solidFill>
                  <a:srgbClr val="0D1B2A"/>
                </a:solidFill>
                <a:latin typeface="Calibri"/>
                <a:ea typeface="STHeiti Medium"/>
              </a:rPr>
              <a:t>「信守明天」多元貨幣計劃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4297680"/>
            <a:ext cx="329184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1A2A3A"/>
                </a:solidFill>
                <a:latin typeface="Calibri"/>
                <a:ea typeface="STHeiti Medium"/>
              </a:rPr>
              <a:t>多元货币财富管理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4434840"/>
            <a:ext cx="32918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/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937760"/>
            <a:ext cx="27432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4846320"/>
            <a:ext cx="45720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0D1B2A"/>
                </a:solidFill>
                <a:latin typeface="Calibri"/>
                <a:ea typeface="STHeiti Medium"/>
              </a:rPr>
              <a:t>业务范围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521208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人寿保险 — 储蓄/保障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548640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健康保险 — 医疗/危疾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76072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多元货币 — 9种货币转换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603504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财富传承 — 保单拆分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0" y="4937760"/>
            <a:ext cx="27432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20840" y="4846320"/>
            <a:ext cx="45720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0D1B2A"/>
                </a:solidFill>
                <a:latin typeface="Calibri"/>
                <a:ea typeface="STHeiti Medium"/>
              </a:rPr>
              <a:t>品牌背景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20840" y="521208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英国保诚集团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20840" y="548640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1848年创立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0840" y="576072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伦敦/香港/新加坡三地上市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20840" y="603504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全球管理资产超6000亿英镑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6537960"/>
            <a:ext cx="114300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>数据来源：保险公司官方资料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PRU  |  保诚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03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800" b="1">
                <a:solidFill>
                  <a:srgbClr val="0D1B2A"/>
                </a:solidFill>
                <a:latin typeface="Calibri"/>
                <a:ea typeface="STHeiti Medium"/>
              </a:rPr>
              <a:t>产品亮点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4A5A6A"/>
                </a:solidFill>
                <a:latin typeface="Calibri"/>
                <a:ea typeface="STHeiti Medium"/>
              </a:rPr>
              <a:t>5 年缴 · 短期供款完成 · 终身财富复利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194560"/>
            <a:ext cx="5577840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194560"/>
            <a:ext cx="91440" cy="201168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377440"/>
            <a:ext cx="10972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800" b="1">
                <a:solidFill>
                  <a:srgbClr val="0D1B2A"/>
                </a:solidFill>
                <a:latin typeface="Calibri"/>
                <a:ea typeface="STHeiti Medium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2468880"/>
            <a:ext cx="402336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0D1B2A"/>
                </a:solidFill>
                <a:latin typeface="Calibri"/>
                <a:ea typeface="STHeiti Medium"/>
              </a:rPr>
              <a:t>5 年短期缴付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063240"/>
            <a:ext cx="5120640" cy="10058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只需 5 年完成缴费，</a:t>
            </a:r>
          </a:p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后续无需再缴；缓解供款压力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703320"/>
            <a:ext cx="512064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2200" b="1">
                <a:solidFill>
                  <a:srgbClr val="0D1B2A"/>
                </a:solidFill>
                <a:latin typeface="Calibri"/>
                <a:ea typeface="STHeiti Medium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977640"/>
            <a:ext cx="51206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年缴清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2194560"/>
            <a:ext cx="5577840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640" y="2194560"/>
            <a:ext cx="91440" cy="201168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2377440"/>
            <a:ext cx="10972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800" b="1">
                <a:solidFill>
                  <a:srgbClr val="0D1B2A"/>
                </a:solidFill>
                <a:latin typeface="Calibri"/>
                <a:ea typeface="STHeiti Medium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43800" y="2468880"/>
            <a:ext cx="402336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0D1B2A"/>
                </a:solidFill>
                <a:latin typeface="Calibri"/>
                <a:ea typeface="STHeiti Medium"/>
              </a:rPr>
              <a:t>20 年财富复利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3063240"/>
            <a:ext cx="5120640" cy="10058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保证 + 非保证现金价值</a:t>
            </a:r>
          </a:p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长期复利，稳健增长</a:t>
            </a:r>
          </a:p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Y20 约 USD 1,385,670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3703320"/>
            <a:ext cx="512064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2200" b="1">
                <a:solidFill>
                  <a:srgbClr val="0D1B2A"/>
                </a:solidFill>
                <a:latin typeface="Calibri"/>
                <a:ea typeface="STHeiti Medium"/>
              </a:rPr>
              <a:t>2.77x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3977640"/>
            <a:ext cx="51206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20 年倍数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389120"/>
            <a:ext cx="5577840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4389120"/>
            <a:ext cx="91440" cy="201168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4572000"/>
            <a:ext cx="10972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800" b="1">
                <a:solidFill>
                  <a:srgbClr val="0D1B2A"/>
                </a:solidFill>
                <a:latin typeface="Calibri"/>
                <a:ea typeface="STHeiti Medium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37360" y="4663440"/>
            <a:ext cx="402336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0D1B2A"/>
                </a:solidFill>
                <a:latin typeface="Calibri"/>
                <a:ea typeface="STHeiti Medium"/>
              </a:rPr>
              <a:t>30 年财富复利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257800"/>
            <a:ext cx="5120640" cy="10058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持续滚存跨越复利临界点</a:t>
            </a:r>
          </a:p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增值潜力可观</a:t>
            </a:r>
          </a:p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Y30 约 USD 2,926,411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897880"/>
            <a:ext cx="512064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2200" b="1">
                <a:solidFill>
                  <a:srgbClr val="0D1B2A"/>
                </a:solidFill>
                <a:latin typeface="Calibri"/>
                <a:ea typeface="STHeiti Medium"/>
              </a:rPr>
              <a:t>5.85x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6172200"/>
            <a:ext cx="51206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30 年倍数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446520"/>
            <a:ext cx="114300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>注：倍数基于不退保情形下「退保发还金额总额」÷「已缴保费总额」计算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675120"/>
            <a:ext cx="114300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>数据来源：保险公司官方计划书 第3部分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PRU  |  保诚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04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现金价值长期复利增长（不提领）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保证 + 非保证现金价值 · 演示至保单年度 80 年（受保人 80 岁）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274320" y="1691640"/>
          <a:ext cx="548640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035040" y="1691640"/>
          <a:ext cx="5486400" cy="4389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Rectangle 10"/>
          <p:cNvSpPr/>
          <p:nvPr/>
        </p:nvSpPr>
        <p:spPr>
          <a:xfrm>
            <a:off x="274320" y="6172200"/>
            <a:ext cx="27432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" y="6172200"/>
            <a:ext cx="54864" cy="502920"/>
          </a:xfrm>
          <a:prstGeom prst="rect">
            <a:avLst/>
          </a:prstGeom>
          <a:solidFill>
            <a:srgbClr val="07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6199632"/>
            <a:ext cx="73152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1">
                <a:solidFill>
                  <a:srgbClr val="0D1B2A"/>
                </a:solidFill>
                <a:latin typeface="Calibri"/>
                <a:ea typeface="STHeiti Medium"/>
              </a:rPr>
              <a:t>20年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6199632"/>
            <a:ext cx="9144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070F1A"/>
                </a:solidFill>
                <a:latin typeface="Calibri"/>
                <a:ea typeface="STHeiti Medium"/>
              </a:rPr>
              <a:t>x2.77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382512"/>
            <a:ext cx="26060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00" b="0">
                <a:solidFill>
                  <a:srgbClr val="4A5A6A"/>
                </a:solidFill>
                <a:latin typeface="Calibri"/>
                <a:ea typeface="STHeiti Medium"/>
              </a:rPr>
              <a:t>USD 1,385,670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0" y="6172200"/>
            <a:ext cx="27432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0" y="6172200"/>
            <a:ext cx="54864" cy="502920"/>
          </a:xfrm>
          <a:prstGeom prst="rect">
            <a:avLst/>
          </a:prstGeom>
          <a:solidFill>
            <a:srgbClr val="07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91840" y="6199632"/>
            <a:ext cx="73152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1">
                <a:solidFill>
                  <a:srgbClr val="0D1B2A"/>
                </a:solidFill>
                <a:latin typeface="Calibri"/>
                <a:ea typeface="STHeiti Medium"/>
              </a:rPr>
              <a:t>30年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77640" y="6199632"/>
            <a:ext cx="9144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070F1A"/>
                </a:solidFill>
                <a:latin typeface="Calibri"/>
                <a:ea typeface="STHeiti Medium"/>
              </a:rPr>
              <a:t>x5.85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1840" y="6382512"/>
            <a:ext cx="26060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00" b="0">
                <a:solidFill>
                  <a:srgbClr val="4A5A6A"/>
                </a:solidFill>
                <a:latin typeface="Calibri"/>
                <a:ea typeface="STHeiti Medium"/>
              </a:rPr>
              <a:t>USD 2,926,411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6480" y="6172200"/>
            <a:ext cx="27432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26480" y="6172200"/>
            <a:ext cx="54864" cy="502920"/>
          </a:xfrm>
          <a:prstGeom prst="rect">
            <a:avLst/>
          </a:prstGeom>
          <a:solidFill>
            <a:srgbClr val="8A6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20" y="6199632"/>
            <a:ext cx="73152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1">
                <a:solidFill>
                  <a:srgbClr val="0D1B2A"/>
                </a:solidFill>
                <a:latin typeface="Calibri"/>
                <a:ea typeface="STHeiti Medium"/>
              </a:rPr>
              <a:t>70年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6199632"/>
            <a:ext cx="9144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8A6A2A"/>
                </a:solidFill>
                <a:latin typeface="Calibri"/>
                <a:ea typeface="STHeiti Medium"/>
              </a:rPr>
              <a:t>x73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6382512"/>
            <a:ext cx="26060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00" b="0">
                <a:solidFill>
                  <a:srgbClr val="4A5A6A"/>
                </a:solidFill>
                <a:latin typeface="Calibri"/>
                <a:ea typeface="STHeiti Medium"/>
              </a:rPr>
              <a:t>USD 36,342,734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" y="6720840"/>
            <a:ext cx="114300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00" b="0">
                <a:solidFill>
                  <a:srgbClr val="4A5A6A"/>
                </a:solidFill>
                <a:latin typeface="Calibri"/>
                <a:ea typeface="STHeiti Medium"/>
              </a:rPr>
              <a:t>数据来源：保诚官方计划书 第3部分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PRU  |  保诚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05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不提领情形 · 退保发还金额明细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至保单年度 99 · 40年前每5年/后每10年 · 含 IRR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783080"/>
          <a:ext cx="11277290" cy="5111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5669"/>
                <a:gridCol w="805521"/>
                <a:gridCol w="1495967"/>
                <a:gridCol w="1726116"/>
                <a:gridCol w="1726116"/>
                <a:gridCol w="1956265"/>
                <a:gridCol w="1265818"/>
                <a:gridCol w="1265818"/>
              </a:tblGrid>
              <a:tr h="502920"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保单年度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年龄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已缴保费
(USD)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保证现价
(USD)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非保证金额
(USD)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退保发还总额
(USD)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复利 IRR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单利IRR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100,000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-100.00%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149,280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107,314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256,594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-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-9.74%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346,250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292,946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639,196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2.49%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2.78%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401,505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543,171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944,676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4.33%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5.93%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511,640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874,030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1,385,670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5.23%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8.86%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522,715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1,544,624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2,067,339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5.84%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12.54%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533,545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2,392,866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2,926,411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6.07%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16.18%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546,465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3,462,175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4,008,640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6.13%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20.05%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564,375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4,928,424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5,492,799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6.17%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24.96%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588,695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9,723,594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10,312,289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6.24%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39.25%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614,190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18,745,280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19,359,470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6.28%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62.86%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70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70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644,000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35,698,734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36,342,734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6.31%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102.41%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678,385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67,544,575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68,222,960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6.34%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169.31%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90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90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715,540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127,351,464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128,067,004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6.36%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283.48%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457200" y="5669280"/>
            <a:ext cx="11277295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5669280"/>
            <a:ext cx="73152" cy="7772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5715000"/>
            <a:ext cx="45720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0D1B2A"/>
                </a:solidFill>
                <a:latin typeface="Calibri"/>
                <a:ea typeface="STHeiti Medium"/>
              </a:rPr>
              <a:t>数据口径说明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989320"/>
            <a:ext cx="109728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· 已缴保费：5年×计划 = USD 500,000    · 复利IRR = (总额/保费)^(1/年数) - 1    · 单利IRR = (总额-保费)/保费/年数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217920"/>
            <a:ext cx="109728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· 非保证金额含复归红利+终期分红    · 演示至保单80年；计划保障至128岁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565392"/>
            <a:ext cx="114300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>数据来源：保诚官方计划书 第3部分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PRU  |  保诚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06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提领方案 · 退保发还金额及累计提取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保单年度 6（6 岁）起 · 每年提取 USD 35,000 · 含 IRR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1737360"/>
          <a:ext cx="11429995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7846"/>
                <a:gridCol w="762000"/>
                <a:gridCol w="1348153"/>
                <a:gridCol w="1172307"/>
                <a:gridCol w="1406769"/>
                <a:gridCol w="1641230"/>
                <a:gridCol w="1817076"/>
                <a:gridCol w="1172307"/>
                <a:gridCol w="1172307"/>
              </a:tblGrid>
              <a:tr h="457200"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保单
年度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年龄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已缴保费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年提取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累计提取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退保发还总额
(B+C+D)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累计已领+
退保现价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复利
IRR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单利
IRR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256,594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256,594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-9.74%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493,764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341,903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376,903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-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-4.10%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377,854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175,000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435,250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610,250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2.01%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2.21%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272,229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456,201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806,201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3.24%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4.08%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196,383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525,000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483,886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1,008,886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3.57%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5.09%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144,954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700,000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540,140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1,240,140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3.70%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5.92%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109,327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875,000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583,325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1,458,325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3.63%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6.39%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83,365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1,050,000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615,463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1,665,463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3.50%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6.66%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64,421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1,225,000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658,695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1,883,695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3.37%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6.92%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40,625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1,575,000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795,491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2,370,491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3.16%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7.48%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28,073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1,925,000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1,048,469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2,973,469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3.02%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8.24%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70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70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21,450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2,275,000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1,521,511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3,796,511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2.94%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9.42%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17,948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2,625,000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2,409,593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5,034,593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2.93%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11.34%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90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90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16,093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2,975,000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4,078,515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7,053,515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2.98%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14.56%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15,182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3,290,000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6,804,949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10,094,949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3.08%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19.38%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365760" y="6080760"/>
            <a:ext cx="114300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6080760"/>
            <a:ext cx="73152" cy="502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126480"/>
            <a:ext cx="2743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1">
                <a:solidFill>
                  <a:srgbClr val="0D1B2A"/>
                </a:solidFill>
                <a:latin typeface="Calibri"/>
                <a:ea typeface="STHeiti Medium"/>
              </a:rPr>
              <a:t>数据口径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00800"/>
            <a:ext cx="109728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50" b="0">
                <a:solidFill>
                  <a:srgbClr val="1A2A3A"/>
                </a:solidFill>
                <a:latin typeface="Calibri"/>
                <a:ea typeface="STHeiti Medium"/>
              </a:rPr>
              <a:t>· Y6 起每年提取 USD 35,000    · 累计已领+退保现价 = 年提取累计 + 期末退保发还金额    · 复利IRR = (累计+退保现价)/保费^(1/年数)-1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656832"/>
            <a:ext cx="114300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>数据来源：保诚官方计划书 第5部分（现金提取）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PRU  |  保诚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07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不提领 vs 提领 · 总收益对比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累计已领 + 期末退保现价 · 关键年限对比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365760" y="1691640"/>
          <a:ext cx="68580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7406640" y="1737360"/>
            <a:ext cx="27432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1691640"/>
            <a:ext cx="4571999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0D1B2A"/>
                </a:solidFill>
                <a:latin typeface="Calibri"/>
                <a:ea typeface="STHeiti Medium"/>
              </a:rPr>
              <a:t>不提领 vs 提领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06640" y="2286000"/>
            <a:ext cx="4572000" cy="1645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406640" y="2286000"/>
            <a:ext cx="73152" cy="1645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0" y="2377440"/>
            <a:ext cx="4571999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0D1B2A"/>
                </a:solidFill>
                <a:latin typeface="Calibri"/>
                <a:ea typeface="STHeiti Medium"/>
              </a:rPr>
              <a:t>📈 不提领策略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0" y="2651760"/>
            <a:ext cx="4571999" cy="10972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50" b="0">
                <a:solidFill>
                  <a:srgbClr val="1A2A3A"/>
                </a:solidFill>
                <a:latin typeface="Calibri"/>
                <a:ea typeface="STHeiti Medium"/>
              </a:rPr>
              <a:t>账户价值持续滚存，享受复利增长</a:t>
            </a:r>
          </a:p>
          <a:p>
            <a:pPr algn="l"/>
            <a:r>
              <a:rPr sz="850" b="0">
                <a:solidFill>
                  <a:srgbClr val="1A2A3A"/>
                </a:solidFill>
                <a:latin typeface="Calibri"/>
                <a:ea typeface="STHeiti Medium"/>
              </a:rPr>
              <a:t>适合：长期财富传承需求</a:t>
            </a:r>
          </a:p>
          <a:p>
            <a:pPr algn="l"/>
            <a:r>
              <a:rPr sz="850" b="0">
                <a:solidFill>
                  <a:srgbClr val="1A2A3A"/>
                </a:solidFill>
                <a:latin typeface="Calibri"/>
                <a:ea typeface="STHeiti Medium"/>
              </a:rPr>
              <a:t>无需现金流补充的场景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06640" y="4114800"/>
            <a:ext cx="4572000" cy="1645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406640" y="4114800"/>
            <a:ext cx="73152" cy="1645920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80960" y="4206240"/>
            <a:ext cx="4571999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0D1B2A"/>
                </a:solidFill>
                <a:latin typeface="Calibri"/>
                <a:ea typeface="STHeiti Medium"/>
              </a:rPr>
              <a:t>💳 提领策略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0" y="4480560"/>
            <a:ext cx="4571999" cy="10972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50" b="0">
                <a:solidFill>
                  <a:srgbClr val="1A2A3A"/>
                </a:solidFill>
                <a:latin typeface="Calibri"/>
                <a:ea typeface="STHeiti Medium"/>
              </a:rPr>
              <a:t>定期提取现金补充现金流</a:t>
            </a:r>
          </a:p>
          <a:p>
            <a:pPr algn="l"/>
            <a:r>
              <a:rPr sz="850" b="0">
                <a:solidFill>
                  <a:srgbClr val="1A2A3A"/>
                </a:solidFill>
                <a:latin typeface="Calibri"/>
                <a:ea typeface="STHeiti Medium"/>
              </a:rPr>
              <a:t>适合：教育金/养老金规划</a:t>
            </a:r>
          </a:p>
          <a:p>
            <a:pPr algn="l"/>
            <a:r>
              <a:rPr sz="850" b="0">
                <a:solidFill>
                  <a:srgbClr val="1A2A3A"/>
                </a:solidFill>
                <a:latin typeface="Calibri"/>
                <a:ea typeface="STHeiti Medium"/>
              </a:rPr>
              <a:t>兼顾当下现金流与长期增长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00800"/>
            <a:ext cx="114300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00" b="0">
                <a:solidFill>
                  <a:srgbClr val="4A5A6A"/>
                </a:solidFill>
                <a:latin typeface="Calibri"/>
                <a:ea typeface="STHeiti Medium"/>
              </a:rPr>
              <a:t>注：纵轴使用对数刻度；不提领按退保发还总额计算，提领按累计已领+退保现价计算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PRU  |  保诚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08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教育金现金流 · 与受保人年龄节点结合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保单年度 6 起每年提取 USD 35,000 · 从小学到大学的稳健现金流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874519"/>
            <a:ext cx="11277295" cy="2743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444752" y="1819655"/>
            <a:ext cx="146304" cy="146304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463039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1">
                <a:solidFill>
                  <a:srgbClr val="0D1B2A"/>
                </a:solidFill>
                <a:latin typeface="Calibri"/>
                <a:ea typeface="STHeiti Medium"/>
              </a:rPr>
              <a:t>6-12岁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194560"/>
            <a:ext cx="2121408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5349240"/>
            <a:ext cx="2121408" cy="50292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5394960"/>
            <a:ext cx="2121408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F8F9FB"/>
                </a:solidFill>
                <a:latin typeface="Calibri"/>
                <a:ea typeface="STHeiti Medium"/>
              </a:rPr>
              <a:t>小学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07492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Y6-Y12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480560"/>
            <a:ext cx="2121408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累计已领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931920"/>
            <a:ext cx="2121408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1B2A4A"/>
                </a:solidFill>
                <a:latin typeface="Calibri"/>
                <a:ea typeface="STHeiti Medium"/>
              </a:rPr>
              <a:t>USD 245,000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566160"/>
            <a:ext cx="1755648" cy="18288"/>
          </a:xfrm>
          <a:prstGeom prst="rect">
            <a:avLst/>
          </a:prstGeom>
          <a:solidFill>
            <a:srgbClr val="D0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2834640"/>
            <a:ext cx="1847088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每年 35K</a:t>
            </a:r>
          </a:p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兴趣班/课外辅导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37744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850" b="1">
                <a:solidFill>
                  <a:srgbClr val="0D1B2A"/>
                </a:solidFill>
                <a:latin typeface="Calibri"/>
                <a:ea typeface="STHeiti Medium"/>
              </a:rPr>
              <a:t>保单现价 USD 437,562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703320" y="1819655"/>
            <a:ext cx="146304" cy="146304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15768" y="1463039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1">
                <a:solidFill>
                  <a:srgbClr val="0D1B2A"/>
                </a:solidFill>
                <a:latin typeface="Calibri"/>
                <a:ea typeface="STHeiti Medium"/>
              </a:rPr>
              <a:t>13-15岁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15768" y="2194560"/>
            <a:ext cx="2121408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15768" y="5349240"/>
            <a:ext cx="2121408" cy="502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15768" y="5394960"/>
            <a:ext cx="2121408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F8F9FB"/>
                </a:solidFill>
                <a:latin typeface="Calibri"/>
                <a:ea typeface="STHeiti Medium"/>
              </a:rPr>
              <a:t>初中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15768" y="507492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Y13-Y15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15768" y="4480560"/>
            <a:ext cx="2121408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累计已领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15768" y="3931920"/>
            <a:ext cx="2121408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0D1B2A"/>
                </a:solidFill>
                <a:latin typeface="Calibri"/>
                <a:ea typeface="STHeiti Medium"/>
              </a:rPr>
              <a:t>USD 350,000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898648" y="3566160"/>
            <a:ext cx="1755648" cy="18288"/>
          </a:xfrm>
          <a:prstGeom prst="rect">
            <a:avLst/>
          </a:prstGeom>
          <a:solidFill>
            <a:srgbClr val="D0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852928" y="2834640"/>
            <a:ext cx="1847088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每年 35K</a:t>
            </a:r>
          </a:p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升学辅导/素质拓展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15768" y="237744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850" b="1">
                <a:solidFill>
                  <a:srgbClr val="0D1B2A"/>
                </a:solidFill>
                <a:latin typeface="Calibri"/>
                <a:ea typeface="STHeiti Medium"/>
              </a:rPr>
              <a:t>保单现价 USD 456,201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61888" y="1819655"/>
            <a:ext cx="146304" cy="146304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974336" y="1463039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1">
                <a:solidFill>
                  <a:srgbClr val="0D1B2A"/>
                </a:solidFill>
                <a:latin typeface="Calibri"/>
                <a:ea typeface="STHeiti Medium"/>
              </a:rPr>
              <a:t>16-18岁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974336" y="2194560"/>
            <a:ext cx="2121408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974336" y="5349240"/>
            <a:ext cx="2121408" cy="502920"/>
          </a:xfrm>
          <a:prstGeom prst="rect">
            <a:avLst/>
          </a:prstGeom>
          <a:solidFill>
            <a:srgbClr val="07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974336" y="5394960"/>
            <a:ext cx="2121408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F8F9FB"/>
                </a:solidFill>
                <a:latin typeface="Calibri"/>
                <a:ea typeface="STHeiti Medium"/>
              </a:rPr>
              <a:t>高中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74336" y="507492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Y16-Y18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974336" y="4480560"/>
            <a:ext cx="2121408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累计已领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974336" y="3931920"/>
            <a:ext cx="2121408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070F1A"/>
                </a:solidFill>
                <a:latin typeface="Calibri"/>
                <a:ea typeface="STHeiti Medium"/>
              </a:rPr>
              <a:t>USD 455,000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157216" y="3566160"/>
            <a:ext cx="1755648" cy="18288"/>
          </a:xfrm>
          <a:prstGeom prst="rect">
            <a:avLst/>
          </a:prstGeom>
          <a:solidFill>
            <a:srgbClr val="D0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111496" y="2834640"/>
            <a:ext cx="1847088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每年 35K</a:t>
            </a:r>
          </a:p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国际课程/留学预备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974336" y="237744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850" b="1">
                <a:solidFill>
                  <a:srgbClr val="0D1B2A"/>
                </a:solidFill>
                <a:latin typeface="Calibri"/>
                <a:ea typeface="STHeiti Medium"/>
              </a:rPr>
              <a:t>保单现价 USD 464,197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220456" y="1819655"/>
            <a:ext cx="146304" cy="146304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232904" y="1463039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1">
                <a:solidFill>
                  <a:srgbClr val="0D1B2A"/>
                </a:solidFill>
                <a:latin typeface="Calibri"/>
                <a:ea typeface="STHeiti Medium"/>
              </a:rPr>
              <a:t>19-22岁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232904" y="2194560"/>
            <a:ext cx="2121408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232904" y="5349240"/>
            <a:ext cx="2121408" cy="502920"/>
          </a:xfrm>
          <a:prstGeom prst="rect">
            <a:avLst/>
          </a:prstGeom>
          <a:solidFill>
            <a:srgbClr val="8A6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232904" y="5394960"/>
            <a:ext cx="2121408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F8F9FB"/>
                </a:solidFill>
                <a:latin typeface="Calibri"/>
                <a:ea typeface="STHeiti Medium"/>
              </a:rPr>
              <a:t>大学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232904" y="507492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Y19-Y22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232904" y="4480560"/>
            <a:ext cx="2121408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累计已领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232904" y="3931920"/>
            <a:ext cx="2121408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8A6A2A"/>
                </a:solidFill>
                <a:latin typeface="Calibri"/>
                <a:ea typeface="STHeiti Medium"/>
              </a:rPr>
              <a:t>USD 595,000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415784" y="3566160"/>
            <a:ext cx="1755648" cy="18288"/>
          </a:xfrm>
          <a:prstGeom prst="rect">
            <a:avLst/>
          </a:prstGeom>
          <a:solidFill>
            <a:srgbClr val="D0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370064" y="2834640"/>
            <a:ext cx="1847088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每年 35K</a:t>
            </a:r>
          </a:p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学费/生活费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232904" y="237744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850" b="1">
                <a:solidFill>
                  <a:srgbClr val="0D1B2A"/>
                </a:solidFill>
                <a:latin typeface="Calibri"/>
                <a:ea typeface="STHeiti Medium"/>
              </a:rPr>
              <a:t>保单现价 USD 501,913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479024" y="1819655"/>
            <a:ext cx="146304" cy="146304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491472" y="1463039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1">
                <a:solidFill>
                  <a:srgbClr val="0D1B2A"/>
                </a:solidFill>
                <a:latin typeface="Calibri"/>
                <a:ea typeface="STHeiti Medium"/>
              </a:rPr>
              <a:t>23-99岁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491472" y="2194560"/>
            <a:ext cx="2121408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9491472" y="5349240"/>
            <a:ext cx="2121408" cy="502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491472" y="5394960"/>
            <a:ext cx="2121408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D4B078"/>
                </a:solidFill>
                <a:latin typeface="Calibri"/>
                <a:ea typeface="STHeiti Medium"/>
              </a:rPr>
              <a:t>研究生/创业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491472" y="507492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Y23-Y99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491472" y="4480560"/>
            <a:ext cx="2121408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累计已领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491472" y="3931920"/>
            <a:ext cx="2121408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0D1B2A"/>
                </a:solidFill>
                <a:latin typeface="Calibri"/>
                <a:ea typeface="STHeiti Medium"/>
              </a:rPr>
              <a:t>USD 3,290,000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674352" y="3566160"/>
            <a:ext cx="1755648" cy="18288"/>
          </a:xfrm>
          <a:prstGeom prst="rect">
            <a:avLst/>
          </a:prstGeom>
          <a:solidFill>
            <a:srgbClr val="D0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628632" y="2834640"/>
            <a:ext cx="1847088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每年 35K</a:t>
            </a:r>
          </a:p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灵活支取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491472" y="237744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850" b="1">
                <a:solidFill>
                  <a:srgbClr val="0D1B2A"/>
                </a:solidFill>
                <a:latin typeface="Calibri"/>
                <a:ea typeface="STHeiti Medium"/>
              </a:rPr>
              <a:t>保单现价 USD 6,804,949</a:t>
            </a:r>
          </a:p>
        </p:txBody>
      </p:sp>
      <p:pic>
        <p:nvPicPr>
          <p:cNvPr id="65" name="Picture 64" descr="child-growth-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035040"/>
            <a:ext cx="2560320" cy="640080"/>
          </a:xfrm>
          <a:prstGeom prst="rect">
            <a:avLst/>
          </a:prstGeom>
        </p:spPr>
      </p:pic>
      <p:pic>
        <p:nvPicPr>
          <p:cNvPr id="66" name="Picture 65" descr="graduation-0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6035040"/>
            <a:ext cx="2560320" cy="640080"/>
          </a:xfrm>
          <a:prstGeom prst="rect">
            <a:avLst/>
          </a:prstGeom>
        </p:spPr>
      </p:pic>
      <p:pic>
        <p:nvPicPr>
          <p:cNvPr id="67" name="Picture 66" descr="family-outdoor-0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0" y="6035040"/>
            <a:ext cx="2560320" cy="640080"/>
          </a:xfrm>
          <a:prstGeom prst="rect">
            <a:avLst/>
          </a:prstGeom>
        </p:spPr>
      </p:pic>
      <p:sp>
        <p:nvSpPr>
          <p:cNvPr id="68" name="TextBox 67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1">
                <a:solidFill>
                  <a:srgbClr val="0D1B2A"/>
                </a:solidFill>
                <a:latin typeface="Calibri"/>
                <a:ea typeface="STHeiti Medium"/>
              </a:rPr>
              <a:t>保单年度 6（受保人 6 岁）开始提领 → 精准覆盖小学到大学教育支出 → 本金持续滚存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57200" y="6400800"/>
            <a:ext cx="11277295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>数据来源：保诚官方计划书 第5部分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PRU  |  保诚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09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重要事项声明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Important Notes · 客户须知的风险与限制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828800"/>
            <a:ext cx="5577840" cy="1920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828800"/>
            <a:ext cx="5577840" cy="502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874520"/>
            <a:ext cx="73152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C8963E"/>
                </a:solidFill>
                <a:latin typeface="Calibri"/>
                <a:ea typeface="STHeiti Medium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1874520"/>
            <a:ext cx="448056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F8F9FB"/>
                </a:solidFill>
                <a:latin typeface="Calibri"/>
                <a:ea typeface="STHeiti Medium"/>
              </a:rPr>
              <a:t>非保证利益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46888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本计划所演示之非保证金额（包括复归红利及终期分红）乃基于现时假设投资回报计算，并非保证。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10896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实际金额或会因投资市场波动而调整，在某些情况下非保证金额可能为零。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1828800"/>
            <a:ext cx="5577840" cy="1920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1828800"/>
            <a:ext cx="5577840" cy="502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1874520"/>
            <a:ext cx="73152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C8963E"/>
                </a:solidFill>
                <a:latin typeface="Calibri"/>
                <a:ea typeface="STHeiti Medium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78040" y="1874520"/>
            <a:ext cx="448056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F8F9FB"/>
                </a:solidFill>
                <a:latin typeface="Calibri"/>
                <a:ea typeface="STHeiti Medium"/>
              </a:rPr>
              <a:t>汇率风险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46888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若以保单货币（美元）以外的其他货币支付保费或收取利益，将按本公司不时厘定的汇率兑换。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310896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外币汇率波动可能影响实际支付金额。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931920"/>
            <a:ext cx="5577840" cy="1920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3931920"/>
            <a:ext cx="5577840" cy="502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977640"/>
            <a:ext cx="73152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C8963E"/>
                </a:solidFill>
                <a:latin typeface="Calibri"/>
                <a:ea typeface="STHeiti Medium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3977640"/>
            <a:ext cx="448056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F8F9FB"/>
                </a:solidFill>
                <a:latin typeface="Calibri"/>
                <a:ea typeface="STHeiti Medium"/>
              </a:rPr>
              <a:t>提领限制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57200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现金提取须符合本公司最低投保单位要求；若提取导致投保单位低于最低要求，则不可提取。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21208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所演示之提取金额基于非保证红利与分红，未必可维持。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63640" y="3931920"/>
            <a:ext cx="5577840" cy="1920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63640" y="3931920"/>
            <a:ext cx="5577840" cy="502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46520" y="3977640"/>
            <a:ext cx="73152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C8963E"/>
                </a:solidFill>
                <a:latin typeface="Calibri"/>
                <a:ea typeface="STHeiti Medium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78040" y="3977640"/>
            <a:ext cx="448056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F8F9FB"/>
                </a:solidFill>
                <a:latin typeface="Calibri"/>
                <a:ea typeface="STHeiti Medium"/>
              </a:rPr>
              <a:t>通胀风险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457200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未来生活成本可能因通胀而上升；本计划之金额为名义金额，未必能完全追上通胀。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521208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建议结合其他投资工具作综合规划。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5943600"/>
            <a:ext cx="1127729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57200" y="5943600"/>
            <a:ext cx="73152" cy="64008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5989320"/>
            <a:ext cx="36576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0D1B2A"/>
                </a:solidFill>
                <a:latin typeface="Calibri"/>
                <a:ea typeface="STHeiti Medium"/>
              </a:rPr>
              <a:t>完整条款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本文件不包含完整的计划条款，详情参阅保单文件及主要产品推销刊物。阁下应向持牌保险中介人查询。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PRU  |  保诚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10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数据来源与回溯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Data Sources · 全部数据可逐项回溯至官方计划书页码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783080"/>
          <a:ext cx="11247120" cy="3749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1645920"/>
                <a:gridCol w="5486400"/>
              </a:tblGrid>
              <a:tr h="457200">
                <a:tc>
                  <a:txBody>
                    <a:bodyPr lIns="36000" rIns="36000" tIns="18000" bIns="18000"/>
                    <a:lstStyle/>
                    <a:p>
                      <a:pPr algn="l"/>
                      <a:r>
                        <a:rPr sz="10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数据项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36000" rIns="36000" tIns="18000" bIns="18000"/>
                    <a:lstStyle/>
                    <a:p>
                      <a:pPr algn="l"/>
                      <a:r>
                        <a:rPr sz="10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PDF 页码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36000" rIns="36000" tIns="18000" bIns="18000"/>
                    <a:lstStyle/>
                    <a:p>
                      <a:pPr algn="l"/>
                      <a:r>
                        <a:rPr sz="10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来源说明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365760"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保障摘要 · 保额/保费/年期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PDF p1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受保人资料 + 投保资料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不提领 · 退保发还金额（Y1-Y40）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PDF p2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基本计划-说明摘要（第3部分）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65760"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不提领 · 退保发还金额（Y41-Y80）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PDF p3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基本计划-说明摘要（第3部分）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不提领 · 身故赔偿额说明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PDF p17-19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身故赔偿额-不同投资回报下的说明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65760"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提领 · 退保发还金额（Y1-Y40）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PDF p42-43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基本计划-说明摘要（续）-现金提取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提领 · 退保发还金额（Y41-Y80）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PDF p44-45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基本计划-说明摘要（续）-现金提取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65760"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提领 · 身故赔偿额说明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PDF p47-50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身故赔偿额下的说明（提取）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注释与重要事项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PDF p20-22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本计划之注释条款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65760"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产品详细说明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PDF p23-41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财富增值选项、跃进选项等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457200" y="6035040"/>
            <a:ext cx="11277295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6035040"/>
            <a:ext cx="73152" cy="5486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080760"/>
            <a:ext cx="36576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0D1B2A"/>
                </a:solidFill>
                <a:latin typeface="Calibri"/>
                <a:ea typeface="STHeiti Medium"/>
              </a:rPr>
              <a:t>核验方法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所有数据均直接源自保诚官方计划书原文（pdfplumber按列精确提取）；如需进一步核验，可逐项对照 PDF 指定页码。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PRU  |  保诚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11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总结与建议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Summary &amp; Recommendation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828800"/>
            <a:ext cx="3657600" cy="3383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828800"/>
            <a:ext cx="3657600" cy="64008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93392"/>
            <a:ext cx="320040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993392"/>
            <a:ext cx="32004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>
                <a:solidFill>
                  <a:srgbClr val="F8F9FB"/>
                </a:solidFill>
                <a:latin typeface="Calibri"/>
                <a:ea typeface="STHeiti Medium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1993392"/>
            <a:ext cx="29260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F8F9FB"/>
                </a:solidFill>
                <a:latin typeface="Calibri"/>
                <a:ea typeface="STHeiti Medium"/>
              </a:rPr>
              <a:t>短期供款 · 终身受惠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697480"/>
            <a:ext cx="3200400" cy="12801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5 年缴清 USD 500,000，后续无需再缴费。</a:t>
            </a:r>
          </a:p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保单持续滚存至 128 岁，长期复利效应明显。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114800"/>
            <a:ext cx="36576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200" b="1">
                <a:solidFill>
                  <a:srgbClr val="0D1B2A"/>
                </a:solidFill>
                <a:latin typeface="Calibri"/>
                <a:ea typeface="STHeiti Medium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年缴清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80" y="1828800"/>
            <a:ext cx="3657600" cy="3383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97680" y="1828800"/>
            <a:ext cx="3657600" cy="64008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480560" y="1993392"/>
            <a:ext cx="320040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80560" y="1993392"/>
            <a:ext cx="32004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>
                <a:solidFill>
                  <a:srgbClr val="F8F9FB"/>
                </a:solidFill>
                <a:latin typeface="Calibri"/>
                <a:ea typeface="STHeiti Medium"/>
              </a:rPr>
              <a:t>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60" y="1993392"/>
            <a:ext cx="29260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F8F9FB"/>
                </a:solidFill>
                <a:latin typeface="Calibri"/>
                <a:ea typeface="STHeiti Medium"/>
              </a:rPr>
              <a:t>稳健回本 · 风险可控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2697480"/>
            <a:ext cx="3200400" cy="12801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保单第 — 年回本（退保现价 &gt; 已缴保费）。</a:t>
            </a:r>
          </a:p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Y30 约 USD 2,926,411。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0" y="4114800"/>
            <a:ext cx="36576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200" b="1">
                <a:solidFill>
                  <a:srgbClr val="0D1B2A"/>
                </a:solidFill>
                <a:latin typeface="Calibri"/>
                <a:ea typeface="STHeiti Medium"/>
              </a:rPr>
              <a:t>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80" y="4754880"/>
            <a:ext cx="36576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回本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38160" y="1828800"/>
            <a:ext cx="3657600" cy="3383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38160" y="1828800"/>
            <a:ext cx="3657600" cy="64008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321040" y="1993392"/>
            <a:ext cx="320040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21040" y="1993392"/>
            <a:ext cx="32004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>
                <a:solidFill>
                  <a:srgbClr val="F8F9FB"/>
                </a:solidFill>
                <a:latin typeface="Calibri"/>
                <a:ea typeface="STHeiti Medium"/>
              </a:rPr>
              <a:t>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78240" y="1993392"/>
            <a:ext cx="29260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F8F9FB"/>
                </a:solidFill>
                <a:latin typeface="Calibri"/>
                <a:ea typeface="STHeiti Medium"/>
              </a:rPr>
              <a:t>灵活提领 · 教育无忧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60" y="2697480"/>
            <a:ext cx="3200400" cy="12801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Y6 起每年提取 USD 35,000，覆盖小学到大学。</a:t>
            </a:r>
          </a:p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Y20 累计提取 USD 525,000，本金仍持续滚存。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38160" y="4114800"/>
            <a:ext cx="36576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200" b="1">
                <a:solidFill>
                  <a:srgbClr val="0D1B2A"/>
                </a:solidFill>
                <a:latin typeface="Calibri"/>
                <a:ea typeface="STHeiti Medium"/>
              </a:rPr>
              <a:t>35K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38160" y="4754880"/>
            <a:ext cx="36576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年提取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5394960"/>
            <a:ext cx="11277295" cy="1280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57200" y="5394960"/>
            <a:ext cx="73152" cy="128016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5440680"/>
            <a:ext cx="36576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0D1B2A"/>
                </a:solidFill>
                <a:latin typeface="Calibri"/>
                <a:ea typeface="STHeiti Medium"/>
              </a:rPr>
              <a:t>综合建议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5760720"/>
            <a:ext cx="109728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>
                <a:solidFill>
                  <a:srgbClr val="1A2A3A"/>
                </a:solidFill>
                <a:latin typeface="Calibri"/>
                <a:ea typeface="STHeiti Medium"/>
              </a:rPr>
              <a:t>本计划适合具备 5 年供款能力、追求稳健长期财富传承、且有子女教育金规划需求的高净值家庭。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6035040"/>
            <a:ext cx="109728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· 短期供款压力适中  ·  长期复利跨越代际  ·  提领方案精准对接教育节点  ·  兼顾传承与流动性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50" b="0">
                <a:solidFill>
                  <a:srgbClr val="4A5A6A"/>
                </a:solidFill>
                <a:latin typeface="Calibri"/>
                <a:ea typeface="STHeiti Medium"/>
              </a:rPr>
              <a:t>实际收益取决于投资市场表现，建议结合整体资产配置作综合考虑。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77295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200" b="1">
                <a:solidFill>
                  <a:srgbClr val="C8963E"/>
                </a:solidFill>
                <a:latin typeface="Calibri"/>
                <a:ea typeface="STHeiti Medium"/>
              </a:rPr>
              <a:t>PRU  |  保诚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1277295" cy="7315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200" b="1">
                <a:solidFill>
                  <a:srgbClr val="F8F9FB"/>
                </a:solidFill>
                <a:latin typeface="Calibri"/>
                <a:ea typeface="STHeiti Medium"/>
              </a:rPr>
              <a:t>愿这份规划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834640"/>
            <a:ext cx="11277295" cy="7315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200" b="1">
                <a:solidFill>
                  <a:srgbClr val="C8963E"/>
                </a:solidFill>
                <a:latin typeface="Calibri"/>
                <a:ea typeface="STHeiti Medium"/>
              </a:rPr>
              <a:t>陪伴孩子稳健成长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657600"/>
            <a:ext cx="11277295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400" b="0">
                <a:solidFill>
                  <a:srgbClr val="D4B078"/>
                </a:solidFill>
                <a:latin typeface="Calibri"/>
                <a:ea typeface="STHeiti Medium"/>
              </a:rPr>
              <a:t>让爱与财富，代代相传</a:t>
            </a:r>
          </a:p>
        </p:txBody>
      </p:sp>
      <p:sp>
        <p:nvSpPr>
          <p:cNvPr id="8" name="Rectangle 7"/>
          <p:cNvSpPr/>
          <p:nvPr/>
        </p:nvSpPr>
        <p:spPr>
          <a:xfrm>
            <a:off x="5641848" y="4114800"/>
            <a:ext cx="914400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4343400"/>
            <a:ext cx="11277295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300" b="0">
                <a:solidFill>
                  <a:srgbClr val="F8F9FB"/>
                </a:solidFill>
                <a:latin typeface="Calibri"/>
                <a:ea typeface="STHeiti Medium"/>
              </a:rPr>
              <a:t>—— 致 VIP 与家人  ——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800600"/>
            <a:ext cx="11277295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000" b="0">
                <a:solidFill>
                  <a:srgbClr val="D4B078"/>
                </a:solidFill>
                <a:latin typeface="Calibri"/>
                <a:ea typeface="STHeiti Medium"/>
              </a:rPr>
              <a:t>规划起点 · 受保人 1 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6675120"/>
            <a:ext cx="73152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D4B078"/>
                </a:solidFill>
                <a:latin typeface="Calibri"/>
                <a:ea typeface="STHeiti Medium"/>
              </a:rPr>
              <a:t>本演示基于保诚官方计划书数据生成 · 实际保单条款以保单文件为准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675120"/>
            <a:ext cx="13716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800" b="0">
                <a:solidFill>
                  <a:srgbClr val="D4B078"/>
                </a:solidFill>
                <a:latin typeface="Calibri"/>
                <a:ea typeface="STHeiti Medium"/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