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5000</c:v>
                </c:pt>
                <c:pt idx="1">
                  <c:v>25000</c:v>
                </c:pt>
                <c:pt idx="2">
                  <c:v>50000</c:v>
                </c:pt>
                <c:pt idx="3">
                  <c:v>125000</c:v>
                </c:pt>
                <c:pt idx="4">
                  <c:v>240000</c:v>
                </c:pt>
                <c:pt idx="5">
                  <c:v>260000</c:v>
                </c:pt>
                <c:pt idx="6">
                  <c:v>275000</c:v>
                </c:pt>
                <c:pt idx="7">
                  <c:v>282500</c:v>
                </c:pt>
                <c:pt idx="8">
                  <c:v>300000</c:v>
                </c:pt>
                <c:pt idx="9">
                  <c:v>323750</c:v>
                </c:pt>
                <c:pt idx="10">
                  <c:v>341250</c:v>
                </c:pt>
                <c:pt idx="11">
                  <c:v>362500</c:v>
                </c:pt>
                <c:pt idx="12">
                  <c:v>385000</c:v>
                </c:pt>
                <c:pt idx="13">
                  <c:v>408750</c:v>
                </c:pt>
                <c:pt idx="14">
                  <c:v>437500</c:v>
                </c:pt>
                <c:pt idx="15">
                  <c:v>470000</c:v>
                </c:pt>
                <c:pt idx="16">
                  <c:v>500000</c:v>
                </c:pt>
                <c:pt idx="17">
                  <c:v>530000</c:v>
                </c:pt>
                <c:pt idx="18">
                  <c:v>540000</c:v>
                </c:pt>
                <c:pt idx="19">
                  <c:v>545920</c:v>
                </c:pt>
                <c:pt idx="20">
                  <c:v>549470</c:v>
                </c:pt>
                <c:pt idx="21">
                  <c:v>553040</c:v>
                </c:pt>
                <c:pt idx="22">
                  <c:v>556635</c:v>
                </c:pt>
                <c:pt idx="23">
                  <c:v>560255</c:v>
                </c:pt>
                <c:pt idx="24">
                  <c:v>563895</c:v>
                </c:pt>
                <c:pt idx="25">
                  <c:v>567560</c:v>
                </c:pt>
                <c:pt idx="26">
                  <c:v>571250</c:v>
                </c:pt>
                <c:pt idx="27">
                  <c:v>574960</c:v>
                </c:pt>
                <c:pt idx="28">
                  <c:v>578700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40000</c:v>
                </c:pt>
                <c:pt idx="1">
                  <c:v>83676</c:v>
                </c:pt>
                <c:pt idx="2">
                  <c:v>131366</c:v>
                </c:pt>
                <c:pt idx="3">
                  <c:v>180938</c:v>
                </c:pt>
                <c:pt idx="4">
                  <c:v>260067</c:v>
                </c:pt>
                <c:pt idx="5">
                  <c:v>297919</c:v>
                </c:pt>
                <c:pt idx="6">
                  <c:v>345602</c:v>
                </c:pt>
                <c:pt idx="7">
                  <c:v>380684</c:v>
                </c:pt>
                <c:pt idx="8">
                  <c:v>400698</c:v>
                </c:pt>
                <c:pt idx="9">
                  <c:v>471151</c:v>
                </c:pt>
                <c:pt idx="10">
                  <c:v>519809</c:v>
                </c:pt>
                <c:pt idx="11">
                  <c:v>574250</c:v>
                </c:pt>
                <c:pt idx="12">
                  <c:v>606994</c:v>
                </c:pt>
                <c:pt idx="13">
                  <c:v>643504</c:v>
                </c:pt>
                <c:pt idx="14">
                  <c:v>676566</c:v>
                </c:pt>
                <c:pt idx="15">
                  <c:v>713985</c:v>
                </c:pt>
                <c:pt idx="16">
                  <c:v>761088</c:v>
                </c:pt>
                <c:pt idx="17">
                  <c:v>818586</c:v>
                </c:pt>
                <c:pt idx="18">
                  <c:v>892050</c:v>
                </c:pt>
                <c:pt idx="19">
                  <c:v>972131</c:v>
                </c:pt>
                <c:pt idx="20">
                  <c:v>1059734</c:v>
                </c:pt>
                <c:pt idx="21">
                  <c:v>1152795</c:v>
                </c:pt>
                <c:pt idx="22">
                  <c:v>1251935</c:v>
                </c:pt>
                <c:pt idx="23">
                  <c:v>1356920</c:v>
                </c:pt>
                <c:pt idx="24">
                  <c:v>1468550</c:v>
                </c:pt>
                <c:pt idx="25">
                  <c:v>1587284</c:v>
                </c:pt>
                <c:pt idx="26">
                  <c:v>1719579</c:v>
                </c:pt>
                <c:pt idx="27">
                  <c:v>1867602</c:v>
                </c:pt>
                <c:pt idx="28">
                  <c:v>2028043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500067</c:v>
                </c:pt>
                <c:pt idx="5">
                  <c:v>557919</c:v>
                </c:pt>
                <c:pt idx="6">
                  <c:v>620602</c:v>
                </c:pt>
                <c:pt idx="7">
                  <c:v>663184</c:v>
                </c:pt>
                <c:pt idx="8">
                  <c:v>700698</c:v>
                </c:pt>
                <c:pt idx="9">
                  <c:v>794901</c:v>
                </c:pt>
                <c:pt idx="10">
                  <c:v>861059</c:v>
                </c:pt>
                <c:pt idx="11">
                  <c:v>936750</c:v>
                </c:pt>
                <c:pt idx="12">
                  <c:v>991994</c:v>
                </c:pt>
                <c:pt idx="13">
                  <c:v>1052254</c:v>
                </c:pt>
                <c:pt idx="14">
                  <c:v>1114066</c:v>
                </c:pt>
                <c:pt idx="15">
                  <c:v>1183985</c:v>
                </c:pt>
                <c:pt idx="16">
                  <c:v>1261088</c:v>
                </c:pt>
                <c:pt idx="17">
                  <c:v>1348586</c:v>
                </c:pt>
                <c:pt idx="18">
                  <c:v>1432050</c:v>
                </c:pt>
                <c:pt idx="19">
                  <c:v>1518051</c:v>
                </c:pt>
                <c:pt idx="20">
                  <c:v>1609204</c:v>
                </c:pt>
                <c:pt idx="21">
                  <c:v>1705835</c:v>
                </c:pt>
                <c:pt idx="22">
                  <c:v>1808570</c:v>
                </c:pt>
                <c:pt idx="23">
                  <c:v>1917175</c:v>
                </c:pt>
                <c:pt idx="24">
                  <c:v>2032445</c:v>
                </c:pt>
                <c:pt idx="25">
                  <c:v>2154844</c:v>
                </c:pt>
                <c:pt idx="26">
                  <c:v>2290829</c:v>
                </c:pt>
                <c:pt idx="27">
                  <c:v>2442562</c:v>
                </c:pt>
                <c:pt idx="28">
                  <c:v>2606743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Y10
(67岁)</c:v>
                </c:pt>
                <c:pt idx="1">
                  <c:v>Y15
(72岁)</c:v>
                </c:pt>
                <c:pt idx="2">
                  <c:v>Y20
(77岁)</c:v>
                </c:pt>
                <c:pt idx="3">
                  <c:v>Y25
(82岁)</c:v>
                </c:pt>
                <c:pt idx="4">
                  <c:v>Y30
(87岁)</c:v>
                </c:pt>
                <c:pt idx="5">
                  <c:v>Y31
(88岁)</c:v>
                </c:pt>
                <c:pt idx="6">
                  <c:v>Y41
(98岁)</c:v>
                </c:pt>
                <c:pt idx="7">
                  <c:v>Y51
(108岁)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700698</c:v>
                </c:pt>
                <c:pt idx="1">
                  <c:v>1052254</c:v>
                </c:pt>
                <c:pt idx="2">
                  <c:v>1432050</c:v>
                </c:pt>
                <c:pt idx="3">
                  <c:v>1917175</c:v>
                </c:pt>
                <c:pt idx="4">
                  <c:v>2606743</c:v>
                </c:pt>
                <c:pt idx="5">
                  <c:v>2783392</c:v>
                </c:pt>
                <c:pt idx="6">
                  <c:v>5558752</c:v>
                </c:pt>
                <c:pt idx="7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Y10
(67岁)</c:v>
                </c:pt>
                <c:pt idx="1">
                  <c:v>Y15
(72岁)</c:v>
                </c:pt>
                <c:pt idx="2">
                  <c:v>Y20
(77岁)</c:v>
                </c:pt>
                <c:pt idx="3">
                  <c:v>Y25
(82岁)</c:v>
                </c:pt>
                <c:pt idx="4">
                  <c:v>Y30
(87岁)</c:v>
                </c:pt>
                <c:pt idx="5">
                  <c:v>Y31
(88岁)</c:v>
                </c:pt>
                <c:pt idx="6">
                  <c:v>Y41
(98岁)</c:v>
                </c:pt>
                <c:pt idx="7">
                  <c:v>Y51
(108岁)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576924</c:v>
                </c:pt>
                <c:pt idx="1">
                  <c:v>734322</c:v>
                </c:pt>
                <c:pt idx="2">
                  <c:v>822030</c:v>
                </c:pt>
                <c:pt idx="3">
                  <c:v>876351</c:v>
                </c:pt>
                <c:pt idx="4">
                  <c:v>902058</c:v>
                </c:pt>
                <c:pt idx="5">
                  <c:v>1428931</c:v>
                </c:pt>
                <c:pt idx="6">
                  <c:v>1806609</c:v>
                </c:pt>
                <c:pt idx="7">
                  <c:v>2253526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受保人：VIP（58岁）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新加坡宏利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732846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投资相连险(ILPs) — 环球顶级基金直通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全生命周期退休年金 — DBS独家银保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大额身故保障与保单融资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家族办公室与信托统筹方案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母公司宏利金融创立于1887年（加拿大）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AA- / Moody's A1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1898年签发新加坡首张保单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新加坡D-SII系统重要性寿险公司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1,432,050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5.21x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1,432,050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2,606,743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119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180,938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400,698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700,698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408,750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643,504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1,052,254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892,050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1,432,050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560,255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1,356,920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1,917,175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578,700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2,028,043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2,606,743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14.04%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597,755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3,046,404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3,644,159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617,435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4,554,511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5,171,946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23.36%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658,765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9,656,301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706,355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18,656,442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757,390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35,589,243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812,105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67,415,522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870,780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127,201,855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933,690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239,476,252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1,001,150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450,281,360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451,282,510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819.60%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6（63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408,316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443,316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401,924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576,924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1.44%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384,322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734,322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297,030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822,030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2.52%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176,351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876,351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27,058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902,058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2.68%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523,965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1,573,965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541,138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1,766,138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629,152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2,204,152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842,405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2,767,405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1,303,242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3,578,242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2,303,938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4,928,938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11.07%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4,251,721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7,226,721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8,273,382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11,598,382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22.20%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16,576,919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20,251,919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35.91%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3,990,000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31,396,562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35,386,562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58.63%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养老金现金流 · 与退休年龄节点结合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6（63 岁）起每年提取 USD 35,000 · 退休生活从容有品质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60-65岁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退休初期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C8963E"/>
                </a:solidFill>
                <a:latin typeface="Calibri"/>
                <a:ea typeface="STHeiti Medium"/>
              </a:rPr>
              <a:t>USD 105,000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环球旅行/兴趣爱好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428,571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65-75岁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活跃养老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Y8-Y18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品质生活/健康管理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333,081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75-85岁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稳健养老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Y18-Y28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805,000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医疗护理/居家服务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89,880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85-95岁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享老晚年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Y28-Y38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1,155,000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专业照护/尊严养老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532,823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95+岁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财富传承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Y38-Y63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2,030,000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遗产规划/代际传承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945,312</a:t>
            </a:r>
          </a:p>
        </p:txBody>
      </p:sp>
      <p:pic>
        <p:nvPicPr>
          <p:cNvPr id="65" name="Picture 64" descr="family-outdoor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senior-lif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senior-travel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从 63 岁开始每年领取 US$35,000 → 退休收入稳定补充 → 剩余价值持续滚存 → 财富代际传承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所有数据均直接源自宏利官方计划书原文（pdfplumber按列精确提取）；如需进一步核验，可逐项对照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58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本演示基于宏利官方计划书数据生成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