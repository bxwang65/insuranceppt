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(101岁)</c:v>
                </c:pt>
                <c:pt idx="1">
                  <c:v>Y3
(102岁)</c:v>
                </c:pt>
                <c:pt idx="2">
                  <c:v>Y4
(103岁)</c:v>
                </c:pt>
                <c:pt idx="3">
                  <c:v>Y5
(104岁)</c:v>
                </c:pt>
                <c:pt idx="4">
                  <c:v>Y6
(105岁)</c:v>
                </c:pt>
                <c:pt idx="5">
                  <c:v>Y7
(106岁)</c:v>
                </c:pt>
                <c:pt idx="6">
                  <c:v>Y8
(107岁)</c:v>
                </c:pt>
                <c:pt idx="7">
                  <c:v>Y9
(108岁)</c:v>
                </c:pt>
                <c:pt idx="8">
                  <c:v>Y10
(109岁)</c:v>
                </c:pt>
                <c:pt idx="9">
                  <c:v>Y11
(110岁)</c:v>
                </c:pt>
                <c:pt idx="10">
                  <c:v>Y12
(111岁)</c:v>
                </c:pt>
                <c:pt idx="11">
                  <c:v>Y13
(112岁)</c:v>
                </c:pt>
                <c:pt idx="12">
                  <c:v>Y14
(113岁)</c:v>
                </c:pt>
                <c:pt idx="13">
                  <c:v>Y15
(114岁)</c:v>
                </c:pt>
                <c:pt idx="14">
                  <c:v>Y16
(115岁)</c:v>
                </c:pt>
                <c:pt idx="15">
                  <c:v>Y17
(116岁)</c:v>
                </c:pt>
                <c:pt idx="16">
                  <c:v>Y18
(117岁)</c:v>
                </c:pt>
                <c:pt idx="17">
                  <c:v>Y19
(118岁)</c:v>
                </c:pt>
                <c:pt idx="18">
                  <c:v>Y20
(119岁)</c:v>
                </c:pt>
                <c:pt idx="19">
                  <c:v>Y21
(120岁)</c:v>
                </c:pt>
                <c:pt idx="20">
                  <c:v>Y22
(121岁)</c:v>
                </c:pt>
                <c:pt idx="21">
                  <c:v>Y23
(122岁)</c:v>
                </c:pt>
                <c:pt idx="22">
                  <c:v>Y24
(123岁)</c:v>
                </c:pt>
                <c:pt idx="23">
                  <c:v>Y25
(124岁)</c:v>
                </c:pt>
                <c:pt idx="24">
                  <c:v>Y26
(125岁)</c:v>
                </c:pt>
                <c:pt idx="25">
                  <c:v>Y27
(126岁)</c:v>
                </c:pt>
                <c:pt idx="26">
                  <c:v>Y28
(127岁)</c:v>
                </c:pt>
                <c:pt idx="27">
                  <c:v>Y29
(128岁)</c:v>
                </c:pt>
                <c:pt idx="28">
                  <c:v>Y30
(129岁)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15483</c:v>
                </c:pt>
                <c:pt idx="2">
                  <c:v>45105</c:v>
                </c:pt>
                <c:pt idx="3">
                  <c:v>84867</c:v>
                </c:pt>
                <c:pt idx="4">
                  <c:v>167432</c:v>
                </c:pt>
                <c:pt idx="5">
                  <c:v>324818</c:v>
                </c:pt>
                <c:pt idx="6">
                  <c:v>328066</c:v>
                </c:pt>
                <c:pt idx="7">
                  <c:v>332987</c:v>
                </c:pt>
                <c:pt idx="8">
                  <c:v>339647</c:v>
                </c:pt>
                <c:pt idx="9">
                  <c:v>360638</c:v>
                </c:pt>
                <c:pt idx="10">
                  <c:v>386458</c:v>
                </c:pt>
                <c:pt idx="11">
                  <c:v>501000</c:v>
                </c:pt>
                <c:pt idx="12">
                  <c:v>502002</c:v>
                </c:pt>
                <c:pt idx="13">
                  <c:v>503006</c:v>
                </c:pt>
                <c:pt idx="14">
                  <c:v>504012</c:v>
                </c:pt>
                <c:pt idx="15">
                  <c:v>505020</c:v>
                </c:pt>
                <c:pt idx="16">
                  <c:v>506030</c:v>
                </c:pt>
                <c:pt idx="17">
                  <c:v>507042</c:v>
                </c:pt>
                <c:pt idx="18">
                  <c:v>508563</c:v>
                </c:pt>
                <c:pt idx="19">
                  <c:v>510089</c:v>
                </c:pt>
                <c:pt idx="20">
                  <c:v>511619</c:v>
                </c:pt>
                <c:pt idx="21">
                  <c:v>513154</c:v>
                </c:pt>
                <c:pt idx="22">
                  <c:v>514694</c:v>
                </c:pt>
                <c:pt idx="23">
                  <c:v>516495</c:v>
                </c:pt>
                <c:pt idx="24">
                  <c:v>518303</c:v>
                </c:pt>
                <c:pt idx="25">
                  <c:v>520117</c:v>
                </c:pt>
                <c:pt idx="26">
                  <c:v>521937</c:v>
                </c:pt>
                <c:pt idx="27">
                  <c:v>523764</c:v>
                </c:pt>
                <c:pt idx="28">
                  <c:v>528308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(101岁)</c:v>
                </c:pt>
                <c:pt idx="1">
                  <c:v>Y3
(102岁)</c:v>
                </c:pt>
                <c:pt idx="2">
                  <c:v>Y4
(103岁)</c:v>
                </c:pt>
                <c:pt idx="3">
                  <c:v>Y5
(104岁)</c:v>
                </c:pt>
                <c:pt idx="4">
                  <c:v>Y6
(105岁)</c:v>
                </c:pt>
                <c:pt idx="5">
                  <c:v>Y7
(106岁)</c:v>
                </c:pt>
                <c:pt idx="6">
                  <c:v>Y8
(107岁)</c:v>
                </c:pt>
                <c:pt idx="7">
                  <c:v>Y9
(108岁)</c:v>
                </c:pt>
                <c:pt idx="8">
                  <c:v>Y10
(109岁)</c:v>
                </c:pt>
                <c:pt idx="9">
                  <c:v>Y11
(110岁)</c:v>
                </c:pt>
                <c:pt idx="10">
                  <c:v>Y12
(111岁)</c:v>
                </c:pt>
                <c:pt idx="11">
                  <c:v>Y13
(112岁)</c:v>
                </c:pt>
                <c:pt idx="12">
                  <c:v>Y14
(113岁)</c:v>
                </c:pt>
                <c:pt idx="13">
                  <c:v>Y15
(114岁)</c:v>
                </c:pt>
                <c:pt idx="14">
                  <c:v>Y16
(115岁)</c:v>
                </c:pt>
                <c:pt idx="15">
                  <c:v>Y17
(116岁)</c:v>
                </c:pt>
                <c:pt idx="16">
                  <c:v>Y18
(117岁)</c:v>
                </c:pt>
                <c:pt idx="17">
                  <c:v>Y19
(118岁)</c:v>
                </c:pt>
                <c:pt idx="18">
                  <c:v>Y20
(119岁)</c:v>
                </c:pt>
                <c:pt idx="19">
                  <c:v>Y21
(120岁)</c:v>
                </c:pt>
                <c:pt idx="20">
                  <c:v>Y22
(121岁)</c:v>
                </c:pt>
                <c:pt idx="21">
                  <c:v>Y23
(122岁)</c:v>
                </c:pt>
                <c:pt idx="22">
                  <c:v>Y24
(123岁)</c:v>
                </c:pt>
                <c:pt idx="23">
                  <c:v>Y25
(124岁)</c:v>
                </c:pt>
                <c:pt idx="24">
                  <c:v>Y26
(125岁)</c:v>
                </c:pt>
                <c:pt idx="25">
                  <c:v>Y27
(126岁)</c:v>
                </c:pt>
                <c:pt idx="26">
                  <c:v>Y28
(127岁)</c:v>
                </c:pt>
                <c:pt idx="27">
                  <c:v>Y29
(128岁)</c:v>
                </c:pt>
                <c:pt idx="28">
                  <c:v>Y30
(129岁)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9148</c:v>
                </c:pt>
                <c:pt idx="1">
                  <c:v>20180</c:v>
                </c:pt>
                <c:pt idx="2">
                  <c:v>38924</c:v>
                </c:pt>
                <c:pt idx="3">
                  <c:v>65866</c:v>
                </c:pt>
                <c:pt idx="4">
                  <c:v>88478</c:v>
                </c:pt>
                <c:pt idx="5">
                  <c:v>188023</c:v>
                </c:pt>
                <c:pt idx="6">
                  <c:v>208138</c:v>
                </c:pt>
                <c:pt idx="7">
                  <c:v>236153</c:v>
                </c:pt>
                <c:pt idx="8">
                  <c:v>296531</c:v>
                </c:pt>
                <c:pt idx="9">
                  <c:v>305379</c:v>
                </c:pt>
                <c:pt idx="10">
                  <c:v>311702</c:v>
                </c:pt>
                <c:pt idx="11">
                  <c:v>318223</c:v>
                </c:pt>
                <c:pt idx="12">
                  <c:v>358010</c:v>
                </c:pt>
                <c:pt idx="13">
                  <c:v>425438</c:v>
                </c:pt>
                <c:pt idx="14">
                  <c:v>474793</c:v>
                </c:pt>
                <c:pt idx="15">
                  <c:v>550152</c:v>
                </c:pt>
                <c:pt idx="16">
                  <c:v>640048</c:v>
                </c:pt>
                <c:pt idx="17">
                  <c:v>768429</c:v>
                </c:pt>
                <c:pt idx="18">
                  <c:v>923465</c:v>
                </c:pt>
                <c:pt idx="19">
                  <c:v>1016486</c:v>
                </c:pt>
                <c:pt idx="20">
                  <c:v>1117744</c:v>
                </c:pt>
                <c:pt idx="21">
                  <c:v>1227685</c:v>
                </c:pt>
                <c:pt idx="22">
                  <c:v>1344060</c:v>
                </c:pt>
                <c:pt idx="23">
                  <c:v>1465893</c:v>
                </c:pt>
                <c:pt idx="24">
                  <c:v>1629411</c:v>
                </c:pt>
                <c:pt idx="25">
                  <c:v>1814152</c:v>
                </c:pt>
                <c:pt idx="26">
                  <c:v>2008078</c:v>
                </c:pt>
                <c:pt idx="27">
                  <c:v>2194039</c:v>
                </c:pt>
                <c:pt idx="28">
                  <c:v>2399077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(101岁)</c:v>
                </c:pt>
                <c:pt idx="1">
                  <c:v>Y3
(102岁)</c:v>
                </c:pt>
                <c:pt idx="2">
                  <c:v>Y4
(103岁)</c:v>
                </c:pt>
                <c:pt idx="3">
                  <c:v>Y5
(104岁)</c:v>
                </c:pt>
                <c:pt idx="4">
                  <c:v>Y6
(105岁)</c:v>
                </c:pt>
                <c:pt idx="5">
                  <c:v>Y7
(106岁)</c:v>
                </c:pt>
                <c:pt idx="6">
                  <c:v>Y8
(107岁)</c:v>
                </c:pt>
                <c:pt idx="7">
                  <c:v>Y9
(108岁)</c:v>
                </c:pt>
                <c:pt idx="8">
                  <c:v>Y10
(109岁)</c:v>
                </c:pt>
                <c:pt idx="9">
                  <c:v>Y11
(110岁)</c:v>
                </c:pt>
                <c:pt idx="10">
                  <c:v>Y12
(111岁)</c:v>
                </c:pt>
                <c:pt idx="11">
                  <c:v>Y13
(112岁)</c:v>
                </c:pt>
                <c:pt idx="12">
                  <c:v>Y14
(113岁)</c:v>
                </c:pt>
                <c:pt idx="13">
                  <c:v>Y15
(114岁)</c:v>
                </c:pt>
                <c:pt idx="14">
                  <c:v>Y16
(115岁)</c:v>
                </c:pt>
                <c:pt idx="15">
                  <c:v>Y17
(116岁)</c:v>
                </c:pt>
                <c:pt idx="16">
                  <c:v>Y18
(117岁)</c:v>
                </c:pt>
                <c:pt idx="17">
                  <c:v>Y19
(118岁)</c:v>
                </c:pt>
                <c:pt idx="18">
                  <c:v>Y20
(119岁)</c:v>
                </c:pt>
                <c:pt idx="19">
                  <c:v>Y21
(120岁)</c:v>
                </c:pt>
                <c:pt idx="20">
                  <c:v>Y22
(121岁)</c:v>
                </c:pt>
                <c:pt idx="21">
                  <c:v>Y23
(122岁)</c:v>
                </c:pt>
                <c:pt idx="22">
                  <c:v>Y24
(123岁)</c:v>
                </c:pt>
                <c:pt idx="23">
                  <c:v>Y25
(124岁)</c:v>
                </c:pt>
                <c:pt idx="24">
                  <c:v>Y26
(125岁)</c:v>
                </c:pt>
                <c:pt idx="25">
                  <c:v>Y27
(126岁)</c:v>
                </c:pt>
                <c:pt idx="26">
                  <c:v>Y28
(127岁)</c:v>
                </c:pt>
                <c:pt idx="27">
                  <c:v>Y29
(128岁)</c:v>
                </c:pt>
                <c:pt idx="28">
                  <c:v>Y30
(129岁)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9148</c:v>
                </c:pt>
                <c:pt idx="1">
                  <c:v>35663</c:v>
                </c:pt>
                <c:pt idx="2">
                  <c:v>84029</c:v>
                </c:pt>
                <c:pt idx="3">
                  <c:v>150733</c:v>
                </c:pt>
                <c:pt idx="4">
                  <c:v>255910</c:v>
                </c:pt>
                <c:pt idx="5">
                  <c:v>512841</c:v>
                </c:pt>
                <c:pt idx="6">
                  <c:v>536204</c:v>
                </c:pt>
                <c:pt idx="7">
                  <c:v>569140</c:v>
                </c:pt>
                <c:pt idx="8">
                  <c:v>636178</c:v>
                </c:pt>
                <c:pt idx="9">
                  <c:v>666017</c:v>
                </c:pt>
                <c:pt idx="10">
                  <c:v>698160</c:v>
                </c:pt>
                <c:pt idx="11">
                  <c:v>819223</c:v>
                </c:pt>
                <c:pt idx="12">
                  <c:v>860012</c:v>
                </c:pt>
                <c:pt idx="13">
                  <c:v>928444</c:v>
                </c:pt>
                <c:pt idx="14">
                  <c:v>978805</c:v>
                </c:pt>
                <c:pt idx="15">
                  <c:v>1055172</c:v>
                </c:pt>
                <c:pt idx="16">
                  <c:v>1146078</c:v>
                </c:pt>
                <c:pt idx="17">
                  <c:v>1275471</c:v>
                </c:pt>
                <c:pt idx="18">
                  <c:v>1432028</c:v>
                </c:pt>
                <c:pt idx="19">
                  <c:v>1526575</c:v>
                </c:pt>
                <c:pt idx="20">
                  <c:v>1629363</c:v>
                </c:pt>
                <c:pt idx="21">
                  <c:v>1740839</c:v>
                </c:pt>
                <c:pt idx="22">
                  <c:v>1858754</c:v>
                </c:pt>
                <c:pt idx="23">
                  <c:v>1982388</c:v>
                </c:pt>
                <c:pt idx="24">
                  <c:v>2147714</c:v>
                </c:pt>
                <c:pt idx="25">
                  <c:v>2334269</c:v>
                </c:pt>
                <c:pt idx="26">
                  <c:v>2530015</c:v>
                </c:pt>
                <c:pt idx="27">
                  <c:v>2717803</c:v>
                </c:pt>
                <c:pt idx="28">
                  <c:v>2927385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(109岁)</c:v>
                </c:pt>
                <c:pt idx="1">
                  <c:v>Y15
(114岁)</c:v>
                </c:pt>
                <c:pt idx="2">
                  <c:v>Y20
(119岁)</c:v>
                </c:pt>
                <c:pt idx="3">
                  <c:v>Y25
(124岁)</c:v>
                </c:pt>
                <c:pt idx="4">
                  <c:v>Y30
(129岁)</c:v>
                </c:pt>
                <c:pt idx="5">
                  <c:v>Y31
(130岁)</c:v>
                </c:pt>
                <c:pt idx="6">
                  <c:v>Y41
(140岁)</c:v>
                </c:pt>
                <c:pt idx="7">
                  <c:v>Y51
(150岁)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636178</c:v>
                </c:pt>
                <c:pt idx="1">
                  <c:v>928444</c:v>
                </c:pt>
                <c:pt idx="2">
                  <c:v>1432028</c:v>
                </c:pt>
                <c:pt idx="3">
                  <c:v>1982388</c:v>
                </c:pt>
                <c:pt idx="4">
                  <c:v>2927385</c:v>
                </c:pt>
                <c:pt idx="5">
                  <c:v>3117665</c:v>
                </c:pt>
                <c:pt idx="6">
                  <c:v>5852286</c:v>
                </c:pt>
                <c:pt idx="7">
                  <c:v>10985546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(109岁)</c:v>
                </c:pt>
                <c:pt idx="1">
                  <c:v>Y15
(114岁)</c:v>
                </c:pt>
                <c:pt idx="2">
                  <c:v>Y20
(119岁)</c:v>
                </c:pt>
                <c:pt idx="3">
                  <c:v>Y25
(124岁)</c:v>
                </c:pt>
                <c:pt idx="4">
                  <c:v>Y30
(129岁)</c:v>
                </c:pt>
                <c:pt idx="5">
                  <c:v>Y31
(130岁)</c:v>
                </c:pt>
                <c:pt idx="6">
                  <c:v>Y41
(140岁)</c:v>
                </c:pt>
                <c:pt idx="7">
                  <c:v>Y51
(150岁)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620981</c:v>
                </c:pt>
                <c:pt idx="1">
                  <c:v>822273</c:v>
                </c:pt>
                <c:pt idx="2">
                  <c:v>1069106</c:v>
                </c:pt>
                <c:pt idx="3">
                  <c:v>1270887</c:v>
                </c:pt>
                <c:pt idx="4">
                  <c:v>1536090</c:v>
                </c:pt>
                <c:pt idx="5">
                  <c:v>1581831</c:v>
                </c:pt>
                <c:pt idx="6">
                  <c:v>2084575</c:v>
                </c:pt>
                <c:pt idx="7">
                  <c:v>2720320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2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富饒萬家儲蓄保險計劃 (5年繳付)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MS.1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受保人：1（100岁）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万通保险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271251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富饒萬家儲蓄保險計劃 (5年繳付)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更懂投资的保险公司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年金/储蓄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MPF管理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云锋金融控股(60%)+美国万通(25%)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穆迪A3 / 惠誉A- 评级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扎根香港50年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管理资产超850亿港元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34,128,294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数据来源：万通保险官方计划书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120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84,867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65,866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150,733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-13.97%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339,647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296,531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636,178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503,006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425,438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928,444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508,563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923,465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516,495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1,465,893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1,982,388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11.86%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528,308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2,399,077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537,105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3,473,666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550,213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4,944,892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576,294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9,738,773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607,532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17,573,499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18,181,031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648,476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33,479,818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34,128,294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96.08%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701,385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63,362,115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64,063,500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189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762,955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119,493,041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120,255,996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266.12%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841,728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224,895,307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225,737,035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450.47%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数据来源：万通保险官方计划书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6（105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220,910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255,910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-8.14%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445,981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620,981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544,106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1,069,106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570,887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1,270,887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661,090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1,536,090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6.91%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721,940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1,771,940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804,698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2,029,698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7.65%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1,072,959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2,647,959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1,578,984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3,503,984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2,566,820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4,841,820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4,478,631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7,103,631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8,117,685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11,092,685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14,993,378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18,318,378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35.64%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27,936,290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31,611,290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56.57%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49,088,339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53,078,339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88.37%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数据来源：万通保险官方计划书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6（105 岁）起每年提取 USD 35,000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-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-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560,000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548,175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105 岁开始每年领取 US$35,000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数据来源：万通保险官方计划书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105 岁起，每年提取 USD 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53%（IUL年缴USD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35,000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53%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富饒萬家儲蓄保險計劃 (5年繳付)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2,927,385。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YFLIFE  |  万通保险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1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