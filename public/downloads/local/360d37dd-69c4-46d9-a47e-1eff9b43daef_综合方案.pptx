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保证现价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27275</c:v>
                </c:pt>
                <c:pt idx="1">
                  <c:v>50350</c:v>
                </c:pt>
                <c:pt idx="2">
                  <c:v>75000</c:v>
                </c:pt>
                <c:pt idx="3">
                  <c:v>100000</c:v>
                </c:pt>
                <c:pt idx="4">
                  <c:v>125000</c:v>
                </c:pt>
                <c:pt idx="5">
                  <c:v>137500</c:v>
                </c:pt>
                <c:pt idx="6">
                  <c:v>140000</c:v>
                </c:pt>
                <c:pt idx="7">
                  <c:v>141500</c:v>
                </c:pt>
                <c:pt idx="8">
                  <c:v>142500</c:v>
                </c:pt>
                <c:pt idx="9">
                  <c:v>150000</c:v>
                </c:pt>
                <c:pt idx="10">
                  <c:v>200000</c:v>
                </c:pt>
                <c:pt idx="11">
                  <c:v>250000</c:v>
                </c:pt>
                <c:pt idx="12">
                  <c:v>300000</c:v>
                </c:pt>
                <c:pt idx="13">
                  <c:v>350000</c:v>
                </c:pt>
                <c:pt idx="14">
                  <c:v>400000</c:v>
                </c:pt>
                <c:pt idx="15">
                  <c:v>450000</c:v>
                </c:pt>
                <c:pt idx="16">
                  <c:v>500000</c:v>
                </c:pt>
                <c:pt idx="17">
                  <c:v>505665</c:v>
                </c:pt>
                <c:pt idx="18">
                  <c:v>506580</c:v>
                </c:pt>
                <c:pt idx="19">
                  <c:v>507560</c:v>
                </c:pt>
                <c:pt idx="20">
                  <c:v>508605</c:v>
                </c:pt>
                <c:pt idx="21">
                  <c:v>509715</c:v>
                </c:pt>
                <c:pt idx="22">
                  <c:v>510895</c:v>
                </c:pt>
                <c:pt idx="23">
                  <c:v>512140</c:v>
                </c:pt>
                <c:pt idx="24">
                  <c:v>513450</c:v>
                </c:pt>
                <c:pt idx="25">
                  <c:v>514825</c:v>
                </c:pt>
                <c:pt idx="26">
                  <c:v>516275</c:v>
                </c:pt>
                <c:pt idx="27">
                  <c:v>517790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非保证红利/分红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Sheet1!$C$2:$C$29</c:f>
              <c:numCache>
                <c:formatCode>General</c:formatCode>
                <c:ptCount val="28"/>
                <c:pt idx="0">
                  <c:v>89125</c:v>
                </c:pt>
                <c:pt idx="1">
                  <c:v>154813</c:v>
                </c:pt>
                <c:pt idx="2">
                  <c:v>240234</c:v>
                </c:pt>
                <c:pt idx="3">
                  <c:v>291867</c:v>
                </c:pt>
                <c:pt idx="4">
                  <c:v>377504</c:v>
                </c:pt>
                <c:pt idx="5">
                  <c:v>415873</c:v>
                </c:pt>
                <c:pt idx="6">
                  <c:v>454705</c:v>
                </c:pt>
                <c:pt idx="7">
                  <c:v>497414</c:v>
                </c:pt>
                <c:pt idx="8">
                  <c:v>532078</c:v>
                </c:pt>
                <c:pt idx="9">
                  <c:v>558631</c:v>
                </c:pt>
                <c:pt idx="10">
                  <c:v>566000</c:v>
                </c:pt>
                <c:pt idx="11">
                  <c:v>572479</c:v>
                </c:pt>
                <c:pt idx="12">
                  <c:v>587814</c:v>
                </c:pt>
                <c:pt idx="13">
                  <c:v>653536</c:v>
                </c:pt>
                <c:pt idx="14">
                  <c:v>664469</c:v>
                </c:pt>
                <c:pt idx="15">
                  <c:v>704444</c:v>
                </c:pt>
                <c:pt idx="16">
                  <c:v>760311</c:v>
                </c:pt>
                <c:pt idx="17">
                  <c:v>926356</c:v>
                </c:pt>
                <c:pt idx="18">
                  <c:v>1020949</c:v>
                </c:pt>
                <c:pt idx="19">
                  <c:v>1123346</c:v>
                </c:pt>
                <c:pt idx="20">
                  <c:v>1222131</c:v>
                </c:pt>
                <c:pt idx="21">
                  <c:v>1330249</c:v>
                </c:pt>
                <c:pt idx="22">
                  <c:v>1460713</c:v>
                </c:pt>
                <c:pt idx="23">
                  <c:v>1602356</c:v>
                </c:pt>
                <c:pt idx="24">
                  <c:v>1756249</c:v>
                </c:pt>
                <c:pt idx="25">
                  <c:v>1923572</c:v>
                </c:pt>
                <c:pt idx="26">
                  <c:v>2105622</c:v>
                </c:pt>
                <c:pt idx="27">
                  <c:v>2303847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退保发还总额 (USD)</c:v>
                </c:pt>
              </c:strCache>
            </c:strRef>
          </c:tx>
          <c:spPr>
            <a:solidFill>
              <a:srgbClr val="8A6A2A"/>
            </a:solidFill>
            <a:ln w="31750">
              <a:solidFill>
                <a:srgbClr val="8A6A2A"/>
              </a:solidFill>
            </a:ln>
          </c:spPr>
          <c:marker>
            <c:symbol val="circle"/>
            <c:size val="6"/>
          </c:marker>
          <c:cat>
            <c:strRef>
              <c:f>Sheet1!$A$2:$A$29</c:f>
              <c:strCache>
                <c:ptCount val="28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Y6
(6岁)</c:v>
                </c:pt>
                <c:pt idx="4">
                  <c:v>Y7
(7岁)</c:v>
                </c:pt>
                <c:pt idx="5">
                  <c:v>Y8
(8岁)</c:v>
                </c:pt>
                <c:pt idx="6">
                  <c:v>Y9
(9岁)</c:v>
                </c:pt>
                <c:pt idx="7">
                  <c:v>Y10
(10岁)</c:v>
                </c:pt>
                <c:pt idx="8">
                  <c:v>Y11
(11岁)</c:v>
                </c:pt>
                <c:pt idx="9">
                  <c:v>Y12
(12岁)</c:v>
                </c:pt>
                <c:pt idx="10">
                  <c:v>Y13
(13岁)</c:v>
                </c:pt>
                <c:pt idx="11">
                  <c:v>Y14
(14岁)</c:v>
                </c:pt>
                <c:pt idx="12">
                  <c:v>Y15
(15岁)</c:v>
                </c:pt>
                <c:pt idx="13">
                  <c:v>Y16
(16岁)</c:v>
                </c:pt>
                <c:pt idx="14">
                  <c:v>Y17
(17岁)</c:v>
                </c:pt>
                <c:pt idx="15">
                  <c:v>Y18
(18岁)</c:v>
                </c:pt>
                <c:pt idx="16">
                  <c:v>Y19
(19岁)</c:v>
                </c:pt>
                <c:pt idx="17">
                  <c:v>Y20
(20岁)</c:v>
                </c:pt>
                <c:pt idx="18">
                  <c:v>Y21
(21岁)</c:v>
                </c:pt>
                <c:pt idx="19">
                  <c:v>Y22
(22岁)</c:v>
                </c:pt>
                <c:pt idx="20">
                  <c:v>Y23
(23岁)</c:v>
                </c:pt>
                <c:pt idx="21">
                  <c:v>Y24
(24岁)</c:v>
                </c:pt>
                <c:pt idx="22">
                  <c:v>Y25
(25岁)</c:v>
                </c:pt>
                <c:pt idx="23">
                  <c:v>Y26
(26岁)</c:v>
                </c:pt>
                <c:pt idx="24">
                  <c:v>Y27
(27岁)</c:v>
                </c:pt>
                <c:pt idx="25">
                  <c:v>Y28
(28岁)</c:v>
                </c:pt>
                <c:pt idx="26">
                  <c:v>Y29
(29岁)</c:v>
                </c:pt>
                <c:pt idx="27">
                  <c:v>Y30
(30岁)</c:v>
                </c:pt>
              </c:strCache>
            </c:strRef>
          </c:cat>
          <c:val>
            <c:numRef>
              <c:f>Sheet1!$B$2:$B$29</c:f>
              <c:numCache>
                <c:formatCode>General</c:formatCode>
                <c:ptCount val="28"/>
                <c:pt idx="0">
                  <c:v>116400</c:v>
                </c:pt>
                <c:pt idx="1">
                  <c:v>205163</c:v>
                </c:pt>
                <c:pt idx="2">
                  <c:v>315234</c:v>
                </c:pt>
                <c:pt idx="3">
                  <c:v>391867</c:v>
                </c:pt>
                <c:pt idx="4">
                  <c:v>502504</c:v>
                </c:pt>
                <c:pt idx="5">
                  <c:v>553373</c:v>
                </c:pt>
                <c:pt idx="6">
                  <c:v>594705</c:v>
                </c:pt>
                <c:pt idx="7">
                  <c:v>638914</c:v>
                </c:pt>
                <c:pt idx="8">
                  <c:v>674578</c:v>
                </c:pt>
                <c:pt idx="9">
                  <c:v>708631</c:v>
                </c:pt>
                <c:pt idx="10">
                  <c:v>766000</c:v>
                </c:pt>
                <c:pt idx="11">
                  <c:v>822479</c:v>
                </c:pt>
                <c:pt idx="12">
                  <c:v>887814</c:v>
                </c:pt>
                <c:pt idx="13">
                  <c:v>1003536</c:v>
                </c:pt>
                <c:pt idx="14">
                  <c:v>1064469</c:v>
                </c:pt>
                <c:pt idx="15">
                  <c:v>1154444</c:v>
                </c:pt>
                <c:pt idx="16">
                  <c:v>1260311</c:v>
                </c:pt>
                <c:pt idx="17">
                  <c:v>1432021</c:v>
                </c:pt>
                <c:pt idx="18">
                  <c:v>1527529</c:v>
                </c:pt>
                <c:pt idx="19">
                  <c:v>1630906</c:v>
                </c:pt>
                <c:pt idx="20">
                  <c:v>1730736</c:v>
                </c:pt>
                <c:pt idx="21">
                  <c:v>1839964</c:v>
                </c:pt>
                <c:pt idx="22">
                  <c:v>1971608</c:v>
                </c:pt>
                <c:pt idx="23">
                  <c:v>2114496</c:v>
                </c:pt>
                <c:pt idx="24">
                  <c:v>2269699</c:v>
                </c:pt>
                <c:pt idx="25">
                  <c:v>2438397</c:v>
                </c:pt>
                <c:pt idx="26">
                  <c:v>2621897</c:v>
                </c:pt>
                <c:pt idx="27">
                  <c:v>2821637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  <a:latin typeface="STHeiti Medium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numFmt formatCode="#,##0,,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800">
              <a:solidFill>
                <a:srgbClr val="1A2A3A"/>
              </a:solidFill>
              <a:latin typeface="STHeiti Medium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不提领 · 退保现价 (USD)</c:v>
                </c:pt>
              </c:strCache>
            </c:strRef>
          </c:tx>
          <c:spPr>
            <a:solidFill>
              <a:srgbClr val="0D1B2A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116400</c:v>
                </c:pt>
                <c:pt idx="1">
                  <c:v>205163</c:v>
                </c:pt>
                <c:pt idx="2">
                  <c:v>315234</c:v>
                </c:pt>
                <c:pt idx="3">
                  <c:v>638914</c:v>
                </c:pt>
                <c:pt idx="4">
                  <c:v>887814</c:v>
                </c:pt>
                <c:pt idx="5">
                  <c:v>1432021</c:v>
                </c:pt>
                <c:pt idx="6">
                  <c:v>1971608</c:v>
                </c:pt>
                <c:pt idx="7">
                  <c:v>2821637</c:v>
                </c:pt>
                <c:pt idx="8">
                  <c:v>3039214</c:v>
                </c:pt>
                <c:pt idx="9">
                  <c:v>5850130</c:v>
                </c:pt>
                <c:pt idx="10">
                  <c:v>10980478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提领 · 累计+退保现价 (USD)</c:v>
                </c:pt>
              </c:strCache>
            </c:strRef>
          </c:tx>
          <c:spPr>
            <a:solidFill>
              <a:srgbClr val="C8963E"/>
            </a:solidFill>
          </c:spPr>
          <c:cat>
            <c:strRef>
              <c:f>Sheet1!$A$2:$A$12</c:f>
              <c:strCache>
                <c:ptCount val="11"/>
                <c:pt idx="0">
                  <c:v>Y3
(3岁)</c:v>
                </c:pt>
                <c:pt idx="1">
                  <c:v>Y4
(4岁)</c:v>
                </c:pt>
                <c:pt idx="2">
                  <c:v>Y5
(5岁)</c:v>
                </c:pt>
                <c:pt idx="3">
                  <c:v>Y10
(10岁)</c:v>
                </c:pt>
                <c:pt idx="4">
                  <c:v>Y15
(15岁)</c:v>
                </c:pt>
                <c:pt idx="5">
                  <c:v>Y20
(20岁)</c:v>
                </c:pt>
                <c:pt idx="6">
                  <c:v>Y25
(25岁)</c:v>
                </c:pt>
                <c:pt idx="7">
                  <c:v>Y30
(30岁)</c:v>
                </c:pt>
                <c:pt idx="8">
                  <c:v>Y31
(31岁)</c:v>
                </c:pt>
                <c:pt idx="9">
                  <c:v>Y41
(41岁)</c:v>
                </c:pt>
                <c:pt idx="10">
                  <c:v>Y51
(51岁)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116400</c:v>
                </c:pt>
                <c:pt idx="1">
                  <c:v>205163</c:v>
                </c:pt>
                <c:pt idx="2">
                  <c:v>315234</c:v>
                </c:pt>
                <c:pt idx="3">
                  <c:v>625055</c:v>
                </c:pt>
                <c:pt idx="4">
                  <c:v>802574</c:v>
                </c:pt>
                <c:pt idx="5">
                  <c:v>1069963</c:v>
                </c:pt>
                <c:pt idx="6">
                  <c:v>1260014</c:v>
                </c:pt>
                <c:pt idx="7">
                  <c:v>1483878</c:v>
                </c:pt>
                <c:pt idx="8">
                  <c:v>1524935</c:v>
                </c:pt>
                <c:pt idx="9">
                  <c:v>2010316</c:v>
                </c:pt>
                <c:pt idx="10">
                  <c:v>2595277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4A5A6A"/>
                </a:solidFill>
                <a:latin typeface="STHeiti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1960956.0"/>
          <c:min val="0.0"/>
        </c:scaling>
        <c:delete val="0"/>
        <c:axPos val="l"/>
        <c:majorGridlines/>
        <c:numFmt formatCode="$#,##0,, &quot;M&quot;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rgbClr val="4A5A6A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solidFill>
                <a:srgbClr val="1A2A3A"/>
              </a:solidFill>
              <a:latin typeface="STHeiti Medium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"/>
            <a:ext cx="54864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  <a:ea typeface="STHeiti Medium"/>
              </a:rPr>
              <a:t>PRIVATE CLIENT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「頤·樂享」儲蓄保險計劃(尊享版)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MR.V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  <a:ea typeface="STHeiti Medium"/>
              </a:rPr>
              <a:t>PRIVATE 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91840"/>
            <a:ext cx="59436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5年缴 · USD 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40"/>
            <a:ext cx="59436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  <a:ea typeface="STHeiti Medium"/>
              </a:rPr>
              <a:t>受保人：V（1岁）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02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关于我们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About Us  ·  太平人寿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成立年份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3434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>财务实力评级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3291840"/>
            <a:ext cx="36576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4590288"/>
            <a:ext cx="3657600" cy="7315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429000"/>
            <a:ext cx="32918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Calibri"/>
                <a:ea typeface="STHeiti Medium"/>
              </a:rPr>
              <a:t>「頤·樂享」儲蓄保險計劃(尊享版)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97680"/>
            <a:ext cx="329184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1A2A3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34840"/>
            <a:ext cx="32918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业务范围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9377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4846320"/>
            <a:ext cx="45720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品牌背景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53796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数据来源：保险公司官方资料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03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产品亮点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4A5A6A"/>
                </a:solidFill>
                <a:latin typeface="Calibri"/>
                <a:ea typeface="STHeiti Medium"/>
              </a:rPr>
              <a:t>5 年缴 · 短期供款完成 · 终身财富复利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5 年短期缴付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只需 5 年完成缴费，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后续无需再缴；缓解供款压力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19456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19456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37744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43800" y="246888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20 年财富复利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306324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保证 + 非保证现金价值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长期复利，稳健增长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约 USD 1,432,021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70332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2.86x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97764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20 年倍数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5577840" cy="2011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389120"/>
            <a:ext cx="91440" cy="20116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572000"/>
            <a:ext cx="10972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0D1B2A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663440"/>
            <a:ext cx="40233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30 年财富复利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257800"/>
            <a:ext cx="5120640" cy="10058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持续滚存跨越复利临界点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增值潜力可观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2,821,637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97880"/>
            <a:ext cx="51206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2200" b="1">
                <a:solidFill>
                  <a:srgbClr val="0D1B2A"/>
                </a:solidFill>
                <a:latin typeface="Calibri"/>
                <a:ea typeface="STHeiti Medium"/>
              </a:rPr>
              <a:t>5.64x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172200"/>
            <a:ext cx="51206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30 年倍数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46520"/>
            <a:ext cx="11430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注：倍数基于不退保情形下「退保发还金额总额」÷「已缴保费总额」计算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67512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数据来源：保险公司官方计划书 第3部分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04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现金价值长期复利增长（不提领）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保证 + 非保证现金价值 · 演示至保单年度 80 年（受保人 80 岁）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7432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035040" y="1691640"/>
          <a:ext cx="5486400" cy="4389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Rectangle 10"/>
          <p:cNvSpPr/>
          <p:nvPr/>
        </p:nvSpPr>
        <p:spPr>
          <a:xfrm>
            <a:off x="27432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20年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x2.86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1,432,021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0" y="6172200"/>
            <a:ext cx="54864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30年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7764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70F1A"/>
                </a:solidFill>
                <a:latin typeface="Calibri"/>
                <a:ea typeface="STHeiti Medium"/>
              </a:rPr>
              <a:t>x5.64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2,821,637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6172200"/>
            <a:ext cx="27432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6172200"/>
            <a:ext cx="54864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6199632"/>
            <a:ext cx="73152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1">
                <a:solidFill>
                  <a:srgbClr val="0D1B2A"/>
                </a:solidFill>
                <a:latin typeface="Calibri"/>
                <a:ea typeface="STHeiti Medium"/>
              </a:rPr>
              <a:t>70年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6199632"/>
            <a:ext cx="9144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8A6A2A"/>
                </a:solidFill>
                <a:latin typeface="Calibri"/>
                <a:ea typeface="STHeiti Medium"/>
              </a:rPr>
              <a:t>x73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6382512"/>
            <a:ext cx="260604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USD 36,323,390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720840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数据来源：太平人寿官方计划书 第3部分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05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不提领情形 · 退保发还金额明细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至保单年度 130 · 40年前每5年/后每10年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7729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669"/>
                <a:gridCol w="805521"/>
                <a:gridCol w="1495967"/>
                <a:gridCol w="1726116"/>
                <a:gridCol w="1726116"/>
                <a:gridCol w="1956265"/>
                <a:gridCol w="1265818"/>
                <a:gridCol w="1265818"/>
              </a:tblGrid>
              <a:tr h="502920"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保证现价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非保证金额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(USD)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 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 wrap="square"/>
                    <a:lstStyle/>
                    <a:p>
                      <a:pPr algn="ctr"/>
                      <a:r>
                        <a:rPr sz="9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-100.00%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240,234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315,234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-7.39%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141,500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497,414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638,914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587,814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887,814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3.90%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5.17%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505,665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926,356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1,432,021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510,895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1,460,713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1,971,608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5.64%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11.77%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517,790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2,303,847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2,821,637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15.48%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526,410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3,483,109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4,009,519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20.05%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536,845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4,956,292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5,493,137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24.97%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563,570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9,746,838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10,310,408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39.24%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599,025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18,753,208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19,352,233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62.84%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644,660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35,678,730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36,323,390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102.35%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691,345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67,486,249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68,177,594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169.19%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747,020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127,219,681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127,966,701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283.26%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29184"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813,895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239,374,641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240,188,536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6.37%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ctr"/>
                      <a:r>
                        <a:rPr sz="9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479.38%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5669280"/>
            <a:ext cx="73152" cy="7772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5715000"/>
            <a:ext cx="45720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数据口径说明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9893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已缴保费：5年×计划 = USD 500,000    · 复利IRR = (总额/保费)^(1/年数) - 1    · 单利IRR = (总额-保费)/保费/年数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1792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· 非保证金额含复归红利+终期分红    · 演示至保单80年；计划保障至128岁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数据来源：太平人寿官方计划书 第3部分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06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提领方案 · 退保发还金额及累计提取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6（6 岁）起 · 每年提取 USD 35,000 · 含 IRR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737360"/>
          <a:ext cx="11429995" cy="5724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846"/>
                <a:gridCol w="762000"/>
                <a:gridCol w="1348153"/>
                <a:gridCol w="1172307"/>
                <a:gridCol w="1406769"/>
                <a:gridCol w="1641230"/>
                <a:gridCol w="1817076"/>
                <a:gridCol w="1172307"/>
                <a:gridCol w="1172307"/>
              </a:tblGrid>
              <a:tr h="457200"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保单
年度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年龄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已缴保费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年提取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累计提取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退保发还总额
(B+C+D)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累计已领+
退保现价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复利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18000" rIns="18000" tIns="12000" bIns="12000" wrap="square"/>
                    <a:lstStyle/>
                    <a:p>
                      <a:pPr algn="ctr"/>
                      <a:r>
                        <a:rPr sz="85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单利
IRR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315,234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315,234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-7.39%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356,867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391,867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-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-3.60%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444,135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450,055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625,055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314,432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452,574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802,574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4.03%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229,373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544,963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1,069,963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3.88%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5.70%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171,046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700,000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560,014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1,260,014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6.08%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129,278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875,000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608,878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1,483,878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6.56%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99,287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1,050,000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643,085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1,693,085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3.55%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6.82%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77,993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1,225,000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730,289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1,955,289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7.28%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50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52,326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1,575,000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957,627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2,532,627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3.30%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8.13%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38,711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1,925,000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1,326,357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3,251,357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9.17%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70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31,404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2,275,000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2,005,454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4,280,454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10.80%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27,529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2,625,000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3,405,412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6,030,412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90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25,529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2,975,000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6,046,899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9,021,899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3.27%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18.94%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24,482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3,325,000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11,061,286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14,386,286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27.77%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110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23,931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3,675,000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20,379,498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24,054,498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3.58%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42.83%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35,000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4,025,000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37,662,042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41,687,042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3.75%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68.65%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35000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23,491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50,311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4,390,311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65,772,432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8A6A2A"/>
                          </a:solidFill>
                          <a:latin typeface="STHeiti Medium"/>
                          <a:ea typeface="STHeiti Medium"/>
                        </a:rPr>
                        <a:t>70,162,743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0.01%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12000" rIns="12000" tIns="6000" bIns="6000"/>
                    <a:lstStyle/>
                    <a:p>
                      <a:pPr algn="ctr"/>
                      <a:r>
                        <a:rPr sz="800" b="0">
                          <a:solidFill>
                            <a:srgbClr val="4A5A6A"/>
                          </a:solidFill>
                          <a:latin typeface="STHeiti Medium"/>
                          <a:ea typeface="STHeiti Medium"/>
                        </a:rPr>
                        <a:t>0.40%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6080760"/>
            <a:ext cx="73152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27432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数据口径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109728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· Y6 起每年提取 USD 35,000    · 累计已领+退保现价 = 年提取累计 + 期末退保发还金额    · 复利IRR = (累计+退保现价)/保费^(1/年数)-1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114300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数据来源：太平人寿官方计划书 第5部分（现金提取）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07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不提领 vs 提领 · 总收益对比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累计已领 + 期末退保现价 · 关键年限对比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91640"/>
          <a:ext cx="68580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7406640" y="1737360"/>
            <a:ext cx="27432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691640"/>
            <a:ext cx="457199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Calibri"/>
                <a:ea typeface="STHeiti Medium"/>
              </a:rPr>
              <a:t>不提领 vs 提领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2860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406640" y="2286000"/>
            <a:ext cx="73152" cy="1645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23774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📈 不提领策略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26517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账户价值持续滚存，享受复利增长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适合：长期财富传承需求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无需现金流补充的场景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4114800"/>
            <a:ext cx="4572000" cy="1645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06640" y="4114800"/>
            <a:ext cx="73152" cy="1645920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4206240"/>
            <a:ext cx="457199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💳 提领策略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480560"/>
            <a:ext cx="4571999" cy="10972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定期提取现金补充现金流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适合：教育金/养老金规划</a:t>
            </a:r>
          </a:p>
          <a:p>
            <a:pPr algn="l"/>
            <a:r>
              <a:rPr sz="850" b="0">
                <a:solidFill>
                  <a:srgbClr val="1A2A3A"/>
                </a:solidFill>
                <a:latin typeface="Calibri"/>
                <a:ea typeface="STHeiti Medium"/>
              </a:rPr>
              <a:t>兼顾当下现金流与长期增长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00800"/>
            <a:ext cx="11430000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700" b="0">
                <a:solidFill>
                  <a:srgbClr val="4A5A6A"/>
                </a:solidFill>
                <a:latin typeface="Calibri"/>
                <a:ea typeface="STHeiti Medium"/>
              </a:rPr>
              <a:t>注：纵轴使用对数刻度；不提领按退保发还总额计算，提领按累计已领+退保现价计算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08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教育金现金流 · 与受保人年龄节点结合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保单年度 6 起每年提取 USD 35,000 · 从小学到大学的稳健现金流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74519"/>
            <a:ext cx="11277295" cy="27432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44752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6-12岁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121408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小学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Y6-Y12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1B2A4A"/>
                </a:solidFill>
                <a:latin typeface="Calibri"/>
                <a:ea typeface="STHeiti Medium"/>
              </a:rPr>
              <a:t>USD 245,000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兴趣班/课外辅导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437,204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03320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15768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13-15岁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15768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15768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15768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初中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15768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Y13-Y15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15768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15768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350,000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52928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升学辅导/素质拓展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15768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452,574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74336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16-18岁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74336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74336" y="5349240"/>
            <a:ext cx="2121408" cy="502920"/>
          </a:xfrm>
          <a:prstGeom prst="rect">
            <a:avLst/>
          </a:prstGeom>
          <a:solidFill>
            <a:srgbClr val="070F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74336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高中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74336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Y16-Y18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74336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74336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70F1A"/>
                </a:solidFill>
                <a:latin typeface="Calibri"/>
                <a:ea typeface="STHeiti Medium"/>
              </a:rPr>
              <a:t>USD 455,000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157216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11496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国际课程/留学预备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74336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494,820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0456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32904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19-22岁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32904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32904" y="5349240"/>
            <a:ext cx="2121408" cy="502920"/>
          </a:xfrm>
          <a:prstGeom prst="rect">
            <a:avLst/>
          </a:prstGeom>
          <a:solidFill>
            <a:srgbClr val="8A6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32904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F8F9FB"/>
                </a:solidFill>
                <a:latin typeface="Calibri"/>
                <a:ea typeface="STHeiti Medium"/>
              </a:rPr>
              <a:t>大学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Y19-Y22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32904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32904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8A6A2A"/>
                </a:solidFill>
                <a:latin typeface="Calibri"/>
                <a:ea typeface="STHeiti Medium"/>
              </a:rPr>
              <a:t>USD 595,000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15784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70064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学费/生活费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32904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549,076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479024" y="1819655"/>
            <a:ext cx="146304" cy="146304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91472" y="1463039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23-99岁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91472" y="2194560"/>
            <a:ext cx="2121408" cy="3657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491472" y="5349240"/>
            <a:ext cx="2121408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91472" y="5394960"/>
            <a:ext cx="2121408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D4B078"/>
                </a:solidFill>
                <a:latin typeface="Calibri"/>
                <a:ea typeface="STHeiti Medium"/>
              </a:rPr>
              <a:t>研究生/创业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491472" y="507492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Y23-Y99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491472" y="4480560"/>
            <a:ext cx="2121408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累计已领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91472" y="3931920"/>
            <a:ext cx="2121408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  <a:latin typeface="Calibri"/>
                <a:ea typeface="STHeiti Medium"/>
              </a:rPr>
              <a:t>USD 3,290,000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674352" y="3566160"/>
            <a:ext cx="1755648" cy="18288"/>
          </a:xfrm>
          <a:prstGeom prst="rect">
            <a:avLst/>
          </a:prstGeom>
          <a:solidFill>
            <a:srgbClr val="D0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28632" y="2834640"/>
            <a:ext cx="1847088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每年 35K</a:t>
            </a:r>
          </a:p>
          <a:p>
            <a:pPr algn="ctr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灵活支取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91472" y="2377440"/>
            <a:ext cx="2121408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850" b="1">
                <a:solidFill>
                  <a:srgbClr val="0D1B2A"/>
                </a:solidFill>
                <a:latin typeface="Calibri"/>
                <a:ea typeface="STHeiti Medium"/>
              </a:rPr>
              <a:t>保单现价 USD 10,404,214</a:t>
            </a:r>
          </a:p>
        </p:txBody>
      </p:sp>
      <p:pic>
        <p:nvPicPr>
          <p:cNvPr id="65" name="Picture 64" descr="child-growth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35040"/>
            <a:ext cx="2560320" cy="640080"/>
          </a:xfrm>
          <a:prstGeom prst="rect">
            <a:avLst/>
          </a:prstGeom>
        </p:spPr>
      </p:pic>
      <p:pic>
        <p:nvPicPr>
          <p:cNvPr id="66" name="Picture 65" descr="graduation-0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6035040"/>
            <a:ext cx="2560320" cy="640080"/>
          </a:xfrm>
          <a:prstGeom prst="rect">
            <a:avLst/>
          </a:prstGeom>
        </p:spPr>
      </p:pic>
      <p:pic>
        <p:nvPicPr>
          <p:cNvPr id="67" name="Picture 66" descr="family-outdoor-0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6035040"/>
            <a:ext cx="2560320" cy="640080"/>
          </a:xfrm>
          <a:prstGeom prst="rect">
            <a:avLst/>
          </a:prstGeom>
        </p:spPr>
      </p:pic>
      <p:sp>
        <p:nvSpPr>
          <p:cNvPr id="68" name="TextBox 67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0D1B2A"/>
                </a:solidFill>
                <a:latin typeface="Calibri"/>
                <a:ea typeface="STHeiti Medium"/>
              </a:rPr>
              <a:t>保单年度 6（受保人 6 岁）开始提领 → 精准覆盖小学到大学教育支出 → 本金持续滚存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57200" y="6400800"/>
            <a:ext cx="11277295" cy="2286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4A5A6A"/>
                </a:solidFill>
                <a:latin typeface="Calibri"/>
                <a:ea typeface="STHeiti Medium"/>
              </a:rPr>
              <a:t>数据来源：太平人寿官方计划书 第5部分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09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重要事项声明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Important Notes · 客户须知的风险与限制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非保证利益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本计划所演示之非保证金额（包括复归红利及终期分红）乃基于现时假设投资回报计算，并非保证。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实际金额或会因投资市场波动而调整，在某些情况下非保证金额可能为零。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63640" y="182880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82880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87452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187452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汇率风险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4688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若以保单货币（美元）以外的其他货币支付保费或收取利益，将按本公司不时厘定的汇率兑换。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10896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外币汇率波动可能影响实际支付金额。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提领限制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现金提取须符合本公司最低投保单位要求；若提取导致投保单位低于最低要求，则不可提取。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所演示之提取金额基于非保证红利与分红，未必可维持。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3931920"/>
            <a:ext cx="5577840" cy="1920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63640" y="3931920"/>
            <a:ext cx="5577840" cy="50292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3977640"/>
            <a:ext cx="7315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C8963E"/>
                </a:solidFill>
                <a:latin typeface="Calibri"/>
                <a:ea typeface="STHeiti Medium"/>
              </a:rP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3977640"/>
            <a:ext cx="4480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通胀风险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457200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未来生活成本可能因通胀而上升；本计划之金额为名义金额，未必能完全追上通胀。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5212080"/>
            <a:ext cx="52120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建议结合其他投资工具作综合规划。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943600"/>
            <a:ext cx="11277295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完整条款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本文件不包含完整的计划条款，详情参阅保单文件及主要产品推销刊物。阁下应向持牌保险中介人查询。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10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数据来源与回溯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Data Sources · 全部数据可逐项回溯至官方计划书页码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783080"/>
          <a:ext cx="1124712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1645920"/>
                <a:gridCol w="5486400"/>
              </a:tblGrid>
              <a:tr h="457200"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数据项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PDF 页码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  <a:tc>
                  <a:txBody>
                    <a:bodyPr lIns="36000" rIns="36000" tIns="18000" bIns="18000"/>
                    <a:lstStyle/>
                    <a:p>
                      <a:pPr algn="l"/>
                      <a:r>
                        <a:rPr sz="1000" b="1">
                          <a:solidFill>
                            <a:srgbClr val="F8F9FB"/>
                          </a:solidFill>
                          <a:latin typeface="STHeiti Medium"/>
                          <a:ea typeface="STHeiti Medium"/>
                        </a:rPr>
                        <a:t>来源说明</a:t>
                      </a:r>
                    </a:p>
                  </a:txBody>
                  <a:tcPr>
                    <a:solidFill>
                      <a:srgbClr val="0D1B2A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保障摘要 · 保额/保费/年期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受保人资料 + 投保资料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退保发还金额（Y1-Y40）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退保发还金额（Y41-Y80）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基本计划-说明摘要（第3部分）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不提领 · 身故赔偿额说明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p17-19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身故赔偿额-不同投资回报下的说明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退保发还金额（Y1-Y40）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p42-43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退保发还金额（Y41-Y80）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p44-45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基本计划-说明摘要（续）-现金提取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提领 · 身故赔偿额说明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p47-50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身故赔偿额下的说明（提取）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注释与重要事项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p20-22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本计划之注释条款</a:t>
                      </a:r>
                    </a:p>
                  </a:txBody>
                  <a:tcPr>
                    <a:solidFill>
                      <a:srgbClr val="F8F9FB"/>
                    </a:solidFill>
                  </a:tcPr>
                </a:tc>
              </a:tr>
              <a:tr h="365760"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D1B2A"/>
                          </a:solidFill>
                          <a:latin typeface="STHeiti Medium"/>
                          <a:ea typeface="STHeiti Medium"/>
                        </a:rPr>
                        <a:t>产品详细说明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1">
                          <a:solidFill>
                            <a:srgbClr val="070F1A"/>
                          </a:solidFill>
                          <a:latin typeface="STHeiti Medium"/>
                          <a:ea typeface="STHeiti Medium"/>
                        </a:rPr>
                        <a:t>PDF p23-41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36000" rIns="36000" tIns="12000" bIns="12000"/>
                    <a:lstStyle/>
                    <a:p>
                      <a:pPr algn="l"/>
                      <a:r>
                        <a:rPr sz="900" b="0">
                          <a:solidFill>
                            <a:srgbClr val="1A2A3A"/>
                          </a:solidFill>
                          <a:latin typeface="STHeiti Medium"/>
                          <a:ea typeface="STHeiti Medium"/>
                        </a:rPr>
                        <a:t>财富增值选项、跃进选项等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6035040"/>
            <a:ext cx="11277295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6035040"/>
            <a:ext cx="73152" cy="5486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08076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0D1B2A"/>
                </a:solidFill>
                <a:latin typeface="Calibri"/>
                <a:ea typeface="STHeiti Medium"/>
              </a:rPr>
              <a:t>核验方法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900" b="0">
                <a:solidFill>
                  <a:srgbClr val="1A2A3A"/>
                </a:solidFill>
                <a:latin typeface="Calibri"/>
                <a:ea typeface="STHeiti Medium"/>
              </a:rPr>
              <a:t>所有数据均直接源自太平人寿官方计划书原文（pdfplumber按列精确提取）；如需进一步核验，可逐项对照 PDF 指定页码。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5486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000" b="1">
                <a:solidFill>
                  <a:srgbClr val="0D1B2A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64592"/>
            <a:ext cx="1371600" cy="292608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11 /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3600" b="1">
                <a:solidFill>
                  <a:srgbClr val="0D1B2A"/>
                </a:solidFill>
                <a:latin typeface="Calibri"/>
                <a:ea typeface="STHeiti Medium"/>
              </a:rPr>
              <a:t>总结与建议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0972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4A5A6A"/>
                </a:solidFill>
                <a:latin typeface="Calibri"/>
                <a:ea typeface="STHeiti Medium"/>
              </a:rPr>
              <a:t>Summary &amp; 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548640" cy="36576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短期供款 · 终身受惠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5 年缴清 USD 500,000，后续无需再缴费。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保单持续滚存至 128 岁，长期复利效应明显。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年缴清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稳健回本 · 风险可控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保单第 — 年回本（退保现价 &gt; 已缴保费）。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Y30 约 USD 2,821,637。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回本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38160" y="182880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1828800"/>
            <a:ext cx="3657600" cy="64008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0" y="1993392"/>
            <a:ext cx="3200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400" b="1">
                <a:solidFill>
                  <a:srgbClr val="F8F9FB"/>
                </a:solidFill>
                <a:latin typeface="Calibri"/>
                <a:ea typeface="STHeiti Medium"/>
              </a:rPr>
              <a:t>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1993392"/>
            <a:ext cx="2926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F8F9FB"/>
                </a:solidFill>
                <a:latin typeface="Calibri"/>
                <a:ea typeface="STHeiti Medium"/>
              </a:rPr>
              <a:t>灵活提领 · 教育无忧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2697480"/>
            <a:ext cx="3200400" cy="12801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Y6 起每年提取 USD 35,000，覆盖小学到大学。</a:t>
            </a:r>
          </a:p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Y20 累计提取 USD 525,000，本金仍持续滚存。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114800"/>
            <a:ext cx="36576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0D1B2A"/>
                </a:solidFill>
                <a:latin typeface="Calibri"/>
                <a:ea typeface="STHeiti Medium"/>
              </a:rPr>
              <a:t>35K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60" y="47548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900" b="0">
                <a:solidFill>
                  <a:srgbClr val="4A5A6A"/>
                </a:solidFill>
                <a:latin typeface="Calibri"/>
                <a:ea typeface="STHeiti Medium"/>
              </a:rPr>
              <a:t>年提取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394960"/>
            <a:ext cx="11277295" cy="1280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5394960"/>
            <a:ext cx="73152" cy="128016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440680"/>
            <a:ext cx="36576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1">
                <a:solidFill>
                  <a:srgbClr val="0D1B2A"/>
                </a:solidFill>
                <a:latin typeface="Calibri"/>
                <a:ea typeface="STHeiti Medium"/>
              </a:rPr>
              <a:t>综合建议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76072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1A2A3A"/>
                </a:solidFill>
                <a:latin typeface="Calibri"/>
                <a:ea typeface="STHeiti Medium"/>
              </a:rPr>
              <a:t>本计划适合具备 5 年供款能力、追求稳健长期财富传承、且有子女教育金规划需求的高净值家庭。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1A2A3A"/>
                </a:solidFill>
                <a:latin typeface="Calibri"/>
                <a:ea typeface="STHeiti Medium"/>
              </a:rPr>
              <a:t>· 短期供款压力适中  ·  长期复利跨越代际  ·  提领方案精准对接教育节点  ·  兼顾传承与流动性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50" b="0">
                <a:solidFill>
                  <a:srgbClr val="4A5A6A"/>
                </a:solidFill>
                <a:latin typeface="Calibri"/>
                <a:ea typeface="STHeiti Medium"/>
              </a:rPr>
              <a:t>实际收益取决于投资市场表现，建议结合整体资产配置作综合考虑。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200" b="1">
                <a:solidFill>
                  <a:srgbClr val="C8963E"/>
                </a:solidFill>
                <a:latin typeface="Calibri"/>
                <a:ea typeface="STHeiti Medium"/>
              </a:rPr>
              <a:t>TPLIFE  |  太平人寿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F8F9FB"/>
                </a:solidFill>
                <a:latin typeface="Calibri"/>
                <a:ea typeface="STHeiti Medium"/>
              </a:rPr>
              <a:t>愿这份规划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1277295" cy="7315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200" b="1">
                <a:solidFill>
                  <a:srgbClr val="C8963E"/>
                </a:solidFill>
                <a:latin typeface="Calibri"/>
                <a:ea typeface="STHeiti Medium"/>
              </a:rPr>
              <a:t>陪伴孩子稳健成长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400" b="0">
                <a:solidFill>
                  <a:srgbClr val="D4B078"/>
                </a:solidFill>
                <a:latin typeface="Calibri"/>
                <a:ea typeface="STHeiti Medium"/>
              </a:rPr>
              <a:t>让爱与财富，代代相传</a:t>
            </a:r>
          </a:p>
        </p:txBody>
      </p:sp>
      <p:sp>
        <p:nvSpPr>
          <p:cNvPr id="8" name="Rectangle 7"/>
          <p:cNvSpPr/>
          <p:nvPr/>
        </p:nvSpPr>
        <p:spPr>
          <a:xfrm>
            <a:off x="5641848" y="4114800"/>
            <a:ext cx="914400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77295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0">
                <a:solidFill>
                  <a:srgbClr val="F8F9FB"/>
                </a:solidFill>
                <a:latin typeface="Calibri"/>
                <a:ea typeface="STHeiti Medium"/>
              </a:rPr>
              <a:t>—— 致 V 与家人  ——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800600"/>
            <a:ext cx="11277295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D4B078"/>
                </a:solidFill>
                <a:latin typeface="Calibri"/>
                <a:ea typeface="STHeiti Medium"/>
              </a:rPr>
              <a:t>规划起点 · 受保人 1 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36576"/>
          </a:xfrm>
          <a:prstGeom prst="rect">
            <a:avLst/>
          </a:prstGeom>
          <a:solidFill>
            <a:srgbClr val="C896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675120"/>
            <a:ext cx="73152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本演示基于太平人寿官方计划书数据生成 · 实际保单条款以保单文件为准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675120"/>
            <a:ext cx="1371600" cy="1828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800" b="0">
                <a:solidFill>
                  <a:srgbClr val="D4B078"/>
                </a:solidFill>
                <a:latin typeface="Calibri"/>
                <a:ea typeface="STHeiti Medium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