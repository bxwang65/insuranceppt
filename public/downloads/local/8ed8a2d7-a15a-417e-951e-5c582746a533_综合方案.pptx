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103</c:v>
                </c:pt>
                <c:pt idx="1">
                  <c:v>103</c:v>
                </c:pt>
                <c:pt idx="2">
                  <c:v>26722</c:v>
                </c:pt>
                <c:pt idx="3">
                  <c:v>75026</c:v>
                </c:pt>
                <c:pt idx="4">
                  <c:v>141830</c:v>
                </c:pt>
                <c:pt idx="5">
                  <c:v>187051</c:v>
                </c:pt>
                <c:pt idx="6">
                  <c:v>231244</c:v>
                </c:pt>
                <c:pt idx="7">
                  <c:v>298048</c:v>
                </c:pt>
                <c:pt idx="8">
                  <c:v>307297</c:v>
                </c:pt>
                <c:pt idx="9">
                  <c:v>315519</c:v>
                </c:pt>
                <c:pt idx="10">
                  <c:v>325797</c:v>
                </c:pt>
                <c:pt idx="11">
                  <c:v>335047</c:v>
                </c:pt>
                <c:pt idx="12">
                  <c:v>345324</c:v>
                </c:pt>
                <c:pt idx="13">
                  <c:v>355602</c:v>
                </c:pt>
                <c:pt idx="14">
                  <c:v>365879</c:v>
                </c:pt>
                <c:pt idx="15">
                  <c:v>390545</c:v>
                </c:pt>
                <c:pt idx="16">
                  <c:v>416239</c:v>
                </c:pt>
                <c:pt idx="17">
                  <c:v>502570</c:v>
                </c:pt>
                <c:pt idx="18">
                  <c:v>506681</c:v>
                </c:pt>
                <c:pt idx="19">
                  <c:v>507709</c:v>
                </c:pt>
                <c:pt idx="20">
                  <c:v>508736</c:v>
                </c:pt>
                <c:pt idx="21">
                  <c:v>509764</c:v>
                </c:pt>
                <c:pt idx="22">
                  <c:v>510792</c:v>
                </c:pt>
                <c:pt idx="23">
                  <c:v>511820</c:v>
                </c:pt>
                <c:pt idx="24">
                  <c:v>512847</c:v>
                </c:pt>
                <c:pt idx="25">
                  <c:v>513875</c:v>
                </c:pt>
                <c:pt idx="26">
                  <c:v>514903</c:v>
                </c:pt>
                <c:pt idx="27">
                  <c:v>515931</c:v>
                </c:pt>
                <c:pt idx="28">
                  <c:v>516958</c:v>
                </c:pt>
                <c:pt idx="29">
                  <c:v>517986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24293</c:v>
                </c:pt>
                <c:pt idx="3">
                  <c:v>52043</c:v>
                </c:pt>
                <c:pt idx="4">
                  <c:v>94028</c:v>
                </c:pt>
                <c:pt idx="5">
                  <c:v>255436</c:v>
                </c:pt>
                <c:pt idx="6">
                  <c:v>276164</c:v>
                </c:pt>
                <c:pt idx="7">
                  <c:v>287200</c:v>
                </c:pt>
                <c:pt idx="8">
                  <c:v>317742</c:v>
                </c:pt>
                <c:pt idx="9">
                  <c:v>346176</c:v>
                </c:pt>
                <c:pt idx="10">
                  <c:v>382258</c:v>
                </c:pt>
                <c:pt idx="11">
                  <c:v>422753</c:v>
                </c:pt>
                <c:pt idx="12">
                  <c:v>466589</c:v>
                </c:pt>
                <c:pt idx="13">
                  <c:v>514861</c:v>
                </c:pt>
                <c:pt idx="14">
                  <c:v>567701</c:v>
                </c:pt>
                <c:pt idx="15">
                  <c:v>596816</c:v>
                </c:pt>
                <c:pt idx="16">
                  <c:v>643153</c:v>
                </c:pt>
                <c:pt idx="17">
                  <c:v>687866</c:v>
                </c:pt>
                <c:pt idx="18">
                  <c:v>757666</c:v>
                </c:pt>
                <c:pt idx="19">
                  <c:v>883665</c:v>
                </c:pt>
                <c:pt idx="20">
                  <c:v>971846</c:v>
                </c:pt>
                <c:pt idx="21">
                  <c:v>1105750</c:v>
                </c:pt>
                <c:pt idx="22">
                  <c:v>1253916</c:v>
                </c:pt>
                <c:pt idx="23">
                  <c:v>1392973</c:v>
                </c:pt>
                <c:pt idx="24">
                  <c:v>1550417</c:v>
                </c:pt>
                <c:pt idx="25">
                  <c:v>1713981</c:v>
                </c:pt>
                <c:pt idx="26">
                  <c:v>1908532</c:v>
                </c:pt>
                <c:pt idx="27">
                  <c:v>2065027</c:v>
                </c:pt>
                <c:pt idx="28">
                  <c:v>2231762</c:v>
                </c:pt>
                <c:pt idx="29">
                  <c:v>2409401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103</c:v>
                </c:pt>
                <c:pt idx="1">
                  <c:v>103</c:v>
                </c:pt>
                <c:pt idx="2">
                  <c:v>51015</c:v>
                </c:pt>
                <c:pt idx="3">
                  <c:v>127069</c:v>
                </c:pt>
                <c:pt idx="4">
                  <c:v>235858</c:v>
                </c:pt>
                <c:pt idx="5">
                  <c:v>442487</c:v>
                </c:pt>
                <c:pt idx="6">
                  <c:v>507408</c:v>
                </c:pt>
                <c:pt idx="7">
                  <c:v>585248</c:v>
                </c:pt>
                <c:pt idx="8">
                  <c:v>625039</c:v>
                </c:pt>
                <c:pt idx="9">
                  <c:v>661695</c:v>
                </c:pt>
                <c:pt idx="10">
                  <c:v>708055</c:v>
                </c:pt>
                <c:pt idx="11">
                  <c:v>757800</c:v>
                </c:pt>
                <c:pt idx="12">
                  <c:v>811913</c:v>
                </c:pt>
                <c:pt idx="13">
                  <c:v>870463</c:v>
                </c:pt>
                <c:pt idx="14">
                  <c:v>933580</c:v>
                </c:pt>
                <c:pt idx="15">
                  <c:v>987361</c:v>
                </c:pt>
                <c:pt idx="16">
                  <c:v>1059392</c:v>
                </c:pt>
                <c:pt idx="17">
                  <c:v>1190436</c:v>
                </c:pt>
                <c:pt idx="18">
                  <c:v>1264347</c:v>
                </c:pt>
                <c:pt idx="19">
                  <c:v>1391374</c:v>
                </c:pt>
                <c:pt idx="20">
                  <c:v>1480582</c:v>
                </c:pt>
                <c:pt idx="21">
                  <c:v>1615514</c:v>
                </c:pt>
                <c:pt idx="22">
                  <c:v>1764708</c:v>
                </c:pt>
                <c:pt idx="23">
                  <c:v>1904793</c:v>
                </c:pt>
                <c:pt idx="24">
                  <c:v>2063264</c:v>
                </c:pt>
                <c:pt idx="25">
                  <c:v>2227856</c:v>
                </c:pt>
                <c:pt idx="26">
                  <c:v>2423435</c:v>
                </c:pt>
                <c:pt idx="27">
                  <c:v>2580958</c:v>
                </c:pt>
                <c:pt idx="28">
                  <c:v>2748720</c:v>
                </c:pt>
                <c:pt idx="29">
                  <c:v>2927387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Sheet1!$A$2:$A$9</c:f>
              <c:strCache>
                <c:ptCount val="8"/>
                <c:pt idx="0">
                  <c:v>Y10
(10岁)</c:v>
                </c:pt>
                <c:pt idx="1">
                  <c:v>Y15
(15岁)</c:v>
                </c:pt>
                <c:pt idx="2">
                  <c:v>Y20
(20岁)</c:v>
                </c:pt>
                <c:pt idx="3">
                  <c:v>Y25
(25岁)</c:v>
                </c:pt>
                <c:pt idx="4">
                  <c:v>Y30
(30岁)</c:v>
                </c:pt>
                <c:pt idx="5">
                  <c:v>Y31
(31岁)</c:v>
                </c:pt>
                <c:pt idx="6">
                  <c:v>Y41
(41岁)</c:v>
                </c:pt>
                <c:pt idx="7">
                  <c:v>Y51
(51岁)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661695</c:v>
                </c:pt>
                <c:pt idx="1">
                  <c:v>933580</c:v>
                </c:pt>
                <c:pt idx="2">
                  <c:v>1391374</c:v>
                </c:pt>
                <c:pt idx="3">
                  <c:v>2063264</c:v>
                </c:pt>
                <c:pt idx="4">
                  <c:v>2927387</c:v>
                </c:pt>
                <c:pt idx="5">
                  <c:v>3117667</c:v>
                </c:pt>
                <c:pt idx="6">
                  <c:v>5852291</c:v>
                </c:pt>
                <c:pt idx="7">
                  <c:v>10985554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Sheet1!$A$2:$A$9</c:f>
              <c:strCache>
                <c:ptCount val="8"/>
                <c:pt idx="0">
                  <c:v>Y10
(10岁)</c:v>
                </c:pt>
                <c:pt idx="1">
                  <c:v>Y15
(15岁)</c:v>
                </c:pt>
                <c:pt idx="2">
                  <c:v>Y20
(20岁)</c:v>
                </c:pt>
                <c:pt idx="3">
                  <c:v>Y25
(25岁)</c:v>
                </c:pt>
                <c:pt idx="4">
                  <c:v>Y30
(30岁)</c:v>
                </c:pt>
                <c:pt idx="5">
                  <c:v>Y31
(31岁)</c:v>
                </c:pt>
                <c:pt idx="6">
                  <c:v>Y41
(41岁)</c:v>
                </c:pt>
                <c:pt idx="7">
                  <c:v>Y51
(51岁)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648304</c:v>
                </c:pt>
                <c:pt idx="1">
                  <c:v>829324</c:v>
                </c:pt>
                <c:pt idx="2">
                  <c:v>1058737</c:v>
                </c:pt>
                <c:pt idx="3">
                  <c:v>1313987</c:v>
                </c:pt>
                <c:pt idx="4">
                  <c:v>1593775</c:v>
                </c:pt>
                <c:pt idx="5">
                  <c:v>1647820</c:v>
                </c:pt>
                <c:pt idx="6">
                  <c:v>2289214</c:v>
                </c:pt>
                <c:pt idx="7">
                  <c:v>3201747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108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「环宇盈活」储蓄保险计划（5年缴费）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 先生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 先生（1岁）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友邦保险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28800"/>
            <a:ext cx="1036768" cy="1097280"/>
          </a:xfrm>
          <a:prstGeom prst="rect">
            <a:avLst/>
          </a:prstGeom>
        </p:spPr>
      </p:pic>
      <p:pic>
        <p:nvPicPr>
          <p:cNvPr id="12" name="Picture 11" descr="brand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3" name="Picture 12" descr="brand-0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4" name="Picture 13" descr="office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AA-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「环宇盈活」储蓄保险计划（5年缴费）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环球财富管理专家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重疾/医疗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万用寿险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强积金 — 企业保障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亚洲最大独立上市人寿集团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业务覆盖亚太区18个市场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服务超3800万客户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1,391,374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2.78x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Rectangle 12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1,391,374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2,927,387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90 · 40年前每5年/后每10年 · 含 IRR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77290" cy="511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-99.98%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141,830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94,028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235,858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-10.57%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315,519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346,176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661,695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365,879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567,701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933,580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5.78%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507,709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883,665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1,391,374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512,847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1,550,417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2,063,264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12.51%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517,986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2,409,401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2,927,387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529,291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3,481,483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4,010,774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546,557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4,948,551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5,495,108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561,152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9,753,922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577,596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18,785,217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598,151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35,748,511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623,844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67,603,838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650,566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275,181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925,747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0.69%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0.95%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 岁）起 · 每年提取 USD 35,000 · 含 IRR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737360"/>
          <a:ext cx="11429995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401,691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473,304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648,304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2.63%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2.97%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291,659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479,324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829,324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235,585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533,737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1,058,737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5.59%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197,468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613,987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1,313,987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171,212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718,775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1,593,775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7.29%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152,629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830,028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1,880,028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139,929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991,312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2,216,312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8.58%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121,572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1,517,796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3,092,796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113,297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2,540,764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4,465,764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13.22%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110,506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4,510,028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6,785,028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108,526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8,179,726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10,804,726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25.76%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107,519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14,882,166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17,857,166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38.57%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106,898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3,290,000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25,820,250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29,110,250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57.80%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ectangle 11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 起每年提取 USD 35,000 · 从小学到大学的稳健现金流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245,000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474,538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350,000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479,324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455,000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512,596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595,000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555,825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3,290,000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25,820,250</a:t>
            </a:r>
          </a:p>
        </p:txBody>
      </p:sp>
      <p:pic>
        <p:nvPicPr>
          <p:cNvPr id="67" name="Picture 66" descr="child-growth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8" name="Picture 67" descr="graduation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9" name="Picture 68" descr="family-outdoor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所有数据均直接源自友邦保险官方计划书原文（pdfplumber按列精确提取）；如需进一步核验，可逐项对照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2,927,387。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525,000，本金仍持续滚存。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先生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本演示基于友邦保险官方计划书数据生成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