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Sheet1!$A$2:$A$30</c:f>
              <c:strCache>
                <c:ptCount val="29"/>
                <c:pt idx="0">
                  <c:v>Y2
(59岁)</c:v>
                </c:pt>
                <c:pt idx="1">
                  <c:v>Y3
(60岁)</c:v>
                </c:pt>
                <c:pt idx="2">
                  <c:v>Y4
(61岁)</c:v>
                </c:pt>
                <c:pt idx="3">
                  <c:v>Y5
(62岁)</c:v>
                </c:pt>
                <c:pt idx="4">
                  <c:v>Y6
(63岁)</c:v>
                </c:pt>
                <c:pt idx="5">
                  <c:v>Y7
(64岁)</c:v>
                </c:pt>
                <c:pt idx="6">
                  <c:v>Y8
(65岁)</c:v>
                </c:pt>
                <c:pt idx="7">
                  <c:v>Y9
(66岁)</c:v>
                </c:pt>
                <c:pt idx="8">
                  <c:v>Y10
(67岁)</c:v>
                </c:pt>
                <c:pt idx="9">
                  <c:v>Y11
(68岁)</c:v>
                </c:pt>
                <c:pt idx="10">
                  <c:v>Y12
(69岁)</c:v>
                </c:pt>
                <c:pt idx="11">
                  <c:v>Y13
(70岁)</c:v>
                </c:pt>
                <c:pt idx="12">
                  <c:v>Y14
(71岁)</c:v>
                </c:pt>
                <c:pt idx="13">
                  <c:v>Y15
(72岁)</c:v>
                </c:pt>
                <c:pt idx="14">
                  <c:v>Y16
(73岁)</c:v>
                </c:pt>
                <c:pt idx="15">
                  <c:v>Y17
(74岁)</c:v>
                </c:pt>
                <c:pt idx="16">
                  <c:v>Y18
(75岁)</c:v>
                </c:pt>
                <c:pt idx="17">
                  <c:v>Y19
(76岁)</c:v>
                </c:pt>
                <c:pt idx="18">
                  <c:v>Y20
(77岁)</c:v>
                </c:pt>
                <c:pt idx="19">
                  <c:v>Y21
(78岁)</c:v>
                </c:pt>
                <c:pt idx="20">
                  <c:v>Y22
(79岁)</c:v>
                </c:pt>
                <c:pt idx="21">
                  <c:v>Y23
(80岁)</c:v>
                </c:pt>
                <c:pt idx="22">
                  <c:v>Y24
(81岁)</c:v>
                </c:pt>
                <c:pt idx="23">
                  <c:v>Y25
(82岁)</c:v>
                </c:pt>
                <c:pt idx="24">
                  <c:v>Y26
(83岁)</c:v>
                </c:pt>
                <c:pt idx="25">
                  <c:v>Y27
(84岁)</c:v>
                </c:pt>
                <c:pt idx="26">
                  <c:v>Y28
(85岁)</c:v>
                </c:pt>
                <c:pt idx="27">
                  <c:v>Y29
(86岁)</c:v>
                </c:pt>
                <c:pt idx="28">
                  <c:v>Y30
(87岁)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5000</c:v>
                </c:pt>
                <c:pt idx="1">
                  <c:v>25000</c:v>
                </c:pt>
                <c:pt idx="2">
                  <c:v>50000</c:v>
                </c:pt>
                <c:pt idx="3">
                  <c:v>125000</c:v>
                </c:pt>
                <c:pt idx="4">
                  <c:v>240000</c:v>
                </c:pt>
                <c:pt idx="5">
                  <c:v>260000</c:v>
                </c:pt>
                <c:pt idx="6">
                  <c:v>275000</c:v>
                </c:pt>
                <c:pt idx="7">
                  <c:v>282500</c:v>
                </c:pt>
                <c:pt idx="8">
                  <c:v>300000</c:v>
                </c:pt>
                <c:pt idx="9">
                  <c:v>323750</c:v>
                </c:pt>
                <c:pt idx="10">
                  <c:v>341250</c:v>
                </c:pt>
                <c:pt idx="11">
                  <c:v>362500</c:v>
                </c:pt>
                <c:pt idx="12">
                  <c:v>385000</c:v>
                </c:pt>
                <c:pt idx="13">
                  <c:v>408750</c:v>
                </c:pt>
                <c:pt idx="14">
                  <c:v>437500</c:v>
                </c:pt>
                <c:pt idx="15">
                  <c:v>470000</c:v>
                </c:pt>
                <c:pt idx="16">
                  <c:v>500000</c:v>
                </c:pt>
                <c:pt idx="17">
                  <c:v>530000</c:v>
                </c:pt>
                <c:pt idx="18">
                  <c:v>540000</c:v>
                </c:pt>
                <c:pt idx="19">
                  <c:v>545920</c:v>
                </c:pt>
                <c:pt idx="20">
                  <c:v>549470</c:v>
                </c:pt>
                <c:pt idx="21">
                  <c:v>553040</c:v>
                </c:pt>
                <c:pt idx="22">
                  <c:v>556635</c:v>
                </c:pt>
                <c:pt idx="23">
                  <c:v>560255</c:v>
                </c:pt>
                <c:pt idx="24">
                  <c:v>563895</c:v>
                </c:pt>
                <c:pt idx="25">
                  <c:v>567560</c:v>
                </c:pt>
                <c:pt idx="26">
                  <c:v>571250</c:v>
                </c:pt>
                <c:pt idx="27">
                  <c:v>574960</c:v>
                </c:pt>
                <c:pt idx="28">
                  <c:v>578700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Sheet1!$A$2:$A$30</c:f>
              <c:strCache>
                <c:ptCount val="29"/>
                <c:pt idx="0">
                  <c:v>Y2
(59岁)</c:v>
                </c:pt>
                <c:pt idx="1">
                  <c:v>Y3
(60岁)</c:v>
                </c:pt>
                <c:pt idx="2">
                  <c:v>Y4
(61岁)</c:v>
                </c:pt>
                <c:pt idx="3">
                  <c:v>Y5
(62岁)</c:v>
                </c:pt>
                <c:pt idx="4">
                  <c:v>Y6
(63岁)</c:v>
                </c:pt>
                <c:pt idx="5">
                  <c:v>Y7
(64岁)</c:v>
                </c:pt>
                <c:pt idx="6">
                  <c:v>Y8
(65岁)</c:v>
                </c:pt>
                <c:pt idx="7">
                  <c:v>Y9
(66岁)</c:v>
                </c:pt>
                <c:pt idx="8">
                  <c:v>Y10
(67岁)</c:v>
                </c:pt>
                <c:pt idx="9">
                  <c:v>Y11
(68岁)</c:v>
                </c:pt>
                <c:pt idx="10">
                  <c:v>Y12
(69岁)</c:v>
                </c:pt>
                <c:pt idx="11">
                  <c:v>Y13
(70岁)</c:v>
                </c:pt>
                <c:pt idx="12">
                  <c:v>Y14
(71岁)</c:v>
                </c:pt>
                <c:pt idx="13">
                  <c:v>Y15
(72岁)</c:v>
                </c:pt>
                <c:pt idx="14">
                  <c:v>Y16
(73岁)</c:v>
                </c:pt>
                <c:pt idx="15">
                  <c:v>Y17
(74岁)</c:v>
                </c:pt>
                <c:pt idx="16">
                  <c:v>Y18
(75岁)</c:v>
                </c:pt>
                <c:pt idx="17">
                  <c:v>Y19
(76岁)</c:v>
                </c:pt>
                <c:pt idx="18">
                  <c:v>Y20
(77岁)</c:v>
                </c:pt>
                <c:pt idx="19">
                  <c:v>Y21
(78岁)</c:v>
                </c:pt>
                <c:pt idx="20">
                  <c:v>Y22
(79岁)</c:v>
                </c:pt>
                <c:pt idx="21">
                  <c:v>Y23
(80岁)</c:v>
                </c:pt>
                <c:pt idx="22">
                  <c:v>Y24
(81岁)</c:v>
                </c:pt>
                <c:pt idx="23">
                  <c:v>Y25
(82岁)</c:v>
                </c:pt>
                <c:pt idx="24">
                  <c:v>Y26
(83岁)</c:v>
                </c:pt>
                <c:pt idx="25">
                  <c:v>Y27
(84岁)</c:v>
                </c:pt>
                <c:pt idx="26">
                  <c:v>Y28
(85岁)</c:v>
                </c:pt>
                <c:pt idx="27">
                  <c:v>Y29
(86岁)</c:v>
                </c:pt>
                <c:pt idx="28">
                  <c:v>Y30
(87岁)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40000</c:v>
                </c:pt>
                <c:pt idx="1">
                  <c:v>83676</c:v>
                </c:pt>
                <c:pt idx="2">
                  <c:v>131366</c:v>
                </c:pt>
                <c:pt idx="3">
                  <c:v>180938</c:v>
                </c:pt>
                <c:pt idx="4">
                  <c:v>260067</c:v>
                </c:pt>
                <c:pt idx="5">
                  <c:v>297919</c:v>
                </c:pt>
                <c:pt idx="6">
                  <c:v>345602</c:v>
                </c:pt>
                <c:pt idx="7">
                  <c:v>380684</c:v>
                </c:pt>
                <c:pt idx="8">
                  <c:v>400698</c:v>
                </c:pt>
                <c:pt idx="9">
                  <c:v>471151</c:v>
                </c:pt>
                <c:pt idx="10">
                  <c:v>519809</c:v>
                </c:pt>
                <c:pt idx="11">
                  <c:v>574250</c:v>
                </c:pt>
                <c:pt idx="12">
                  <c:v>606994</c:v>
                </c:pt>
                <c:pt idx="13">
                  <c:v>643504</c:v>
                </c:pt>
                <c:pt idx="14">
                  <c:v>676566</c:v>
                </c:pt>
                <c:pt idx="15">
                  <c:v>713985</c:v>
                </c:pt>
                <c:pt idx="16">
                  <c:v>761088</c:v>
                </c:pt>
                <c:pt idx="17">
                  <c:v>818586</c:v>
                </c:pt>
                <c:pt idx="18">
                  <c:v>892050</c:v>
                </c:pt>
                <c:pt idx="19">
                  <c:v>972131</c:v>
                </c:pt>
                <c:pt idx="20">
                  <c:v>1059734</c:v>
                </c:pt>
                <c:pt idx="21">
                  <c:v>1152795</c:v>
                </c:pt>
                <c:pt idx="22">
                  <c:v>1251935</c:v>
                </c:pt>
                <c:pt idx="23">
                  <c:v>1356920</c:v>
                </c:pt>
                <c:pt idx="24">
                  <c:v>1468550</c:v>
                </c:pt>
                <c:pt idx="25">
                  <c:v>1587284</c:v>
                </c:pt>
                <c:pt idx="26">
                  <c:v>1719579</c:v>
                </c:pt>
                <c:pt idx="27">
                  <c:v>1867602</c:v>
                </c:pt>
                <c:pt idx="28">
                  <c:v>2028043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Sheet1!$A$2:$A$30</c:f>
              <c:strCache>
                <c:ptCount val="29"/>
                <c:pt idx="0">
                  <c:v>Y2
(59岁)</c:v>
                </c:pt>
                <c:pt idx="1">
                  <c:v>Y3
(60岁)</c:v>
                </c:pt>
                <c:pt idx="2">
                  <c:v>Y4
(61岁)</c:v>
                </c:pt>
                <c:pt idx="3">
                  <c:v>Y5
(62岁)</c:v>
                </c:pt>
                <c:pt idx="4">
                  <c:v>Y6
(63岁)</c:v>
                </c:pt>
                <c:pt idx="5">
                  <c:v>Y7
(64岁)</c:v>
                </c:pt>
                <c:pt idx="6">
                  <c:v>Y8
(65岁)</c:v>
                </c:pt>
                <c:pt idx="7">
                  <c:v>Y9
(66岁)</c:v>
                </c:pt>
                <c:pt idx="8">
                  <c:v>Y10
(67岁)</c:v>
                </c:pt>
                <c:pt idx="9">
                  <c:v>Y11
(68岁)</c:v>
                </c:pt>
                <c:pt idx="10">
                  <c:v>Y12
(69岁)</c:v>
                </c:pt>
                <c:pt idx="11">
                  <c:v>Y13
(70岁)</c:v>
                </c:pt>
                <c:pt idx="12">
                  <c:v>Y14
(71岁)</c:v>
                </c:pt>
                <c:pt idx="13">
                  <c:v>Y15
(72岁)</c:v>
                </c:pt>
                <c:pt idx="14">
                  <c:v>Y16
(73岁)</c:v>
                </c:pt>
                <c:pt idx="15">
                  <c:v>Y17
(74岁)</c:v>
                </c:pt>
                <c:pt idx="16">
                  <c:v>Y18
(75岁)</c:v>
                </c:pt>
                <c:pt idx="17">
                  <c:v>Y19
(76岁)</c:v>
                </c:pt>
                <c:pt idx="18">
                  <c:v>Y20
(77岁)</c:v>
                </c:pt>
                <c:pt idx="19">
                  <c:v>Y21
(78岁)</c:v>
                </c:pt>
                <c:pt idx="20">
                  <c:v>Y22
(79岁)</c:v>
                </c:pt>
                <c:pt idx="21">
                  <c:v>Y23
(80岁)</c:v>
                </c:pt>
                <c:pt idx="22">
                  <c:v>Y24
(81岁)</c:v>
                </c:pt>
                <c:pt idx="23">
                  <c:v>Y25
(82岁)</c:v>
                </c:pt>
                <c:pt idx="24">
                  <c:v>Y26
(83岁)</c:v>
                </c:pt>
                <c:pt idx="25">
                  <c:v>Y27
(84岁)</c:v>
                </c:pt>
                <c:pt idx="26">
                  <c:v>Y28
(85岁)</c:v>
                </c:pt>
                <c:pt idx="27">
                  <c:v>Y29
(86岁)</c:v>
                </c:pt>
                <c:pt idx="28">
                  <c:v>Y30
(87岁)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45000</c:v>
                </c:pt>
                <c:pt idx="1">
                  <c:v>108676</c:v>
                </c:pt>
                <c:pt idx="2">
                  <c:v>181366</c:v>
                </c:pt>
                <c:pt idx="3">
                  <c:v>305938</c:v>
                </c:pt>
                <c:pt idx="4">
                  <c:v>500067</c:v>
                </c:pt>
                <c:pt idx="5">
                  <c:v>557919</c:v>
                </c:pt>
                <c:pt idx="6">
                  <c:v>620602</c:v>
                </c:pt>
                <c:pt idx="7">
                  <c:v>663184</c:v>
                </c:pt>
                <c:pt idx="8">
                  <c:v>700698</c:v>
                </c:pt>
                <c:pt idx="9">
                  <c:v>794901</c:v>
                </c:pt>
                <c:pt idx="10">
                  <c:v>861059</c:v>
                </c:pt>
                <c:pt idx="11">
                  <c:v>936750</c:v>
                </c:pt>
                <c:pt idx="12">
                  <c:v>991994</c:v>
                </c:pt>
                <c:pt idx="13">
                  <c:v>1052254</c:v>
                </c:pt>
                <c:pt idx="14">
                  <c:v>1114066</c:v>
                </c:pt>
                <c:pt idx="15">
                  <c:v>1183985</c:v>
                </c:pt>
                <c:pt idx="16">
                  <c:v>1261088</c:v>
                </c:pt>
                <c:pt idx="17">
                  <c:v>1348586</c:v>
                </c:pt>
                <c:pt idx="18">
                  <c:v>1432050</c:v>
                </c:pt>
                <c:pt idx="19">
                  <c:v>1518051</c:v>
                </c:pt>
                <c:pt idx="20">
                  <c:v>1609204</c:v>
                </c:pt>
                <c:pt idx="21">
                  <c:v>1705835</c:v>
                </c:pt>
                <c:pt idx="22">
                  <c:v>1808570</c:v>
                </c:pt>
                <c:pt idx="23">
                  <c:v>1917175</c:v>
                </c:pt>
                <c:pt idx="24">
                  <c:v>2032445</c:v>
                </c:pt>
                <c:pt idx="25">
                  <c:v>2154844</c:v>
                </c:pt>
                <c:pt idx="26">
                  <c:v>2290829</c:v>
                </c:pt>
                <c:pt idx="27">
                  <c:v>2442562</c:v>
                </c:pt>
                <c:pt idx="28">
                  <c:v>2606743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Sheet1!$A$2:$A$13</c:f>
              <c:strCache>
                <c:ptCount val="12"/>
                <c:pt idx="0">
                  <c:v>Y2
(59岁)</c:v>
                </c:pt>
                <c:pt idx="1">
                  <c:v>Y3
(60岁)</c:v>
                </c:pt>
                <c:pt idx="2">
                  <c:v>Y4
(61岁)</c:v>
                </c:pt>
                <c:pt idx="3">
                  <c:v>Y5
(62岁)</c:v>
                </c:pt>
                <c:pt idx="4">
                  <c:v>Y10
(67岁)</c:v>
                </c:pt>
                <c:pt idx="5">
                  <c:v>Y15
(72岁)</c:v>
                </c:pt>
                <c:pt idx="6">
                  <c:v>Y20
(77岁)</c:v>
                </c:pt>
                <c:pt idx="7">
                  <c:v>Y25
(82岁)</c:v>
                </c:pt>
                <c:pt idx="8">
                  <c:v>Y30
(87岁)</c:v>
                </c:pt>
                <c:pt idx="9">
                  <c:v>Y31
(88岁)</c:v>
                </c:pt>
                <c:pt idx="10">
                  <c:v>Y41
(98岁)</c:v>
                </c:pt>
                <c:pt idx="11">
                  <c:v>Y51
(108岁)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45000</c:v>
                </c:pt>
                <c:pt idx="1">
                  <c:v>108676</c:v>
                </c:pt>
                <c:pt idx="2">
                  <c:v>181366</c:v>
                </c:pt>
                <c:pt idx="3">
                  <c:v>305938</c:v>
                </c:pt>
                <c:pt idx="4">
                  <c:v>700698</c:v>
                </c:pt>
                <c:pt idx="5">
                  <c:v>1052254</c:v>
                </c:pt>
                <c:pt idx="6">
                  <c:v>1432050</c:v>
                </c:pt>
                <c:pt idx="7">
                  <c:v>1917175</c:v>
                </c:pt>
                <c:pt idx="8">
                  <c:v>2606743</c:v>
                </c:pt>
                <c:pt idx="9">
                  <c:v>2783392</c:v>
                </c:pt>
                <c:pt idx="10">
                  <c:v>5558752</c:v>
                </c:pt>
                <c:pt idx="11">
                  <c:v>10985545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Sheet1!$A$2:$A$13</c:f>
              <c:strCache>
                <c:ptCount val="12"/>
                <c:pt idx="0">
                  <c:v>Y2
(59岁)</c:v>
                </c:pt>
                <c:pt idx="1">
                  <c:v>Y3
(60岁)</c:v>
                </c:pt>
                <c:pt idx="2">
                  <c:v>Y4
(61岁)</c:v>
                </c:pt>
                <c:pt idx="3">
                  <c:v>Y5
(62岁)</c:v>
                </c:pt>
                <c:pt idx="4">
                  <c:v>Y10
(67岁)</c:v>
                </c:pt>
                <c:pt idx="5">
                  <c:v>Y15
(72岁)</c:v>
                </c:pt>
                <c:pt idx="6">
                  <c:v>Y20
(77岁)</c:v>
                </c:pt>
                <c:pt idx="7">
                  <c:v>Y25
(82岁)</c:v>
                </c:pt>
                <c:pt idx="8">
                  <c:v>Y30
(87岁)</c:v>
                </c:pt>
                <c:pt idx="9">
                  <c:v>Y31
(88岁)</c:v>
                </c:pt>
                <c:pt idx="10">
                  <c:v>Y41
(98岁)</c:v>
                </c:pt>
                <c:pt idx="11">
                  <c:v>Y51
(108岁)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45000</c:v>
                </c:pt>
                <c:pt idx="1">
                  <c:v>108676</c:v>
                </c:pt>
                <c:pt idx="2">
                  <c:v>181366</c:v>
                </c:pt>
                <c:pt idx="3">
                  <c:v>305938</c:v>
                </c:pt>
                <c:pt idx="4">
                  <c:v>574713</c:v>
                </c:pt>
                <c:pt idx="5">
                  <c:v>691974</c:v>
                </c:pt>
                <c:pt idx="6">
                  <c:v>757779</c:v>
                </c:pt>
                <c:pt idx="7">
                  <c:v>800918</c:v>
                </c:pt>
                <c:pt idx="8">
                  <c:v>835159</c:v>
                </c:pt>
                <c:pt idx="9">
                  <c:v>842638</c:v>
                </c:pt>
                <c:pt idx="10">
                  <c:v>923309</c:v>
                </c:pt>
                <c:pt idx="11">
                  <c:v>1047818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71090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宏挚传承保障计划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受保人：VIP（58岁）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新加坡宏利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732846" cy="1097280"/>
          </a:xfrm>
          <a:prstGeom prst="rect">
            <a:avLst/>
          </a:prstGeom>
        </p:spPr>
      </p:pic>
      <p:pic>
        <p:nvPicPr>
          <p:cNvPr id="10" name="Picture 9" descr="brand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828800"/>
            <a:ext cx="2011680" cy="1280160"/>
          </a:xfrm>
          <a:prstGeom prst="rect">
            <a:avLst/>
          </a:prstGeom>
        </p:spPr>
      </p:pic>
      <p:pic>
        <p:nvPicPr>
          <p:cNvPr id="11" name="Picture 10" descr="brand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828800"/>
            <a:ext cx="2011680" cy="1280160"/>
          </a:xfrm>
          <a:prstGeom prst="rect">
            <a:avLst/>
          </a:prstGeom>
        </p:spPr>
      </p:pic>
      <p:pic>
        <p:nvPicPr>
          <p:cNvPr id="12" name="Picture 11" descr="office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828800"/>
            <a:ext cx="2011680" cy="12801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1887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AA-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宏挚传承保障计划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财富传承专家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投资相连险(ILPs) — 环球顶级基金直通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全生命周期退休年金 — DBS独家银保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万能寿险 — 大额身故保障与保单融资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家族办公室与信托统筹方案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母公司宏利金融创立于1887年（加拿大）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S&amp;P AA- / Moody's A1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1898年签发新加坡首张保单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新加坡D-SII系统重要性寿险公司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1,432,050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2.86x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2,606,743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5.21x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1,432,050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2,606,743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70年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x73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36,346,633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119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180,938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305,938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-7.76%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400,698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700,698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3.43%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4.01%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408,750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643,504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1,052,254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892,050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1,432,050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5.40%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9.32%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560,255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1,356,920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1,917,175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11.34%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578,700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2,028,043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2,606,743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5.66%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14.04%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597,755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3,046,404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3,644,159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17.97%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617,435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4,554,511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5,171,946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6.01%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23.36%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658,765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9,656,301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10,315,066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39.26%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706,355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18,656,442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19,362,797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62.88%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757,390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35,589,243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36,346,633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102.42%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812,105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67,415,522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68,227,627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169.32%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870,780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127,201,855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128,072,635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283.49%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933,690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239,476,252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240,409,942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479.82%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1,001,150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450,281,360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451,282,510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819.60%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6（63 岁）起 · 每年提取 USD 16,798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11429995" cy="5431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305,938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305,938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-7.76%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16,798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16,798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465,066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481,864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-0.60%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14,985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78,512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496,201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574,713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1.49%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13,596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147,362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544,612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691,974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2.19%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2.56%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13,198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215,831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541,948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757,779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10,228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272,716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528,202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800,918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1.90%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2.41%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7,770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316,383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518,776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835,159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5,741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348,945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523,965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872,910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1.60%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2.13%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4,178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372,787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541,138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913,925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2,138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402,296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629,152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1,031,448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1.46%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2.13%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417,212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842,405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1,259,617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534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424,664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1,303,242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1,727,906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1.79%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3.51%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428,376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2,303,938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2,732,314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147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138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430,264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4,251,721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4,681,985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2.52%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9.29%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431,245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8,273,382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8,704,627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167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431,755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16,576,919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17,008,674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3.26%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30.02%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432,002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31,396,562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31,828,564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52.65%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Y6 起每年提取 USD 16,798    · 累计已领+退保现价 = 年提取累计 + 期末退保发还金额    · 复利IRR = (累计+退保现价)/保费^(1/年数)-1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养老金现金流 · 与退休年龄节点结合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6（63 岁）起每年提取 USD 16,798 · 退休生活从容有品质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60-65岁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退休初期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Y3-Y8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C8963E"/>
                </a:solidFill>
                <a:latin typeface="Calibri"/>
                <a:ea typeface="STHeiti Medium"/>
              </a:rPr>
              <a:t>USD 48,618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16K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环球旅行/兴趣爱好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503,233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65-75岁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活跃养老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Y8-Y18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188,878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16K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品质生活/健康管理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540,800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75-85岁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稳健养老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Y18-Y28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300,374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16K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医疗护理/居家服务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519,489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85-95岁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享老晚年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Y28-Y38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364,152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16K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专业照护/尊严养老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532,823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95+岁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财富传承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Y38-Y63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420,011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16K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遗产规划/代际传承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945,312</a:t>
            </a:r>
          </a:p>
        </p:txBody>
      </p:sp>
      <p:pic>
        <p:nvPicPr>
          <p:cNvPr id="65" name="Picture 64" descr="family-outdoor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6" name="Picture 65" descr="senior-life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7" name="Picture 66" descr="senior-travel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从 63 岁开始每年领取 US$16,798 → 退休收入稳定补充 → 剩余价值持续滚存 → 财富代际传承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数据来源：宏利官方计划书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数据来源与回溯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Data Sources · 全部数据可逐项回溯至官方计划书页码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4712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5486400"/>
              </a:tblGrid>
              <a:tr h="457200"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数据项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PDF 页码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来源说明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保障摘要 · 保额/保费/年期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受保人资料 + 投保资料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退保发还金额（Y1-Y40）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退保发还金额（Y41-Y80）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身故赔偿额说明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p17-19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身故赔偿额-不同投资回报下的说明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退保发还金额（Y1-Y40）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p42-43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退保发还金额（Y41-Y80）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p44-45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身故赔偿额说明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p47-50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身故赔偿额下的说明（提取）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注释与重要事项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p20-22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本计划之注释条款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产品详细说明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p23-41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财富增值选项、跃进选项等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6035040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035040"/>
            <a:ext cx="73152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8076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核验方法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所有数据均直接源自宏利官方计划书原文（pdfplumber按列精确提取）；如需进一步核验，可逐项对照 PDF 指定页码。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2,606,743。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Y6 起每年提取 USD 16,798，覆盖小学到大学。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215,831，本金仍持续滚存。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16K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MANULIFE  |  宏利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F8F9FB"/>
                </a:solidFill>
                <a:latin typeface="Calibri"/>
                <a:ea typeface="STHeiti Medium"/>
              </a:rPr>
              <a:t>愿这份规划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C8963E"/>
                </a:solidFill>
                <a:latin typeface="Calibri"/>
                <a:ea typeface="STHeiti Medium"/>
              </a:rPr>
              <a:t>陪伴孩子稳健成长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D4B078"/>
                </a:solidFill>
                <a:latin typeface="Calibri"/>
                <a:ea typeface="STHeiti Medium"/>
              </a:rPr>
              <a:t>让爱与财富，代代相传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与家人  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D4B078"/>
                </a:solidFill>
                <a:latin typeface="Calibri"/>
                <a:ea typeface="STHeiti Medium"/>
              </a:rPr>
              <a:t>规划起点 · 受保人 58 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本演示基于宏利官方计划书数据生成 · 实际保单条款以保单文件为准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