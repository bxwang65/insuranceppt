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Sheet1!$A$2:$A$30</c:f>
              <c:strCache>
                <c:ptCount val="29"/>
                <c:pt idx="0">
                  <c:v>Y2
(2岁)</c:v>
                </c:pt>
                <c:pt idx="1">
                  <c:v>Y3
(3岁)</c:v>
                </c:pt>
                <c:pt idx="2">
                  <c:v>Y4
(4岁)</c:v>
                </c:pt>
                <c:pt idx="3">
                  <c:v>Y5
(5岁)</c:v>
                </c:pt>
                <c:pt idx="4">
                  <c:v>Y6
(6岁)</c:v>
                </c:pt>
                <c:pt idx="5">
                  <c:v>Y7
(7岁)</c:v>
                </c:pt>
                <c:pt idx="6">
                  <c:v>Y8
(8岁)</c:v>
                </c:pt>
                <c:pt idx="7">
                  <c:v>Y9
(9岁)</c:v>
                </c:pt>
                <c:pt idx="8">
                  <c:v>Y10
(10岁)</c:v>
                </c:pt>
                <c:pt idx="9">
                  <c:v>Y11
(11岁)</c:v>
                </c:pt>
                <c:pt idx="10">
                  <c:v>Y12
(12岁)</c:v>
                </c:pt>
                <c:pt idx="11">
                  <c:v>Y13
(13岁)</c:v>
                </c:pt>
                <c:pt idx="12">
                  <c:v>Y14
(14岁)</c:v>
                </c:pt>
                <c:pt idx="13">
                  <c:v>Y15
(15岁)</c:v>
                </c:pt>
                <c:pt idx="14">
                  <c:v>Y16
(16岁)</c:v>
                </c:pt>
                <c:pt idx="15">
                  <c:v>Y17
(17岁)</c:v>
                </c:pt>
                <c:pt idx="16">
                  <c:v>Y18
(18岁)</c:v>
                </c:pt>
                <c:pt idx="17">
                  <c:v>Y19
(19岁)</c:v>
                </c:pt>
                <c:pt idx="18">
                  <c:v>Y20
(20岁)</c:v>
                </c:pt>
                <c:pt idx="19">
                  <c:v>Y21
(21岁)</c:v>
                </c:pt>
                <c:pt idx="20">
                  <c:v>Y22
(22岁)</c:v>
                </c:pt>
                <c:pt idx="21">
                  <c:v>Y23
(23岁)</c:v>
                </c:pt>
                <c:pt idx="22">
                  <c:v>Y24
(24岁)</c:v>
                </c:pt>
                <c:pt idx="23">
                  <c:v>Y25
(25岁)</c:v>
                </c:pt>
                <c:pt idx="24">
                  <c:v>Y26
(26岁)</c:v>
                </c:pt>
                <c:pt idx="25">
                  <c:v>Y27
(27岁)</c:v>
                </c:pt>
                <c:pt idx="26">
                  <c:v>Y28
(28岁)</c:v>
                </c:pt>
                <c:pt idx="27">
                  <c:v>Y29
(29岁)</c:v>
                </c:pt>
                <c:pt idx="28">
                  <c:v>Y30
(30岁)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5000</c:v>
                </c:pt>
                <c:pt idx="1">
                  <c:v>25000</c:v>
                </c:pt>
                <c:pt idx="2">
                  <c:v>50000</c:v>
                </c:pt>
                <c:pt idx="3">
                  <c:v>125000</c:v>
                </c:pt>
                <c:pt idx="4">
                  <c:v>240000</c:v>
                </c:pt>
                <c:pt idx="5">
                  <c:v>260000</c:v>
                </c:pt>
                <c:pt idx="6">
                  <c:v>275000</c:v>
                </c:pt>
                <c:pt idx="7">
                  <c:v>282500</c:v>
                </c:pt>
                <c:pt idx="8">
                  <c:v>300000</c:v>
                </c:pt>
                <c:pt idx="9">
                  <c:v>323750</c:v>
                </c:pt>
                <c:pt idx="10">
                  <c:v>341250</c:v>
                </c:pt>
                <c:pt idx="11">
                  <c:v>362500</c:v>
                </c:pt>
                <c:pt idx="12">
                  <c:v>385000</c:v>
                </c:pt>
                <c:pt idx="13">
                  <c:v>408750</c:v>
                </c:pt>
                <c:pt idx="14">
                  <c:v>437500</c:v>
                </c:pt>
                <c:pt idx="15">
                  <c:v>470000</c:v>
                </c:pt>
                <c:pt idx="16">
                  <c:v>500000</c:v>
                </c:pt>
                <c:pt idx="17">
                  <c:v>530000</c:v>
                </c:pt>
                <c:pt idx="18">
                  <c:v>540000</c:v>
                </c:pt>
                <c:pt idx="19">
                  <c:v>545920</c:v>
                </c:pt>
                <c:pt idx="20">
                  <c:v>549470</c:v>
                </c:pt>
                <c:pt idx="21">
                  <c:v>553040</c:v>
                </c:pt>
                <c:pt idx="22">
                  <c:v>556635</c:v>
                </c:pt>
                <c:pt idx="23">
                  <c:v>560255</c:v>
                </c:pt>
                <c:pt idx="24">
                  <c:v>563895</c:v>
                </c:pt>
                <c:pt idx="25">
                  <c:v>567560</c:v>
                </c:pt>
                <c:pt idx="26">
                  <c:v>571250</c:v>
                </c:pt>
                <c:pt idx="27">
                  <c:v>574960</c:v>
                </c:pt>
                <c:pt idx="28">
                  <c:v>578700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Sheet1!$A$2:$A$30</c:f>
              <c:strCache>
                <c:ptCount val="29"/>
                <c:pt idx="0">
                  <c:v>Y2
(2岁)</c:v>
                </c:pt>
                <c:pt idx="1">
                  <c:v>Y3
(3岁)</c:v>
                </c:pt>
                <c:pt idx="2">
                  <c:v>Y4
(4岁)</c:v>
                </c:pt>
                <c:pt idx="3">
                  <c:v>Y5
(5岁)</c:v>
                </c:pt>
                <c:pt idx="4">
                  <c:v>Y6
(6岁)</c:v>
                </c:pt>
                <c:pt idx="5">
                  <c:v>Y7
(7岁)</c:v>
                </c:pt>
                <c:pt idx="6">
                  <c:v>Y8
(8岁)</c:v>
                </c:pt>
                <c:pt idx="7">
                  <c:v>Y9
(9岁)</c:v>
                </c:pt>
                <c:pt idx="8">
                  <c:v>Y10
(10岁)</c:v>
                </c:pt>
                <c:pt idx="9">
                  <c:v>Y11
(11岁)</c:v>
                </c:pt>
                <c:pt idx="10">
                  <c:v>Y12
(12岁)</c:v>
                </c:pt>
                <c:pt idx="11">
                  <c:v>Y13
(13岁)</c:v>
                </c:pt>
                <c:pt idx="12">
                  <c:v>Y14
(14岁)</c:v>
                </c:pt>
                <c:pt idx="13">
                  <c:v>Y15
(15岁)</c:v>
                </c:pt>
                <c:pt idx="14">
                  <c:v>Y16
(16岁)</c:v>
                </c:pt>
                <c:pt idx="15">
                  <c:v>Y17
(17岁)</c:v>
                </c:pt>
                <c:pt idx="16">
                  <c:v>Y18
(18岁)</c:v>
                </c:pt>
                <c:pt idx="17">
                  <c:v>Y19
(19岁)</c:v>
                </c:pt>
                <c:pt idx="18">
                  <c:v>Y20
(20岁)</c:v>
                </c:pt>
                <c:pt idx="19">
                  <c:v>Y21
(21岁)</c:v>
                </c:pt>
                <c:pt idx="20">
                  <c:v>Y22
(22岁)</c:v>
                </c:pt>
                <c:pt idx="21">
                  <c:v>Y23
(23岁)</c:v>
                </c:pt>
                <c:pt idx="22">
                  <c:v>Y24
(24岁)</c:v>
                </c:pt>
                <c:pt idx="23">
                  <c:v>Y25
(25岁)</c:v>
                </c:pt>
                <c:pt idx="24">
                  <c:v>Y26
(26岁)</c:v>
                </c:pt>
                <c:pt idx="25">
                  <c:v>Y27
(27岁)</c:v>
                </c:pt>
                <c:pt idx="26">
                  <c:v>Y28
(28岁)</c:v>
                </c:pt>
                <c:pt idx="27">
                  <c:v>Y29
(29岁)</c:v>
                </c:pt>
                <c:pt idx="28">
                  <c:v>Y30
(30岁)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40000</c:v>
                </c:pt>
                <c:pt idx="1">
                  <c:v>83676</c:v>
                </c:pt>
                <c:pt idx="2">
                  <c:v>131366</c:v>
                </c:pt>
                <c:pt idx="3">
                  <c:v>180938</c:v>
                </c:pt>
                <c:pt idx="4">
                  <c:v>260067</c:v>
                </c:pt>
                <c:pt idx="5">
                  <c:v>297919</c:v>
                </c:pt>
                <c:pt idx="6">
                  <c:v>345602</c:v>
                </c:pt>
                <c:pt idx="7">
                  <c:v>380684</c:v>
                </c:pt>
                <c:pt idx="8">
                  <c:v>400698</c:v>
                </c:pt>
                <c:pt idx="9">
                  <c:v>471151</c:v>
                </c:pt>
                <c:pt idx="10">
                  <c:v>519809</c:v>
                </c:pt>
                <c:pt idx="11">
                  <c:v>574250</c:v>
                </c:pt>
                <c:pt idx="12">
                  <c:v>606994</c:v>
                </c:pt>
                <c:pt idx="13">
                  <c:v>643504</c:v>
                </c:pt>
                <c:pt idx="14">
                  <c:v>676566</c:v>
                </c:pt>
                <c:pt idx="15">
                  <c:v>713985</c:v>
                </c:pt>
                <c:pt idx="16">
                  <c:v>761088</c:v>
                </c:pt>
                <c:pt idx="17">
                  <c:v>818586</c:v>
                </c:pt>
                <c:pt idx="18">
                  <c:v>892050</c:v>
                </c:pt>
                <c:pt idx="19">
                  <c:v>972131</c:v>
                </c:pt>
                <c:pt idx="20">
                  <c:v>1059734</c:v>
                </c:pt>
                <c:pt idx="21">
                  <c:v>1152795</c:v>
                </c:pt>
                <c:pt idx="22">
                  <c:v>1251935</c:v>
                </c:pt>
                <c:pt idx="23">
                  <c:v>1356920</c:v>
                </c:pt>
                <c:pt idx="24">
                  <c:v>1468550</c:v>
                </c:pt>
                <c:pt idx="25">
                  <c:v>1587284</c:v>
                </c:pt>
                <c:pt idx="26">
                  <c:v>1719579</c:v>
                </c:pt>
                <c:pt idx="27">
                  <c:v>1867602</c:v>
                </c:pt>
                <c:pt idx="28">
                  <c:v>2028043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Sheet1!$A$2:$A$30</c:f>
              <c:strCache>
                <c:ptCount val="29"/>
                <c:pt idx="0">
                  <c:v>Y2
(2岁)</c:v>
                </c:pt>
                <c:pt idx="1">
                  <c:v>Y3
(3岁)</c:v>
                </c:pt>
                <c:pt idx="2">
                  <c:v>Y4
(4岁)</c:v>
                </c:pt>
                <c:pt idx="3">
                  <c:v>Y5
(5岁)</c:v>
                </c:pt>
                <c:pt idx="4">
                  <c:v>Y6
(6岁)</c:v>
                </c:pt>
                <c:pt idx="5">
                  <c:v>Y7
(7岁)</c:v>
                </c:pt>
                <c:pt idx="6">
                  <c:v>Y8
(8岁)</c:v>
                </c:pt>
                <c:pt idx="7">
                  <c:v>Y9
(9岁)</c:v>
                </c:pt>
                <c:pt idx="8">
                  <c:v>Y10
(10岁)</c:v>
                </c:pt>
                <c:pt idx="9">
                  <c:v>Y11
(11岁)</c:v>
                </c:pt>
                <c:pt idx="10">
                  <c:v>Y12
(12岁)</c:v>
                </c:pt>
                <c:pt idx="11">
                  <c:v>Y13
(13岁)</c:v>
                </c:pt>
                <c:pt idx="12">
                  <c:v>Y14
(14岁)</c:v>
                </c:pt>
                <c:pt idx="13">
                  <c:v>Y15
(15岁)</c:v>
                </c:pt>
                <c:pt idx="14">
                  <c:v>Y16
(16岁)</c:v>
                </c:pt>
                <c:pt idx="15">
                  <c:v>Y17
(17岁)</c:v>
                </c:pt>
                <c:pt idx="16">
                  <c:v>Y18
(18岁)</c:v>
                </c:pt>
                <c:pt idx="17">
                  <c:v>Y19
(19岁)</c:v>
                </c:pt>
                <c:pt idx="18">
                  <c:v>Y20
(20岁)</c:v>
                </c:pt>
                <c:pt idx="19">
                  <c:v>Y21
(21岁)</c:v>
                </c:pt>
                <c:pt idx="20">
                  <c:v>Y22
(22岁)</c:v>
                </c:pt>
                <c:pt idx="21">
                  <c:v>Y23
(23岁)</c:v>
                </c:pt>
                <c:pt idx="22">
                  <c:v>Y24
(24岁)</c:v>
                </c:pt>
                <c:pt idx="23">
                  <c:v>Y25
(25岁)</c:v>
                </c:pt>
                <c:pt idx="24">
                  <c:v>Y26
(26岁)</c:v>
                </c:pt>
                <c:pt idx="25">
                  <c:v>Y27
(27岁)</c:v>
                </c:pt>
                <c:pt idx="26">
                  <c:v>Y28
(28岁)</c:v>
                </c:pt>
                <c:pt idx="27">
                  <c:v>Y29
(29岁)</c:v>
                </c:pt>
                <c:pt idx="28">
                  <c:v>Y30
(30岁)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45000</c:v>
                </c:pt>
                <c:pt idx="1">
                  <c:v>108676</c:v>
                </c:pt>
                <c:pt idx="2">
                  <c:v>181366</c:v>
                </c:pt>
                <c:pt idx="3">
                  <c:v>305938</c:v>
                </c:pt>
                <c:pt idx="4">
                  <c:v>500067</c:v>
                </c:pt>
                <c:pt idx="5">
                  <c:v>557919</c:v>
                </c:pt>
                <c:pt idx="6">
                  <c:v>620602</c:v>
                </c:pt>
                <c:pt idx="7">
                  <c:v>663184</c:v>
                </c:pt>
                <c:pt idx="8">
                  <c:v>700698</c:v>
                </c:pt>
                <c:pt idx="9">
                  <c:v>794901</c:v>
                </c:pt>
                <c:pt idx="10">
                  <c:v>861059</c:v>
                </c:pt>
                <c:pt idx="11">
                  <c:v>936750</c:v>
                </c:pt>
                <c:pt idx="12">
                  <c:v>991994</c:v>
                </c:pt>
                <c:pt idx="13">
                  <c:v>1052254</c:v>
                </c:pt>
                <c:pt idx="14">
                  <c:v>1114066</c:v>
                </c:pt>
                <c:pt idx="15">
                  <c:v>1183985</c:v>
                </c:pt>
                <c:pt idx="16">
                  <c:v>1261088</c:v>
                </c:pt>
                <c:pt idx="17">
                  <c:v>1348586</c:v>
                </c:pt>
                <c:pt idx="18">
                  <c:v>1432050</c:v>
                </c:pt>
                <c:pt idx="19">
                  <c:v>1518051</c:v>
                </c:pt>
                <c:pt idx="20">
                  <c:v>1609204</c:v>
                </c:pt>
                <c:pt idx="21">
                  <c:v>1705835</c:v>
                </c:pt>
                <c:pt idx="22">
                  <c:v>1808570</c:v>
                </c:pt>
                <c:pt idx="23">
                  <c:v>1917175</c:v>
                </c:pt>
                <c:pt idx="24">
                  <c:v>2032445</c:v>
                </c:pt>
                <c:pt idx="25">
                  <c:v>2154844</c:v>
                </c:pt>
                <c:pt idx="26">
                  <c:v>2290829</c:v>
                </c:pt>
                <c:pt idx="27">
                  <c:v>2442562</c:v>
                </c:pt>
                <c:pt idx="28">
                  <c:v>2606743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Sheet1!$A$2:$A$13</c:f>
              <c:strCache>
                <c:ptCount val="12"/>
                <c:pt idx="0">
                  <c:v>Y2
(2岁)</c:v>
                </c:pt>
                <c:pt idx="1">
                  <c:v>Y3
(3岁)</c:v>
                </c:pt>
                <c:pt idx="2">
                  <c:v>Y4
(4岁)</c:v>
                </c:pt>
                <c:pt idx="3">
                  <c:v>Y5
(5岁)</c:v>
                </c:pt>
                <c:pt idx="4">
                  <c:v>Y10
(10岁)</c:v>
                </c:pt>
                <c:pt idx="5">
                  <c:v>Y15
(15岁)</c:v>
                </c:pt>
                <c:pt idx="6">
                  <c:v>Y20
(20岁)</c:v>
                </c:pt>
                <c:pt idx="7">
                  <c:v>Y25
(25岁)</c:v>
                </c:pt>
                <c:pt idx="8">
                  <c:v>Y30
(30岁)</c:v>
                </c:pt>
                <c:pt idx="9">
                  <c:v>Y31
(31岁)</c:v>
                </c:pt>
                <c:pt idx="10">
                  <c:v>Y41
(41岁)</c:v>
                </c:pt>
                <c:pt idx="11">
                  <c:v>Y51
(51岁)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45000</c:v>
                </c:pt>
                <c:pt idx="1">
                  <c:v>108676</c:v>
                </c:pt>
                <c:pt idx="2">
                  <c:v>181366</c:v>
                </c:pt>
                <c:pt idx="3">
                  <c:v>305938</c:v>
                </c:pt>
                <c:pt idx="4">
                  <c:v>700698</c:v>
                </c:pt>
                <c:pt idx="5">
                  <c:v>1052254</c:v>
                </c:pt>
                <c:pt idx="6">
                  <c:v>1432050</c:v>
                </c:pt>
                <c:pt idx="7">
                  <c:v>1917175</c:v>
                </c:pt>
                <c:pt idx="8">
                  <c:v>2606743</c:v>
                </c:pt>
                <c:pt idx="9">
                  <c:v>2783392</c:v>
                </c:pt>
                <c:pt idx="10">
                  <c:v>5558752</c:v>
                </c:pt>
                <c:pt idx="11">
                  <c:v>10985545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Sheet1!$A$2:$A$13</c:f>
              <c:strCache>
                <c:ptCount val="12"/>
                <c:pt idx="0">
                  <c:v>Y2
(2岁)</c:v>
                </c:pt>
                <c:pt idx="1">
                  <c:v>Y3
(3岁)</c:v>
                </c:pt>
                <c:pt idx="2">
                  <c:v>Y4
(4岁)</c:v>
                </c:pt>
                <c:pt idx="3">
                  <c:v>Y5
(5岁)</c:v>
                </c:pt>
                <c:pt idx="4">
                  <c:v>Y10
(10岁)</c:v>
                </c:pt>
                <c:pt idx="5">
                  <c:v>Y15
(15岁)</c:v>
                </c:pt>
                <c:pt idx="6">
                  <c:v>Y20
(20岁)</c:v>
                </c:pt>
                <c:pt idx="7">
                  <c:v>Y25
(25岁)</c:v>
                </c:pt>
                <c:pt idx="8">
                  <c:v>Y30
(30岁)</c:v>
                </c:pt>
                <c:pt idx="9">
                  <c:v>Y31
(31岁)</c:v>
                </c:pt>
                <c:pt idx="10">
                  <c:v>Y41
(41岁)</c:v>
                </c:pt>
                <c:pt idx="11">
                  <c:v>Y51
(51岁)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45000</c:v>
                </c:pt>
                <c:pt idx="1">
                  <c:v>108676</c:v>
                </c:pt>
                <c:pt idx="2">
                  <c:v>181366</c:v>
                </c:pt>
                <c:pt idx="3">
                  <c:v>305938</c:v>
                </c:pt>
                <c:pt idx="4">
                  <c:v>574713</c:v>
                </c:pt>
                <c:pt idx="5">
                  <c:v>691974</c:v>
                </c:pt>
                <c:pt idx="6">
                  <c:v>757779</c:v>
                </c:pt>
                <c:pt idx="7">
                  <c:v>800918</c:v>
                </c:pt>
                <c:pt idx="8">
                  <c:v>835159</c:v>
                </c:pt>
                <c:pt idx="9">
                  <c:v>842638</c:v>
                </c:pt>
                <c:pt idx="10">
                  <c:v>923309</c:v>
                </c:pt>
                <c:pt idx="11">
                  <c:v>1047818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09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31750">
              <a:solidFill>
                <a:srgbClr val="0D1B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66355.0</c:v>
                </c:pt>
                <c:pt idx="1">
                  <c:v>132710.0</c:v>
                </c:pt>
                <c:pt idx="2">
                  <c:v>199065.0</c:v>
                </c:pt>
                <c:pt idx="3">
                  <c:v>265420.0</c:v>
                </c:pt>
                <c:pt idx="4">
                  <c:v>331775.0</c:v>
                </c:pt>
                <c:pt idx="5">
                  <c:v>331775.0</c:v>
                </c:pt>
                <c:pt idx="6">
                  <c:v>331775.0</c:v>
                </c:pt>
                <c:pt idx="7">
                  <c:v>331775.0</c:v>
                </c:pt>
                <c:pt idx="8">
                  <c:v>331775.0</c:v>
                </c:pt>
                <c:pt idx="9">
                  <c:v>331775.0</c:v>
                </c:pt>
                <c:pt idx="10">
                  <c:v>331775.0</c:v>
                </c:pt>
                <c:pt idx="11">
                  <c:v>331775.0</c:v>
                </c:pt>
                <c:pt idx="12">
                  <c:v>331775.0</c:v>
                </c:pt>
                <c:pt idx="13">
                  <c:v>331775.0</c:v>
                </c:pt>
                <c:pt idx="14">
                  <c:v>331775.0</c:v>
                </c:pt>
                <c:pt idx="15">
                  <c:v>331775.0</c:v>
                </c:pt>
                <c:pt idx="16">
                  <c:v>331775.0</c:v>
                </c:pt>
                <c:pt idx="17">
                  <c:v>331775.0</c:v>
                </c:pt>
                <c:pt idx="18">
                  <c:v>331775.0</c:v>
                </c:pt>
                <c:pt idx="19">
                  <c:v>331775.0</c:v>
                </c:pt>
                <c:pt idx="20">
                  <c:v>331775.0</c:v>
                </c:pt>
                <c:pt idx="21">
                  <c:v>331775.0</c:v>
                </c:pt>
                <c:pt idx="22">
                  <c:v>331775.0</c:v>
                </c:pt>
                <c:pt idx="23">
                  <c:v>331775.0</c:v>
                </c:pt>
                <c:pt idx="24">
                  <c:v>331775.0</c:v>
                </c:pt>
                <c:pt idx="25">
                  <c:v>331775.0</c:v>
                </c:pt>
                <c:pt idx="26">
                  <c:v>331775.0</c:v>
                </c:pt>
                <c:pt idx="27">
                  <c:v>331775.0</c:v>
                </c:pt>
                <c:pt idx="28">
                  <c:v>331775.0</c:v>
                </c:pt>
                <c:pt idx="29">
                  <c:v>331775.0</c:v>
                </c:pt>
                <c:pt idx="30">
                  <c:v>331775.0</c:v>
                </c:pt>
                <c:pt idx="31">
                  <c:v>331775.0</c:v>
                </c:pt>
                <c:pt idx="32">
                  <c:v>331775.0</c:v>
                </c:pt>
                <c:pt idx="33">
                  <c:v>331775.0</c:v>
                </c:pt>
                <c:pt idx="34">
                  <c:v>331775.0</c:v>
                </c:pt>
                <c:pt idx="35">
                  <c:v>331775.0</c:v>
                </c:pt>
                <c:pt idx="36">
                  <c:v>331775.0</c:v>
                </c:pt>
                <c:pt idx="37">
                  <c:v>331775.0</c:v>
                </c:pt>
                <c:pt idx="38">
                  <c:v>331775.0</c:v>
                </c:pt>
                <c:pt idx="39">
                  <c:v>331775.0</c:v>
                </c:pt>
                <c:pt idx="40">
                  <c:v>331775.0</c:v>
                </c:pt>
                <c:pt idx="41">
                  <c:v>331775.0</c:v>
                </c:pt>
                <c:pt idx="42">
                  <c:v>331775.0</c:v>
                </c:pt>
                <c:pt idx="43">
                  <c:v>331775.0</c:v>
                </c:pt>
                <c:pt idx="44">
                  <c:v>331775.0</c:v>
                </c:pt>
                <c:pt idx="45">
                  <c:v>331775.0</c:v>
                </c:pt>
                <c:pt idx="46">
                  <c:v>331775.0</c:v>
                </c:pt>
                <c:pt idx="47">
                  <c:v>331775.0</c:v>
                </c:pt>
                <c:pt idx="48">
                  <c:v>331775.0</c:v>
                </c:pt>
                <c:pt idx="49">
                  <c:v>331775.0</c:v>
                </c:pt>
                <c:pt idx="50">
                  <c:v>331775.0</c:v>
                </c:pt>
                <c:pt idx="51">
                  <c:v>331775.0</c:v>
                </c:pt>
                <c:pt idx="52">
                  <c:v>331775.0</c:v>
                </c:pt>
                <c:pt idx="53">
                  <c:v>331775.0</c:v>
                </c:pt>
                <c:pt idx="54">
                  <c:v>331775.0</c:v>
                </c:pt>
                <c:pt idx="55">
                  <c:v>331775.0</c:v>
                </c:pt>
                <c:pt idx="56">
                  <c:v>331775.0</c:v>
                </c:pt>
                <c:pt idx="57">
                  <c:v>331775.0</c:v>
                </c:pt>
                <c:pt idx="58">
                  <c:v>331775.0</c:v>
                </c:pt>
                <c:pt idx="59">
                  <c:v>331775.0</c:v>
                </c:pt>
                <c:pt idx="60">
                  <c:v>331775.0</c:v>
                </c:pt>
                <c:pt idx="61">
                  <c:v>331775.0</c:v>
                </c:pt>
                <c:pt idx="62">
                  <c:v>331775.0</c:v>
                </c:pt>
                <c:pt idx="63">
                  <c:v>331775.0</c:v>
                </c:pt>
                <c:pt idx="64">
                  <c:v>331775.0</c:v>
                </c:pt>
                <c:pt idx="65">
                  <c:v>331775.0</c:v>
                </c:pt>
                <c:pt idx="66">
                  <c:v>331775.0</c:v>
                </c:pt>
                <c:pt idx="67">
                  <c:v>331775.0</c:v>
                </c:pt>
                <c:pt idx="68">
                  <c:v>331775.0</c:v>
                </c:pt>
                <c:pt idx="69">
                  <c:v>331775.0</c:v>
                </c:pt>
                <c:pt idx="70">
                  <c:v>331775.0</c:v>
                </c:pt>
                <c:pt idx="71">
                  <c:v>331775.0</c:v>
                </c:pt>
                <c:pt idx="72">
                  <c:v>331775.0</c:v>
                </c:pt>
                <c:pt idx="73">
                  <c:v>331775.0</c:v>
                </c:pt>
                <c:pt idx="74">
                  <c:v>331775.0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非保证户口价值</c:v>
                </c:pt>
              </c:strCache>
            </c:strRef>
          </c:tx>
          <c:spPr>
            <a:ln w="31750">
              <a:solidFill>
                <a:srgbClr val="1B2A4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Sheet1!$C$2:$C$76</c:f>
              <c:numCache>
                <c:formatCode>General</c:formatCode>
                <c:ptCount val="75"/>
                <c:pt idx="0">
                  <c:v>50300</c:v>
                </c:pt>
                <c:pt idx="1">
                  <c:v>107975</c:v>
                </c:pt>
                <c:pt idx="2">
                  <c:v>169132</c:v>
                </c:pt>
                <c:pt idx="3">
                  <c:v>233981</c:v>
                </c:pt>
                <c:pt idx="4">
                  <c:v>303508</c:v>
                </c:pt>
                <c:pt idx="5">
                  <c:v>310920</c:v>
                </c:pt>
                <c:pt idx="6">
                  <c:v>318574</c:v>
                </c:pt>
                <c:pt idx="7">
                  <c:v>326469</c:v>
                </c:pt>
                <c:pt idx="8">
                  <c:v>334606</c:v>
                </c:pt>
                <c:pt idx="9">
                  <c:v>342950</c:v>
                </c:pt>
                <c:pt idx="10">
                  <c:v>351500</c:v>
                </c:pt>
                <c:pt idx="11">
                  <c:v>360223</c:v>
                </c:pt>
                <c:pt idx="12">
                  <c:v>369080</c:v>
                </c:pt>
                <c:pt idx="13">
                  <c:v>378052</c:v>
                </c:pt>
                <c:pt idx="14">
                  <c:v>387118</c:v>
                </c:pt>
                <c:pt idx="15">
                  <c:v>405608</c:v>
                </c:pt>
                <c:pt idx="16">
                  <c:v>424731</c:v>
                </c:pt>
                <c:pt idx="17">
                  <c:v>444476</c:v>
                </c:pt>
                <c:pt idx="18">
                  <c:v>464852</c:v>
                </c:pt>
                <c:pt idx="19">
                  <c:v>490561</c:v>
                </c:pt>
                <c:pt idx="20">
                  <c:v>517084</c:v>
                </c:pt>
                <c:pt idx="21">
                  <c:v>544807</c:v>
                </c:pt>
                <c:pt idx="22">
                  <c:v>573701</c:v>
                </c:pt>
                <c:pt idx="23">
                  <c:v>603707</c:v>
                </c:pt>
                <c:pt idx="24">
                  <c:v>634731</c:v>
                </c:pt>
                <c:pt idx="25">
                  <c:v>666761</c:v>
                </c:pt>
                <c:pt idx="26">
                  <c:v>699780</c:v>
                </c:pt>
                <c:pt idx="27">
                  <c:v>733764</c:v>
                </c:pt>
                <c:pt idx="28">
                  <c:v>768660</c:v>
                </c:pt>
                <c:pt idx="29">
                  <c:v>804423</c:v>
                </c:pt>
                <c:pt idx="30">
                  <c:v>840989</c:v>
                </c:pt>
                <c:pt idx="31">
                  <c:v>878303</c:v>
                </c:pt>
                <c:pt idx="32">
                  <c:v>916277</c:v>
                </c:pt>
                <c:pt idx="33">
                  <c:v>956118</c:v>
                </c:pt>
                <c:pt idx="34">
                  <c:v>996672</c:v>
                </c:pt>
                <c:pt idx="35">
                  <c:v>1037903</c:v>
                </c:pt>
                <c:pt idx="36">
                  <c:v>1079744</c:v>
                </c:pt>
                <c:pt idx="37">
                  <c:v>1119854</c:v>
                </c:pt>
                <c:pt idx="38">
                  <c:v>1160486</c:v>
                </c:pt>
                <c:pt idx="39">
                  <c:v>1201620</c:v>
                </c:pt>
                <c:pt idx="40">
                  <c:v>1243271</c:v>
                </c:pt>
                <c:pt idx="41">
                  <c:v>1285485</c:v>
                </c:pt>
                <c:pt idx="42">
                  <c:v>1328374</c:v>
                </c:pt>
                <c:pt idx="43">
                  <c:v>1372094</c:v>
                </c:pt>
                <c:pt idx="44">
                  <c:v>1416880</c:v>
                </c:pt>
                <c:pt idx="45">
                  <c:v>1463094</c:v>
                </c:pt>
                <c:pt idx="46">
                  <c:v>1510578</c:v>
                </c:pt>
                <c:pt idx="47">
                  <c:v>1559934</c:v>
                </c:pt>
                <c:pt idx="48">
                  <c:v>1612083</c:v>
                </c:pt>
                <c:pt idx="49">
                  <c:v>1668413</c:v>
                </c:pt>
                <c:pt idx="50">
                  <c:v>1731071</c:v>
                </c:pt>
                <c:pt idx="51">
                  <c:v>1803371</c:v>
                </c:pt>
                <c:pt idx="52">
                  <c:v>1890553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身故赔偿总保额</c:v>
                </c:pt>
              </c:strCache>
            </c:strRef>
          </c:tx>
          <c:spPr>
            <a:ln w="31750">
              <a:solidFill>
                <a:srgbClr val="8A6A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Sheet1!$D$2:$D$76</c:f>
              <c:numCache>
                <c:formatCode>General</c:formatCode>
                <c:ptCount val="75"/>
                <c:pt idx="0">
                  <c:v>2000000</c:v>
                </c:pt>
                <c:pt idx="1">
                  <c:v>2000000</c:v>
                </c:pt>
                <c:pt idx="2">
                  <c:v>2000000</c:v>
                </c:pt>
                <c:pt idx="3">
                  <c:v>2000000</c:v>
                </c:pt>
                <c:pt idx="4">
                  <c:v>2000000</c:v>
                </c:pt>
                <c:pt idx="5">
                  <c:v>2000000</c:v>
                </c:pt>
                <c:pt idx="6">
                  <c:v>2000000</c:v>
                </c:pt>
                <c:pt idx="7">
                  <c:v>2000000</c:v>
                </c:pt>
                <c:pt idx="8">
                  <c:v>2000000</c:v>
                </c:pt>
                <c:pt idx="9">
                  <c:v>2000000</c:v>
                </c:pt>
                <c:pt idx="10">
                  <c:v>2000000</c:v>
                </c:pt>
                <c:pt idx="11">
                  <c:v>2000000</c:v>
                </c:pt>
                <c:pt idx="12">
                  <c:v>2000000</c:v>
                </c:pt>
                <c:pt idx="13">
                  <c:v>2000000</c:v>
                </c:pt>
                <c:pt idx="14">
                  <c:v>2000000</c:v>
                </c:pt>
                <c:pt idx="15">
                  <c:v>2000000</c:v>
                </c:pt>
                <c:pt idx="16">
                  <c:v>2000000</c:v>
                </c:pt>
                <c:pt idx="17">
                  <c:v>2000000</c:v>
                </c:pt>
                <c:pt idx="18">
                  <c:v>2000000</c:v>
                </c:pt>
                <c:pt idx="19">
                  <c:v>2000000</c:v>
                </c:pt>
                <c:pt idx="20">
                  <c:v>2000000</c:v>
                </c:pt>
                <c:pt idx="21">
                  <c:v>2000000</c:v>
                </c:pt>
                <c:pt idx="22">
                  <c:v>2000000</c:v>
                </c:pt>
                <c:pt idx="23">
                  <c:v>2000000</c:v>
                </c:pt>
                <c:pt idx="24">
                  <c:v>2000000</c:v>
                </c:pt>
                <c:pt idx="25">
                  <c:v>2000000</c:v>
                </c:pt>
                <c:pt idx="26">
                  <c:v>2000000</c:v>
                </c:pt>
                <c:pt idx="27">
                  <c:v>2000000</c:v>
                </c:pt>
                <c:pt idx="28">
                  <c:v>2000000</c:v>
                </c:pt>
                <c:pt idx="29">
                  <c:v>2000000</c:v>
                </c:pt>
                <c:pt idx="30">
                  <c:v>2000000</c:v>
                </c:pt>
                <c:pt idx="31">
                  <c:v>2000000</c:v>
                </c:pt>
                <c:pt idx="32">
                  <c:v>2000000</c:v>
                </c:pt>
                <c:pt idx="33">
                  <c:v>2000000</c:v>
                </c:pt>
                <c:pt idx="34">
                  <c:v>2000000</c:v>
                </c:pt>
                <c:pt idx="35">
                  <c:v>2000000</c:v>
                </c:pt>
                <c:pt idx="36">
                  <c:v>2000000</c:v>
                </c:pt>
                <c:pt idx="37">
                  <c:v>2000000</c:v>
                </c:pt>
                <c:pt idx="38">
                  <c:v>2000000</c:v>
                </c:pt>
                <c:pt idx="39">
                  <c:v>2000000</c:v>
                </c:pt>
                <c:pt idx="40">
                  <c:v>2000000</c:v>
                </c:pt>
                <c:pt idx="41">
                  <c:v>2000000</c:v>
                </c:pt>
                <c:pt idx="42">
                  <c:v>2000000</c:v>
                </c:pt>
                <c:pt idx="43">
                  <c:v>2000000</c:v>
                </c:pt>
                <c:pt idx="44">
                  <c:v>2000000</c:v>
                </c:pt>
                <c:pt idx="45">
                  <c:v>2000000</c:v>
                </c:pt>
                <c:pt idx="46">
                  <c:v>2000000</c:v>
                </c:pt>
                <c:pt idx="47">
                  <c:v>2000000</c:v>
                </c:pt>
                <c:pt idx="48">
                  <c:v>2000000</c:v>
                </c:pt>
                <c:pt idx="49">
                  <c:v>2000000</c:v>
                </c:pt>
                <c:pt idx="50">
                  <c:v>2000000</c:v>
                </c:pt>
                <c:pt idx="51">
                  <c:v>2000000</c:v>
                </c:pt>
                <c:pt idx="52">
                  <c:v>2000000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/>
                </a:pPr>
                <a:r>
                  <a:t>保单年度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0000.0"/>
          <c:min val="0.0"/>
        </c:scaling>
        <c:delete val="0"/>
        <c:axPos val="l"/>
        <c:majorGridlines>
          <c:spPr>
            <a:ln>
              <a:solidFill>
                <a:srgbClr val="4A5A6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/>
                </a:pPr>
                <a:r>
                  <a:t>金额 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A5A6A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宏挚传承保障计划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新加坡宏利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732846" cy="1097280"/>
          </a:xfrm>
          <a:prstGeom prst="rect">
            <a:avLst/>
          </a:prstGeom>
        </p:spPr>
      </p:pic>
      <p:pic>
        <p:nvPicPr>
          <p:cNvPr id="10" name="Picture 9" descr="brand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1" name="Picture 10" descr="brand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2" name="Picture 11" descr="offic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1887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宏挚传承保障计划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财富传承专家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投资相连险(ILPs) — 环球顶级基金直通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全生命周期退休年金 — DBS独家银保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大额身故保障与保单融资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家族办公室与信托统筹方案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母公司宏利金融创立于1887年（加拿大）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AA- / Moody's A1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1898年签发新加坡首张保单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新加坡D-SII系统重要性寿险公司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1,432,050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2.86x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2,606,743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5.21x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1,432,050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2,606,743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119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180,938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305,938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-7.76%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400,698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700,698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408,750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643,504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1,052,254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892,050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1,432,050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560,255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1,356,920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1,917,175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5.52%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11.34%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578,700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2,028,043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2,606,743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597,755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3,046,404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3,644,159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17.97%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617,435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4,554,511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5,171,946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23.36%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658,765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9,656,301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706,355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18,656,442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757,390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35,589,243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36,346,633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812,105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67,415,522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870,780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127,201,855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128,072,635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933,690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239,476,252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240,409,942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479.82%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16,798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543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305,938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305,938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-7.76%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16,798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16,798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465,066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481,864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-0.60%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14,985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78,512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496,201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574,713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13,596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147,362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544,612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691,974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2.19%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2.56%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13,198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215,831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541,948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757,779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10,228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272,716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528,202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800,918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1.90%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2.41%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7,770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316,383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518,776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835,159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5,741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348,945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523,965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872,910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1.60%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372,787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541,138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913,925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2,138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402,296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629,152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1,031,448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1.46%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417,212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842,405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1,259,617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424,664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1,303,242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1,727,906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1.79%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3.51%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428,376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2,303,938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2,732,314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430,264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4,251,721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4,681,985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2.52%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9.29%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431,245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8,273,382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8,704,627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431,755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16,576,919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17,008,674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30.02%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432,002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31,396,562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31,828,564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52.65%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16,798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16,798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106,638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16K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536,849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147,362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16K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544,612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188,878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16K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540,800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240,369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16K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536,889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431,173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16K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7,727,981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方案协同 · 完整的家庭财务规划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攻守兼备，进退自如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0292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💰 现金流引擎 · 香港储蓄险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📈 复利增长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长期 IRR 5.5-6.5%，30年翻5倍+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💱 多元货币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支持7-10种货币自由转换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✂️ 保单拆分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无限次拆分，多子女传承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🏛️ 税务递延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香港免税增长，无资本利得税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👑 定向传承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无限次变更受保人，类信托赔付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💧 提取灵活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提取现金价值缴纳IUL保费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737360"/>
            <a:ext cx="5029200" cy="45720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📈 财富杠杆 · 新加坡IUL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🛡️ 下行保护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0%保证下限，市场跌不亏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📊 指数挂钩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挂钩标普500，上限率10%+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🇸🇬 主权独立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新加坡MAS监管，司法独立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💰 美元资产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美元计价，跨境资产配置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🏛️ 免税传承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身故赔偿免遗产税，隔离债务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👨‍👩‍👧‍👦 多代规划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保障至120岁+，跨代传承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5661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Calibri"/>
                <a:ea typeface="STHeiti Medium"/>
              </a:rPr>
              <a:t>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现金流 + 高杠杆 · 完美组合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储蓄提领缴纳IUL保费 → 稳定现金流 + 高额寿险保障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💰 储蓄险 · 稳定现金流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4863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70F1A"/>
                </a:solidFill>
                <a:latin typeface="Calibri"/>
                <a:ea typeface="STHeiti Medium"/>
              </a:rPr>
              <a:t>从 6 岁起，每年提取 USD 16,798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486399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这笔现金流可用于支付IUL保费，同时储蓄账户继续滚存增长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覆盖比例：约 25%（IUL年缴USD 66,355）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6616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8A6A2A"/>
                </a:solidFill>
                <a:latin typeface="Calibri"/>
                <a:ea typeface="STHeiti Medium"/>
              </a:rPr>
              <a:t>⬇ 保费支付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4864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📈 IUL · 高杠杆寿险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年缴保费 USD 66,355 × 5年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5486399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 USD 2,000,000（约 6.0 倍总保费杠杆）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指数账户增长潜力，下行风险可控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保证最低派息率，保障本金安全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身故赔偿免遗产税，财富定向传承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029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储蓄年提领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Calibri"/>
                <a:ea typeface="STHeiti Medium"/>
              </a:rPr>
              <a:t>USD 16,798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029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6032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IUL年缴保费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3464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8A6A2A"/>
                </a:solidFill>
                <a:latin typeface="Calibri"/>
                <a:ea typeface="STHeiti Medium"/>
              </a:rPr>
              <a:t>USD 66,355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02920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6616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保费覆盖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84048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C8963E"/>
                </a:solidFill>
                <a:latin typeface="Calibri"/>
                <a:ea typeface="STHeiti Medium"/>
              </a:rPr>
              <a:t>25%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480560"/>
            <a:ext cx="5029200" cy="54864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57200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IUL总保费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4632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4A5A6A"/>
                </a:solidFill>
                <a:latin typeface="Calibri"/>
                <a:ea typeface="STHeiti Medium"/>
              </a:rPr>
              <a:t>USD 331,775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4864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486400"/>
            <a:ext cx="5029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57784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85216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43600"/>
            <a:ext cx="11155680" cy="7315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💡 规划理念：储蓄险创造稳定现金流，IUL提供高额寿险保障。用储蓄收益缴纳IUL保费，一份投入双重收获。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C8963E"/>
                </a:solidFill>
                <a:latin typeface="Calibri"/>
                <a:ea typeface="STHeiti Medium"/>
              </a:rPr>
              <a:t>财富杠杆 · 寿险保障篇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F8F9FB"/>
                </a:solidFill>
                <a:latin typeface="Calibri"/>
                <a:ea typeface="STHeiti Medium"/>
              </a:rPr>
              <a:t>高杠杆寿险规划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C8963E"/>
                </a:solidFill>
                <a:latin typeface="Calibri"/>
                <a:ea typeface="STHeiti Medium"/>
              </a:rPr>
              <a:t>用现金流撬动千万保障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931920"/>
            <a:ext cx="118872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D4B078"/>
                </a:solidFill>
                <a:latin typeface="Calibri"/>
                <a:ea typeface="STHeiti Medium"/>
              </a:rPr>
              <a:t>全美海外（新加坡） · 指数型万用寿险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关于全美海外（新加坡）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万用寿险 · 全美海外（新加坡）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宏挚传承保障计划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大额指数万能险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指数型万能寿险 — GIUL 3代系列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海外信托与保单统筹 — 资产隔离与税务合规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大额趸交/灵活缴费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保单融资与贴现 — 私人银行流动性方案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全美人寿总公司创立于1904年（旧金山）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隶属荷兰全球人寿保险集团（Aegon N.V.）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A+ / Moody's A1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新加坡MAS全牌照寿险公司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万用寿险概要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保费 · 身故赔偿 · 杠杆倍数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年缴保费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共USD 331,775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011680"/>
            <a:ext cx="2743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保障至终身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2743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杠杆倍数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8A6A2A"/>
                </a:solidFill>
                <a:latin typeface="Calibri"/>
                <a:ea typeface="STHeiti Medium"/>
              </a:rPr>
              <a:t>6.0x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身故赔偿/总保费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受保人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46岁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产品特点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指数账户挂钩市场表现，享有增长潜力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保证最低派息率，下行风险可控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保费灵活缴付，可根据现金流调整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身故赔偿免遗产税，财富定向传承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8368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已缴总保费 vs 身故赔偿总保额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保单年度 · 金额 · 杠杆效应趋势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57200" cy="2743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0" y="1554480"/>
            <a:ext cx="3200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28346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📊 关键数据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65960"/>
            <a:ext cx="2834640" cy="18288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年缴保费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总保费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331,775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身故保额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2,000,000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保费杠杆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6.0x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保额锁定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缴费期内锁定额度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03520"/>
            <a:ext cx="283464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蓝色为累计已缴保费（5年缴清后持平），金色为身故赔偿保额。两条线的间距体现保费杠杆效应。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保单摘要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年龄 · 保单年度 · 保费 · 户口价值(非保证) · 保额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0972800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645920"/>
                <a:gridCol w="1828800"/>
                <a:gridCol w="256032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年缴保费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累计已缴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户口价值 非保证(USD)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保额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50,300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132,710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107,975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199,065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169,132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265,420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233,981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303,508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310,920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318,574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326,469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334,606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342,950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490,561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804,423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1,201,620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1,668,413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7351776"/>
            <a:ext cx="105156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351776"/>
            <a:ext cx="103327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总缴保费: USD 331,775  预期回本年度: 第9年  末年倍数: 17.4x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671816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2,606,743。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16,798，覆盖小学到大学。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215,831，本金仍持续滚存。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16K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>
                <a:solidFill>
                  <a:srgbClr val="F8F9FB"/>
                </a:solidFill>
                <a:latin typeface="Calibri"/>
                <a:ea typeface="STHeiti Medium"/>
              </a:rPr>
              <a:t>一份规划，三重守护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C8963E"/>
                </a:solidFill>
                <a:latin typeface="Calibri"/>
                <a:ea typeface="STHeiti Medium"/>
              </a:rPr>
              <a:t>现金流 + 保障 + 杠杆 · 完整的家庭财务规划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356616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本演示基于保险公司官方计划书数据生成 · 实际保单条款以保单文件为准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