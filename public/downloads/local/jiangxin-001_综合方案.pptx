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Sheet1!$A$2:$A$31</c:f>
              <c:strCache>
                <c:ptCount val="30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0</c:v>
                </c:pt>
                <c:pt idx="1">
                  <c:v>860</c:v>
                </c:pt>
                <c:pt idx="2">
                  <c:v>3520</c:v>
                </c:pt>
                <c:pt idx="3">
                  <c:v>5370</c:v>
                </c:pt>
                <c:pt idx="4">
                  <c:v>6550</c:v>
                </c:pt>
                <c:pt idx="5">
                  <c:v>235980</c:v>
                </c:pt>
                <c:pt idx="6">
                  <c:v>282900</c:v>
                </c:pt>
                <c:pt idx="7">
                  <c:v>296410</c:v>
                </c:pt>
                <c:pt idx="8">
                  <c:v>322030</c:v>
                </c:pt>
                <c:pt idx="9">
                  <c:v>395860</c:v>
                </c:pt>
                <c:pt idx="10">
                  <c:v>408970</c:v>
                </c:pt>
                <c:pt idx="11">
                  <c:v>426560</c:v>
                </c:pt>
                <c:pt idx="12">
                  <c:v>500000</c:v>
                </c:pt>
                <c:pt idx="13">
                  <c:v>500500</c:v>
                </c:pt>
                <c:pt idx="14">
                  <c:v>501000</c:v>
                </c:pt>
                <c:pt idx="15">
                  <c:v>501500</c:v>
                </c:pt>
                <c:pt idx="16">
                  <c:v>502000</c:v>
                </c:pt>
                <c:pt idx="17">
                  <c:v>502500</c:v>
                </c:pt>
                <c:pt idx="18">
                  <c:v>503000</c:v>
                </c:pt>
                <c:pt idx="19">
                  <c:v>503500</c:v>
                </c:pt>
                <c:pt idx="20">
                  <c:v>504000</c:v>
                </c:pt>
                <c:pt idx="21">
                  <c:v>504500</c:v>
                </c:pt>
                <c:pt idx="22">
                  <c:v>505000</c:v>
                </c:pt>
                <c:pt idx="23">
                  <c:v>505500</c:v>
                </c:pt>
                <c:pt idx="24">
                  <c:v>506000</c:v>
                </c:pt>
                <c:pt idx="25">
                  <c:v>506500</c:v>
                </c:pt>
                <c:pt idx="26">
                  <c:v>507000</c:v>
                </c:pt>
                <c:pt idx="27">
                  <c:v>507500</c:v>
                </c:pt>
                <c:pt idx="28">
                  <c:v>508000</c:v>
                </c:pt>
                <c:pt idx="29">
                  <c:v>508500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非保证红利/分红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Sheet1!$A$2:$A$31</c:f>
              <c:strCache>
                <c:ptCount val="30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1550</c:v>
                </c:pt>
                <c:pt idx="1">
                  <c:v>3862</c:v>
                </c:pt>
                <c:pt idx="2">
                  <c:v>8668</c:v>
                </c:pt>
                <c:pt idx="3">
                  <c:v>23518</c:v>
                </c:pt>
                <c:pt idx="4">
                  <c:v>132620</c:v>
                </c:pt>
                <c:pt idx="5">
                  <c:v>199489</c:v>
                </c:pt>
                <c:pt idx="6">
                  <c:v>217110</c:v>
                </c:pt>
                <c:pt idx="7">
                  <c:v>234594</c:v>
                </c:pt>
                <c:pt idx="8">
                  <c:v>250269</c:v>
                </c:pt>
                <c:pt idx="9">
                  <c:v>265612</c:v>
                </c:pt>
                <c:pt idx="10">
                  <c:v>280453</c:v>
                </c:pt>
                <c:pt idx="11">
                  <c:v>295396</c:v>
                </c:pt>
                <c:pt idx="12">
                  <c:v>310179</c:v>
                </c:pt>
                <c:pt idx="13">
                  <c:v>372882</c:v>
                </c:pt>
                <c:pt idx="14">
                  <c:v>447948</c:v>
                </c:pt>
                <c:pt idx="15">
                  <c:v>512965</c:v>
                </c:pt>
                <c:pt idx="16">
                  <c:v>591575</c:v>
                </c:pt>
                <c:pt idx="17">
                  <c:v>698035</c:v>
                </c:pt>
                <c:pt idx="18">
                  <c:v>807634</c:v>
                </c:pt>
                <c:pt idx="19">
                  <c:v>930073</c:v>
                </c:pt>
                <c:pt idx="20">
                  <c:v>1042763</c:v>
                </c:pt>
                <c:pt idx="21">
                  <c:v>1168105</c:v>
                </c:pt>
                <c:pt idx="22">
                  <c:v>1310771</c:v>
                </c:pt>
                <c:pt idx="23">
                  <c:v>1500736</c:v>
                </c:pt>
                <c:pt idx="24">
                  <c:v>1630642</c:v>
                </c:pt>
                <c:pt idx="25">
                  <c:v>1769024</c:v>
                </c:pt>
                <c:pt idx="26">
                  <c:v>1916433</c:v>
                </c:pt>
                <c:pt idx="27">
                  <c:v>2073456</c:v>
                </c:pt>
                <c:pt idx="28">
                  <c:v>2240718</c:v>
                </c:pt>
                <c:pt idx="29">
                  <c:v>2418864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退保发还总额 (USD)</c:v>
                </c:pt>
              </c:strCache>
            </c:strRef>
          </c:tx>
          <c:spPr>
            <a:solidFill>
              <a:srgbClr val="8A6A2A"/>
            </a:solidFill>
            <a:ln w="31750">
              <a:solidFill>
                <a:srgbClr val="8A6A2A"/>
              </a:solidFill>
            </a:ln>
          </c:spPr>
          <c:marker>
            <c:symbol val="circle"/>
            <c:size val="6"/>
          </c:marker>
          <c:cat>
            <c:strRef>
              <c:f>Sheet1!$A$2:$A$31</c:f>
              <c:strCache>
                <c:ptCount val="30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1550</c:v>
                </c:pt>
                <c:pt idx="1">
                  <c:v>4722</c:v>
                </c:pt>
                <c:pt idx="2">
                  <c:v>12188</c:v>
                </c:pt>
                <c:pt idx="3">
                  <c:v>28888</c:v>
                </c:pt>
                <c:pt idx="4">
                  <c:v>139170</c:v>
                </c:pt>
                <c:pt idx="5">
                  <c:v>435469</c:v>
                </c:pt>
                <c:pt idx="6">
                  <c:v>500010</c:v>
                </c:pt>
                <c:pt idx="7">
                  <c:v>531004</c:v>
                </c:pt>
                <c:pt idx="8">
                  <c:v>572299</c:v>
                </c:pt>
                <c:pt idx="9">
                  <c:v>661472</c:v>
                </c:pt>
                <c:pt idx="10">
                  <c:v>689423</c:v>
                </c:pt>
                <c:pt idx="11">
                  <c:v>721956</c:v>
                </c:pt>
                <c:pt idx="12">
                  <c:v>810179</c:v>
                </c:pt>
                <c:pt idx="13">
                  <c:v>873382</c:v>
                </c:pt>
                <c:pt idx="14">
                  <c:v>948948</c:v>
                </c:pt>
                <c:pt idx="15">
                  <c:v>1014465</c:v>
                </c:pt>
                <c:pt idx="16">
                  <c:v>1093575</c:v>
                </c:pt>
                <c:pt idx="17">
                  <c:v>1200535</c:v>
                </c:pt>
                <c:pt idx="18">
                  <c:v>1310634</c:v>
                </c:pt>
                <c:pt idx="19">
                  <c:v>1433573</c:v>
                </c:pt>
                <c:pt idx="20">
                  <c:v>1546763</c:v>
                </c:pt>
                <c:pt idx="21">
                  <c:v>1672605</c:v>
                </c:pt>
                <c:pt idx="22">
                  <c:v>1815771</c:v>
                </c:pt>
                <c:pt idx="23">
                  <c:v>2006236</c:v>
                </c:pt>
                <c:pt idx="24">
                  <c:v>2136642</c:v>
                </c:pt>
                <c:pt idx="25">
                  <c:v>2275524</c:v>
                </c:pt>
                <c:pt idx="26">
                  <c:v>2423433</c:v>
                </c:pt>
                <c:pt idx="27">
                  <c:v>2580956</c:v>
                </c:pt>
                <c:pt idx="28">
                  <c:v>2748718</c:v>
                </c:pt>
                <c:pt idx="29">
                  <c:v>2927364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不提领 · 退保现价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Sheet1!$A$2:$A$14</c:f>
              <c:strCache>
                <c:ptCount val="13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Y10
(10岁)</c:v>
                </c:pt>
                <c:pt idx="6">
                  <c:v>Y15
(15岁)</c:v>
                </c:pt>
                <c:pt idx="7">
                  <c:v>Y20
(20岁)</c:v>
                </c:pt>
                <c:pt idx="8">
                  <c:v>Y25
(25岁)</c:v>
                </c:pt>
                <c:pt idx="9">
                  <c:v>Y30
(30岁)</c:v>
                </c:pt>
                <c:pt idx="10">
                  <c:v>Y31
(31岁)</c:v>
                </c:pt>
                <c:pt idx="11">
                  <c:v>Y41
(41岁)</c:v>
                </c:pt>
                <c:pt idx="12">
                  <c:v>Y51
(51岁)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1550</c:v>
                </c:pt>
                <c:pt idx="1">
                  <c:v>4722</c:v>
                </c:pt>
                <c:pt idx="2">
                  <c:v>12188</c:v>
                </c:pt>
                <c:pt idx="3">
                  <c:v>28888</c:v>
                </c:pt>
                <c:pt idx="4">
                  <c:v>139170</c:v>
                </c:pt>
                <c:pt idx="5">
                  <c:v>661472</c:v>
                </c:pt>
                <c:pt idx="6">
                  <c:v>948948</c:v>
                </c:pt>
                <c:pt idx="7">
                  <c:v>1433573</c:v>
                </c:pt>
                <c:pt idx="8">
                  <c:v>2136642</c:v>
                </c:pt>
                <c:pt idx="9">
                  <c:v>2927364</c:v>
                </c:pt>
                <c:pt idx="10">
                  <c:v>3117665</c:v>
                </c:pt>
                <c:pt idx="11">
                  <c:v>5852286</c:v>
                </c:pt>
                <c:pt idx="12">
                  <c:v>10985545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提领 · 累计+退保现价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Sheet1!$A$2:$A$14</c:f>
              <c:strCache>
                <c:ptCount val="13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Y10
(10岁)</c:v>
                </c:pt>
                <c:pt idx="6">
                  <c:v>Y15
(15岁)</c:v>
                </c:pt>
                <c:pt idx="7">
                  <c:v>Y20
(20岁)</c:v>
                </c:pt>
                <c:pt idx="8">
                  <c:v>Y25
(25岁)</c:v>
                </c:pt>
                <c:pt idx="9">
                  <c:v>Y30
(30岁)</c:v>
                </c:pt>
                <c:pt idx="10">
                  <c:v>Y31
(31岁)</c:v>
                </c:pt>
                <c:pt idx="11">
                  <c:v>Y41
(41岁)</c:v>
                </c:pt>
                <c:pt idx="12">
                  <c:v>Y51
(51岁)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1101000</c:v>
                </c:pt>
                <c:pt idx="1">
                  <c:v>1101860</c:v>
                </c:pt>
                <c:pt idx="2">
                  <c:v>1105380</c:v>
                </c:pt>
                <c:pt idx="3">
                  <c:v>1110750</c:v>
                </c:pt>
                <c:pt idx="4">
                  <c:v>1117300</c:v>
                </c:pt>
                <c:pt idx="5">
                  <c:v>1196274</c:v>
                </c:pt>
                <c:pt idx="6">
                  <c:v>1171082</c:v>
                </c:pt>
                <c:pt idx="7">
                  <c:v>1194006</c:v>
                </c:pt>
                <c:pt idx="8">
                  <c:v>1268761</c:v>
                </c:pt>
                <c:pt idx="9">
                  <c:v>1372807</c:v>
                </c:pt>
                <c:pt idx="10">
                  <c:v>1396122</c:v>
                </c:pt>
                <c:pt idx="11">
                  <c:v>1663875</c:v>
                </c:pt>
                <c:pt idx="12">
                  <c:v>1973064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971090.0"/>
          <c:min val="0.0"/>
        </c:scaling>
        <c:delete val="0"/>
        <c:axPos val="l"/>
        <c:majorGridlines/>
        <c:numFmt formatCode="$#,##0,, &quot;M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any-hero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STHeiti Medium"/>
              </a:rPr>
              <a:t>PRIVATE CLIENT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匠心飞越储蓄保险计划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MR.VIP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STHeiti Medium"/>
              </a:rPr>
              <a:t>PRIVATE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5年缴 · USD 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受保人：VIP（1岁）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关于我们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About Us  ·  周大福人寿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884238" cy="1097280"/>
          </a:xfrm>
          <a:prstGeom prst="rect">
            <a:avLst/>
          </a:prstGeom>
        </p:spPr>
      </p:pic>
      <p:pic>
        <p:nvPicPr>
          <p:cNvPr id="10" name="Picture 9" descr="brand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828800"/>
            <a:ext cx="2011680" cy="1280160"/>
          </a:xfrm>
          <a:prstGeom prst="rect">
            <a:avLst/>
          </a:prstGeom>
        </p:spPr>
      </p:pic>
      <p:pic>
        <p:nvPicPr>
          <p:cNvPr id="11" name="Picture 10" descr="brand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1828800"/>
            <a:ext cx="2011680" cy="1280160"/>
          </a:xfrm>
          <a:prstGeom prst="rect">
            <a:avLst/>
          </a:prstGeom>
        </p:spPr>
      </p:pic>
      <p:pic>
        <p:nvPicPr>
          <p:cNvPr id="12" name="Picture 11" descr="office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1828800"/>
            <a:ext cx="2011680" cy="12801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1985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匠心传承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财富传承专家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人寿保险 — 储蓄/保障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健康保险 — 重疾/医疗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财富传承 — 匠心系列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强积金 — 企业保障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周大福集团旗下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郑氏家族控股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立足香港近40年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产品亮点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5 年缴 · 短期供款完成 · 终身财富复利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5 年短期缴付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只需 5 年完成缴费，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后续无需再缴；缓解供款压力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20 年财富复利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保证 + 非保证现金价值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长期复利，稳健增长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约 USD 1,433,573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2.87x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20 年倍数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66344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30 年财富复利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持续滚存跨越复利临界点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增值潜力可观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2,927,364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9788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5.85x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7220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30 年倍数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注：倍数基于不退保情形下「退保发还金额总额」÷「已缴保费总额」计算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7512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 第3部分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现金价值长期复利增长（不提领）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保证 + 非保证现金价值 · 演示至保单年度 80 年（受保人 80 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03504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27432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20年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x2.87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1,433,573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30年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x5.85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2,927,364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6172200"/>
            <a:ext cx="54864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70年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8A6A2A"/>
                </a:solidFill>
                <a:latin typeface="Calibri"/>
                <a:ea typeface="STHeiti Medium"/>
              </a:rPr>
              <a:t>x73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36,346,633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72084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数据来源：周大福人寿官方计划书 第3部分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不提领情形 · 退保发还金额明细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至保单年度 127 · 40年前每5年/后每10年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7729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9"/>
                <a:gridCol w="805521"/>
                <a:gridCol w="1495967"/>
                <a:gridCol w="1726116"/>
                <a:gridCol w="1726116"/>
                <a:gridCol w="1956265"/>
                <a:gridCol w="1265818"/>
                <a:gridCol w="1265818"/>
              </a:tblGrid>
              <a:tr h="502920"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保证现价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非保证金额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 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-99.69%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6,550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132,620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139,170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-14.43%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395,860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265,612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661,472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501,000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447,948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948,948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4.36%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5.99%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503,500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930,073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1,433,573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506,000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1,630,642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2,136,642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5.98%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13.09%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508,500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2,418,864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2,927,364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511,000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3,499,771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4,010,771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20.06%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513,500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4,981,604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5,495,104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24.98%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518,500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9,796,566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10,315,066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39.26%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533,740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18,829,057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19,362,797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62.88%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577,720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35,768,913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36,346,633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102.42%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625,120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67,602,507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68,227,627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169.32%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677,640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127,394,995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128,072,635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283.49%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742,770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239,667,172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240,409,942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479.82%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669280"/>
            <a:ext cx="73152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数据口径说明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已缴保费：5年×计划 = USD 500,000    · 复利IRR = (总额/保费)^(1/年数) - 1    · 单利IRR = (总额-保费)/保费/年数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非保证金额含复归红利+终期分红    · 演示至保单80年；计划保障至128岁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数据来源：周大福人寿官方计划书 第3部分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提领方案 · 退保发还金额及累计提取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1（1 岁）起 · 每年提取 USD 101,000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11429995" cy="5724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846"/>
                <a:gridCol w="762000"/>
                <a:gridCol w="1348153"/>
                <a:gridCol w="1172307"/>
                <a:gridCol w="1406769"/>
                <a:gridCol w="1641230"/>
                <a:gridCol w="1817076"/>
                <a:gridCol w="1172307"/>
                <a:gridCol w="1172307"/>
              </a:tblGrid>
              <a:tr h="457200"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
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(B+C+D)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累计已领+
退保现价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101,000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101,000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1,101,000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120.20%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120.20%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6,550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117,300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1,000,000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1,117,300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17.45%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24.69%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451,987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292,300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903,974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1,196,274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13.93%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351,891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467,300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703,782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1,171,082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5.84%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8.95%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275,853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642,300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551,706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1,194,006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225,731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817,300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451,461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1,268,761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3.79%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6.15%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190,254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992,300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380,507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1,372,807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164,500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1,167,300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328,999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1,496,299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3.18%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5.69%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146,231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1,342,300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292,461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1,634,761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124,340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1,692,300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248,680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1,940,980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2.75%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5.76%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113,472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2,042,300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226,943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2,269,243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108,104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2,392,300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216,207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2,608,507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2.39%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6.02%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105,490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2,742,300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210,980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2,953,280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104,247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3,092,300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208,493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3,300,793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2.12%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6.22%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103,708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3,442,300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207,415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3,649,715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103,476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3,792,300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206,952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3,999,252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1.91%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6.36%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103,362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4,142,300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206,724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4,349,024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103,319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4,387,300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206,637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4,593,937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1.76%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6.45%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6080760"/>
            <a:ext cx="73152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数据口径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· Y1 起每年提取 USD 101,000    · 累计已领+退保现价 = 年提取累计 + 期末退保发还金额    · 复利IRR = (累计+退保现价)/保费^(1/年数)-1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数据来源：周大福人寿官方计划书 第5部分（现金提取）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 vs 提领 · 总收益对比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累计已领 + 期末退保现价 · 关键年限对比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9164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17373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91640"/>
            <a:ext cx="45719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不提领 vs 提领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2860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2286000"/>
            <a:ext cx="73152" cy="1645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3774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📈 不提领策略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6517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账户价值持续滚存，享受复利增长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适合：长期财富传承需求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无需现金流补充的场景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1148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114800"/>
            <a:ext cx="73152" cy="1645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42062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💳 提领策略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4805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定期提取现金补充现金流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适合：教育金/养老金规划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兼顾当下现金流与长期增长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注：纵轴使用对数刻度；不提领按退保发还总额计算，提领按累计已领+退保现价计算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教育金现金流 · 与受保人年龄节点结合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1 起每年提取 USD 101,000 · 从小学到大学的稳健现金流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77295" cy="274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4752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6-12岁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2121408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小学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Y6-Y12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  <a:ea typeface="STHeiti Medium"/>
              </a:rPr>
              <a:t>USD 362,300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101K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兴趣班/课外辅导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818,341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5768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13-15岁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5768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15768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15768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初中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5768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Y13-Y15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467,300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98648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2928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101K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升学辅导/素质拓展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5768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703,782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1888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74336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16-18岁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74336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74336" y="5349240"/>
            <a:ext cx="2121408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4336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高中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4336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Y16-Y18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4336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70F1A"/>
                </a:solidFill>
                <a:latin typeface="Calibri"/>
                <a:ea typeface="STHeiti Medium"/>
              </a:rPr>
              <a:t>USD 572,300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57216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11496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101K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国际课程/留学预备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74336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604,938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0456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2904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19-22岁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32904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32904" y="5349240"/>
            <a:ext cx="2121408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大学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2904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Y19-Y22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32904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2904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8A6A2A"/>
                </a:solidFill>
                <a:latin typeface="Calibri"/>
                <a:ea typeface="STHeiti Medium"/>
              </a:rPr>
              <a:t>USD 712,300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15784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70064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101K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学费/生活费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32904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506,393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79024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23-99岁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91472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91472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91472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D4B078"/>
                </a:solidFill>
                <a:latin typeface="Calibri"/>
                <a:ea typeface="STHeiti Medium"/>
              </a:rPr>
              <a:t>研究生/创业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91472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Y23-Y99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91472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1472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3,407,300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74352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28632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101K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灵活支取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91472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207,481</a:t>
            </a:r>
          </a:p>
        </p:txBody>
      </p:sp>
      <p:pic>
        <p:nvPicPr>
          <p:cNvPr id="65" name="Picture 64" descr="child-growth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35040"/>
            <a:ext cx="2560320" cy="640080"/>
          </a:xfrm>
          <a:prstGeom prst="rect">
            <a:avLst/>
          </a:prstGeom>
        </p:spPr>
      </p:pic>
      <p:pic>
        <p:nvPicPr>
          <p:cNvPr id="66" name="Picture 65" descr="graduation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6035040"/>
            <a:ext cx="2560320" cy="640080"/>
          </a:xfrm>
          <a:prstGeom prst="rect">
            <a:avLst/>
          </a:prstGeom>
        </p:spPr>
      </p:pic>
      <p:pic>
        <p:nvPicPr>
          <p:cNvPr id="67" name="Picture 66" descr="family-outdoor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6035040"/>
            <a:ext cx="2560320" cy="6400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保单年度 1（受保人 1 岁）开始提领 → 精准覆盖小学到大学教育支出 → 本金持续滚存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00800"/>
            <a:ext cx="11277295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数据来源：周大福人寿官方计划书 第5部分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重要事项声明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Important Notes · 客户须知的风险与限制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非保证利益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本计划所演示之非保证金额（包括复归红利及终期分红）乃基于现时假设投资回报计算，并非保证。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实际金额或会因投资市场波动而调整，在某些情况下非保证金额可能为零。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汇率风险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若以保单货币（美元）以外的其他货币支付保费或收取利益，将按本公司不时厘定的汇率兑换。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外币汇率波动可能影响实际支付金额。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提领限制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现金提取须符合本公司最低投保单位要求；若提取导致投保单位低于最低要求，则不可提取。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所演示之提取金额基于非保证红利与分红，未必可维持。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通胀风险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未来生活成本可能因通胀而上升；本计划之金额为名义金额，未必能完全追上通胀。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建议结合其他投资工具作综合规划。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943600"/>
            <a:ext cx="73152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完整条款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本文件不包含完整的计划条款，详情参阅保单文件及主要产品推销刊物。阁下应向持牌保险中介人查询。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数据来源与回溯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Data Sources · 全部数据可逐项回溯至官方计划书页码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4712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645920"/>
                <a:gridCol w="5486400"/>
              </a:tblGrid>
              <a:tr h="457200"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数据项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PDF 页码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来源说明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保障摘要 · 保额/保费/年期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受保人资料 + 投保资料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退保发还金额（Y1-Y40）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退保发还金额（Y41-Y80）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身故赔偿额说明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p17-19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身故赔偿额-不同投资回报下的说明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退保发还金额（Y1-Y40）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p42-43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退保发还金额（Y41-Y80）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p44-45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身故赔偿额说明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p47-50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身故赔偿额下的说明（提取）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注释与重要事项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p20-22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本计划之注释条款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产品详细说明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p23-41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财富增值选项、跃进选项等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6035040"/>
            <a:ext cx="11277295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6035040"/>
            <a:ext cx="73152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08076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核验方法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所有数据均直接源自周大福人寿官方计划书原文（pdfplumber按列精确提取）；如需进一步核验，可逐项对照 PDF 指定页码。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总结与建议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Summary &amp;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短期供款 · 终身受惠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5 年缴清 USD 500,000，后续无需再缴费。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保单持续滚存至 128 岁，长期复利效应明显。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稳健回本 · 风险可控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保单第 — 年回本（退保现价 &gt; 已缴保费）。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2,927,364。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回本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灵活提领 · 教育无忧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Y1 起每年提取 USD 101,000，覆盖小学到大学。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累计提取 USD 642,300，本金仍持续滚存。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101K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年提取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394960"/>
            <a:ext cx="73152" cy="12801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406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综合建议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Calibri"/>
                <a:ea typeface="STHeiti Medium"/>
              </a:rPr>
              <a:t>本计划适合具备 5 年供款能力、追求稳健长期财富传承、且有子女教育金规划需求的高净值家庭。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· 短期供款压力适中  ·  长期复利跨越代际  ·  提领方案精准对接教育节点  ·  兼顾传承与流动性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4A5A6A"/>
                </a:solidFill>
                <a:latin typeface="Calibri"/>
                <a:ea typeface="STHeiti Medium"/>
              </a:rPr>
              <a:t>实际收益取决于投资市场表现，建议结合整体资产配置作综合考虑。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C8963E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F8F9FB"/>
                </a:solidFill>
                <a:latin typeface="Calibri"/>
                <a:ea typeface="STHeiti Medium"/>
              </a:rPr>
              <a:t>愿这份规划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C8963E"/>
                </a:solidFill>
                <a:latin typeface="Calibri"/>
                <a:ea typeface="STHeiti Medium"/>
              </a:rPr>
              <a:t>陪伴孩子稳健成长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D4B078"/>
                </a:solidFill>
                <a:latin typeface="Calibri"/>
                <a:ea typeface="STHeiti Medium"/>
              </a:rPr>
              <a:t>让爱与财富，代代相传</a:t>
            </a:r>
          </a:p>
        </p:txBody>
      </p:sp>
      <p:sp>
        <p:nvSpPr>
          <p:cNvPr id="8" name="Rectangle 7"/>
          <p:cNvSpPr/>
          <p:nvPr/>
        </p:nvSpPr>
        <p:spPr>
          <a:xfrm>
            <a:off x="5641848" y="4114800"/>
            <a:ext cx="91440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1277295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>
                <a:solidFill>
                  <a:srgbClr val="F8F9FB"/>
                </a:solidFill>
                <a:latin typeface="Calibri"/>
                <a:ea typeface="STHeiti Medium"/>
              </a:rPr>
              <a:t>—— 致 VIP 与家人  ——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00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D4B078"/>
                </a:solidFill>
                <a:latin typeface="Calibri"/>
                <a:ea typeface="STHeiti Medium"/>
              </a:rPr>
              <a:t>规划起点 · 受保人 1 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本演示基于周大福人寿官方计划书数据生成 · 实际保单条款以保单文件为准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