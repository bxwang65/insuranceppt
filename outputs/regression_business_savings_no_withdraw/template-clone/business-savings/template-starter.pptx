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d7bdbe9e924dbc" /><Relationship Type="http://schemas.openxmlformats.org/officeDocument/2006/relationships/extended-properties" Target="/docProps/app.xml" Id="Rbab3494960fb4612" /><Relationship Type="http://schemas.openxmlformats.org/officeDocument/2006/relationships/officeDocument" Target="/ppt/presentation.xml" Id="R57125f54b9c947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98624a2cc34873"/>
    <p:sldMasterId xmlns:r="http://schemas.openxmlformats.org/officeDocument/2006/relationships" id="2147483659" r:id="Re00e0eaa01974e62"/>
  </p:sldMasterIdLst>
  <p:notesMasterIdLst>
    <p:notesMasterId xmlns:r="http://schemas.openxmlformats.org/officeDocument/2006/relationships" r:id="R39e9fb0e737a446c"/>
  </p:notesMasterIdLst>
  <p:sldIdLst>
    <p:sldId xmlns:r="http://schemas.openxmlformats.org/officeDocument/2006/relationships" id="256" r:id="R44642bc7b5bc45a3"/>
    <p:sldId xmlns:r="http://schemas.openxmlformats.org/officeDocument/2006/relationships" id="257" r:id="R698bcaf3c074478b"/>
    <p:sldId xmlns:r="http://schemas.openxmlformats.org/officeDocument/2006/relationships" id="258" r:id="Re1c10148b6264cb6"/>
    <p:sldId xmlns:r="http://schemas.openxmlformats.org/officeDocument/2006/relationships" id="259" r:id="R39b1115ae1bb4dc0"/>
    <p:sldId xmlns:r="http://schemas.openxmlformats.org/officeDocument/2006/relationships" id="260" r:id="R511956fabff747ba"/>
    <p:sldId xmlns:r="http://schemas.openxmlformats.org/officeDocument/2006/relationships" id="261" r:id="Re9fe45b3e6be421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35155e64f448f5" /><Relationship Type="http://schemas.openxmlformats.org/officeDocument/2006/relationships/slideMaster" Target="/ppt/slideMasters/slideMaster1.xml" Id="Rdf98624a2cc34873" /><Relationship Type="http://schemas.openxmlformats.org/officeDocument/2006/relationships/slideMaster" Target="/ppt/slideMasters/slideMaster2.xml" Id="Re00e0eaa01974e62" /><Relationship Type="http://schemas.openxmlformats.org/officeDocument/2006/relationships/notesMaster" Target="/ppt/notesMasters/notesMaster1.xml" Id="R39e9fb0e737a446c" /><Relationship Type="http://schemas.openxmlformats.org/officeDocument/2006/relationships/presProps" Target="/ppt/presProps.xml" Id="R0463794c9f884e0c" /><Relationship Type="http://schemas.openxmlformats.org/officeDocument/2006/relationships/viewProps" Target="/ppt/viewProps.xml" Id="R11de88e3f94444a5" /><Relationship Type="http://schemas.openxmlformats.org/officeDocument/2006/relationships/tableStyles" Target="/ppt/tableStyles.xml" Id="Rc12dc87b71f74349" /><Relationship Type="http://schemas.openxmlformats.org/officeDocument/2006/relationships/slide" Target="/ppt/slides/slide1.xml" Id="R44642bc7b5bc45a3" /><Relationship Type="http://schemas.openxmlformats.org/officeDocument/2006/relationships/slide" Target="/ppt/slides/slide2.xml" Id="R698bcaf3c074478b" /><Relationship Type="http://schemas.openxmlformats.org/officeDocument/2006/relationships/slide" Target="/ppt/slides/slide3.xml" Id="Re1c10148b6264cb6" /><Relationship Type="http://schemas.openxmlformats.org/officeDocument/2006/relationships/slide" Target="/ppt/slides/slide4.xml" Id="R39b1115ae1bb4dc0" /><Relationship Type="http://schemas.openxmlformats.org/officeDocument/2006/relationships/slide" Target="/ppt/slides/slide5.xml" Id="R511956fabff747ba" /><Relationship Type="http://schemas.openxmlformats.org/officeDocument/2006/relationships/slide" Target="/ppt/slides/slide6.xml" Id="Re9fe45b3e6be42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e9a4208451c944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a5605bf1d9426a" /><Relationship Type="http://schemas.openxmlformats.org/officeDocument/2006/relationships/notesMaster" Target="/ppt/notesMasters/notesMaster1.xml" Id="Rf77610c63b6b4f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478c0dfd7748d8" /><Relationship Type="http://schemas.openxmlformats.org/officeDocument/2006/relationships/notesMaster" Target="/ppt/notesMasters/notesMaster1.xml" Id="Rc794bcd7146c41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b43f0837474ed6" /><Relationship Type="http://schemas.openxmlformats.org/officeDocument/2006/relationships/notesMaster" Target="/ppt/notesMasters/notesMaster1.xml" Id="R21fa5907b06b48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e9372d3cfd4db4" /><Relationship Type="http://schemas.openxmlformats.org/officeDocument/2006/relationships/notesMaster" Target="/ppt/notesMasters/notesMaster1.xml" Id="Rc69f93cafb8e43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1f14cdbe334697" /><Relationship Type="http://schemas.openxmlformats.org/officeDocument/2006/relationships/notesMaster" Target="/ppt/notesMasters/notesMaster1.xml" Id="Rf7701ab86d144b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d5a37b6b844ba6" /><Relationship Type="http://schemas.openxmlformats.org/officeDocument/2006/relationships/notesMaster" Target="/ppt/notesMasters/notesMaster1.xml" Id="R0a1488a1321548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fc9c5fa93d418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4c10a731a14c9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c6339e8ab0407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8a20a36ade4e0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43a259f5264a2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5687d18ee5461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1ca72fe4f6488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a474188dff484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45262e529a46e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9eea9612de411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e74ea38427d4fb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fd16704e2854c4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566c6264fec4b53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5cc15f57860462a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f5aa6230e394596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b8300f0704c494a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afc2399314a4cdb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38fab25104b49c0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2e9eab2a4dc4cfe" /><Relationship Type="http://schemas.openxmlformats.org/officeDocument/2006/relationships/image" Target="/ppt/media/image.png" Id="R2e48c8d2c33b4ffd" /><Relationship Type="http://schemas.openxmlformats.org/officeDocument/2006/relationships/image" Target="/ppt/media/image2.png" Id="R7e2608c06985478c" /><Relationship Type="http://schemas.openxmlformats.org/officeDocument/2006/relationships/image" Target="/ppt/media/image.svg" Id="Re32d7f9c538b4cda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f8f80de79524fd8" /><Relationship Type="http://schemas.openxmlformats.org/officeDocument/2006/relationships/image" Target="/ppt/media/image.png" Id="R02fb408cfeda4447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df73b5540b94a81" /><Relationship Type="http://schemas.openxmlformats.org/officeDocument/2006/relationships/image" Target="/ppt/media/image.png" Id="R4f50561cff954acf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c77c9de36434dd6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9D5EF67-48F1-42A6-AF1D-055E57EC6BBA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24000" y="1322962"/>
            <a:ext cx="9144000" cy="218700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单击此处添加标题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1D18DF3-9577-4DCD-BCB1-DCA3F61E2A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F79D2E7-E47F-4FF0-8DA6-7AAC775242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791A1C7-221E-49A8-8A9D-7BB8A79C88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A704E463-0302-42A4-9D48-2E6F3BF2B48E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单击此处添加副标题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816CA03-E2F6-4F3A-968C-0EE5B3D6D2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CA44FD97-020E-4891-9024-87AF4713441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10515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21F61BA-E9C9-4711-A780-59A88B6B85F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CC4E625-F16E-4755-A908-1F9D30B6C3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548509A-E118-411E-B31C-F66FA7B699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98CE638-063E-4896-A3BD-DE3792B496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3751117"/>
            <a:ext cx="7321550" cy="81135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8709C4E-94DD-4089-8B36-18A81716E6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610028"/>
            <a:ext cx="7321550" cy="64755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8BB4D2D-1840-4D2D-9E57-82A4E56E364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4842102-3441-436E-9E9D-87BF14133D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5690368-8BAB-4B63-A87E-840C427C11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215A5A7-3851-4514-A3EC-9D2F235D7B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D59F7C2-ED00-47E3-8750-1C9CC576857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3A46F8B-AB85-4DB5-AB2F-47609C9E27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981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56C9BBF-3317-498E-9946-48A56A81C9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EAD9C10-B0FC-469E-B683-98011B2F3C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7C42A11-C8A1-4EDD-BCA9-4FB813310E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102BDF5-C052-4E1A-9542-467C898E58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48C77A4-2161-4DDB-A725-7A7CF9B69B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744961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A2698701-2ED0-490F-87D7-602C305912E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615609"/>
            <a:ext cx="5157787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9E145C8A-DAA5-41B8-AE68-06794AEDFD3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744961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A96CCAAE-07A8-4FEB-8601-58DBE93D018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615609"/>
            <a:ext cx="5183188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07E56A87-A7F0-4CE0-9946-07ACA6D7B5D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6FE53BB2-966C-48F8-8BDC-939CD08CBD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ABE760-D3F6-4F46-BBDC-AB968165DB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5D47441-660A-46BC-B771-D190619A1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766219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A6092C23-D87F-40BE-B135-F4F7214AA9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CD28C341-3AD8-4BF8-BB6B-01E9FBF0A8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5005C00F-F05D-4912-BA70-E057AD372C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A350756B-8957-42B6-BCC0-1A0F8BF291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5AA12FBD-BFA0-4B07-B223-D4441F52855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5BA77748-1E3E-4675-8DC1-7403AE5781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40205F1-A59B-4136-9D48-A427B140E3C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46747" y="127000"/>
            <a:ext cx="4165200" cy="16002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单击此处编辑标题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968569AE-466A-493E-AC18-9027AE39E44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4000" y="766354"/>
            <a:ext cx="5817375" cy="509444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8D328A8-87A7-4504-B519-CBBF518C81D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1827" y="2057400"/>
            <a:ext cx="4165200" cy="381158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06FD264-A1C5-41C5-8C10-9298ABAD75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53EE38F-D0AD-418D-8666-B73E23C744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813C3EF-9E0E-4540-B24D-84A102FBB0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F46766BB-3E56-45FE-981E-8E811B8F08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24484" y="365125"/>
            <a:ext cx="1529316" cy="5811838"/>
          </a:xfrm>
        </p:spPr>
        <p:txBody>
          <a:bodyPr xmlns:a="http://schemas.openxmlformats.org/drawingml/2006/main" vert="eaVert">
            <a:normAutofit/>
          </a:bodyPr>
          <a:lstStyle xmlns:a="http://schemas.openxmlformats.org/drawingml/2006/main">
            <a:lvl1pPr>
              <a:buNone/>
              <a:defRPr sz="36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33B8108C-6912-4038-97E1-9395D64E48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8879958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F092A0B-7C3A-4FB7-BF4D-4F4450D48E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3AC2283-26F3-4ED0-8DEA-D240F04BF8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8F57151-9A3E-4056-ABF9-94BFA52B74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67EFB84-122A-40F7-AC6A-B68DC7D58D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537F1C3A-5E2E-405A-B5A0-D09D9C8E39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FB63C9C-175A-4E14-A785-DC981059A4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B2F8F05A-59F6-48B7-B686-A77C3AFD6805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38200" y="551543"/>
            <a:ext cx="10515600" cy="55589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标题 1">
            <a:extLst xmlns:a="http://schemas.openxmlformats.org/drawingml/2006/main">
              <a:ext uri="{FF2B5EF4-FFF2-40B4-BE49-F238E27FC236}">
                <a16:creationId xmlns:a16="http://schemas.microsoft.com/office/drawing/2014/main" id="{790DD182-4EC0-4282-89A3-5CA3364730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3C55F52-DEA2-4CC4-B1E4-2E9DD0F5C42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E04BA6B-72E0-4D88-8F36-BDEBEF2180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6701F3C-8201-4563-A65C-CF08B993347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0239758-D6BE-4C3E-B6A4-38F2616ED1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showMasterSp="0" type="blank" preserve="1">
  <p:cSld name="目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任意多边形: 形状 4">
            <a:extLst xmlns:a="http://schemas.openxmlformats.org/drawingml/2006/main">
              <a:ext uri="{FF2B5EF4-FFF2-40B4-BE49-F238E27FC236}">
                <a16:creationId xmlns:a16="http://schemas.microsoft.com/office/drawing/2014/main" id="{F2E88F74-AAB2-4924-B7D9-7FD8072E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3855" y="0"/>
            <a:ext cx="5481320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8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0444D6C0-6036-4A1C-B3CD-C8F02255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105" y="0"/>
            <a:ext cx="5481320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8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967E7A7A-2374-4635-B6F4-9A9ACC1B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655" y="6456309"/>
            <a:ext cx="850846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6" name="椭圆 35">
            <a:extLst xmlns:a="http://schemas.openxmlformats.org/drawingml/2006/main">
              <a:ext uri="{FF2B5EF4-FFF2-40B4-BE49-F238E27FC236}">
                <a16:creationId xmlns:a16="http://schemas.microsoft.com/office/drawing/2014/main" id="{273E7E79-14C0-4751-9CAC-A5E87EB6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7DD8C9DF-6BAF-4F04-BE89-D655C75B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椭圆 37">
            <a:extLst xmlns:a="http://schemas.openxmlformats.org/drawingml/2006/main">
              <a:ext uri="{FF2B5EF4-FFF2-40B4-BE49-F238E27FC236}">
                <a16:creationId xmlns:a16="http://schemas.microsoft.com/office/drawing/2014/main" id="{52100E7B-1D6D-49BD-9015-E987F96F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椭圆 38">
            <a:extLst xmlns:a="http://schemas.openxmlformats.org/drawingml/2006/main">
              <a:ext uri="{FF2B5EF4-FFF2-40B4-BE49-F238E27FC236}">
                <a16:creationId xmlns:a16="http://schemas.microsoft.com/office/drawing/2014/main" id="{CBCE7AF1-A92A-48F0-8657-05813E12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3653E9BA-6A29-475A-B563-1C35D986CB3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107123" y="811262"/>
            <a:ext cx="1977755" cy="1081088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algn="ctr">
              <a:buNone/>
              <a:defRPr sz="6000" b="1" i="0" u="none" cap="none" spc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标题</a:t>
            </a:r>
          </a:p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022D63F-42C6-4CF7-AB44-F8756E4210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E110065-4628-4C44-995A-B65E0FE3221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10505ED-5A06-4F65-AD38-7023D5220BB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C9BF9F9A-4C19-4BF1-BDDF-1ED067B3F2C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1301750"/>
            <a:ext cx="5323840" cy="48758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B992E61-B3D9-428D-BB3D-0F0226806F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301750"/>
            <a:ext cx="5323840" cy="48758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95F2D9F-58F7-4DDF-89DA-8B2C259A16A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AB1EB10-0796-413E-AC74-6940200263A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5E21725C-BC6A-412C-A540-B5B873A180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标题 1">
            <a:extLst xmlns:a="http://schemas.openxmlformats.org/drawingml/2006/main">
              <a:ext uri="{FF2B5EF4-FFF2-40B4-BE49-F238E27FC236}">
                <a16:creationId xmlns:a16="http://schemas.microsoft.com/office/drawing/2014/main" id="{9075C397-61E7-4D7F-AB8A-504452590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DC75CA0-8816-4071-8680-E4CAB7AE70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50"/>
            <a:ext cx="5323840" cy="411303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311F7EF7-6540-4BC5-B36C-40135DEC7C9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95960" y="1875099"/>
            <a:ext cx="5323840" cy="430027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84B25EDC-0D62-4204-ADB5-C99CEB38B8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301750"/>
            <a:ext cx="5323840" cy="411303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4A13E48F-021E-46AD-97ED-694250167B2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1875099"/>
            <a:ext cx="5323840" cy="430027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C7D1A7CC-BE82-4A33-8F3B-C98E768179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BCD2E1D-A9D7-4F5B-8E99-BF2D6A823D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5D1C678-86EE-4B65-A7A1-A20A4924BD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标题 1">
            <a:extLst xmlns:a="http://schemas.openxmlformats.org/drawingml/2006/main">
              <a:ext uri="{FF2B5EF4-FFF2-40B4-BE49-F238E27FC236}">
                <a16:creationId xmlns:a16="http://schemas.microsoft.com/office/drawing/2014/main" id="{EEF822B4-614F-406D-B16C-85CAF9212A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A6003C51-5297-48CF-B1D2-4EF57A27FC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29BDA0F5-202C-4190-B9CC-9D2EA6CCC3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7B949A2-3F44-45C2-92F0-2AFAB82926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0C59CF27-850F-4205-B6EF-C4DE1D2BB2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326ED084-81CA-440D-BA47-C99471FFF2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F7A64716-ECEE-4E0B-9B45-C082E52DEBD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1B8F703D-F85D-44F2-BEAE-5F0F4A481A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FCB5BE5-987F-497F-9C2C-FD4EC6B969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360045"/>
            <a:ext cx="10801985" cy="581787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E149B28-60C8-4CE4-9A63-463643E012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B3A7B3D-03D8-40A1-B4A6-D128AADB0C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DE22C5A-8328-4354-B31C-0527D8D6C1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91DE42BF-05C2-48CC-B2C3-889486936B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CF0CA00B-7FD2-42A3-A06C-7396643296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DAAD1548-E9A0-4FE1-9343-E4E2C18B8C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0B3BA9D4-6189-456E-BD49-D0AA3533525A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95960" y="1301750"/>
            <a:ext cx="10799088" cy="405553"/>
          </a:xfrm>
        </p:spPr>
        <p:txBody>
          <a:bodyPr xmlns:a="http://schemas.openxmlformats.org/drawingml/2006/main"/>
          <a:lstStyle xmlns:a="http://schemas.openxmlformats.org/drawingml/2006/main"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单击此处编辑副标题</a:t>
            </a:r>
          </a:p>
        </p:txBody>
      </p:sp>
      <p:sp>
        <p:nvSpPr>
          <p:cNvPr id="7" name="标题 1">
            <a:extLst xmlns:a="http://schemas.openxmlformats.org/drawingml/2006/main">
              <a:ext uri="{FF2B5EF4-FFF2-40B4-BE49-F238E27FC236}">
                <a16:creationId xmlns:a16="http://schemas.microsoft.com/office/drawing/2014/main" id="{CFADEA58-672C-4AC6-B527-AD0A7839DC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showMasterSp="0" preserve="1" userDrawn="1">
  <p:cSld name="封面页_1_3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18DCA560-4490-4C1A-8F9D-2ACE0877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0" y="-15875"/>
            <a:ext cx="1786890" cy="2779395"/>
          </a:xfrm>
          <a:prstGeom xmlns:a="http://schemas.openxmlformats.org/drawingml/2006/main" prst="rtTriangle">
            <a:avLst/>
          </a:pr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1416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2645A8B3-3A14-4022-B411-9E626186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4355" y="0"/>
            <a:ext cx="5539105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19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5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07AFE323-6BAA-4EF6-87CE-68580514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8625" y="0"/>
            <a:ext cx="6702425" cy="6858000"/>
          </a:xfrm>
          <a:custGeom xmlns:a="http://schemas.openxmlformats.org/drawingml/2006/main">
            <a:rect l="l" t="t" r="r" b="b"/>
            <a:pathLst>
              <a:path w="10555" h="10800">
                <a:moveTo>
                  <a:pt x="6933" y="0"/>
                </a:moveTo>
                <a:lnTo>
                  <a:pt x="10555" y="0"/>
                </a:lnTo>
                <a:lnTo>
                  <a:pt x="10555" y="3948"/>
                </a:lnTo>
                <a:lnTo>
                  <a:pt x="6156" y="10800"/>
                </a:lnTo>
                <a:lnTo>
                  <a:pt x="0" y="10800"/>
                </a:lnTo>
                <a:lnTo>
                  <a:pt x="6933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75000"/>
                  <a:alpha val="8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6" name="图片 6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e48c8d2c33b4ffd"/>
          <a:srcRect xmlns:a="http://schemas.openxmlformats.org/drawingml/2006/main" l="0" t="0" r="17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850765" y="908050"/>
            <a:ext cx="7360285" cy="5949950"/>
          </a:xfrm>
          <a:prstGeom xmlns:a="http://schemas.openxmlformats.org/drawingml/2006/main" prst="rect">
            <a:avLst/>
          </a:prstGeom>
        </p:spPr>
      </p:pic>
      <p:sp>
        <p:nvSpPr>
          <p:cNvPr id="46" name="日期">
            <a:extLst xmlns:a="http://schemas.openxmlformats.org/drawingml/2006/main">
              <a:ext uri="{FF2B5EF4-FFF2-40B4-BE49-F238E27FC236}">
                <a16:creationId xmlns:a16="http://schemas.microsoft.com/office/drawing/2014/main" id="{06CED8E5-5912-4EA3-80A6-D021D68BEEFC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1016000" y="1651000"/>
            <a:ext cx="6097058" cy="4572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accent2"/>
                </a:solidFill>
                <a:latin typeface="+mn-ea"/>
                <a:ea typeface="+mn-ea"/>
                <a:cs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20XX YEAR</a:t>
            </a:r>
          </a:p>
        </p:txBody>
      </p:sp>
      <p:sp>
        <p:nvSpPr>
          <p:cNvPr id="45" name="标题 44">
            <a:extLst xmlns:a="http://schemas.openxmlformats.org/drawingml/2006/main">
              <a:ext uri="{FF2B5EF4-FFF2-40B4-BE49-F238E27FC236}">
                <a16:creationId xmlns:a16="http://schemas.microsoft.com/office/drawing/2014/main" id="{7A6B00A1-1EB1-4BB1-A063-AFF3BA1B34B5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 hasCustomPrompt="1"/>
          </p:nvPr>
        </p:nvSpPr>
        <p:spPr>
          <a:xfrm xmlns:a="http://schemas.openxmlformats.org/drawingml/2006/main">
            <a:off x="1016000" y="2159000"/>
            <a:ext cx="6352646" cy="2540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0" spc="0">
                <a:solidFill>
                  <a:schemeClr val="tx2"/>
                </a:solidFill>
              </a:defRPr>
            </a:lvl1pPr>
          </a:lstStyle>
          <a:p xmlns:a="http://schemas.openxmlformats.org/drawingml/2006/main">
            <a:r>
              <a:t>商务风融资计划</a:t>
            </a:r>
            <a:br/>
            <a:r>
              <a:t>通用模板</a:t>
            </a:r>
          </a:p>
        </p:txBody>
      </p:sp>
      <p:sp>
        <p:nvSpPr>
          <p:cNvPr id="29" name="矩形: 圆角 28">
            <a:extLst xmlns:a="http://schemas.openxmlformats.org/drawingml/2006/main">
              <a:ext uri="{FF2B5EF4-FFF2-40B4-BE49-F238E27FC236}">
                <a16:creationId xmlns:a16="http://schemas.microsoft.com/office/drawing/2014/main" id="{7EDEFBA2-F8EE-4F8B-BB0A-B007AF0E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265" y="5255260"/>
            <a:ext cx="1241425" cy="5334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2000">
                <a:schemeClr val="accent1"/>
              </a:gs>
              <a:gs pos="100000">
                <a:schemeClr val="accent2"/>
              </a:gs>
            </a:gsLst>
            <a:lin ang="135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</a:pPr>
          </a:p>
        </p:txBody>
      </p:sp>
      <p:sp>
        <p:nvSpPr>
          <p:cNvPr id="47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106A5B52-2349-4880-AEE1-A26B5E88F5E9}"/>
              </a:ext>
            </a:extLst>
          </p:cNvPr>
          <p:cNvSpPr>
            <a:spLocks xmlns:a="http://schemas.openxmlformats.org/drawingml/2006/main" noGrp="1"/>
          </p:cNvSpPr>
          <p:nvPr>
            <p:ph type="body" idx="16387" hasCustomPrompt="1"/>
          </p:nvPr>
        </p:nvSpPr>
        <p:spPr>
          <a:xfrm xmlns:a="http://schemas.openxmlformats.org/drawingml/2006/main">
            <a:off x="1016000" y="5255239"/>
            <a:ext cx="2540882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chemeClr val="bg2"/>
            </a:solidFill>
          </a:ln>
          <a:effectLst xmlns:a="http://schemas.openxmlformats.org/drawingml/2006/main">
            <a:outerShdw blurRad="444500" dist="152400" dir="5520000" sx="104000" sy="104000" algn="tl" rotWithShape="0">
              <a:schemeClr val="accent2">
                <a:alpha val="21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 u="none" cap="none" spc="0">
                <a:solidFill>
                  <a:srgbClr val="031A2F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>
            <a:pPr>
              <a:buNone/>
            </a:pPr>
            <a:r>
              <a:t>BY WPS</a:t>
            </a:r>
          </a:p>
        </p:txBody>
      </p:sp>
      <p:pic>
        <p:nvPicPr>
          <p:cNvPr id="71" name="图形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2608c06985478c">
            <a:extLst>
              <a:ext uri="{96DAC541-7B7A-43D3-8B79-37D633B846F1}">
                <asvg:svgBlip xmlns:asvg="http://schemas.microsoft.com/office/drawing/2016/SVG/main" r:embed="Re32d7f9c538b4cd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700000">
            <a:off x="3764071" y="5443856"/>
            <a:ext cx="162734" cy="162734"/>
          </a:xfrm>
          <a:prstGeom xmlns:a="http://schemas.openxmlformats.org/drawingml/2006/main" prst="rect">
            <a:avLst/>
          </a:prstGeom>
        </p:spPr>
      </p:pic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B506FA4-3188-4D38-966E-10F5B38D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22390"/>
            <a:ext cx="12210415" cy="4356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2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椭圆 2">
            <a:extLst xmlns:a="http://schemas.openxmlformats.org/drawingml/2006/main">
              <a:ext uri="{FF2B5EF4-FFF2-40B4-BE49-F238E27FC236}">
                <a16:creationId xmlns:a16="http://schemas.microsoft.com/office/drawing/2014/main" id="{C714F4B7-7652-418D-93DF-A469CFD2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1B746C77-8CC6-4074-A3DB-70DAE405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椭圆 31">
            <a:extLst xmlns:a="http://schemas.openxmlformats.org/drawingml/2006/main">
              <a:ext uri="{FF2B5EF4-FFF2-40B4-BE49-F238E27FC236}">
                <a16:creationId xmlns:a16="http://schemas.microsoft.com/office/drawing/2014/main" id="{FDF0228C-6718-46E9-B944-EB8A7CFC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椭圆 32">
            <a:extLst xmlns:a="http://schemas.openxmlformats.org/drawingml/2006/main">
              <a:ext uri="{FF2B5EF4-FFF2-40B4-BE49-F238E27FC236}">
                <a16:creationId xmlns:a16="http://schemas.microsoft.com/office/drawing/2014/main" id="{26A1E4AD-B4F4-49AF-AD78-CFEAF1A3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0.xml><?xml version="1.0" encoding="utf-8"?>
<p:sldLayout xmlns:p="http://schemas.openxmlformats.org/presentationml/2006/main" showMasterSp="0" preserve="1" userDrawn="1">
  <p:cSld name="章节页_1_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椭圆 29">
            <a:extLst xmlns:a="http://schemas.openxmlformats.org/drawingml/2006/main">
              <a:ext uri="{FF2B5EF4-FFF2-40B4-BE49-F238E27FC236}">
                <a16:creationId xmlns:a16="http://schemas.microsoft.com/office/drawing/2014/main" id="{CB28BBBB-F732-4FE7-83EC-D7A5B9EB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D7BB0ACE-0049-4EDE-A317-AEB6E528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椭圆 31">
            <a:extLst xmlns:a="http://schemas.openxmlformats.org/drawingml/2006/main">
              <a:ext uri="{FF2B5EF4-FFF2-40B4-BE49-F238E27FC236}">
                <a16:creationId xmlns:a16="http://schemas.microsoft.com/office/drawing/2014/main" id="{293DA7C1-B682-4283-9715-D7715DB8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椭圆 32">
            <a:extLst xmlns:a="http://schemas.openxmlformats.org/drawingml/2006/main">
              <a:ext uri="{FF2B5EF4-FFF2-40B4-BE49-F238E27FC236}">
                <a16:creationId xmlns:a16="http://schemas.microsoft.com/office/drawing/2014/main" id="{2318C170-E0CE-483D-AE47-4583A771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72517135-D9CF-4EB3-BBA0-3402BF6F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-8733733" y="0"/>
            <a:ext cx="5055397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19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9F18F14A-2803-43FF-8BAC-B451F53D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-9394418" y="0"/>
            <a:ext cx="6117129" cy="6858000"/>
          </a:xfrm>
          <a:custGeom xmlns:a="http://schemas.openxmlformats.org/drawingml/2006/main">
            <a:rect l="l" t="t" r="r" b="b"/>
            <a:pathLst>
              <a:path w="10555" h="10800">
                <a:moveTo>
                  <a:pt x="6933" y="0"/>
                </a:moveTo>
                <a:lnTo>
                  <a:pt x="10555" y="0"/>
                </a:lnTo>
                <a:lnTo>
                  <a:pt x="10555" y="3948"/>
                </a:lnTo>
                <a:lnTo>
                  <a:pt x="6156" y="10800"/>
                </a:lnTo>
                <a:lnTo>
                  <a:pt x="0" y="10800"/>
                </a:lnTo>
                <a:lnTo>
                  <a:pt x="6933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75000"/>
                  <a:alpha val="8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6" name="图片 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2fb408cfeda4447"/>
          <a:srcRect xmlns:a="http://schemas.openxmlformats.org/drawingml/2006/main" l="0" t="0" r="17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-8794006" y="908050"/>
            <a:ext cx="6717541" cy="5949950"/>
          </a:xfrm>
          <a:prstGeom xmlns:a="http://schemas.openxmlformats.org/drawingml/2006/main" prst="rect">
            <a:avLst/>
          </a:prstGeom>
        </p:spPr>
      </p:pic>
      <p:sp>
        <p:nvSpPr>
          <p:cNvPr id="6" name="标题 2">
            <a:extLst xmlns:a="http://schemas.openxmlformats.org/drawingml/2006/main">
              <a:ext uri="{FF2B5EF4-FFF2-40B4-BE49-F238E27FC236}">
                <a16:creationId xmlns:a16="http://schemas.microsoft.com/office/drawing/2014/main" id="{8D5DB3A1-E245-4BA9-BE49-E258D95C64A8}"/>
              </a:ext>
            </a:extLst>
          </p:cNvPr>
          <p:cNvSpPr>
            <a:spLocks xmlns:a="http://schemas.openxmlformats.org/drawingml/2006/main" noGrp="1"/>
          </p:cNvSpPr>
          <p:nvPr>
            <p:ph type="title" idx="16385" hasCustomPrompt="1"/>
          </p:nvPr>
        </p:nvSpPr>
        <p:spPr>
          <a:xfrm xmlns:a="http://schemas.openxmlformats.org/drawingml/2006/main">
            <a:off x="5696585" y="2983865"/>
            <a:ext cx="5479415" cy="1524000"/>
          </a:xfr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0" spc="0">
                <a:solidFill>
                  <a:schemeClr val="tx2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>
            <a:r>
              <a:t>单击此处添加章节</a:t>
            </a:r>
          </a:p>
        </p:txBody>
      </p:sp>
      <p:sp>
        <p:nvSpPr>
          <p:cNvPr id="7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4DA7AAB7-1BF7-4521-A9B1-8F1C0297029C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9648825" y="1358265"/>
            <a:ext cx="1527175" cy="1524000"/>
          </a:xfrm>
        </p:spPr>
        <p:txBody>
          <a:bodyPr xmlns:a="http://schemas.openxmlformats.org/drawingml/2006/main" vert="horz" wrap="none" lIns="0" tIns="0" rIns="0" bIns="0" anchor="ctr">
            <a:normAutofit/>
          </a:bodyPr>
          <a:lstStyle xmlns:a="http://schemas.openxmlformats.org/drawingml/2006/main">
            <a:lvl1pPr marL="0" indent="0" algn="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7200" b="0" spc="0">
                <a:solidFill>
                  <a:schemeClr val="accent2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F77ECFC-F743-472A-81C1-9A0C53A4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6422390"/>
            <a:ext cx="12210415" cy="4356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2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9115595F-2CBB-475E-A266-D8349279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464165" y="-15875"/>
            <a:ext cx="1786890" cy="2779395"/>
          </a:xfrm>
          <a:custGeom xmlns:a="http://schemas.openxmlformats.org/drawingml/2006/main">
            <a:rect l="l" t="t" r="r" b="b"/>
            <a:pathLst>
              <a:path w="2814" h="4377">
                <a:moveTo>
                  <a:pt x="86" y="0"/>
                </a:moveTo>
                <a:lnTo>
                  <a:pt x="2814" y="25"/>
                </a:lnTo>
                <a:lnTo>
                  <a:pt x="0" y="4377"/>
                </a:lnTo>
                <a:lnTo>
                  <a:pt x="76" y="4287"/>
                </a:lnTo>
                <a:lnTo>
                  <a:pt x="86" y="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1.xml><?xml version="1.0" encoding="utf-8"?>
<p:sldLayout xmlns:p="http://schemas.openxmlformats.org/presentationml/2006/main" showMasterSp="0" preserve="1" userDrawn="1">
  <p:cSld name="结束页_1_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59BFC6FA-04FC-4685-B952-B52C6B91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4355" y="0"/>
            <a:ext cx="5539105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19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51D24132-268A-4577-A832-1A0C481F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8625" y="0"/>
            <a:ext cx="6702425" cy="6858000"/>
          </a:xfrm>
          <a:custGeom xmlns:a="http://schemas.openxmlformats.org/drawingml/2006/main">
            <a:rect l="l" t="t" r="r" b="b"/>
            <a:pathLst>
              <a:path w="10555" h="10800">
                <a:moveTo>
                  <a:pt x="6933" y="0"/>
                </a:moveTo>
                <a:lnTo>
                  <a:pt x="10555" y="0"/>
                </a:lnTo>
                <a:lnTo>
                  <a:pt x="10555" y="3948"/>
                </a:lnTo>
                <a:lnTo>
                  <a:pt x="6156" y="10800"/>
                </a:lnTo>
                <a:lnTo>
                  <a:pt x="0" y="10800"/>
                </a:lnTo>
                <a:lnTo>
                  <a:pt x="6933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75000"/>
                  <a:alpha val="8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6" name="图片 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f50561cff954acf"/>
          <a:srcRect xmlns:a="http://schemas.openxmlformats.org/drawingml/2006/main" l="0" t="0" r="17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850765" y="908050"/>
            <a:ext cx="7360285" cy="5949950"/>
          </a:xfrm>
          <a:prstGeom xmlns:a="http://schemas.openxmlformats.org/drawingml/2006/main" prst="rect">
            <a:avLst/>
          </a:prstGeom>
        </p:spPr>
      </p:pic>
      <p:sp>
        <p:nvSpPr>
          <p:cNvPr id="8" name="Subtitle 7">
            <a:extLst xmlns:a="http://schemas.openxmlformats.org/drawingml/2006/main">
              <a:ext uri="{FF2B5EF4-FFF2-40B4-BE49-F238E27FC236}">
                <a16:creationId xmlns:a16="http://schemas.microsoft.com/office/drawing/2014/main" id="{D44E4D4D-5284-412F-8923-151B78D66BCE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1016000" y="2667000"/>
            <a:ext cx="54493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THE END</a:t>
            </a:r>
          </a:p>
        </p:txBody>
      </p:sp>
      <p:sp>
        <p:nvSpPr>
          <p:cNvPr id="6" name="标题 4">
            <a:extLst xmlns:a="http://schemas.openxmlformats.org/drawingml/2006/main">
              <a:ext uri="{FF2B5EF4-FFF2-40B4-BE49-F238E27FC236}">
                <a16:creationId xmlns:a16="http://schemas.microsoft.com/office/drawing/2014/main" id="{E7BC405D-F038-4279-8BE6-E652364814A7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 hasCustomPrompt="1"/>
          </p:nvPr>
        </p:nvSpPr>
        <p:spPr>
          <a:xfrm xmlns:a="http://schemas.openxmlformats.org/drawingml/2006/main">
            <a:off x="1016000" y="3175000"/>
            <a:ext cx="5451122" cy="1016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400" b="0" spc="0">
                <a:solidFill>
                  <a:schemeClr val="tx2"/>
                </a:solidFill>
              </a:defRPr>
            </a:lvl1pPr>
          </a:lstStyle>
          <a:p xmlns:a="http://schemas.openxmlformats.org/drawingml/2006/main">
            <a:r>
              <a:t>谢谢观看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7B50DC4-622A-4CD5-A17B-85DE19AE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22390"/>
            <a:ext cx="12210415" cy="4356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2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椭圆 2">
            <a:extLst xmlns:a="http://schemas.openxmlformats.org/drawingml/2006/main">
              <a:ext uri="{FF2B5EF4-FFF2-40B4-BE49-F238E27FC236}">
                <a16:creationId xmlns:a16="http://schemas.microsoft.com/office/drawing/2014/main" id="{3F318B1B-4E3E-4761-8C8C-D50863DC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椭圆 6">
            <a:extLst xmlns:a="http://schemas.openxmlformats.org/drawingml/2006/main">
              <a:ext uri="{FF2B5EF4-FFF2-40B4-BE49-F238E27FC236}">
                <a16:creationId xmlns:a16="http://schemas.microsoft.com/office/drawing/2014/main" id="{097F02A6-9980-456E-9CAF-719602ED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椭圆 8">
            <a:extLst xmlns:a="http://schemas.openxmlformats.org/drawingml/2006/main">
              <a:ext uri="{FF2B5EF4-FFF2-40B4-BE49-F238E27FC236}">
                <a16:creationId xmlns:a16="http://schemas.microsoft.com/office/drawing/2014/main" id="{05634AC4-DC14-4BE1-A4FD-28BE817F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椭圆 10">
            <a:extLst xmlns:a="http://schemas.openxmlformats.org/drawingml/2006/main">
              <a:ext uri="{FF2B5EF4-FFF2-40B4-BE49-F238E27FC236}">
                <a16:creationId xmlns:a16="http://schemas.microsoft.com/office/drawing/2014/main" id="{15865C02-0D29-454A-BD7F-0A7BDBBC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D7940110-18D7-4CE5-B7E5-0E21CC9D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1435" y="-15875"/>
            <a:ext cx="1786890" cy="2779395"/>
          </a:xfrm>
          <a:custGeom xmlns:a="http://schemas.openxmlformats.org/drawingml/2006/main">
            <a:rect l="l" t="t" r="r" b="b"/>
            <a:pathLst>
              <a:path w="2814" h="4377">
                <a:moveTo>
                  <a:pt x="86" y="0"/>
                </a:moveTo>
                <a:lnTo>
                  <a:pt x="2814" y="25"/>
                </a:lnTo>
                <a:lnTo>
                  <a:pt x="0" y="4377"/>
                </a:lnTo>
                <a:lnTo>
                  <a:pt x="76" y="4287"/>
                </a:lnTo>
                <a:lnTo>
                  <a:pt x="86" y="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目录页-1-5-4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1AA303E-3F4D-40A4-BAED-326EDA681E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9DC10A0-CD5F-482A-825F-2213E2F5ED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211D6CC-ED44-4C61-99D9-C8804883790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Subtitle 9">
            <a:extLst xmlns:a="http://schemas.openxmlformats.org/drawingml/2006/main">
              <a:ext uri="{FF2B5EF4-FFF2-40B4-BE49-F238E27FC236}">
                <a16:creationId xmlns:a16="http://schemas.microsoft.com/office/drawing/2014/main" id="{87EA73AC-3756-4BDC-8D54-3B3706244191}"/>
              </a:ext>
            </a:extLst>
          </p:cNvPr>
          <p:cNvSpPr>
            <a:spLocks xmlns:a="http://schemas.openxmlformats.org/drawingml/2006/main" noGrp="1"/>
          </p:cNvSpPr>
          <p:nvPr>
            <p:ph type="subTitle" idx="17826305" hasCustomPrompt="1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CONTENTS</a:t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8C2A796D-BAC8-41F6-AB71-87D9A5E2F5AD}"/>
              </a:ext>
            </a:extLst>
          </p:cNvPr>
          <p:cNvSpPr>
            <a:spLocks xmlns:a="http://schemas.openxmlformats.org/drawingml/2006/main" noGrp="1"/>
          </p:cNvSpPr>
          <p:nvPr>
            <p:ph type="ctrTitle" idx="17826049" hasCustomPrompt="1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目录</a:t>
            </a:r>
          </a:p>
        </p:txBody>
      </p:sp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9DE2AEAE-CE4B-4C5F-9821-AB6D0D116E93}"/>
              </a:ext>
            </a:extLst>
          </p:cNvPr>
          <p:cNvSpPr>
            <a:spLocks xmlns:a="http://schemas.openxmlformats.org/drawingml/2006/main" noGrp="1"/>
          </p:cNvSpPr>
          <p:nvPr>
            <p:ph type="body" idx="319883777" hasCustomPrompt="1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723AF8E0-402A-4313-9B36-571BF53F19EB}"/>
              </a:ext>
            </a:extLst>
          </p:cNvPr>
          <p:cNvSpPr>
            <a:spLocks xmlns:a="http://schemas.openxmlformats.org/drawingml/2006/main" noGrp="1"/>
          </p:cNvSpPr>
          <p:nvPr>
            <p:ph type="body" idx="319883522" hasCustomPrompt="1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1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DA674EE1-236B-46E4-A239-AC41D3D6181B}"/>
              </a:ext>
            </a:extLst>
          </p:cNvPr>
          <p:cNvSpPr>
            <a:spLocks xmlns:a="http://schemas.openxmlformats.org/drawingml/2006/main" noGrp="1"/>
          </p:cNvSpPr>
          <p:nvPr>
            <p:ph type="body" idx="51446017" hasCustomPrompt="1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675E95CE-8AD6-44BF-B1E6-DE9E38427ABD}"/>
              </a:ext>
            </a:extLst>
          </p:cNvPr>
          <p:cNvSpPr>
            <a:spLocks xmlns:a="http://schemas.openxmlformats.org/drawingml/2006/main" noGrp="1"/>
          </p:cNvSpPr>
          <p:nvPr>
            <p:ph type="body" idx="319949313" hasCustomPrompt="1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13093F23-B7B4-4EED-B584-27F6920DD263}"/>
              </a:ext>
            </a:extLst>
          </p:cNvPr>
          <p:cNvSpPr>
            <a:spLocks xmlns:a="http://schemas.openxmlformats.org/drawingml/2006/main" noGrp="1"/>
          </p:cNvSpPr>
          <p:nvPr>
            <p:ph type="body" idx="319949058" hasCustomPrompt="1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18" name="Text Placeholder 17">
            <a:extLst xmlns:a="http://schemas.openxmlformats.org/drawingml/2006/main">
              <a:ext uri="{FF2B5EF4-FFF2-40B4-BE49-F238E27FC236}">
                <a16:creationId xmlns:a16="http://schemas.microsoft.com/office/drawing/2014/main" id="{EDDE0AA3-6283-4782-86CF-07C3739130C8}"/>
              </a:ext>
            </a:extLst>
          </p:cNvPr>
          <p:cNvSpPr>
            <a:spLocks xmlns:a="http://schemas.openxmlformats.org/drawingml/2006/main" noGrp="1"/>
          </p:cNvSpPr>
          <p:nvPr>
            <p:ph type="body" idx="51511553" hasCustomPrompt="1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B673BC7C-2081-4E82-A2F6-7E5EE0ED3B8B}"/>
              </a:ext>
            </a:extLst>
          </p:cNvPr>
          <p:cNvSpPr>
            <a:spLocks xmlns:a="http://schemas.openxmlformats.org/drawingml/2006/main" noGrp="1"/>
          </p:cNvSpPr>
          <p:nvPr>
            <p:ph type="body" idx="320014849" hasCustomPrompt="1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7B88875B-28FC-410B-9C0F-6BCA8B1E833D}"/>
              </a:ext>
            </a:extLst>
          </p:cNvPr>
          <p:cNvSpPr>
            <a:spLocks xmlns:a="http://schemas.openxmlformats.org/drawingml/2006/main" noGrp="1"/>
          </p:cNvSpPr>
          <p:nvPr>
            <p:ph type="body" idx="320014594" hasCustomPrompt="1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21" name="Text Placeholder 20">
            <a:extLst xmlns:a="http://schemas.openxmlformats.org/drawingml/2006/main">
              <a:ext uri="{FF2B5EF4-FFF2-40B4-BE49-F238E27FC236}">
                <a16:creationId xmlns:a16="http://schemas.microsoft.com/office/drawing/2014/main" id="{51C83322-426E-449C-847B-763D0C9B22C7}"/>
              </a:ext>
            </a:extLst>
          </p:cNvPr>
          <p:cNvSpPr>
            <a:spLocks xmlns:a="http://schemas.openxmlformats.org/drawingml/2006/main" noGrp="1"/>
          </p:cNvSpPr>
          <p:nvPr>
            <p:ph type="body" idx="51577089" hasCustomPrompt="1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22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D994CA44-4020-4221-A409-C20492B232A8}"/>
              </a:ext>
            </a:extLst>
          </p:cNvPr>
          <p:cNvSpPr>
            <a:spLocks xmlns:a="http://schemas.openxmlformats.org/drawingml/2006/main" noGrp="1"/>
          </p:cNvSpPr>
          <p:nvPr>
            <p:ph type="body" idx="320080385" hasCustomPrompt="1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04</a:t>
            </a:r>
          </a:p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8C987482-45D9-4712-B086-F0F9C1065B13}"/>
              </a:ext>
            </a:extLst>
          </p:cNvPr>
          <p:cNvSpPr>
            <a:spLocks xmlns:a="http://schemas.openxmlformats.org/drawingml/2006/main" noGrp="1"/>
          </p:cNvSpPr>
          <p:nvPr>
            <p:ph type="body" idx="320080130" hasCustomPrompt="1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24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8192EBD9-E4EA-4D33-9028-2C2971D87A4E}"/>
              </a:ext>
            </a:extLst>
          </p:cNvPr>
          <p:cNvSpPr>
            <a:spLocks xmlns:a="http://schemas.openxmlformats.org/drawingml/2006/main" noGrp="1"/>
          </p:cNvSpPr>
          <p:nvPr>
            <p:ph type="body" idx="51642625" hasCustomPrompt="1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077d98bd644275" /><Relationship Type="http://schemas.openxmlformats.org/officeDocument/2006/relationships/slideLayout" Target="/ppt/slideLayouts/slideLayout1.xml" Id="R25202bb98cb1487c" /><Relationship Type="http://schemas.openxmlformats.org/officeDocument/2006/relationships/slideLayout" Target="/ppt/slideLayouts/slideLayout2.xml" Id="R1038edbbc8a44cbe" /><Relationship Type="http://schemas.openxmlformats.org/officeDocument/2006/relationships/slideLayout" Target="/ppt/slideLayouts/slideLayout3.xml" Id="R88ba639c4e5a485d" /><Relationship Type="http://schemas.openxmlformats.org/officeDocument/2006/relationships/slideLayout" Target="/ppt/slideLayouts/slideLayout4.xml" Id="Rea617739ba224caf" /><Relationship Type="http://schemas.openxmlformats.org/officeDocument/2006/relationships/slideLayout" Target="/ppt/slideLayouts/slideLayout5.xml" Id="R08997cb85565417c" /><Relationship Type="http://schemas.openxmlformats.org/officeDocument/2006/relationships/slideLayout" Target="/ppt/slideLayouts/slideLayout6.xml" Id="R2b1cf802b58248fa" /><Relationship Type="http://schemas.openxmlformats.org/officeDocument/2006/relationships/slideLayout" Target="/ppt/slideLayouts/slideLayout7.xml" Id="Rc021a668a9324d29" /><Relationship Type="http://schemas.openxmlformats.org/officeDocument/2006/relationships/slideLayout" Target="/ppt/slideLayouts/slideLayout8.xml" Id="R11e870093af44ea0" /><Relationship Type="http://schemas.openxmlformats.org/officeDocument/2006/relationships/slideLayout" Target="/ppt/slideLayouts/slideLayout9.xml" Id="R4e06f4c109704836" /><Relationship Type="http://schemas.openxmlformats.org/officeDocument/2006/relationships/slideLayout" Target="/ppt/slideLayouts/slideLayout10.xml" Id="Rf1e56bb90ffc4905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96b3a2019254871" /><Relationship Type="http://schemas.openxmlformats.org/officeDocument/2006/relationships/slideLayout" Target="/ppt/slideLayouts/slideLayout11.xml" Id="R2731e2e6ed94414f" /><Relationship Type="http://schemas.openxmlformats.org/officeDocument/2006/relationships/slideLayout" Target="/ppt/slideLayouts/slideLayout12.xml" Id="R0504be7e31ff49f5" /><Relationship Type="http://schemas.openxmlformats.org/officeDocument/2006/relationships/slideLayout" Target="/ppt/slideLayouts/slideLayout13.xml" Id="Rb5ce5346a1964963" /><Relationship Type="http://schemas.openxmlformats.org/officeDocument/2006/relationships/slideLayout" Target="/ppt/slideLayouts/slideLayout14.xml" Id="R1bd6ac813aa24495" /><Relationship Type="http://schemas.openxmlformats.org/officeDocument/2006/relationships/slideLayout" Target="/ppt/slideLayouts/slideLayout15.xml" Id="R5c0724c765ba4864" /><Relationship Type="http://schemas.openxmlformats.org/officeDocument/2006/relationships/slideLayout" Target="/ppt/slideLayouts/slideLayout16.xml" Id="Rf6de73f4e9f04d8e" /><Relationship Type="http://schemas.openxmlformats.org/officeDocument/2006/relationships/slideLayout" Target="/ppt/slideLayouts/slideLayout17.xml" Id="Re7eb29a508cb4b78" /><Relationship Type="http://schemas.openxmlformats.org/officeDocument/2006/relationships/slideLayout" Target="/ppt/slideLayouts/slideLayout18.xml" Id="R7740e31f064b4dce" /><Relationship Type="http://schemas.openxmlformats.org/officeDocument/2006/relationships/slideLayout" Target="/ppt/slideLayouts/slideLayout19.xml" Id="R948d3fa950024500" /><Relationship Type="http://schemas.openxmlformats.org/officeDocument/2006/relationships/slideLayout" Target="/ppt/slideLayouts/slideLayout20.xml" Id="R64b922a567dd4d46" /><Relationship Type="http://schemas.openxmlformats.org/officeDocument/2006/relationships/slideLayout" Target="/ppt/slideLayouts/slideLayout21.xml" Id="R72ddfd385b1747ed" /><Relationship Type="http://schemas.openxmlformats.org/officeDocument/2006/relationships/slideLayout" Target="/ppt/slideLayouts/slideLayout22.xml" Id="R8e47c905b51e4cc9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3077AE1E-9643-47BF-8639-C2BAF3A10E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F4533B0-8E67-441E-B8FF-701B95F7E1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E31D008-49A9-48DF-A903-C0CA81D21C2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2A2F6B1-BCB1-48DF-B511-FAEECED0C93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2381810-02C6-4DB3-8918-299A2D1F624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202bb98cb1487c"/>
    <p:sldLayoutId xmlns:r="http://schemas.openxmlformats.org/officeDocument/2006/relationships" id="2147483650" r:id="R1038edbbc8a44cbe"/>
    <p:sldLayoutId xmlns:r="http://schemas.openxmlformats.org/officeDocument/2006/relationships" id="2147483651" r:id="R88ba639c4e5a485d"/>
    <p:sldLayoutId xmlns:r="http://schemas.openxmlformats.org/officeDocument/2006/relationships" id="2147483652" r:id="Rea617739ba224caf"/>
    <p:sldLayoutId xmlns:r="http://schemas.openxmlformats.org/officeDocument/2006/relationships" id="2147483653" r:id="R08997cb85565417c"/>
    <p:sldLayoutId xmlns:r="http://schemas.openxmlformats.org/officeDocument/2006/relationships" id="2147483654" r:id="R2b1cf802b58248fa"/>
    <p:sldLayoutId xmlns:r="http://schemas.openxmlformats.org/officeDocument/2006/relationships" id="2147483655" r:id="Rc021a668a9324d29"/>
    <p:sldLayoutId xmlns:r="http://schemas.openxmlformats.org/officeDocument/2006/relationships" id="2147483656" r:id="R11e870093af44ea0"/>
    <p:sldLayoutId xmlns:r="http://schemas.openxmlformats.org/officeDocument/2006/relationships" id="2147483657" r:id="R4e06f4c109704836"/>
    <p:sldLayoutId xmlns:r="http://schemas.openxmlformats.org/officeDocument/2006/relationships" id="2147483658" r:id="Rf1e56bb90ffc49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0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B1CAB719-4942-42CB-B438-6E064878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91255" cy="3428365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5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9568578A-A718-4935-9E20-B5C0CB2A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1435" y="-15875"/>
            <a:ext cx="1786890" cy="2779395"/>
          </a:xfrm>
          <a:custGeom xmlns:a="http://schemas.openxmlformats.org/drawingml/2006/main">
            <a:rect l="l" t="t" r="r" b="b"/>
            <a:pathLst>
              <a:path w="2814" h="4377">
                <a:moveTo>
                  <a:pt x="86" y="0"/>
                </a:moveTo>
                <a:lnTo>
                  <a:pt x="2814" y="25"/>
                </a:lnTo>
                <a:lnTo>
                  <a:pt x="0" y="4377"/>
                </a:lnTo>
                <a:lnTo>
                  <a:pt x="76" y="4287"/>
                </a:lnTo>
                <a:lnTo>
                  <a:pt x="86" y="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1F7D58F-847B-4B95-A85E-A8F57B90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48755"/>
            <a:ext cx="12192635" cy="30924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98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1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B958FB9-4F8C-4FC9-AAC9-F9C3E22642F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96E66FC-8A1E-476E-AE17-CEBD729847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2573C71-5A67-4353-8CC8-E108E4D9FE5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1D96AA0-4EEF-4112-8E1A-9684D9D03B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49"/>
            <a:ext cx="108000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A6A8A8D-77AB-457D-8D51-953B121197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8" name="KSO_TEMPLATE" hidden="1">
            <a:extLst xmlns:a="http://schemas.openxmlformats.org/drawingml/2006/main">
              <a:ext uri="{FF2B5EF4-FFF2-40B4-BE49-F238E27FC236}">
                <a16:creationId xmlns:a16="http://schemas.microsoft.com/office/drawing/2014/main" id="{8372B958-AE25-4A06-83A7-02C2ABF7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0" r:id="R2731e2e6ed94414f"/>
    <p:sldLayoutId xmlns:r="http://schemas.openxmlformats.org/officeDocument/2006/relationships" id="2147483661" r:id="R0504be7e31ff49f5"/>
    <p:sldLayoutId xmlns:r="http://schemas.openxmlformats.org/officeDocument/2006/relationships" id="2147483662" r:id="Rb5ce5346a1964963"/>
    <p:sldLayoutId xmlns:r="http://schemas.openxmlformats.org/officeDocument/2006/relationships" id="2147483663" r:id="R1bd6ac813aa24495"/>
    <p:sldLayoutId xmlns:r="http://schemas.openxmlformats.org/officeDocument/2006/relationships" id="2147483664" r:id="R5c0724c765ba4864"/>
    <p:sldLayoutId xmlns:r="http://schemas.openxmlformats.org/officeDocument/2006/relationships" id="2147483665" r:id="Rf6de73f4e9f04d8e"/>
    <p:sldLayoutId xmlns:r="http://schemas.openxmlformats.org/officeDocument/2006/relationships" id="2147483666" r:id="Re7eb29a508cb4b78"/>
    <p:sldLayoutId xmlns:r="http://schemas.openxmlformats.org/officeDocument/2006/relationships" id="2147483667" r:id="R7740e31f064b4dce"/>
    <p:sldLayoutId xmlns:r="http://schemas.openxmlformats.org/officeDocument/2006/relationships" id="2147483668" r:id="R948d3fa950024500"/>
    <p:sldLayoutId xmlns:r="http://schemas.openxmlformats.org/officeDocument/2006/relationships" id="2147483669" r:id="R64b922a567dd4d46"/>
    <p:sldLayoutId xmlns:r="http://schemas.openxmlformats.org/officeDocument/2006/relationships" id="2147483670" r:id="R72ddfd385b1747ed"/>
    <p:sldLayoutId xmlns:r="http://schemas.openxmlformats.org/officeDocument/2006/relationships" id="2147483671" r:id="R8e47c905b51e4c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3200" b="1" i="0" u="none" spc="0">
          <a:solidFill>
            <a:schemeClr val="accent1">
              <a:lumMod val="7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0" algn="l">
        <a:lnSpc>
          <a:spcPct val="130000"/>
        </a:lnSpc>
        <a:spcBef>
          <a:spcPts val="1000"/>
        </a:spcBef>
        <a:buChar char="•"/>
        <a:defRPr sz="2400" spc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0" algn="l">
        <a:lnSpc>
          <a:spcPct val="130000"/>
        </a:lnSpc>
        <a:spcBef>
          <a:spcPts val="500"/>
        </a:spcBef>
        <a:buChar char="•"/>
        <a:defRPr sz="2000" spc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0" algn="l">
        <a:lnSpc>
          <a:spcPct val="130000"/>
        </a:lnSpc>
        <a:spcBef>
          <a:spcPts val="500"/>
        </a:spcBef>
        <a:buChar char="•"/>
        <a:defRPr sz="1800" spc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0" algn="l">
        <a:lnSpc>
          <a:spcPct val="130000"/>
        </a:lnSpc>
        <a:spcBef>
          <a:spcPts val="500"/>
        </a:spcBef>
        <a:buChar char="•"/>
        <a:defRPr sz="1800" spc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0" algn="l">
        <a:lnSpc>
          <a:spcPct val="130000"/>
        </a:lnSpc>
        <a:spcBef>
          <a:spcPts val="500"/>
        </a:spcBef>
        <a:buChar char="•"/>
        <a:defRPr sz="1800" spc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主题">
  <a:themeElements>
    <a:clrScheme name="自定义 399">
      <a:dk1>
        <a:srgbClr val="000000"/>
      </a:dk1>
      <a:lt1>
        <a:srgbClr val="FFFFFF"/>
      </a:lt1>
      <a:dk2>
        <a:srgbClr val="412B1D"/>
      </a:dk2>
      <a:lt2>
        <a:srgbClr val="FBF4EA"/>
      </a:lt2>
      <a:accent1>
        <a:srgbClr val="D59134"/>
      </a:accent1>
      <a:accent2>
        <a:srgbClr val="C46E34"/>
      </a:accent2>
      <a:accent3>
        <a:srgbClr val="DA6904"/>
      </a:accent3>
      <a:accent4>
        <a:srgbClr val="5B9BD5"/>
      </a:accent4>
      <a:accent5>
        <a:srgbClr val="327EC3"/>
      </a:accent5>
      <a:accent6>
        <a:srgbClr val="0563C1"/>
      </a:accent6>
      <a:hlink>
        <a:srgbClr val="C87A5C"/>
      </a:hlink>
      <a:folHlink>
        <a:srgbClr val="954F72"/>
      </a:folHlink>
    </a:clrScheme>
    <a:fontScheme name="商务风">
      <a:majorFont>
        <a:latin typeface="MiSans Medium"/>
        <a:ea typeface="MiSans Medium"/>
        <a:cs typeface=""/>
      </a:majorFont>
      <a:minorFont>
        <a:latin typeface="MiSans Normal"/>
        <a:ea typeface="MiSans Normal"/>
        <a:cs typeface=""/>
      </a:minorFont>
    </a:fontScheme>
    <a:fmtScheme name="自定义 399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f4bfd89342ce4766" /><Relationship Type="http://schemas.openxmlformats.org/officeDocument/2006/relationships/image" Target="/ppt/media/image3.png" Id="Rdf462a50702144a8" /><Relationship Type="http://schemas.openxmlformats.org/officeDocument/2006/relationships/image" Target="/ppt/media/image2.svg" Id="R234d9f3b7d0c47a0" /><Relationship Type="http://schemas.openxmlformats.org/officeDocument/2006/relationships/image" Target="/ppt/media/image4.png" Id="Re209561f0a4043b6" /><Relationship Type="http://schemas.openxmlformats.org/officeDocument/2006/relationships/image" Target="/ppt/media/image3.svg" Id="R6ed199740ebd4dcc" /><Relationship Type="http://schemas.openxmlformats.org/officeDocument/2006/relationships/image" Target="/ppt/media/image5.png" Id="R9dbea93ac38b424e" /><Relationship Type="http://schemas.openxmlformats.org/officeDocument/2006/relationships/image" Target="/ppt/media/image4.svg" Id="R811f14d866f94f27" /><Relationship Type="http://schemas.openxmlformats.org/officeDocument/2006/relationships/image" Target="/ppt/media/image6.png" Id="Rf6792ff6e8704447" /><Relationship Type="http://schemas.openxmlformats.org/officeDocument/2006/relationships/image" Target="/ppt/media/image5.svg" Id="R37c3898b56164573" /><Relationship Type="http://schemas.openxmlformats.org/officeDocument/2006/relationships/image" Target="/ppt/media/image7.png" Id="R6a1e2fbdc07240f8" /><Relationship Type="http://schemas.openxmlformats.org/officeDocument/2006/relationships/image" Target="/ppt/media/image6.svg" Id="R467b08a12ead471b" /><Relationship Type="http://schemas.openxmlformats.org/officeDocument/2006/relationships/image" Target="/ppt/media/image8.png" Id="R5493f83654724977" /><Relationship Type="http://schemas.openxmlformats.org/officeDocument/2006/relationships/image" Target="/ppt/media/image7.svg" Id="R6cda3ca611394426" /><Relationship Type="http://schemas.openxmlformats.org/officeDocument/2006/relationships/notesSlide" Target="/ppt/notesSlides/notesSlide1.xml" Id="Ra9102434115c46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dc8e33dcf2a14e29" /><Relationship Type="http://schemas.openxmlformats.org/officeDocument/2006/relationships/image" Target="/ppt/media/image9.png" Id="R5f0964f1755f4a89" /><Relationship Type="http://schemas.openxmlformats.org/officeDocument/2006/relationships/image" Target="/ppt/media/image8.svg" Id="R220528a557084a13" /><Relationship Type="http://schemas.openxmlformats.org/officeDocument/2006/relationships/image" Target="/ppt/media/image10.png" Id="Re5abb281998f4816" /><Relationship Type="http://schemas.openxmlformats.org/officeDocument/2006/relationships/image" Target="/ppt/media/image9.svg" Id="Rc36683b4bc9c44cc" /><Relationship Type="http://schemas.openxmlformats.org/officeDocument/2006/relationships/image" Target="/ppt/media/image11.png" Id="R62a3e41f6ce341a1" /><Relationship Type="http://schemas.openxmlformats.org/officeDocument/2006/relationships/image" Target="/ppt/media/image10.svg" Id="R0f1c23db8b984468" /><Relationship Type="http://schemas.openxmlformats.org/officeDocument/2006/relationships/image" Target="/ppt/media/image12.png" Id="R32f5aab7f1ec4f0c" /><Relationship Type="http://schemas.openxmlformats.org/officeDocument/2006/relationships/image" Target="/ppt/media/image11.svg" Id="Rb61dcccfe953468b" /><Relationship Type="http://schemas.openxmlformats.org/officeDocument/2006/relationships/image" Target="/ppt/media/image13.png" Id="Rea379be17a5640d5" /><Relationship Type="http://schemas.openxmlformats.org/officeDocument/2006/relationships/image" Target="/ppt/media/image12.svg" Id="R19146b2aad894029" /><Relationship Type="http://schemas.openxmlformats.org/officeDocument/2006/relationships/notesSlide" Target="/ppt/notesSlides/notesSlide2.xml" Id="R1b185fa01b9f44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e8ddf8d5dc6242d2" /><Relationship Type="http://schemas.openxmlformats.org/officeDocument/2006/relationships/notesSlide" Target="/ppt/notesSlides/notesSlide3.xml" Id="R97dc7072d94741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77fcaf7b14a64b48" /><Relationship Type="http://schemas.openxmlformats.org/officeDocument/2006/relationships/image" Target="/ppt/media/image14.png" Id="R2cb61c7111af4bcd" /><Relationship Type="http://schemas.openxmlformats.org/officeDocument/2006/relationships/image" Target="/ppt/media/image13.svg" Id="R471d342c303c413b" /><Relationship Type="http://schemas.openxmlformats.org/officeDocument/2006/relationships/notesSlide" Target="/ppt/notesSlides/notesSlide4.xml" Id="Re60e8e8c9e8645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6c15a73b902f4171" /><Relationship Type="http://schemas.openxmlformats.org/officeDocument/2006/relationships/image" Target="/ppt/media/image15.png" Id="Rb419bb86c11b4f14" /><Relationship Type="http://schemas.openxmlformats.org/officeDocument/2006/relationships/image" Target="/ppt/media/image14.svg" Id="R07fff080066d4e39" /><Relationship Type="http://schemas.openxmlformats.org/officeDocument/2006/relationships/notesSlide" Target="/ppt/notesSlides/notesSlide5.xml" Id="R114f4b82d54b46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4e11fab3ac064897" /><Relationship Type="http://schemas.openxmlformats.org/officeDocument/2006/relationships/notesSlide" Target="/ppt/notesSlides/notesSlide6.xml" Id="Rc8b235499939478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3B58BC78-4B9D-49CE-B002-BCC1B95B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E00AC94A-EA79-45FB-A85C-2A02AB65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E2C2D18A-2899-4C46-B576-487ADEB7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关于我们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D24ED466-4731-4326-9CC1-FE226FD5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11039475" cy="17907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8CFF31FD-210C-4FAB-AC7E-73872D8B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965" y="1757045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462a50702144a8">
            <a:extLst>
              <a:ext uri="{96DAC541-7B7A-43D3-8B79-37D633B846F1}">
                <asvg:svgBlip xmlns:asvg="http://schemas.microsoft.com/office/drawing/2016/SVG/main" r:embed="R234d9f3b7d0c47a0"/>
              </a:ext>
            </a:extLst>
          </a:blip>
          <a:srcRect xmlns:a="http://schemas.openxmlformats.org/drawingml/2006/main" l="-2083" t="-4348" r="-2083" b="-43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26235" y="188595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07D7D6D3-6769-405E-A511-463996BE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078" y="1802606"/>
            <a:ext cx="9157468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专注高净值家族财富管理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 · 15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年深耕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 · 500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亿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+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资产管理规模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86EFC367-D631-415E-A2E9-0963F8D3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ECAE5EF3-16E5-49BA-86F5-DCAEA7C6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315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3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09561f0a4043b6">
            <a:extLst>
              <a:ext uri="{96DAC541-7B7A-43D3-8B79-37D633B846F1}">
                <asvg:svgBlip xmlns:asvg="http://schemas.microsoft.com/office/drawing/2016/SVG/main" r:embed="R6ed199740ebd4dcc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30120" y="3446145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3F07A01-24FF-4F95-802D-B3B0E361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975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专业团队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57FBFCEA-692C-4924-A557-CA6B7251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25" y="4264838"/>
            <a:ext cx="30861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资深财富规划师、税务专家、法律顾问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4A6911BC-B63B-45E6-B93B-68A43759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627" y="4668660"/>
            <a:ext cx="1975771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12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年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平均经验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8DE7F556-D796-40E0-9F97-D41EEEFE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4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DB10D3D4-1136-4E15-A308-402F2B9E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bea93ac38b424e">
            <a:extLst>
              <a:ext uri="{96DAC541-7B7A-43D3-8B79-37D633B846F1}">
                <asvg:svgBlip xmlns:asvg="http://schemas.microsoft.com/office/drawing/2016/SVG/main" r:embed="R811f14d866f94f27"/>
              </a:ext>
            </a:extLst>
          </a:blip>
          <a:srcRect xmlns:a="http://schemas.openxmlformats.org/drawingml/2006/main" l="0" t="-8824" r="0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344614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5A0EA22F-F6BF-4774-A798-721F2A01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服务理念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21D9C605-EF10-4BC8-93D7-A359B687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264838"/>
            <a:ext cx="188602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以家族长远利益为核心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61FB2576-8538-4D3D-B4BD-557D2E89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68660"/>
            <a:ext cx="236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全生命周期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解决方案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81CFF6D7-C486-4720-92FF-7DE13B06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89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BECE90A4-FFB0-478E-ABE2-6CFEB36F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950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792ff6e8704447">
            <a:extLst>
              <a:ext uri="{96DAC541-7B7A-43D3-8B79-37D633B846F1}">
                <asvg:svgBlip xmlns:asvg="http://schemas.microsoft.com/office/drawing/2016/SVG/main" r:embed="R37c3898b56164573"/>
              </a:ext>
            </a:extLst>
          </a:blip>
          <a:srcRect xmlns:a="http://schemas.openxmlformats.org/drawingml/2006/main" l="-2632" t="0" r="-26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47250" y="344614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579A7871-0955-46E6-B9F5-963AB46C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26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成功案例</a:t>
            </a: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C9E35247-BDE7-48BF-B558-6D28F6E9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7059" y="4264838"/>
            <a:ext cx="1971008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200+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家族财富传承规划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19269382-84C8-428F-8CB9-56497016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5074" y="4668660"/>
            <a:ext cx="1574978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98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%</a:t>
            </a: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执行率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6438E98F-DDD3-4966-BED8-D447776B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5452745"/>
            <a:ext cx="11039475" cy="1019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0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1e2fbdc07240f8">
            <a:extLst>
              <a:ext uri="{96DAC541-7B7A-43D3-8B79-37D633B846F1}">
                <asvg:svgBlip xmlns:asvg="http://schemas.microsoft.com/office/drawing/2016/SVG/main" r:embed="R467b08a12ead471b"/>
              </a:ext>
            </a:extLst>
          </a:blip>
          <a:srcRect xmlns:a="http://schemas.openxmlformats.org/drawingml/2006/main" l="-972" t="-32353" r="-972" b="-323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6145" y="5829300"/>
            <a:ext cx="233045" cy="266700"/>
          </a:xfrm>
          <a:prstGeom xmlns:a="http://schemas.openxmlformats.org/drawingml/2006/main" prst="rect">
            <a:avLst/>
          </a:prstGeom>
        </p:spPr>
      </p:pic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612CA60B-A3D7-4361-82FB-6ED1A605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424" y="5710238"/>
            <a:ext cx="952500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i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我们深知家族财富传承不仅是资产的传递，更是家族价值观与精神的延续。我们将以最大的专业性和责任感，守护您家族的财富与未来。</a:t>
            </a:r>
          </a:p>
        </p:txBody>
      </p:sp>
      <p:pic>
        <p:nvPicPr>
          <p:cNvPr id="32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93f83654724977">
            <a:extLst>
              <a:ext uri="{96DAC541-7B7A-43D3-8B79-37D633B846F1}">
                <asvg:svgBlip xmlns:asvg="http://schemas.microsoft.com/office/drawing/2016/SVG/main" r:embed="R6cda3ca611394426"/>
              </a:ext>
            </a:extLst>
          </a:blip>
          <a:srcRect xmlns:a="http://schemas.openxmlformats.org/drawingml/2006/main" l="-972" t="-32353" r="-972" b="-323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52175" y="5829300"/>
            <a:ext cx="233045" cy="266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97227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91D1C2B6-0049-4D7E-834D-5D697A92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C72C45BA-526C-41DF-9884-37C8942E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19CC1E4B-8A11-4AAB-B1C9-B5550F37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产品核心亮点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E4FF6B63-4221-4482-8541-B9FEE1E8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2615" y="1104900"/>
            <a:ext cx="915035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BC25C170-C18D-4967-B9B6-3391E8B8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625" y="1181100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核心优势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A4A545AF-6FC0-4463-88CF-A346B3E5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652270"/>
            <a:ext cx="3508375" cy="23101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BF21736C-433A-4EE3-91EF-702CB104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84785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0964f1755f4a89">
            <a:extLst>
              <a:ext uri="{96DAC541-7B7A-43D3-8B79-37D633B846F1}">
                <asvg:svgBlip xmlns:asvg="http://schemas.microsoft.com/office/drawing/2016/SVG/main" r:embed="R220528a557084a13"/>
              </a:ext>
            </a:extLst>
          </a:blip>
          <a:srcRect xmlns:a="http://schemas.openxmlformats.org/drawingml/2006/main" l="-2500" t="-11765" r="-2500" b="-117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745" y="195707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D22BC34C-80F9-432B-AC46-BD2A77A3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847850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长期稳健增值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7E4083F4-2A33-4A35-95E0-B7C58616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209800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产品设计以长期稳健增长为核心目标，通过多元化资产配置策略，在控制风险的前提下实现资产的持续增值。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A11A73EA-FB96-4A40-AD83-0A807877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519488"/>
            <a:ext cx="1220991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5%-7%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508B6FD3-BEA7-4314-9CEF-906E33FD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316" y="3609975"/>
            <a:ext cx="13716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历史年化收益率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1A8EDD1-B2AE-49EA-B021-8A32E363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162425"/>
            <a:ext cx="3508375" cy="23094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1918069B-0AC6-4F36-8E45-E1DFE1A5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38150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abb281998f4816">
            <a:extLst>
              <a:ext uri="{96DAC541-7B7A-43D3-8B79-37D633B846F1}">
                <asvg:svgBlip xmlns:asvg="http://schemas.microsoft.com/office/drawing/2016/SVG/main" r:embed="Rc36683b4bc9c44cc"/>
              </a:ext>
            </a:extLst>
          </a:blip>
          <a:srcRect xmlns:a="http://schemas.openxmlformats.org/drawingml/2006/main" l="-2500" t="-15625" r="-2500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745" y="449072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2EDC33B4-652A-43CE-AF6D-71136A04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381500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灵活提领机制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3F9CADD0-807B-478F-9258-AD85560A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43450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提供多种提领选择，支持定期提领、弹性提领及紧急资金调用，满足家族不同阶段的现金流需求。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89B61B62-46C1-43CA-B8FE-6699E363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定期提领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DDCA2113-EB32-4197-8AB2-FFA4FE4F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801" y="6053138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BA544A84-D836-4BC3-85BC-04C1FA11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477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弹性提领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190C534C-58E2-41C9-ADEB-BDFB52EE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344" y="6053138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688B1607-3E80-4A76-B0FA-386F1934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020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紧急调用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BD435385-FCDE-4492-8AE6-88E6CC01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495" y="1109345"/>
            <a:ext cx="3508375" cy="2581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39D8F8AB-135C-4A16-B3C4-15C9163D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75" y="14643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3e41f6ce341a1">
            <a:extLst>
              <a:ext uri="{96DAC541-7B7A-43D3-8B79-37D633B846F1}">
                <asvg:svgBlip xmlns:asvg="http://schemas.microsoft.com/office/drawing/2016/SVG/main" r:embed="R0f1c23db8b984468"/>
              </a:ext>
            </a:extLst>
          </a:blip>
          <a:srcRect xmlns:a="http://schemas.openxmlformats.org/drawingml/2006/main" l="-3333" t="-2500" r="-3333" b="-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70425" y="1573530"/>
            <a:ext cx="152400" cy="200025"/>
          </a:xfrm>
          <a:prstGeom xmlns:a="http://schemas.openxmlformats.org/drawingml/2006/main" prst="rect">
            <a:avLst/>
          </a:prstGeom>
        </p:spPr>
      </p:pic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E52C6166-849A-479D-A981-836CAF55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1464469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税务优化优势</a:t>
            </a: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A8D6A32C-E13B-433B-A36C-4E11AFAB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1826419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充分利用保险产品的税收优惠政策，通过合理的架构设计，有效降低遗产税、赠与税等税务成本。</a:t>
            </a: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E5EC08FE-4088-45D2-9608-038774E8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3136106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遗产税优化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91DD6D1A-5508-4A33-9CD6-432D4DCA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8777" y="3136106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B19B5796-A7DD-4495-B825-4C3B4A8F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7453" y="3136106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赠与税减免</a:t>
            </a:r>
          </a:p>
        </p:txBody>
      </p:sp>
      <p:sp>
        <p:nvSpPr>
          <p:cNvPr id="34" name="任意多边形 33">
            <a:extLst xmlns:a="http://schemas.openxmlformats.org/drawingml/2006/main">
              <a:ext uri="{FF2B5EF4-FFF2-40B4-BE49-F238E27FC236}">
                <a16:creationId xmlns:a16="http://schemas.microsoft.com/office/drawing/2014/main" id="{7AC22A2D-1878-468F-AD97-8EAC5DC6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495" y="3890645"/>
            <a:ext cx="3508375" cy="2581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43F4D526-3E7D-4AA2-94B1-A7A771ED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75" y="42456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6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f5aab7f1ec4f0c">
            <a:extLst>
              <a:ext uri="{96DAC541-7B7A-43D3-8B79-37D633B846F1}">
                <asvg:svgBlip xmlns:asvg="http://schemas.microsoft.com/office/drawing/2016/SVG/main" r:embed="Rb61dcccfe953468b"/>
              </a:ext>
            </a:extLst>
          </a:blip>
          <a:srcRect xmlns:a="http://schemas.openxmlformats.org/drawingml/2006/main" l="-8333" t="-5263" r="-8333" b="-52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46295" y="435483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40557033-3F8F-4278-9199-48770062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4245769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资产隔离保护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0FA61EBC-8DD3-4016-BEFE-1A346763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4607719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保险资产具有独立的法律地位，可有效实现家庭资产与企业经营风险隔离，构建坚实的法律保护屏障。</a:t>
            </a: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3D865E4D-9234-4224-98C7-7950DCD1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591740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法律独立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DBE3311F-EEBD-429D-AC81-7A5DFEA1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377" y="5917406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58C29596-3E54-4CAC-9F7E-851BF828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053" y="591740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风险隔离</a:t>
            </a:r>
          </a:p>
        </p:txBody>
      </p:sp>
      <p:sp>
        <p:nvSpPr>
          <p:cNvPr id="42" name="任意多边形 41">
            <a:extLst xmlns:a="http://schemas.openxmlformats.org/drawingml/2006/main">
              <a:ext uri="{FF2B5EF4-FFF2-40B4-BE49-F238E27FC236}">
                <a16:creationId xmlns:a16="http://schemas.microsoft.com/office/drawing/2014/main" id="{7ED61FA9-13A0-4DC4-85AE-51821360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045" y="1109345"/>
            <a:ext cx="3508375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 w="9525" cmpd="sng">
            <a:solidFill>
              <a:srgbClr val="D59134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11135C37-D39C-43F6-97CB-70090A38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625" y="1304925"/>
            <a:ext cx="3117850" cy="8953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任意多边形 43">
            <a:extLst xmlns:a="http://schemas.openxmlformats.org/drawingml/2006/main">
              <a:ext uri="{FF2B5EF4-FFF2-40B4-BE49-F238E27FC236}">
                <a16:creationId xmlns:a16="http://schemas.microsoft.com/office/drawing/2014/main" id="{9AFBBFD1-090C-435D-8B52-87DFD1F9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625" y="2190750"/>
            <a:ext cx="3117850" cy="95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>
              <a:alpha val="2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D2AE3D1C-B3E2-46A0-8C66-A6149239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0100" y="1304925"/>
            <a:ext cx="342900" cy="3429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379be17a5640d5">
            <a:extLst>
              <a:ext uri="{96DAC541-7B7A-43D3-8B79-37D633B846F1}">
                <asvg:svgBlip xmlns:asvg="http://schemas.microsoft.com/office/drawing/2016/SVG/main" r:embed="R19146b2aad894029"/>
              </a:ext>
            </a:extLst>
          </a:blip>
          <a:srcRect xmlns:a="http://schemas.openxmlformats.org/drawingml/2006/main" l="-6852" t="-4510" r="-6852" b="-45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63760" y="1385570"/>
            <a:ext cx="194945" cy="176530"/>
          </a:xfrm>
          <a:prstGeom xmlns:a="http://schemas.openxmlformats.org/drawingml/2006/main" prst="rect">
            <a:avLst/>
          </a:prstGeom>
        </p:spPr>
      </p:pic>
      <p:sp>
        <p:nvSpPr>
          <p:cNvPr id="48" name="任意多边形 47">
            <a:extLst xmlns:a="http://schemas.openxmlformats.org/drawingml/2006/main">
              <a:ext uri="{FF2B5EF4-FFF2-40B4-BE49-F238E27FC236}">
                <a16:creationId xmlns:a16="http://schemas.microsoft.com/office/drawing/2014/main" id="{4F7E8A27-92B0-4DF3-BBBA-88CF3667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4350" y="1724025"/>
            <a:ext cx="9144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A9E15CD7-E852-4124-9CA6-A8588F90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776" y="1800225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最受关注</a:t>
            </a:r>
          </a:p>
        </p:txBody>
      </p:sp>
      <p:sp>
        <p:nvSpPr>
          <p:cNvPr id="50" name="任意多边形 49">
            <a:extLst xmlns:a="http://schemas.openxmlformats.org/drawingml/2006/main">
              <a:ext uri="{FF2B5EF4-FFF2-40B4-BE49-F238E27FC236}">
                <a16:creationId xmlns:a16="http://schemas.microsoft.com/office/drawing/2014/main" id="{5781F099-8B4F-4EB9-9372-44641561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2352675"/>
            <a:ext cx="3117850" cy="18859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5E9062AD-5D46-4D0D-95C8-D1D9D91F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2466975"/>
            <a:ext cx="28892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财富传承效率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300216D9-5E1B-418B-A433-095FDD6D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2778919"/>
            <a:ext cx="2889275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通过税务优化与法律架构设计，最大化家族财富代际传承效率，降低资产损耗。</a:t>
            </a: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CAE45412-2DA9-4FFD-A9CB-139DEE85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3707606"/>
            <a:ext cx="152400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最大化</a:t>
            </a:r>
          </a:p>
        </p:txBody>
      </p:sp>
      <p:sp>
        <p:nvSpPr>
          <p:cNvPr id="54" name="文本框 53">
            <a:extLst xmlns:a="http://schemas.openxmlformats.org/drawingml/2006/main">
              <a:ext uri="{FF2B5EF4-FFF2-40B4-BE49-F238E27FC236}">
                <a16:creationId xmlns:a16="http://schemas.microsoft.com/office/drawing/2014/main" id="{8F7C5D72-2B90-4F1D-A42F-09C15484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076" y="3902869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传承效率</a:t>
            </a:r>
          </a:p>
        </p:txBody>
      </p:sp>
      <p:sp>
        <p:nvSpPr>
          <p:cNvPr id="55" name="任意多边形 54">
            <a:extLst xmlns:a="http://schemas.openxmlformats.org/drawingml/2006/main">
              <a:ext uri="{FF2B5EF4-FFF2-40B4-BE49-F238E27FC236}">
                <a16:creationId xmlns:a16="http://schemas.microsoft.com/office/drawing/2014/main" id="{B27196E0-B5C0-4A2E-9E8F-119C7DBC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4391025"/>
            <a:ext cx="3117850" cy="18859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文本框 55">
            <a:extLst xmlns:a="http://schemas.openxmlformats.org/drawingml/2006/main">
              <a:ext uri="{FF2B5EF4-FFF2-40B4-BE49-F238E27FC236}">
                <a16:creationId xmlns:a16="http://schemas.microsoft.com/office/drawing/2014/main" id="{E8F6B33E-1223-4CFD-928D-CBCBF3D8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4505325"/>
            <a:ext cx="28892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风险保障等级</a:t>
            </a:r>
          </a:p>
        </p:txBody>
      </p:sp>
      <p:sp>
        <p:nvSpPr>
          <p:cNvPr id="57" name="文本框 56">
            <a:extLst xmlns:a="http://schemas.openxmlformats.org/drawingml/2006/main">
              <a:ext uri="{FF2B5EF4-FFF2-40B4-BE49-F238E27FC236}">
                <a16:creationId xmlns:a16="http://schemas.microsoft.com/office/drawing/2014/main" id="{924F0F4F-F933-47D2-BE24-5B68E20D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4817269"/>
            <a:ext cx="2889275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多重法律保障机制叠加，为家族核心资产提供全周期、全方位的安全防护体系。</a:t>
            </a:r>
          </a:p>
        </p:txBody>
      </p:sp>
      <p:sp>
        <p:nvSpPr>
          <p:cNvPr id="58" name="文本框 57">
            <a:extLst xmlns:a="http://schemas.openxmlformats.org/drawingml/2006/main">
              <a:ext uri="{FF2B5EF4-FFF2-40B4-BE49-F238E27FC236}">
                <a16:creationId xmlns:a16="http://schemas.microsoft.com/office/drawing/2014/main" id="{4A310A7D-0835-4B20-B42C-854D4598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5745956"/>
            <a:ext cx="152400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全周期</a:t>
            </a:r>
          </a:p>
        </p:txBody>
      </p:sp>
      <p:sp>
        <p:nvSpPr>
          <p:cNvPr id="59" name="文本框 58">
            <a:extLst xmlns:a="http://schemas.openxmlformats.org/drawingml/2006/main">
              <a:ext uri="{FF2B5EF4-FFF2-40B4-BE49-F238E27FC236}">
                <a16:creationId xmlns:a16="http://schemas.microsoft.com/office/drawing/2014/main" id="{5B89EE76-4BA0-47DA-881D-E2DFEFF3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076" y="5941219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安全防护</a:t>
            </a:r>
          </a:p>
        </p:txBody>
      </p:sp>
    </p:spTree>
    <p:extLst>
      <p:ext uri="{BB962C8B-B14F-4D97-AF65-F5344CB8AC3E}">
        <p14:creationId xmlns:p14="http://schemas.microsoft.com/office/powerpoint/2010/main" val="113077292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863798C5-9BDA-4DBF-AB25-418B860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DB3C1128-17F1-4D9D-BBCD-89E90BCB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3DBF1807-4882-406B-831C-BC2D8421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现金价值增长曲线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89F8C7AD-7E23-4E28-83B8-8163730D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300" y="1331576"/>
            <a:ext cx="1980009" cy="8353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3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倍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B4C3D1A1-6A67-4217-BDF8-F4ED4166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909" y="167542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长期增值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28D9E099-C4CF-4FBC-8EE8-61EA00AC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685" y="2284730"/>
            <a:ext cx="139255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67014647-C73B-492F-80CE-2A491E3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217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10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02A54ABC-0D4E-41B5-93E4-3AF775C7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321" y="2361228"/>
            <a:ext cx="65015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85%+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EECB7176-4C8F-4F23-A329-78523B2F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740" y="2284730"/>
            <a:ext cx="134429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67639501-5516-40F3-A00D-F3FD576A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529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25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0477820D-137C-4929-9AA5-C1C186E4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6634" y="2361228"/>
            <a:ext cx="60186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0FB93910-AA1E-468F-983B-2F7F488C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535" y="2284730"/>
            <a:ext cx="141414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224310C-8D99-4183-97AE-2D3696E2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539" y="237551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长期持有</a:t>
            </a: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07D2635A-93C7-4E6B-890C-216E9B05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6316" y="2361228"/>
            <a:ext cx="55691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B9CAB03C-AE19-4738-AE7A-62F6376E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164840"/>
            <a:ext cx="5400675" cy="33070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39A369DE-8D91-4240-9FE1-0295AEE2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价值增长曲线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D3F3342A-EFE0-41D9-B20F-1EFE072C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4655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38E515AE-2C6A-46E8-8581-DBA67AD7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63295"/>
            <a:ext cx="3157538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积累期（第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1-10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D150550B-F444-49CE-B147-BDE6F1B4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5708"/>
            <a:ext cx="33289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稳步积累，第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10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年末达已交保费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85%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以上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893A5434-CA24-43A6-8B54-30818447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6824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56DCB462-2DD6-4906-8250-CCF4F93A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85274"/>
            <a:ext cx="2530373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增长期（第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11-25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637A50F5-2661-4C7E-8FB3-19E29228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37687"/>
            <a:ext cx="2701833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复利效应显著，第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25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7A8EC2C1-7D1F-41C0-B4D2-7E28CD9F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9056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5EA39FE8-93C3-4B00-B9C3-08DE8E86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7253"/>
            <a:ext cx="250738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传承期（第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26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年及以后）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BD7D95E1-793F-45EF-8A62-3EBB56BE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59666"/>
            <a:ext cx="26788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持续稳健增长，长期可达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倍以上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F990EAA4-0E19-4DE6-AE2C-57F369C8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3164840"/>
            <a:ext cx="5400675" cy="20307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92AABFF3-7B2B-487E-AB82-E9CFE662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核心优势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37750423-B0E8-4FE3-9B67-B5532DCA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4558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4F1A072A-E4F6-4175-8EF5-E050882E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976983"/>
            <a:ext cx="3048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时间复利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的力量让财富跨越式增长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83208B46-018E-422B-8A24-0BD4D0CB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61454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A8FC0548-47EB-4EA0-8837-F548FB81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45959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为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家族传承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奠定坚实物质基础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16A35B16-E63F-4B83-9B58-B104BD7C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5395595"/>
            <a:ext cx="5400675" cy="10763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C9B019A9-C6BC-4B97-B0E4-50B1D63B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459" y="5576888"/>
            <a:ext cx="4839891" cy="7096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时间复利的力量让您的财富在稳健中实现跨越式增长，为家族传承奠定坚实的物质基础。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9646543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038A698A-84ED-4A44-A002-B5632AEC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50F95755-5D0C-441C-8B74-DD98D61A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2A99E1F0-B5D1-460A-815B-B29CD025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灵活提领路径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70AD685E-AA46-4141-992C-F601DBC4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" y="1111250"/>
            <a:ext cx="5868670" cy="16986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13087" cmpd="sng">
            <a:solidFill>
              <a:srgbClr val="D59134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BEAAE53C-5FA3-4CCC-8FBA-C71D09DB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294765"/>
            <a:ext cx="523240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D28641A0-FF74-4491-B170-D0253170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230" y="1320800"/>
            <a:ext cx="41846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方案一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937520B1-8270-4D2E-8D2C-26432E78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1294765"/>
            <a:ext cx="36639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476CD253-A5C8-4069-9364-D62992AF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505" y="1320800"/>
            <a:ext cx="31432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推荐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BE76A40F-4CDD-477A-B05D-AB96A12E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497330"/>
            <a:ext cx="5332095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定期定额提领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EA4377B-4C6E-41C8-97EB-30B52777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706880"/>
            <a:ext cx="5332095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适合有稳定现金流需求的家族，可按月、季度或年度提取固定金额，用于家族日常开支、教育支出等。提领不影响保单核心保障功能。</a:t>
            </a:r>
          </a:p>
        </p:txBody>
      </p:sp>
      <p:sp>
        <p:nvSpPr>
          <p:cNvPr id="14" name="任意多边形 13">
            <a:extLst xmlns:a="http://schemas.openxmlformats.org/drawingml/2006/main">
              <a:ext uri="{FF2B5EF4-FFF2-40B4-BE49-F238E27FC236}">
                <a16:creationId xmlns:a16="http://schemas.microsoft.com/office/drawing/2014/main" id="{81CD0515-D207-4857-AD67-730BDEFF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229235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36547B3D-DF47-4D73-946B-42135A3A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560" y="231838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日常开支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4BD135D2-8302-4DAB-936F-F1AA620F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" y="229235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4DBC5D8C-CD7A-45F8-99B2-DCA3AD8C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210" y="2318385"/>
            <a:ext cx="523240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教育支出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7226E037-13CC-45C3-AA22-5FB18ADF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75" y="2950845"/>
            <a:ext cx="5875020" cy="16929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6543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13F15EB6-3844-40E2-873E-CC429247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130550"/>
            <a:ext cx="52387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19C02FF4-13F2-4EA5-8647-01D8AA5B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45" y="3157220"/>
            <a:ext cx="419100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方案二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144243A6-6A54-481D-A264-8CEA6C2B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333750"/>
            <a:ext cx="5345430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阶段性大额提领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AC1529F5-E7A9-499A-84B6-CBFA6F2A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543300"/>
            <a:ext cx="5345430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针对家族重大事件（如子女婚嫁、创业支持、房产购置等），可申请大额提领，灵活应对家族重要节点的资金需求。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D33BAED5-D022-41BB-9CB2-6375E583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7CEFAF42-991A-4E73-9EE2-D80559B5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" y="4155440"/>
            <a:ext cx="52387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婚嫁支持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DEDD81DF-DEA7-4A8A-8BAF-799C22ED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0733A90B-4AC2-4DA1-9300-4218C52F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25" y="4155440"/>
            <a:ext cx="52387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创业资金</a:t>
            </a: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33AD9D57-9D87-4A43-A3B0-F5C24EC2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135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7326E720-58CC-4F6C-B32F-397C33E1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4875" y="4155440"/>
            <a:ext cx="5232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房产购置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A6E69AE0-03A8-4361-B997-0CE9B012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75" y="4780915"/>
            <a:ext cx="5875020" cy="16929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6543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任意多边形 29">
            <a:extLst xmlns:a="http://schemas.openxmlformats.org/drawingml/2006/main">
              <a:ext uri="{FF2B5EF4-FFF2-40B4-BE49-F238E27FC236}">
                <a16:creationId xmlns:a16="http://schemas.microsoft.com/office/drawing/2014/main" id="{8AD43951-FE2D-4871-A1FB-85A9380E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4960620"/>
            <a:ext cx="52387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C9F2AA0D-27DE-436A-87A2-78B05CA5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45" y="4987290"/>
            <a:ext cx="4191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方案三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1C5BA0CA-5FCE-4A8C-BBC6-80641D39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163820"/>
            <a:ext cx="5345430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应急资金调用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DA1E26A8-EFCB-45A5-8202-4DD12D38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373370"/>
            <a:ext cx="5345430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设立应急提领通道，在家族遭遇突发情况时，可快速调用部分现金价值，解决燃眉之急，体现家族办公室的人性化服务。</a:t>
            </a:r>
          </a:p>
        </p:txBody>
      </p:sp>
      <p:sp>
        <p:nvSpPr>
          <p:cNvPr id="34" name="任意多边形 33">
            <a:extLst xmlns:a="http://schemas.openxmlformats.org/drawingml/2006/main">
              <a:ext uri="{FF2B5EF4-FFF2-40B4-BE49-F238E27FC236}">
                <a16:creationId xmlns:a16="http://schemas.microsoft.com/office/drawing/2014/main" id="{5BB0CD84-98E8-4B7E-AC68-555E8BAA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95884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1C81F1A1-BB66-4CBC-BA78-0E9CE4DD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" y="598487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快速通道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77756F90-99AD-4E7C-899B-88927B6A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595884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94D48969-0148-49A2-8057-541F4699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25" y="598487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突发应对</a:t>
            </a: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5735DCD4-E3FE-4739-A35D-D0521DEF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015" y="1109345"/>
            <a:ext cx="4891405" cy="53632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8850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6F2CAC83-B1C3-4DAB-B2FC-D698A2AA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790" y="1397000"/>
            <a:ext cx="4174490" cy="3276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提领策略建议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0F8B2CE2-72D5-4E63-BEE9-8E733FFE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1741805"/>
            <a:ext cx="4175125" cy="11861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51B6634F-0E16-4F0C-AA6C-57854FBF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9955" y="1828165"/>
            <a:ext cx="3820795" cy="10090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"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保留不低于现金价值</a:t>
            </a:r>
            <a:r>
              <a:rPr sz="2225" b="1" spc="-22">
                <a:solidFill>
                  <a:srgbClr val="5A3E0F"/>
                </a:solidFill>
                <a:latin typeface="MiSans"/>
                <a:ea typeface="MiSans"/>
                <a:cs typeface="MiSans"/>
              </a:rPr>
              <a:t>60%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的余额，确保保单持续有效并享受长期增值收益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C17A05A5-5D35-4A5B-8E77-E46B4F32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29457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4" name="图片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b61c7111af4bcd">
            <a:extLst>
              <a:ext uri="{96DAC541-7B7A-43D3-8B79-37D633B846F1}">
                <asvg:svgBlip xmlns:asvg="http://schemas.microsoft.com/office/drawing/2016/SVG/main" r:embed="R471d342c303c413b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3016250"/>
            <a:ext cx="93345" cy="106680"/>
          </a:xfrm>
          <a:prstGeom xmlns:a="http://schemas.openxmlformats.org/drawingml/2006/main" prst="rect">
            <a:avLst/>
          </a:prstGeom>
        </p:spPr>
      </p:pic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3D1394CF-2F8C-4DEA-985E-B16A9D9F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2932430"/>
            <a:ext cx="3855720" cy="588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定期评估现金流需求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，根据家族实际支出情况调整提领频率与金额，避免过度提领影响保单价值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AF4203F0-901A-495C-9370-231E16C2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35299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b61c7111af4bcd">
            <a:extLst>
              <a:ext uri="{96DAC541-7B7A-43D3-8B79-37D633B846F1}">
                <asvg:svgBlip xmlns:asvg="http://schemas.microsoft.com/office/drawing/2016/SVG/main" r:embed="R471d342c303c413b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3600450"/>
            <a:ext cx="93345" cy="106680"/>
          </a:xfrm>
          <a:prstGeom xmlns:a="http://schemas.openxmlformats.org/drawingml/2006/main" prst="rect">
            <a:avLst/>
          </a:prstGeom>
        </p:spPr>
      </p:pic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8F32933B-91BA-4322-B035-5364FACE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3516630"/>
            <a:ext cx="3869690" cy="588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重大事件提前规划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，子女婚嫁、创业等大额支出应提前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6-12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个月与顾问沟通，制定最优提领方案</a:t>
            </a:r>
          </a:p>
        </p:txBody>
      </p:sp>
      <p:sp>
        <p:nvSpPr>
          <p:cNvPr id="49" name="任意多边形 48">
            <a:extLst xmlns:a="http://schemas.openxmlformats.org/drawingml/2006/main">
              <a:ext uri="{FF2B5EF4-FFF2-40B4-BE49-F238E27FC236}">
                <a16:creationId xmlns:a16="http://schemas.microsoft.com/office/drawing/2014/main" id="{6774E200-C2BA-4BA0-B1DF-065BAEAE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41141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图片 4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b61c7111af4bcd">
            <a:extLst>
              <a:ext uri="{96DAC541-7B7A-43D3-8B79-37D633B846F1}">
                <asvg:svgBlip xmlns:asvg="http://schemas.microsoft.com/office/drawing/2016/SVG/main" r:embed="R471d342c303c413b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4184650"/>
            <a:ext cx="93345" cy="106045"/>
          </a:xfrm>
          <a:prstGeom xmlns:a="http://schemas.openxmlformats.org/drawingml/2006/main" prst="rect">
            <a:avLst/>
          </a:prstGeom>
        </p:spPr>
      </p:pic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270D0FF7-F4FE-438D-86F8-9DF98F74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4098925"/>
            <a:ext cx="3855720" cy="604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应急通道常备不懈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，建议预留</a:t>
            </a:r>
            <a:r>
              <a:rPr sz="1465" b="1" spc="-13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10%-15%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现金价值作为应急储备，确保突发情况下快速响应</a:t>
            </a:r>
          </a:p>
        </p:txBody>
      </p:sp>
      <p:sp>
        <p:nvSpPr>
          <p:cNvPr id="52" name="任意多边形 51">
            <a:extLst xmlns:a="http://schemas.openxmlformats.org/drawingml/2006/main">
              <a:ext uri="{FF2B5EF4-FFF2-40B4-BE49-F238E27FC236}">
                <a16:creationId xmlns:a16="http://schemas.microsoft.com/office/drawing/2014/main" id="{481F8F98-10E4-46B9-8671-5E3AFD74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2155" y="5560060"/>
            <a:ext cx="4175125" cy="62420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任意多边形 52">
            <a:extLst xmlns:a="http://schemas.openxmlformats.org/drawingml/2006/main">
              <a:ext uri="{FF2B5EF4-FFF2-40B4-BE49-F238E27FC236}">
                <a16:creationId xmlns:a16="http://schemas.microsoft.com/office/drawing/2014/main" id="{1CCE49E5-CCEB-4A4F-9A49-CB103116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2155" y="5560060"/>
            <a:ext cx="4175125" cy="889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8DDD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文本框 54">
            <a:extLst xmlns:a="http://schemas.openxmlformats.org/drawingml/2006/main">
              <a:ext uri="{FF2B5EF4-FFF2-40B4-BE49-F238E27FC236}">
                <a16:creationId xmlns:a16="http://schemas.microsoft.com/office/drawing/2014/main" id="{820F8D61-7DF7-4676-B16D-47AE80EC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790" y="5661025"/>
            <a:ext cx="4174490" cy="530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250" i="1">
                <a:solidFill>
                  <a:srgbClr val="7A6A5A"/>
                </a:solidFill>
                <a:latin typeface="MiSans"/>
                <a:ea typeface="MiSans"/>
                <a:cs typeface="MiSans"/>
              </a:rPr>
              <a:t>专业顾问将根据家族实际情况，综合考虑现金流需求、税务优化与长期增值目标，为您制定最优提领策略</a:t>
            </a:r>
          </a:p>
        </p:txBody>
      </p:sp>
    </p:spTree>
    <p:extLst>
      <p:ext uri="{BB962C8B-B14F-4D97-AF65-F5344CB8AC3E}">
        <p14:creationId xmlns:p14="http://schemas.microsoft.com/office/powerpoint/2010/main" val="155737502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35636097-5561-4A92-91AB-29015904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2733A97E-13EF-4759-8B8D-9B732C42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9A83D670-137E-44F7-8097-481C590B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方案对比分析（一）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CA41B877-7B95-4E15-8884-B963CF7D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11039475" cy="426847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525" cmpd="sng">
            <a:solidFill>
              <a:srgbClr val="E2D4C4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E04768C6-1269-4121-9F9B-5FC5EC6A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114425"/>
            <a:ext cx="11029950" cy="537845"/>
          </a:xfrm>
          <a:custGeom xmlns:a="http://schemas.openxmlformats.org/drawingml/2006/main">
            <a:pathLst>
              <a:path w="17370" h="847">
                <a:moveTo>
                  <a:pt x="240" y="0"/>
                </a:moveTo>
                <a:lnTo>
                  <a:pt x="17130" y="0"/>
                </a:lnTo>
                <a:cubicBezTo>
                  <a:pt x="17263" y="0"/>
                  <a:pt x="17370" y="107"/>
                  <a:pt x="17370" y="240"/>
                </a:cubicBezTo>
                <a:lnTo>
                  <a:pt x="17370" y="847"/>
                </a:lnTo>
                <a:lnTo>
                  <a:pt x="0" y="847"/>
                </a:lnTo>
                <a:lnTo>
                  <a:pt x="0" y="240"/>
                </a:lnTo>
                <a:cubicBezTo>
                  <a:pt x="0" y="107"/>
                  <a:pt x="107" y="0"/>
                  <a:pt x="24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276A8C33-0858-40D7-8F2D-DE91BFDA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642745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5A3E0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7FB38DA4-A762-46E3-B550-82EE2527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228725"/>
            <a:ext cx="1829991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传承工具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A72BB2CF-FFC9-4CF8-B3A3-B1836262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3789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资产隔离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34628A9-7A24-46D6-BEF9-E77F3A7C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802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税务优化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290912B9-4273-4281-9837-F0939977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124" y="1228725"/>
            <a:ext cx="9144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流动性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E19B831D-777C-4F2C-9F1A-8EA2A97C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536" y="1228725"/>
            <a:ext cx="13716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传承确定性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CABFB363-BB37-4B9F-87EE-38EBF3B7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59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成本控制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0F579109-AF32-4D9F-A34C-63EFC751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37" y="1652270"/>
            <a:ext cx="11029926" cy="3720465"/>
          </a:xfrm>
          <a:custGeom xmlns:a="http://schemas.openxmlformats.org/drawingml/2006/main">
            <a:rect l="l" t="t" r="r" b="b"/>
            <a:pathLst>
              <a:path w="17370" h="5859">
                <a:moveTo>
                  <a:pt x="17370" y="0"/>
                </a:moveTo>
                <a:lnTo>
                  <a:pt x="17370" y="5619"/>
                </a:lnTo>
                <a:cubicBezTo>
                  <a:pt x="17370" y="5752"/>
                  <a:pt x="17263" y="5859"/>
                  <a:pt x="17130" y="5859"/>
                </a:cubicBezTo>
                <a:lnTo>
                  <a:pt x="240" y="5859"/>
                </a:lnTo>
                <a:cubicBezTo>
                  <a:pt x="107" y="5859"/>
                  <a:pt x="0" y="5752"/>
                  <a:pt x="0" y="5619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5D25EF6E-19CF-4509-8816-A9151B54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652270"/>
            <a:ext cx="11029950" cy="930275"/>
          </a:xfrm>
          <a:custGeom xmlns:a="http://schemas.openxmlformats.org/drawingml/2006/main">
            <a:pathLst>
              <a:path w="17370" h="1465">
                <a:moveTo>
                  <a:pt x="17370" y="0"/>
                </a:moveTo>
                <a:lnTo>
                  <a:pt x="17370" y="1465"/>
                </a:lnTo>
                <a:lnTo>
                  <a:pt x="0" y="146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0D854800-0527-47EA-A39C-AC7D3E0B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2573020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548CA2A9-CEE4-4EB8-8B70-B7BD1747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86629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家族信托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60FCF271-B0CE-4961-99DE-430AFE8B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8EAB0043-7F15-4FDD-BCF5-598210CC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00B8AC4E-63FD-43FA-AFD4-20913FEA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574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较低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A46410EE-9418-4952-BC65-DD490DD8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836" y="1986629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B6B7FEB8-7DA9-44D6-A91C-579031B2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1974215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FD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6B62D065-9889-47C7-B2D0-63EE850F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2012823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D3A06"/>
                </a:solidFill>
                <a:latin typeface="MiSans"/>
                <a:ea typeface="MiSans"/>
                <a:cs typeface="MiSans"/>
              </a:rPr>
              <a:t>较高</a:t>
            </a:r>
          </a:p>
        </p:txBody>
      </p:sp>
      <p:sp>
        <p:nvSpPr>
          <p:cNvPr id="28" name="任意多边形 27">
            <a:extLst xmlns:a="http://schemas.openxmlformats.org/drawingml/2006/main">
              <a:ext uri="{FF2B5EF4-FFF2-40B4-BE49-F238E27FC236}">
                <a16:creationId xmlns:a16="http://schemas.microsoft.com/office/drawing/2014/main" id="{AC920B22-D289-49CB-B409-222A4459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2582545"/>
            <a:ext cx="11029950" cy="929640"/>
          </a:xfrm>
          <a:custGeom xmlns:a="http://schemas.openxmlformats.org/drawingml/2006/main">
            <a:pathLst>
              <a:path w="17370" h="1464">
                <a:moveTo>
                  <a:pt x="17370" y="0"/>
                </a:moveTo>
                <a:lnTo>
                  <a:pt x="17370" y="1464"/>
                </a:lnTo>
                <a:lnTo>
                  <a:pt x="0" y="1464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95EDF574-D245-4FF2-A20D-54A04B3B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3502660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A04FFE89-4CD4-4819-A2C7-96D67CE8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16726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人寿保险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756A74B9-6052-4806-B0EB-FDE12CC9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D38C78B8-C302-4200-AEE2-23C9B04C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5D7AA143-9386-4FBB-9877-48BFE351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574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较高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CCDE2671-6329-4416-B655-A697E22A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836" y="2916726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A5635CBB-C9A3-4EAB-B2B6-53616CE5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2904490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0BE22C32-915B-4F36-BE1A-7C1DF2D4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2942920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适中</a:t>
            </a:r>
          </a:p>
        </p:txBody>
      </p:sp>
      <p:sp>
        <p:nvSpPr>
          <p:cNvPr id="38" name="任意多边形 37">
            <a:extLst xmlns:a="http://schemas.openxmlformats.org/drawingml/2006/main">
              <a:ext uri="{FF2B5EF4-FFF2-40B4-BE49-F238E27FC236}">
                <a16:creationId xmlns:a16="http://schemas.microsoft.com/office/drawing/2014/main" id="{AC6355DA-6CC8-4C40-9C0D-EAD9A543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3512185"/>
            <a:ext cx="11029950" cy="930275"/>
          </a:xfrm>
          <a:custGeom xmlns:a="http://schemas.openxmlformats.org/drawingml/2006/main">
            <a:pathLst>
              <a:path w="17370" h="1465">
                <a:moveTo>
                  <a:pt x="17370" y="0"/>
                </a:moveTo>
                <a:lnTo>
                  <a:pt x="17370" y="1465"/>
                </a:lnTo>
                <a:lnTo>
                  <a:pt x="0" y="146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8786649E-F202-458A-BAAA-3CF4134F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4432935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C5B6FCE9-2F48-4A5F-B4E8-EC440535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846833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遗嘱继承</a:t>
            </a: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32287C2E-17DA-4DB4-A33E-FB84709A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19EF7A1F-99B0-4D95-925F-AFAA1DBD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BDF99B0B-3F6E-4985-AF09-4F92AF62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824" y="3846833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9A952CE5-155B-454D-89DF-19108C5E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6586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较低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17B5AE96-546E-478D-A93D-29105E3B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840" y="3834765"/>
            <a:ext cx="3810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文本框 46">
            <a:extLst xmlns:a="http://schemas.openxmlformats.org/drawingml/2006/main">
              <a:ext uri="{FF2B5EF4-FFF2-40B4-BE49-F238E27FC236}">
                <a16:creationId xmlns:a16="http://schemas.microsoft.com/office/drawing/2014/main" id="{D4D361BB-4AC7-4C44-85E5-73FC11F7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5159" y="3873027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低</a:t>
            </a:r>
          </a:p>
        </p:txBody>
      </p:sp>
      <p:sp>
        <p:nvSpPr>
          <p:cNvPr id="48" name="任意多边形 47">
            <a:extLst xmlns:a="http://schemas.openxmlformats.org/drawingml/2006/main">
              <a:ext uri="{FF2B5EF4-FFF2-40B4-BE49-F238E27FC236}">
                <a16:creationId xmlns:a16="http://schemas.microsoft.com/office/drawing/2014/main" id="{DD66ECED-BE47-44BE-822C-923FD89A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37" y="4442460"/>
            <a:ext cx="11029926" cy="930275"/>
          </a:xfrm>
          <a:custGeom xmlns:a="http://schemas.openxmlformats.org/drawingml/2006/main">
            <a:rect l="l" t="t" r="r" b="b"/>
            <a:pathLst>
              <a:path w="17370" h="1465">
                <a:moveTo>
                  <a:pt x="17370" y="0"/>
                </a:moveTo>
                <a:lnTo>
                  <a:pt x="17370" y="1225"/>
                </a:lnTo>
                <a:cubicBezTo>
                  <a:pt x="17370" y="1358"/>
                  <a:pt x="17263" y="1465"/>
                  <a:pt x="17130" y="1465"/>
                </a:cubicBezTo>
                <a:lnTo>
                  <a:pt x="240" y="1465"/>
                </a:lnTo>
                <a:cubicBezTo>
                  <a:pt x="107" y="1465"/>
                  <a:pt x="0" y="1358"/>
                  <a:pt x="0" y="1225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8752D605-C72F-4309-BDC7-16D190DD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81769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赠与传承</a:t>
            </a: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5C69FE94-6592-40C5-8C0D-95127C79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319B6E89-131B-4385-9DB0-6F467D37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4FE27504-08F1-4324-85B4-551ACAE6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824" y="4781769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DC7E563D-8588-4C85-841D-8F7B5C2D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6586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较低</a:t>
            </a:r>
          </a:p>
        </p:txBody>
      </p:sp>
      <p:sp>
        <p:nvSpPr>
          <p:cNvPr id="54" name="任意多边形 53">
            <a:extLst xmlns:a="http://schemas.openxmlformats.org/drawingml/2006/main">
              <a:ext uri="{FF2B5EF4-FFF2-40B4-BE49-F238E27FC236}">
                <a16:creationId xmlns:a16="http://schemas.microsoft.com/office/drawing/2014/main" id="{10E85025-AD28-45E2-941C-A3B21328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4769485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文本框 54">
            <a:extLst xmlns:a="http://schemas.openxmlformats.org/drawingml/2006/main">
              <a:ext uri="{FF2B5EF4-FFF2-40B4-BE49-F238E27FC236}">
                <a16:creationId xmlns:a16="http://schemas.microsoft.com/office/drawing/2014/main" id="{C14199DB-BF62-4341-8652-28FAB44D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4807963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适中</a:t>
            </a:r>
          </a:p>
        </p:txBody>
      </p:sp>
      <p:sp>
        <p:nvSpPr>
          <p:cNvPr id="57" name="任意多边形 56">
            <a:extLst xmlns:a="http://schemas.openxmlformats.org/drawingml/2006/main">
              <a:ext uri="{FF2B5EF4-FFF2-40B4-BE49-F238E27FC236}">
                <a16:creationId xmlns:a16="http://schemas.microsoft.com/office/drawing/2014/main" id="{67EE4EB8-EA59-4E93-827D-142AE262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96560"/>
            <a:ext cx="11049000" cy="98044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8" name="任意多边形 57">
            <a:extLst xmlns:a="http://schemas.openxmlformats.org/drawingml/2006/main">
              <a:ext uri="{FF2B5EF4-FFF2-40B4-BE49-F238E27FC236}">
                <a16:creationId xmlns:a16="http://schemas.microsoft.com/office/drawing/2014/main" id="{630C560C-DFE4-4B37-A04A-278165FA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72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5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19bb86c11b4f14">
            <a:extLst>
              <a:ext uri="{96DAC541-7B7A-43D3-8B79-37D633B846F1}">
                <asvg:svgBlip xmlns:asvg="http://schemas.microsoft.com/office/drawing/2016/SVG/main" r:embed="R07fff080066d4e39"/>
              </a:ext>
            </a:extLst>
          </a:blip>
          <a:srcRect xmlns:a="http://schemas.openxmlformats.org/drawingml/2006/main" l="-4314" t="-37500" r="-4314" b="-37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285" y="588645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60" name="文本框 59">
            <a:extLst xmlns:a="http://schemas.openxmlformats.org/drawingml/2006/main">
              <a:ext uri="{FF2B5EF4-FFF2-40B4-BE49-F238E27FC236}">
                <a16:creationId xmlns:a16="http://schemas.microsoft.com/office/drawing/2014/main" id="{84966EC1-8347-4A85-9448-49CF09BE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524" y="5667823"/>
            <a:ext cx="8953500" cy="633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5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人寿保险在资产隔离、税务优化、流动性和传承确定性方面表现均衡，是家族财富传承的理想工具之一。结合家族信托使用，可构建更完善的传承架构。</a:t>
            </a:r>
          </a:p>
        </p:txBody>
      </p:sp>
      <p:sp>
        <p:nvSpPr>
          <p:cNvPr id="61" name="任意多边形 60">
            <a:extLst xmlns:a="http://schemas.openxmlformats.org/drawingml/2006/main">
              <a:ext uri="{FF2B5EF4-FFF2-40B4-BE49-F238E27FC236}">
                <a16:creationId xmlns:a16="http://schemas.microsoft.com/office/drawing/2014/main" id="{580A6BF2-A0C3-450F-8173-0A8640E6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4965" y="5810250"/>
            <a:ext cx="9144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14118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文本框 61">
            <a:extLst xmlns:a="http://schemas.openxmlformats.org/drawingml/2006/main">
              <a:ext uri="{FF2B5EF4-FFF2-40B4-BE49-F238E27FC236}">
                <a16:creationId xmlns:a16="http://schemas.microsoft.com/office/drawing/2014/main" id="{7E6EBE6B-689E-4304-9F46-EFC0C31E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7924" y="588689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理想工具</a:t>
            </a:r>
          </a:p>
        </p:txBody>
      </p:sp>
    </p:spTree>
    <p:extLst>
      <p:ext uri="{BB962C8B-B14F-4D97-AF65-F5344CB8AC3E}">
        <p14:creationId xmlns:p14="http://schemas.microsoft.com/office/powerpoint/2010/main" val="80381540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863798C5-9BDA-4DBF-AB25-418B860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DB3C1128-17F1-4D9D-BBCD-89E90BCB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3DBF1807-4882-406B-831C-BC2D8421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现金价值增长曲线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89F8C7AD-7E23-4E28-83B8-8163730D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300" y="1331576"/>
            <a:ext cx="1980009" cy="8353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3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倍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B4C3D1A1-6A67-4217-BDF8-F4ED4166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909" y="167542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长期增值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28D9E099-C4CF-4FBC-8EE8-61EA00AC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685" y="2284730"/>
            <a:ext cx="139255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67014647-C73B-492F-80CE-2A491E3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217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10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02A54ABC-0D4E-41B5-93E4-3AF775C7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321" y="2361228"/>
            <a:ext cx="65015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85%+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EECB7176-4C8F-4F23-A329-78523B2F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740" y="2284730"/>
            <a:ext cx="134429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67639501-5516-40F3-A00D-F3FD576A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529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25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0477820D-137C-4929-9AA5-C1C186E4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6634" y="2361228"/>
            <a:ext cx="60186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0FB93910-AA1E-468F-983B-2F7F488C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535" y="2284730"/>
            <a:ext cx="141414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224310C-8D99-4183-97AE-2D3696E2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539" y="237551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长期持有</a:t>
            </a: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07D2635A-93C7-4E6B-890C-216E9B05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6316" y="2361228"/>
            <a:ext cx="55691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B9CAB03C-AE19-4738-AE7A-62F6376E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164840"/>
            <a:ext cx="5400675" cy="33070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39A369DE-8D91-4240-9FE1-0295AEE2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价值增长曲线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D3F3342A-EFE0-41D9-B20F-1EFE072C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4655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38E515AE-2C6A-46E8-8581-DBA67AD7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63295"/>
            <a:ext cx="3157538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积累期（第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1-10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D150550B-F444-49CE-B147-BDE6F1B4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5708"/>
            <a:ext cx="33289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稳步积累，第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10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年末达已交保费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85%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以上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893A5434-CA24-43A6-8B54-30818447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6824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56DCB462-2DD6-4906-8250-CCF4F93A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85274"/>
            <a:ext cx="2530373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增长期（第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11-25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637A50F5-2661-4C7E-8FB3-19E29228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37687"/>
            <a:ext cx="2701833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复利效应显著，第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25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7A8EC2C1-7D1F-41C0-B4D2-7E28CD9F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9056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5EA39FE8-93C3-4B00-B9C3-08DE8E86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7253"/>
            <a:ext cx="250738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传承期（第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26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年及以后）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BD7D95E1-793F-45EF-8A62-3EBB56BE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59666"/>
            <a:ext cx="26788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持续稳健增长，长期可达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倍以上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F990EAA4-0E19-4DE6-AE2C-57F369C8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3164840"/>
            <a:ext cx="5400675" cy="20307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92AABFF3-7B2B-487E-AB82-E9CFE662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核心优势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37750423-B0E8-4FE3-9B67-B5532DCA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4558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4F1A072A-E4F6-4175-8EF5-E050882E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976983"/>
            <a:ext cx="3048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时间复利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的力量让财富跨越式增长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83208B46-018E-422B-8A24-0BD4D0CB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61454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A8FC0548-47EB-4EA0-8837-F548FB81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45959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为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家族传承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奠定坚实物质基础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16A35B16-E63F-4B83-9B58-B104BD7C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5395595"/>
            <a:ext cx="5400675" cy="10763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C9B019A9-C6BC-4B97-B0E4-50B1D63B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459" y="5576888"/>
            <a:ext cx="4839891" cy="7096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时间复利的力量让您的财富在稳健中实现跨越式增长，为家族传承奠定坚实的物质基础。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96465438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2026-06-03T02:30:48.8240000Z</dcterms:created>
  <dcterms:modified xsi:type="dcterms:W3CDTF">2026-06-03T02:30:48.8240000Z</dcterms:modified>
</coreProperties>
</file>