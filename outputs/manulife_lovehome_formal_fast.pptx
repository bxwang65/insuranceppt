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VIP . 专属方案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000" b="0">
                <a:solidFill>
                  <a:srgbClr val="C8963E"/>
                </a:solidFill>
              </a:rPr>
              <a:t>「宏家傳承保險計劃」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USD 400,000 × 5年 = 总保费 2,000,000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0">
                <a:solidFill>
                  <a:srgbClr val="C8963E"/>
                </a:solidFill>
              </a:rPr>
              <a:t>保障年期: 终身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FBF9F6"/>
                </a:solidFill>
              </a:rPr>
              <a:t>宏利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公司介绍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800" b="1">
                <a:solidFill>
                  <a:srgbClr val="8D624F"/>
                </a:solidFill>
              </a:rPr>
              <a:t>宏利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C3F32"/>
                </a:solidFill>
              </a:rPr>
              <a:t>• 宏利香港为宏利金融有限公司全资附属机构，业务覆盖香港、澳门，业务规模位居香港寿险市场前列。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5C3F32"/>
                </a:solidFill>
              </a:rPr>
              <a:t>• 宏利提供分红保单产品线，公开资料含分红实现率披露。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价值增长曲线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100" b="0">
                <a:solidFill>
                  <a:srgbClr val="8D624F"/>
                </a:solidFill>
              </a:rPr>
              <a:t>退保总值（保证+非保证）/ 总保费 2,000,000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58059"/>
            <a:ext cx="1463040" cy="311221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992299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996,353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0.50x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4839214"/>
            <a:ext cx="1463040" cy="830066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51760" y="4473454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2,657,398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1.33x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4411890"/>
            <a:ext cx="1463040" cy="125739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404613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4,025,446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2.01x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937215"/>
            <a:ext cx="1463040" cy="1732065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571455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5,545,082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2.77x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0" y="3104715"/>
            <a:ext cx="1463040" cy="2564565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2738955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8,210,269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4.11x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20" y="2011680"/>
            <a:ext cx="1463040" cy="3657600"/>
          </a:xfrm>
          <a:prstGeom prst="rect">
            <a:avLst/>
          </a:prstGeom>
          <a:solidFill>
            <a:srgbClr val="8D624F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32720" y="16459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1">
                <a:solidFill>
                  <a:srgbClr val="5C3F32"/>
                </a:solidFill>
              </a:rPr>
              <a:t>11,709,541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571500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5989320"/>
            <a:ext cx="146304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C8963E"/>
                </a:solidFill>
              </a:rPr>
              <a:t>5.85x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提领方案数据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12471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3716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8288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年提取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累计提取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剩余价值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28800"/>
            <a:ext cx="21945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总收益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18288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200" b="1">
                <a:solidFill>
                  <a:srgbClr val="FBF9F6"/>
                </a:solidFill>
              </a:rPr>
              <a:t>倍数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2860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22860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996,353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2860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996,353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2860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0.50x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78892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78892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278892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2,657,398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78892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2,657,398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278892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1.33x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29184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29184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29184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92,082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468,677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504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2,836,573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329184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3,305,250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29184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1.65x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379476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379476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379476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77,929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893,336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504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2,777,507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79476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3,670,843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379476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1.84x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297680"/>
            <a:ext cx="11247120" cy="50292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429768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Y25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429768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54,452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84048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1,210,520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2,930,266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29768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4,140,786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429768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2.07x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4800600"/>
            <a:ext cx="11247120" cy="50292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800600"/>
            <a:ext cx="137160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Y30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800600"/>
            <a:ext cx="201168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39,498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1,433,518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3504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3,033,747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4800600"/>
            <a:ext cx="21945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0">
                <a:solidFill>
                  <a:srgbClr val="5C3F32"/>
                </a:solidFill>
              </a:rPr>
              <a:t>4,467,265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60" y="4800600"/>
            <a:ext cx="1280160" cy="5029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100" b="1">
                <a:solidFill>
                  <a:srgbClr val="5C3F32"/>
                </a:solidFill>
              </a:rPr>
              <a:t>2.23x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2400" b="1">
                <a:solidFill>
                  <a:srgbClr val="5C3F32"/>
                </a:solidFill>
              </a:rPr>
              <a:t>关键数字速览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4864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回本年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6 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本息首次超过总保费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2 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15 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本金翻倍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3 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22 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本金三倍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2011680"/>
            <a:ext cx="2560320" cy="2011680"/>
          </a:xfrm>
          <a:prstGeom prst="rect">
            <a:avLst/>
          </a:prstGeom>
          <a:solidFill>
            <a:srgbClr val="FEFCF7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0" y="201168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1">
                <a:solidFill>
                  <a:srgbClr val="FBF9F6"/>
                </a:solidFill>
              </a:rPr>
              <a:t>5 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2651760"/>
            <a:ext cx="2560320" cy="82296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2800" b="1">
                <a:solidFill>
                  <a:srgbClr val="C8963E"/>
                </a:solidFill>
              </a:rPr>
              <a:t>28 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474720"/>
            <a:ext cx="256032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000" b="0">
                <a:solidFill>
                  <a:srgbClr val="8D624F"/>
                </a:solidFill>
              </a:rPr>
              <a:t>本金五倍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200" b="1">
                <a:solidFill>
                  <a:srgbClr val="5C3F32"/>
                </a:solidFill>
              </a:rPr>
              <a:t>提领方案: Y11 起每年提取 95,575，至 Y62 累计 1,995,015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C3F32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"/>
            <a:ext cx="12191695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FBF9F6"/>
                </a:solidFill>
              </a:rPr>
              <a:t>愿这份规划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0972800" cy="7315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3600" b="1">
                <a:solidFill>
                  <a:srgbClr val="C8963E"/>
                </a:solidFill>
              </a:rPr>
              <a:t>陪伴您的家庭稳健成长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1400" b="0">
                <a:solidFill>
                  <a:srgbClr val="FBF9F6"/>
                </a:solidFill>
              </a:rPr>
              <a:t>—— 致 VIP . 与家人  ——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ctr"/>
            <a:r>
              <a:rPr sz="900" b="0">
                <a:solidFill>
                  <a:srgbClr val="C8963E"/>
                </a:solidFill>
              </a:rPr>
              <a:t>本演示基于宏利官方计划书数据生成 · 实际保单条款以保单文件为准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