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总退保价值</c:v>
                </c:pt>
              </c:strCache>
            </c:strRef>
          </c:tx>
          <c:spPr>
            <a:ln w="27940">
              <a:solidFill>
                <a:srgbClr val="D1972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103.0</c:v>
                </c:pt>
                <c:pt idx="1">
                  <c:v>235632.0</c:v>
                </c:pt>
                <c:pt idx="2">
                  <c:v>659765.0</c:v>
                </c:pt>
                <c:pt idx="3">
                  <c:v>1357738.0</c:v>
                </c:pt>
                <c:pt idx="4">
                  <c:v>2927387.0</c:v>
                </c:pt>
                <c:pt idx="5">
                  <c:v>5495108.0</c:v>
                </c:pt>
                <c:pt idx="6">
                  <c:v>10315074.0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保证现金价值</c:v>
                </c:pt>
              </c:strCache>
            </c:strRef>
          </c:tx>
          <c:spPr>
            <a:ln w="27940">
              <a:solidFill>
                <a:srgbClr val="246F5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103.0</c:v>
                </c:pt>
                <c:pt idx="1">
                  <c:v>141830.0</c:v>
                </c:pt>
                <c:pt idx="2">
                  <c:v>315519.0</c:v>
                </c:pt>
                <c:pt idx="3">
                  <c:v>507709.0</c:v>
                </c:pt>
                <c:pt idx="4">
                  <c:v>517986.0</c:v>
                </c:pt>
                <c:pt idx="5">
                  <c:v>546557.0</c:v>
                </c:pt>
                <c:pt idx="6">
                  <c:v>561152.0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27940">
              <a:solidFill>
                <a:srgbClr val="3D5F9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100000.08</c:v>
                </c:pt>
                <c:pt idx="1">
                  <c:v>500000.4</c:v>
                </c:pt>
                <c:pt idx="2">
                  <c:v>500000.4</c:v>
                </c:pt>
                <c:pt idx="3">
                  <c:v>500000.4</c:v>
                </c:pt>
                <c:pt idx="4">
                  <c:v>500000.4</c:v>
                </c:pt>
                <c:pt idx="5">
                  <c:v>500000.4</c:v>
                </c:pt>
                <c:pt idx="6">
                  <c:v>500000.4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累计领取金额</c:v>
                </c:pt>
              </c:strCache>
            </c:strRef>
          </c:tx>
          <c:spPr>
            <a:ln w="27940">
              <a:solidFill>
                <a:srgbClr val="D1972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18</c:v>
                </c:pt>
                <c:pt idx="4">
                  <c:v>21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35000.0</c:v>
                </c:pt>
                <c:pt idx="2">
                  <c:v>175000.0</c:v>
                </c:pt>
                <c:pt idx="3">
                  <c:v>455000.0</c:v>
                </c:pt>
                <c:pt idx="4">
                  <c:v>560000.0</c:v>
                </c:pt>
                <c:pt idx="5">
                  <c:v>700000.0</c:v>
                </c:pt>
                <c:pt idx="6">
                  <c:v>875000.0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提后现价</c:v>
                </c:pt>
              </c:strCache>
            </c:strRef>
          </c:tx>
          <c:spPr>
            <a:ln w="27940">
              <a:solidFill>
                <a:srgbClr val="246F5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18</c:v>
                </c:pt>
                <c:pt idx="4">
                  <c:v>21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103.0</c:v>
                </c:pt>
                <c:pt idx="1">
                  <c:v>405900.0</c:v>
                </c:pt>
                <c:pt idx="2">
                  <c:v>467019.0</c:v>
                </c:pt>
                <c:pt idx="3">
                  <c:v>476560.0</c:v>
                </c:pt>
                <c:pt idx="4">
                  <c:v>489688.0</c:v>
                </c:pt>
                <c:pt idx="5">
                  <c:v>521382.0</c:v>
                </c:pt>
                <c:pt idx="6">
                  <c:v>544522.0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累计经济总值</c:v>
                </c:pt>
              </c:strCache>
            </c:strRef>
          </c:tx>
          <c:spPr>
            <a:ln w="27940">
              <a:solidFill>
                <a:srgbClr val="3D5F9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18</c:v>
                </c:pt>
                <c:pt idx="4">
                  <c:v>21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103.0</c:v>
                </c:pt>
                <c:pt idx="1">
                  <c:v>440900.0</c:v>
                </c:pt>
                <c:pt idx="2">
                  <c:v>642019.0</c:v>
                </c:pt>
                <c:pt idx="3">
                  <c:v>931560.0</c:v>
                </c:pt>
                <c:pt idx="4">
                  <c:v>1049688.0</c:v>
                </c:pt>
                <c:pt idx="5">
                  <c:v>1221382.0</c:v>
                </c:pt>
                <c:pt idx="6">
                  <c:v>1419522.0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保证现金值</c:v>
                </c:pt>
              </c:strCache>
            </c:strRef>
          </c:tx>
          <c:spPr>
            <a:ln w="27940">
              <a:solidFill>
                <a:srgbClr val="D1972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2536.0</c:v>
                </c:pt>
                <c:pt idx="1">
                  <c:v>226834.0</c:v>
                </c:pt>
                <c:pt idx="2">
                  <c:v>194815.0</c:v>
                </c:pt>
                <c:pt idx="3">
                  <c:v>114079.0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当前假设现金值</c:v>
                </c:pt>
              </c:strCache>
            </c:strRef>
          </c:tx>
          <c:spPr>
            <a:ln w="27940">
              <a:solidFill>
                <a:srgbClr val="246F5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5360.0</c:v>
                </c:pt>
                <c:pt idx="1">
                  <c:v>271408.0</c:v>
                </c:pt>
                <c:pt idx="2">
                  <c:v>326890.0</c:v>
                </c:pt>
                <c:pt idx="3">
                  <c:v>490561.0</c:v>
                </c:pt>
                <c:pt idx="4">
                  <c:v>804423.0</c:v>
                </c:pt>
                <c:pt idx="5">
                  <c:v>1201620.0</c:v>
                </c:pt>
                <c:pt idx="6">
                  <c:v>1668413.0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当前假设身故赔偿</c:v>
                </c:pt>
              </c:strCache>
            </c:strRef>
          </c:tx>
          <c:spPr>
            <a:ln w="27940">
              <a:solidFill>
                <a:srgbClr val="3D5F9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2000000.0</c:v>
                </c:pt>
                <c:pt idx="1">
                  <c:v>2000000.0</c:v>
                </c:pt>
                <c:pt idx="2">
                  <c:v>2000000.0</c:v>
                </c:pt>
                <c:pt idx="3">
                  <c:v>2000000.0</c:v>
                </c:pt>
                <c:pt idx="4">
                  <c:v>2000000.0</c:v>
                </c:pt>
                <c:pt idx="5">
                  <c:v>2000000.0</c:v>
                </c:pt>
                <c:pt idx="6">
                  <c:v>2000000.0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y-evening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557784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教育金储备池与传承杠杆定制方案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572768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F5F5F"/>
                </a:solidFill>
                <a:latin typeface="Microsoft YaHei"/>
              </a:rPr>
              <a:t>友邦保险 储蓄险 + 友邦保险 IUL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23160"/>
            <a:ext cx="2103120" cy="1078992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5328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孩子储蓄险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77063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D19726"/>
                </a:solidFill>
                <a:latin typeface="Microsoft YaHei"/>
              </a:rPr>
              <a:t>US$500,000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17296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教育金储备池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42316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5328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保额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77063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US$2,000,000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317296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家族传承底盘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721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教育金起领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5935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第6年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361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每年 US$35,000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61188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721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首年杠杆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95935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30.14x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4361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保额 ÷ 首年保费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一张为孩子准备未来现金流，一张为家庭建立长期传承杠杆。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家庭目标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储蓄险讲时间节奏，IUL 讲传承杠杆</a:t>
            </a:r>
          </a:p>
        </p:txBody>
      </p:sp>
      <p:pic>
        <p:nvPicPr>
          <p:cNvPr id="4" name="Picture 3" descr="father-chil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7548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25880"/>
            <a:ext cx="2011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7556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孩子 · 1 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655064"/>
            <a:ext cx="175564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未来教育金准备对象
需要按年龄阶段释放现金流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325880"/>
            <a:ext cx="2011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1435608"/>
            <a:ext cx="17556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家庭持有人 · 46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1655064"/>
            <a:ext cx="175564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长期家族资产安排对象
需要更高身故杠杆和传承效率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325880"/>
            <a:ext cx="1234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1435608"/>
            <a:ext cx="978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1655064"/>
            <a:ext cx="97840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未来
+传承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46120"/>
            <a:ext cx="5532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222222"/>
                </a:solidFill>
                <a:latin typeface="Microsoft YaHei"/>
              </a:rPr>
              <a:t>• 孩子储蓄险负责 18/21/25 岁的教育金和成长现金流节奏。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222222"/>
                </a:solidFill>
                <a:latin typeface="Microsoft YaHei"/>
              </a:rPr>
              <a:t>• IUL 负责更高的身故杠杆与中长期现金价值弹性。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222222"/>
                </a:solidFill>
                <a:latin typeface="Microsoft YaHei"/>
              </a:rPr>
              <a:t>• 两者不是重复配置，而是功能分层。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双层结构总览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先看现金流层，再看杠杆层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828800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第一层：孩子教育金储备池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4727448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年缴 US$100,000 × 5 年
第 6 年开始每年领约 US$35,000
18/21/25 岁累计约 US$455,000 / US$560,000 / US$700,000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1828800"/>
          </a:xfrm>
          <a:prstGeom prst="roundRect">
            <a:avLst/>
          </a:prstGeom>
          <a:solidFill>
            <a:srgbClr val="BBDBCE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第二层：家族传承杠杆层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55064"/>
            <a:ext cx="4727448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首年保费 US$66,355
基础保额 US$2,000,000
首年杠杆 30.14x，按5年总保费杠杆 6.03x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657600"/>
            <a:ext cx="104241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>
                <a:solidFill>
                  <a:srgbClr val="222222"/>
                </a:solidFill>
                <a:latin typeface="Microsoft YaHei"/>
              </a:rPr>
              <a:t>• 储蓄险解决的是孩子未来教育与成长现金流。</a:t>
            </a:r>
          </a:p>
          <a:p>
            <a:pPr algn="l">
              <a:lnSpc>
                <a:spcPct val="145000"/>
              </a:lnSpc>
            </a:pPr>
            <a:r>
              <a:rPr sz="1600">
                <a:solidFill>
                  <a:srgbClr val="222222"/>
                </a:solidFill>
                <a:latin typeface="Microsoft YaHei"/>
              </a:rPr>
              <a:t>• IUL 解决的是长期身故保障底盘与代际传承效率。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为什么先配孩子储蓄险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教育金是时间确定、节点清晰的刚性目标</a:t>
            </a:r>
          </a:p>
        </p:txBody>
      </p:sp>
      <p:pic>
        <p:nvPicPr>
          <p:cNvPr id="4" name="Picture 3" descr="father-chil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188720"/>
            <a:ext cx="45720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1325880"/>
            <a:ext cx="55321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总保费约 US$500,000，回本较早，长期退保价值可持续抬升。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第 20 年不提取现价约 US$1,357,738，第 30 年约 US$2,927,387。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第 6 年开始每年约 US$35,000，可顺着孩子成长阶段释放教育金。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它负责未来的确定节奏，不负责家庭传承杠杆。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储蓄险不提取曲线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先看长期累积能力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760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long-term-growth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4617720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3611880"/>
            <a:ext cx="4617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8856" y="3721608"/>
            <a:ext cx="4361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8856" y="3941064"/>
            <a:ext cx="43616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第20年总退保价值约 US$1,357,738
第30年总退保价值约 US$2,927,387
这是教育金不提前动用时的长期资金池。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储蓄险提取曲线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再看教育金如何按节点释放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760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4617720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3611880"/>
            <a:ext cx="4617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8856" y="3721608"/>
            <a:ext cx="4361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教育金节点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8856" y="3941064"/>
            <a:ext cx="43616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18岁累计约 US$455,000
21岁累计约 US$560,000
25岁累计约 US$700,000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为什么再配 IUL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IUL 解决的是教育金之外的长期杠杆层</a:t>
            </a:r>
          </a:p>
        </p:txBody>
      </p:sp>
      <p:pic>
        <p:nvPicPr>
          <p:cNvPr id="4" name="Picture 3" descr="citylin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75488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1353312"/>
            <a:ext cx="55778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基础保额 US$2,000,000，用相对有限的计划保费建立更高身故保障。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首年杠杆约 30.14x，按总计划保费杠杆约 6.03x。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第20年当前假设现金值约 US$490,561，第30年约 US$804,423。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它不是给孩子领教育金，而是给家庭做长期传承和现金价值缓冲。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IUL 长期利益曲线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把现金值和身故赔偿一起看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760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20840" y="1463040"/>
            <a:ext cx="45720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8856" y="1572768"/>
            <a:ext cx="43159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关键数字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8856" y="1792224"/>
            <a:ext cx="4315968" cy="3218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第20年当前假设现金值：US$490,561
第30年当前假设现金值：US$804,423
100岁当前假设身故赔偿：US$2,001,077
客户定位：46岁，男性，標準，非吸煙者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公司与服务分工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储蓄险与 IUL 分别承担不同金融功能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3200400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友邦保险 · 储蓄险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4727448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根源可追溯至1919年的上海，2010年于香港联交所独立上市，是亚太地区最大的独立上市人寿保险集团之一，业务覆盖亚洲18个市场。
定位：以孩子未来教育金、成长现金流和长期累积为核心。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3200400"/>
          </a:xfrm>
          <a:prstGeom prst="roundRect">
            <a:avLst/>
          </a:prstGeom>
          <a:solidFill>
            <a:srgbClr val="BBDBCE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友邦保险 · IUL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55064"/>
            <a:ext cx="4727448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根源可追溯至1919年的上海，2010年于香港联交所独立上市，是亚太地区最大的独立上市人寿保险集团之一，业务覆盖亚洲18个市场。
定位：以高杠杆身故保障、长期现金价值和家族传承为核心。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组合的价值不是叠加产品数量，而是把功能拆到最清楚。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协同关系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教育金层与传承杠杆层不抢职责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874519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孩子储蓄险负责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4727448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未来 18/21/25 岁教育金节奏
成长阶段现金流
未来启动资金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1874519"/>
          </a:xfrm>
          <a:prstGeom prst="roundRect">
            <a:avLst/>
          </a:prstGeom>
          <a:solidFill>
            <a:srgbClr val="BBDBCE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IUL 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55064"/>
            <a:ext cx="4727448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更高身故保障底盘
家族传承效率
晚年流动性与应急缓冲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657600"/>
            <a:ext cx="10378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>
                <a:solidFill>
                  <a:srgbClr val="222222"/>
                </a:solidFill>
                <a:latin typeface="Microsoft YaHei"/>
              </a:rPr>
              <a:t>• 孩子储蓄险从第 6 年开始每年约领取 US$35,000，到 18/21/25 岁已累计约 US$455,000 / US$560,000 / US$700,000，为教育阶段提供长期稳健现金流。</a:t>
            </a:r>
          </a:p>
          <a:p>
            <a:pPr algn="l">
              <a:lnSpc>
                <a:spcPct val="145000"/>
              </a:lnSpc>
            </a:pPr>
            <a:r>
              <a:rPr sz="1550">
                <a:solidFill>
                  <a:srgbClr val="222222"/>
                </a:solidFill>
                <a:latin typeface="Microsoft YaHei"/>
              </a:rPr>
              <a:t>• IUL 自首年开始就建立约 US$2,000,000 的高基本保额，以更高杠杆为家庭筑起长期保障与财富传承底盘。</a:t>
            </a:r>
          </a:p>
          <a:p>
            <a:pPr algn="l">
              <a:lnSpc>
                <a:spcPct val="145000"/>
              </a:lnSpc>
            </a:pPr>
            <a:r>
              <a:rPr sz="1550">
                <a:solidFill>
                  <a:srgbClr val="222222"/>
                </a:solidFill>
                <a:latin typeface="Microsoft YaHei"/>
              </a:rPr>
              <a:t>• 两张保单一张管未来现金流，一张管家族资产护城河，功能清楚、互不冲突。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家庭时间轴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一个看孩子年龄，一个看家族资产层级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9875520" cy="45720"/>
          </a:xfrm>
          <a:prstGeom prst="rect">
            <a:avLst/>
          </a:prstGeom>
          <a:solidFill>
            <a:srgbClr val="E0D8CA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现在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孩子储蓄开始累积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IUL 杠杆结构就位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孩子 6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每年约 US$35,000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教育金开始释放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孩子 18/21 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累计约 US$455,000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累计约 US$560,000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IUL 第20年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现值约 US$490,561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传承底盘持续在位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IUL 第30年+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现值约 US$804,423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身故保障继续服务家族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孩子的未来现金流与家庭长期传承底盘，分别沿两条时间轴发挥作用。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一张负责未来现金流，一张负责长期传承杠杆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25880"/>
            <a:ext cx="5486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孩子储蓄险保证未来教育金节奏明确，不需要临时为升学资金找现金流。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IUL 用更高杠杆把家族长期保障和传承底盘提前锁定下来。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这套组合不是重复配置，而是把家庭资产目标拆成两个不同的功能层。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262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463600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教育金池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873752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US$500,000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27608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孩子未来现金流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526280"/>
            <a:ext cx="2331720" cy="1051560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463600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杠杆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4873752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19726"/>
                </a:solidFill>
                <a:latin typeface="Microsoft YaHei"/>
              </a:rPr>
              <a:t>30.14x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527608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首年保额杠杆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5262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463600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首年保额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4873752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US$2,000,000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527608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财富护城河</a:t>
            </a:r>
          </a:p>
        </p:txBody>
      </p:sp>
      <p:pic>
        <p:nvPicPr>
          <p:cNvPr id="17" name="Picture 16" descr="cashflow-futur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417320"/>
            <a:ext cx="3017520" cy="4389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后续若再叠加重疾险，就会形成：教育金层 + 传承杠杆层 + 家庭风险防火墙。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