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储蓄险家庭资产配置方案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847"/>
                </a:solidFill>
              </a:defRPr>
            </a:pPr>
            <a:r>
              <a:t>匠心传承（尊尚版）| 客户可展示版（视觉重制）</a:t>
            </a:r>
          </a:p>
        </p:txBody>
      </p:sp>
      <p:pic>
        <p:nvPicPr>
          <p:cNvPr id="6" name="Picture 5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57784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1920240"/>
            <a:ext cx="2377440" cy="128016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080"/>
                </a:solidFill>
              </a:defRPr>
            </a:pPr>
            <a:r>
              <a:t>缴费期</a:t>
            </a:r>
          </a:p>
          <a:p>
            <a:pPr>
              <a:defRPr sz="2400" b="1">
                <a:solidFill>
                  <a:srgbClr val="0A3C5F"/>
                </a:solidFill>
              </a:defRPr>
            </a:pPr>
            <a:r>
              <a:t>5年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920240"/>
            <a:ext cx="2377440" cy="128016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2057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080"/>
                </a:solidFill>
              </a:defRPr>
            </a:pPr>
            <a:r>
              <a:t>年缴保费</a:t>
            </a:r>
          </a:p>
          <a:p>
            <a:pPr>
              <a:defRPr sz="2400" b="1">
                <a:solidFill>
                  <a:srgbClr val="0A3C5F"/>
                </a:solidFill>
              </a:defRPr>
            </a:pPr>
            <a:r>
              <a:t>US$ 100,000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79" y="1920240"/>
            <a:ext cx="2377440" cy="128016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080"/>
                </a:solidFill>
              </a:defRPr>
            </a:pPr>
            <a:r>
              <a:t>第7年价值</a:t>
            </a:r>
          </a:p>
          <a:p>
            <a:pPr>
              <a:defRPr sz="2400" b="1">
                <a:solidFill>
                  <a:srgbClr val="0A3C5F"/>
                </a:solidFill>
              </a:defRPr>
            </a:pPr>
            <a:r>
              <a:t>US$ 514,498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920240"/>
            <a:ext cx="2377440" cy="128016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080"/>
                </a:solidFill>
              </a:defRPr>
            </a:pPr>
            <a:r>
              <a:t>第20年价值</a:t>
            </a:r>
          </a:p>
          <a:p>
            <a:pPr>
              <a:defRPr sz="2400" b="1">
                <a:solidFill>
                  <a:srgbClr val="0A3C5F"/>
                </a:solidFill>
              </a:defRPr>
            </a:pPr>
            <a:r>
              <a:t>US$ 1,366,345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035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8288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周大福人寿（CTF Life）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Fitch 财务实力评级：A-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Moody's 财务实力评级：A3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香港RBC偿付能力充足率：282%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教育金阶段（18-21岁）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035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8288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18岁累计可提领：US$ 420,004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21岁累计可提领：US$ 525,006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适配用途：学费、住宿、研究支出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价值增长曲线（提领前后）</a:t>
            </a:r>
          </a:p>
        </p:txBody>
      </p:sp>
      <p:pic>
        <p:nvPicPr>
          <p:cNvPr id="5" name="Picture 4" descr="withdraw_vs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00200"/>
            <a:ext cx="4480560" cy="4343400"/>
          </a:xfrm>
          <a:prstGeom prst="rect">
            <a:avLst/>
          </a:prstGeom>
          <a:solidFill>
            <a:srgbClr val="F7FAFC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先看两条曲线是否同向上行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再看20年、30年关键节点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结论：提领后仍保留长期价值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保证/非保证价值构成</a:t>
            </a:r>
          </a:p>
        </p:txBody>
      </p:sp>
      <p:pic>
        <p:nvPicPr>
          <p:cNvPr id="5" name="Picture 4" descr="guarante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00200"/>
            <a:ext cx="4480560" cy="4343400"/>
          </a:xfrm>
          <a:prstGeom prst="rect">
            <a:avLst/>
          </a:prstGeom>
          <a:solidFill>
            <a:srgbClr val="F7FAFC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保证部分构成底盘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非保证部分提升长期弹性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适合长期持有与传承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年度提领节奏</a:t>
            </a:r>
          </a:p>
        </p:txBody>
      </p:sp>
      <p:pic>
        <p:nvPicPr>
          <p:cNvPr id="5" name="Picture 4" descr="annual_withdra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00200"/>
            <a:ext cx="4480560" cy="4343400"/>
          </a:xfrm>
          <a:prstGeom prst="rect">
            <a:avLst/>
          </a:prstGeom>
          <a:solidFill>
            <a:srgbClr val="F7FAFC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提领节奏平稳，可预算化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适合作为家庭现金流模块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可与教育/养老阶段支出匹配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累计提领现金流</a:t>
            </a:r>
          </a:p>
        </p:txBody>
      </p:sp>
      <p:pic>
        <p:nvPicPr>
          <p:cNvPr id="5" name="Picture 4" descr="cumulative_withdra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00200"/>
            <a:ext cx="4480560" cy="4343400"/>
          </a:xfrm>
          <a:prstGeom prst="rect">
            <a:avLst/>
          </a:prstGeom>
          <a:solidFill>
            <a:srgbClr val="F7FAFC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累计提领持续增长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45岁、60岁为关键里程碑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用于衡量可兑现资金能力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175,001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449,186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525,006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553,772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875,018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716,823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1.45%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1,225,045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985,224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1.71%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1,575,098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1,526,323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4.11%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1,925,185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2,610,075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35,013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2,275,414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4,607,809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11.74%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2,625,899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8,176,510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19.19%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3.55%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35,061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2,976,915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14,874,836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31.94%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3.84%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35,497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3,329,531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27,446,484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53.89%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35,389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3,683,718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51,042,767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91.90%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4.29%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4,040,361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95,333,722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158.06%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36,328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4,076,689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101,494,085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166.93%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36,133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4,112,822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108,055,068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176.32%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81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847"/>
                </a:solidFill>
              </a:defRPr>
            </a:pPr>
            <a:r>
              <a:t>缴费方式：10万美金 × 5年  ｜  表格口径：每10年抽样对比  ｜  用于销售讲解“流动性 vs 长期价值”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638,233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1,366,345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8.66%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2,782,754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5.89%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5,457,765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6.16%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10,315,070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39.26%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19,362,805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62.88%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36,346,648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102.42%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68,227,654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169.32%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128,072,686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283.49%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240,410,038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479.82%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451,282,690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819.60%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847,119,646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1411.03%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902,182,423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1490.38%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960,824,280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1574.30%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2F8FB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81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847"/>
                </a:solidFill>
              </a:defRPr>
            </a:pPr>
            <a:r>
              <a:t>缴费方式：10万美金 × 5年  ｜  表格口径：每10年抽样对比  ｜  用于销售讲解“流动性 vs 长期价值”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C5F"/>
                </a:solidFill>
              </a:defRPr>
            </a:pPr>
            <a:r>
              <a:t>执行建议与下一步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5778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先确认家庭目标：教育金 / 养老金 / 现金流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确定提领口径与复盘周期（每3年）</a:t>
            </a:r>
          </a:p>
          <a:p>
            <a:pPr>
              <a:spcAft>
                <a:spcPts val="1000"/>
              </a:spcAft>
              <a:defRPr sz="2000">
                <a:solidFill>
                  <a:srgbClr val="2D3847"/>
                </a:solidFill>
              </a:defRPr>
            </a:pPr>
            <a:r>
              <a:t>• 按年度跟踪：累计提领、剩余现金价值、配置比例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