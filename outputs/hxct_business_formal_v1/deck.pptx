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b164a783e84530" /><Relationship Type="http://schemas.openxmlformats.org/officeDocument/2006/relationships/extended-properties" Target="/docProps/app.xml" Id="R06136bfb773a4209" /><Relationship Type="http://schemas.openxmlformats.org/officeDocument/2006/relationships/officeDocument" Target="/ppt/presentation.xml" Id="Rd8459c98124444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eb0f88bd204285"/>
    <p:sldMasterId xmlns:r="http://schemas.openxmlformats.org/officeDocument/2006/relationships" id="2147483659" r:id="Rfa8daafeb6764539"/>
  </p:sldMasterIdLst>
  <p:notesMasterIdLst>
    <p:notesMasterId xmlns:r="http://schemas.openxmlformats.org/officeDocument/2006/relationships" r:id="R02f60c3ed5294fd3"/>
  </p:notesMasterIdLst>
  <p:sldIdLst>
    <p:sldId xmlns:r="http://schemas.openxmlformats.org/officeDocument/2006/relationships" id="256" r:id="R32d2161189dd4d74"/>
    <p:sldId xmlns:r="http://schemas.openxmlformats.org/officeDocument/2006/relationships" id="257" r:id="R2ed9e33ca6814f22"/>
    <p:sldId xmlns:r="http://schemas.openxmlformats.org/officeDocument/2006/relationships" id="258" r:id="R8e5716026bd04b53"/>
    <p:sldId xmlns:r="http://schemas.openxmlformats.org/officeDocument/2006/relationships" id="259" r:id="R65c19ed217754c43"/>
    <p:sldId xmlns:r="http://schemas.openxmlformats.org/officeDocument/2006/relationships" id="260" r:id="Ra0c59fd4407f4db7"/>
    <p:sldId xmlns:r="http://schemas.openxmlformats.org/officeDocument/2006/relationships" id="261" r:id="R7f2f09bdbc9649a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94bd3046914363" /><Relationship Type="http://schemas.openxmlformats.org/officeDocument/2006/relationships/slideMaster" Target="/ppt/slideMasters/slideMaster1.xml" Id="R9beb0f88bd204285" /><Relationship Type="http://schemas.openxmlformats.org/officeDocument/2006/relationships/slideMaster" Target="/ppt/slideMasters/slideMaster2.xml" Id="Rfa8daafeb6764539" /><Relationship Type="http://schemas.openxmlformats.org/officeDocument/2006/relationships/notesMaster" Target="/ppt/notesMasters/notesMaster1.xml" Id="R02f60c3ed5294fd3" /><Relationship Type="http://schemas.openxmlformats.org/officeDocument/2006/relationships/presProps" Target="/ppt/presProps.xml" Id="R0c5c6160202a4515" /><Relationship Type="http://schemas.openxmlformats.org/officeDocument/2006/relationships/viewProps" Target="/ppt/viewProps.xml" Id="Ra2333f4c2347498d" /><Relationship Type="http://schemas.openxmlformats.org/officeDocument/2006/relationships/tableStyles" Target="/ppt/tableStyles.xml" Id="R625e09ede4154266" /><Relationship Type="http://schemas.openxmlformats.org/officeDocument/2006/relationships/slide" Target="/ppt/slides/slide1.xml" Id="R32d2161189dd4d74" /><Relationship Type="http://schemas.openxmlformats.org/officeDocument/2006/relationships/slide" Target="/ppt/slides/slide2.xml" Id="R2ed9e33ca6814f22" /><Relationship Type="http://schemas.openxmlformats.org/officeDocument/2006/relationships/slide" Target="/ppt/slides/slide3.xml" Id="R8e5716026bd04b53" /><Relationship Type="http://schemas.openxmlformats.org/officeDocument/2006/relationships/slide" Target="/ppt/slides/slide4.xml" Id="R65c19ed217754c43" /><Relationship Type="http://schemas.openxmlformats.org/officeDocument/2006/relationships/slide" Target="/ppt/slides/slide5.xml" Id="Ra0c59fd4407f4db7" /><Relationship Type="http://schemas.openxmlformats.org/officeDocument/2006/relationships/slide" Target="/ppt/slides/slide6.xml" Id="R7f2f09bdbc9649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41abe1423d2c4f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107dde127c4278" /><Relationship Type="http://schemas.openxmlformats.org/officeDocument/2006/relationships/notesMaster" Target="/ppt/notesMasters/notesMaster1.xml" Id="Rfd79716b218146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875ec1fce34bad" /><Relationship Type="http://schemas.openxmlformats.org/officeDocument/2006/relationships/notesMaster" Target="/ppt/notesMasters/notesMaster1.xml" Id="R3088d2d21c9a41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9a26850c3243ef" /><Relationship Type="http://schemas.openxmlformats.org/officeDocument/2006/relationships/notesMaster" Target="/ppt/notesMasters/notesMaster1.xml" Id="Rebed9f73274d45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1b13374f6d4a27" /><Relationship Type="http://schemas.openxmlformats.org/officeDocument/2006/relationships/notesMaster" Target="/ppt/notesMasters/notesMaster1.xml" Id="Rfce33281f8154b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3fa9d9cab344ca" /><Relationship Type="http://schemas.openxmlformats.org/officeDocument/2006/relationships/notesMaster" Target="/ppt/notesMasters/notesMaster1.xml" Id="Rf33f68d1153241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d8c854d49d4076" /><Relationship Type="http://schemas.openxmlformats.org/officeDocument/2006/relationships/notesMaster" Target="/ppt/notesMasters/notesMaster1.xml" Id="Ra4ab67b5e92e4d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46781c0508489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a63693fe4a4e7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f91bd45658423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1833f984e6494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6c4bf864764dd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db2ea950b34b4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ccec5772ce403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ac6368b1a7495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805b11b0ac47d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6d24819a2941d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0c1ea22412d447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2703340d83f436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b1b341071a2423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77d6fab1dec49b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afc85b145384a1c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49984ff780040ba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5fd9db085e34e30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e44a79529ab45b0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718ba2a9ae74de4" /><Relationship Type="http://schemas.openxmlformats.org/officeDocument/2006/relationships/image" Target="/ppt/media/image.png" Id="R6c3cc2aacbe24d5c" /><Relationship Type="http://schemas.openxmlformats.org/officeDocument/2006/relationships/image" Target="/ppt/media/image.svg" Id="Rb0655a7eb8a54b13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da906828e0c473b" /><Relationship Type="http://schemas.openxmlformats.org/officeDocument/2006/relationships/image" Target="/ppt/media/image.png" Id="Ra0577a26ba1247d3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4aaa12287e646c1" /><Relationship Type="http://schemas.openxmlformats.org/officeDocument/2006/relationships/image" Target="/ppt/media/image.png" Id="R37bc7054860c4751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cd91dcdcdc04afd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0D19012-8238-403B-AB55-CDCABBE82586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单击此处添加标题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C70B05C-8D87-43F9-95A4-FA049ADE7A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7FA7CE9-0E6B-4B72-BED4-C6C958CF86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4C40602-9C1A-403F-A0AE-F25EBF5AC2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426476A6-A20D-4A34-9C77-236D3FE47709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单击此处添加副标题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846F75E-0C9A-4709-9784-2ACEA4DA1D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23AC96F-BAA0-49E7-8F4C-F68DA265639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FD4D647-C6F9-40D7-8284-1EFB09A003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D4DEB7C-E067-4078-970C-3CE3E3BA10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E830245-5A09-4992-853C-2B0F9154EE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3F3B82E-7922-4D43-AE02-8835341273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3751117"/>
            <a:ext cx="7321550" cy="81135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15B03F7-EB9F-4252-97CF-EDEDFB78C3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610028"/>
            <a:ext cx="7321550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58E0ED-FE20-41E0-81FC-8B24B33A57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2C5BF7A-33D0-42A4-B005-CE7AA8226D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1B09698-ADF1-4494-93DD-2DFC8C89D1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83061E7-375B-4723-940B-95415BD87E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EF7D278-EC3F-404B-8CCC-7FB33CE45BB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B8F448B7-74B6-4F3A-BBD0-55889EB8A59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EF5828B0-B04C-4241-BB85-6FF55C7AA8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63A13AE-65E0-46DA-9CB2-9D142073E8C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06EAA1C-19E6-4ADE-A1B2-786329B294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ECF0B7B-6327-406E-8166-0CCF7158C7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DC1155E-B2F8-46A6-B1D1-21A9FC4BBB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09D66B17-08DF-45AD-9407-7BCD1FB4B62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A11353B4-FB63-496E-ABE4-AB10F7EDC01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8BEFEB91-8B79-4DD4-BFCC-DF7E7468D6C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93FF5F6-19E7-433C-B892-3365CAEE07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7C13459F-DBF7-4147-87A5-B416C1AC6D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29F13272-289B-49AC-9F5A-D357BBDC0E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D3FBC96-8B51-4E60-B84C-81CFF5FAA8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42E03EBA-AE59-473E-A8DD-68362C6E6CF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BC82F8B8-AF3A-43C3-A63E-FEEFACF2D0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DD97B691-8239-4CE1-873D-BF34FF3052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A406073B-5147-419B-80B0-96F66CE56B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BB7C6494-58F4-4B5B-A2F8-6A49AAEB79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70DFE309-B7A4-440B-9CC0-C7477F8180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1216625-AA7D-4F56-B7F8-0ED166A37F0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单击此处编辑标题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BD3678DC-A536-485F-8F3A-0A1E65D8D7E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CABA17B-7E2D-47BE-B1E1-A0598330E8F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9C94798-45EE-467A-94D3-A8D0425A07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F79E231-D540-4792-BB24-9A63726B7C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FE1162D-E398-422A-893B-494337459B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8E0E71CD-D754-4815-BF2D-0720F3819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36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3E1680BC-DCC8-4D80-A744-0BDD4606A8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8AB0ADB-A12B-4103-B6B4-B48EE093989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060458-53A9-438F-A804-707C333E5E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A127604-7A29-498C-B3FE-FF43BFAA6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83F6BB3-0D71-458D-B510-B4BFEE9D57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F42BECD-0F1B-4202-908C-38CDF9DBB5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32DE2A7-FB70-4BED-A219-F77CF81BF8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29BFB00C-6CD4-4610-8106-7352814DF1C1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标题 1">
            <a:extLst xmlns:a="http://schemas.openxmlformats.org/drawingml/2006/main">
              <a:ext uri="{FF2B5EF4-FFF2-40B4-BE49-F238E27FC236}">
                <a16:creationId xmlns:a16="http://schemas.microsoft.com/office/drawing/2014/main" id="{77405102-8A37-4E3E-89FC-A2E9A1B746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1389493-6351-4855-A8EC-D23CAF392F6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636B4C3-C416-4DBE-A4E6-03EF872572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EDC7B78-E372-4AE3-B8BB-0BA9F8C475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FF71D41-9787-4C63-AF88-935D53EC17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showMasterSp="0" type="blank" preserve="1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任意多边形: 形状 4">
            <a:extLst xmlns:a="http://schemas.openxmlformats.org/drawingml/2006/main">
              <a:ext uri="{FF2B5EF4-FFF2-40B4-BE49-F238E27FC236}">
                <a16:creationId xmlns:a16="http://schemas.microsoft.com/office/drawing/2014/main" id="{2C91A18E-E1EA-43A0-81ED-7A7DD17A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855" y="0"/>
            <a:ext cx="5481320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8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78940AC5-D277-4939-AC24-5775293B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105" y="0"/>
            <a:ext cx="5481320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8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35A62417-580F-4F12-BA86-487FC9C2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655" y="6456309"/>
            <a:ext cx="850846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椭圆 35">
            <a:extLst xmlns:a="http://schemas.openxmlformats.org/drawingml/2006/main">
              <a:ext uri="{FF2B5EF4-FFF2-40B4-BE49-F238E27FC236}">
                <a16:creationId xmlns:a16="http://schemas.microsoft.com/office/drawing/2014/main" id="{72E7017D-B9A0-4C58-8CC0-709B3DBA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8240E226-B09D-4875-A695-864CA04C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椭圆 37">
            <a:extLst xmlns:a="http://schemas.openxmlformats.org/drawingml/2006/main">
              <a:ext uri="{FF2B5EF4-FFF2-40B4-BE49-F238E27FC236}">
                <a16:creationId xmlns:a16="http://schemas.microsoft.com/office/drawing/2014/main" id="{A822981F-10F8-4209-8195-91B1077B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493D1A23-2C29-4005-B3C8-51004C7F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0A16B763-0D6A-45B0-80CE-614019F696F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107123" y="811262"/>
            <a:ext cx="1977755" cy="1081088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algn="ctr">
              <a:buNone/>
              <a:defRPr sz="6000" b="1" i="0" u="none" cap="none" spc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标题</a:t>
            </a:r>
          </a:p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9169642-8F78-458F-AAAD-B096FDDC23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87E4042-DC76-4A2B-9D88-3E5B5C787A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1B4ECE6-00AF-44F1-BBD7-33D33921D1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66CF903-6242-47E8-8E6D-E248609D83B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1301750"/>
            <a:ext cx="5323840" cy="4875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97E298C-27F0-4861-BD71-028D29984F5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301750"/>
            <a:ext cx="5323840" cy="4875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C10A06B-D893-42F8-B091-A5D1837A35F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96D4C32-E207-4D77-9650-DCD16E7E57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605A65B-1A80-45E8-BEDA-518241D90C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5CF8C620-8CC4-44C4-A2BD-94420A216C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964C4A8-5034-41FD-A284-91DE8FE21B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50"/>
            <a:ext cx="5323840" cy="411303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FFC8790-702D-48C3-9EE9-34EABA0B6E4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95960" y="1875099"/>
            <a:ext cx="5323840" cy="43002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FBE8F1CF-EC4A-4D0F-9973-0D822C13161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301750"/>
            <a:ext cx="5323840" cy="411303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7ED88490-47DC-4720-8D4C-E03436C141B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1875099"/>
            <a:ext cx="5323840" cy="43002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96D4267A-CE8C-43D4-A6B4-0A1426506F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EA3E60A6-B60F-4878-9555-D38B8AD77B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9869610B-2105-497E-AE4C-9B1B93F6D2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标题 1">
            <a:extLst xmlns:a="http://schemas.openxmlformats.org/drawingml/2006/main">
              <a:ext uri="{FF2B5EF4-FFF2-40B4-BE49-F238E27FC236}">
                <a16:creationId xmlns:a16="http://schemas.microsoft.com/office/drawing/2014/main" id="{3C827845-95D3-41DD-B7A4-1DD051B6B4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8FF95504-F3C8-40E9-8D5E-CD5F18D5DC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38E26A0D-230B-4834-A4E5-B426F51230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7646E3F1-2A64-4EB4-97A2-9DAB94630C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DB7C85A8-525C-4DB9-A311-97978A42E3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238EAFB1-0541-4FC6-BE7C-5F774B875C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B0A9087E-C039-475B-8010-46B9E89E57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D958021-609D-4C5C-941A-F782175739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6256FE1-1B9C-4C1A-99A9-3F398ABA2FC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360045"/>
            <a:ext cx="10801985" cy="581787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E348F2A-99D3-4415-A1AC-F906239255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0BB3BF4-AA98-4673-993D-5FB3274A25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66DD6E0-043B-433B-A392-F09896E731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FCB60C1-4019-47C0-893D-B897A64CB0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3797FE6C-1CAA-45F2-A3E4-9C82441656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F7DCC97-D68A-47FB-96B9-E34B3365E9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609FE898-D649-4650-B47D-D054ACEA6C4D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95960" y="1301750"/>
            <a:ext cx="10799088" cy="405553"/>
          </a:xfrm>
        </p:spPr>
        <p:txBody>
          <a:bodyPr xmlns:a="http://schemas.openxmlformats.org/drawingml/2006/main"/>
          <a:lstStyle xmlns:a="http://schemas.openxmlformats.org/drawingml/2006/main"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单击此处编辑副标题</a:t>
            </a:r>
          </a:p>
        </p:txBody>
      </p:sp>
      <p:sp>
        <p:nvSpPr>
          <p:cNvPr id="7" name="标题 1">
            <a:extLst xmlns:a="http://schemas.openxmlformats.org/drawingml/2006/main">
              <a:ext uri="{FF2B5EF4-FFF2-40B4-BE49-F238E27FC236}">
                <a16:creationId xmlns:a16="http://schemas.microsoft.com/office/drawing/2014/main" id="{EBE53DC1-73AD-409C-B911-C330D38571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showMasterSp="0" preserve="1" userDrawn="1">
  <p:cSld name="封面页_1_3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89243CB0-54FF-4A57-B69C-4DC6AE19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0" y="-15875"/>
            <a:ext cx="1786890" cy="2779395"/>
          </a:xfrm>
          <a:prstGeom xmlns:a="http://schemas.openxmlformats.org/drawingml/2006/main" prst="rtTriangle">
            <a:avLst/>
          </a:pr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1416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DCC62462-05EB-4572-8802-15FFC854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355" y="0"/>
            <a:ext cx="5539105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5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A2467094-28C6-42F2-A7CA-2825484E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8625" y="0"/>
            <a:ext cx="6702425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6" name="图片 6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c3cc2aacbe24d5c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850765" y="908050"/>
            <a:ext cx="7360285" cy="5949950"/>
          </a:xfrm>
          <a:prstGeom xmlns:a="http://schemas.openxmlformats.org/drawingml/2006/main" prst="rect">
            <a:avLst/>
          </a:prstGeom>
        </p:spPr>
      </p:pic>
      <p:sp>
        <p:nvSpPr>
          <p:cNvPr id="46" name="日期">
            <a:extLst xmlns:a="http://schemas.openxmlformats.org/drawingml/2006/main">
              <a:ext uri="{FF2B5EF4-FFF2-40B4-BE49-F238E27FC236}">
                <a16:creationId xmlns:a16="http://schemas.microsoft.com/office/drawing/2014/main" id="{5743E7F0-36C2-4F0E-A333-6CB8931F3602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1016000" y="1651000"/>
            <a:ext cx="6097058" cy="4572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2"/>
                </a:solidFill>
                <a:latin typeface="+mn-ea"/>
                <a:ea typeface="+mn-ea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20XX YEAR</a:t>
            </a:r>
          </a:p>
        </p:txBody>
      </p:sp>
      <p:sp>
        <p:nvSpPr>
          <p:cNvPr id="45" name="标题 44">
            <a:extLst xmlns:a="http://schemas.openxmlformats.org/drawingml/2006/main">
              <a:ext uri="{FF2B5EF4-FFF2-40B4-BE49-F238E27FC236}">
                <a16:creationId xmlns:a16="http://schemas.microsoft.com/office/drawing/2014/main" id="{F8739FAF-CB4A-4CB1-9BDB-0B9802011430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 hasCustomPrompt="1"/>
          </p:nvPr>
        </p:nvSpPr>
        <p:spPr>
          <a:xfrm xmlns:a="http://schemas.openxmlformats.org/drawingml/2006/main">
            <a:off x="1016000" y="2159000"/>
            <a:ext cx="6352646" cy="2540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0" spc="0">
                <a:solidFill>
                  <a:schemeClr val="tx2"/>
                </a:solidFill>
              </a:defRPr>
            </a:lvl1pPr>
          </a:lstStyle>
          <a:p xmlns:a="http://schemas.openxmlformats.org/drawingml/2006/main">
            <a:r>
              <a:t>商务风融资计划</a:t>
            </a:r>
            <a:br/>
            <a:r>
              <a:t>通用模板</a:t>
            </a:r>
          </a:p>
        </p:txBody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2321169D-16D3-40D3-9A48-AA554ABE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265" y="5255260"/>
            <a:ext cx="1241425" cy="5334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2000">
                <a:schemeClr val="accent1"/>
              </a:gs>
              <a:gs pos="100000">
                <a:schemeClr val="accent2"/>
              </a:gs>
            </a:gsLst>
            <a:lin ang="135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</a:pPr>
          </a:p>
        </p:txBody>
      </p:sp>
      <p:sp>
        <p:nvSpPr>
          <p:cNvPr id="47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2F2D81C3-40FD-4034-8ACE-E81A2BC96495}"/>
              </a:ext>
            </a:extLst>
          </p:cNvPr>
          <p:cNvSpPr>
            <a:spLocks xmlns:a="http://schemas.openxmlformats.org/drawingml/2006/main" noGrp="1"/>
          </p:cNvSpPr>
          <p:nvPr>
            <p:ph type="body" idx="16387" hasCustomPrompt="1"/>
          </p:nvPr>
        </p:nvSpPr>
        <p:spPr>
          <a:xfrm xmlns:a="http://schemas.openxmlformats.org/drawingml/2006/main">
            <a:off x="1016000" y="5255239"/>
            <a:ext cx="2540882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chemeClr val="bg2"/>
            </a:solidFill>
          </a:ln>
          <a:effectLst xmlns:a="http://schemas.openxmlformats.org/drawingml/2006/main">
            <a:outerShdw blurRad="444500" dist="152400" dir="5520000" sx="104000" sy="104000" algn="tl" rotWithShape="0">
              <a:schemeClr val="accent2">
                <a:alpha val="21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 u="none" cap="none" spc="0">
                <a:solidFill>
                  <a:srgbClr val="031A2F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pPr>
              <a:buNone/>
            </a:pPr>
            <a:r>
              <a:t>BY WPS</a:t>
            </a:r>
          </a:p>
        </p:txBody>
      </p:sp>
      <p:pic>
        <p:nvPicPr>
          <p:cNvPr id="71" name="图形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3cc2aacbe24d5c">
            <a:extLst>
              <a:ext uri="{96DAC541-7B7A-43D3-8B79-37D633B846F1}">
                <asvg:svgBlip xmlns:asvg="http://schemas.microsoft.com/office/drawing/2016/SVG/main" r:embed="Rb0655a7eb8a54b1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700000">
            <a:off x="3764071" y="5443856"/>
            <a:ext cx="162734" cy="162734"/>
          </a:xfrm>
          <a:prstGeom xmlns:a="http://schemas.openxmlformats.org/drawingml/2006/main" prst="rect">
            <a:avLst/>
          </a:prstGeom>
        </p:spPr>
      </p:pic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6EEE4C8-C20C-4EE2-AEE8-46B6E38B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椭圆 2">
            <a:extLst xmlns:a="http://schemas.openxmlformats.org/drawingml/2006/main">
              <a:ext uri="{FF2B5EF4-FFF2-40B4-BE49-F238E27FC236}">
                <a16:creationId xmlns:a16="http://schemas.microsoft.com/office/drawing/2014/main" id="{5E390DE3-FC4E-4198-8974-99B73624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549E6EA6-0941-4202-AECF-41F166AF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56874DD1-86DB-4BE5-B74F-4986890B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椭圆 32">
            <a:extLst xmlns:a="http://schemas.openxmlformats.org/drawingml/2006/main">
              <a:ext uri="{FF2B5EF4-FFF2-40B4-BE49-F238E27FC236}">
                <a16:creationId xmlns:a16="http://schemas.microsoft.com/office/drawing/2014/main" id="{577E2090-6FAA-4C93-B4C1-C612A18D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0.xml><?xml version="1.0" encoding="utf-8"?>
<p:sldLayout xmlns:p="http://schemas.openxmlformats.org/presentationml/2006/main" showMasterSp="0" preserve="1" userDrawn="1">
  <p:cSld name="章节页_1_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椭圆 29">
            <a:extLst xmlns:a="http://schemas.openxmlformats.org/drawingml/2006/main">
              <a:ext uri="{FF2B5EF4-FFF2-40B4-BE49-F238E27FC236}">
                <a16:creationId xmlns:a16="http://schemas.microsoft.com/office/drawing/2014/main" id="{3B0FA8DD-5ACD-47C7-907E-8C3125A0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8D93B2B4-AF00-4856-A5F4-50170014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0E7F3F3F-1DD5-45E8-A6D2-2759410D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椭圆 32">
            <a:extLst xmlns:a="http://schemas.openxmlformats.org/drawingml/2006/main">
              <a:ext uri="{FF2B5EF4-FFF2-40B4-BE49-F238E27FC236}">
                <a16:creationId xmlns:a16="http://schemas.microsoft.com/office/drawing/2014/main" id="{11BCDB20-CFC0-4D8A-B40D-72A97D1D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3C094045-CF4F-4728-BC3A-42778F1B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8733733" y="0"/>
            <a:ext cx="5055397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3A3F6862-B465-414C-8C8C-AE59B54C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9394418" y="0"/>
            <a:ext cx="6117129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6" name="图片 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0577a26ba1247d3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8794006" y="908050"/>
            <a:ext cx="6717541" cy="5949950"/>
          </a:xfrm>
          <a:prstGeom xmlns:a="http://schemas.openxmlformats.org/drawingml/2006/main" prst="rect">
            <a:avLst/>
          </a:prstGeom>
        </p:spPr>
      </p:pic>
      <p:sp>
        <p:nvSpPr>
          <p:cNvPr id="6" name="标题 2">
            <a:extLst xmlns:a="http://schemas.openxmlformats.org/drawingml/2006/main">
              <a:ext uri="{FF2B5EF4-FFF2-40B4-BE49-F238E27FC236}">
                <a16:creationId xmlns:a16="http://schemas.microsoft.com/office/drawing/2014/main" id="{1B7AF957-239D-4211-AF53-89F1B6F90462}"/>
              </a:ext>
            </a:extLst>
          </p:cNvPr>
          <p:cNvSpPr>
            <a:spLocks xmlns:a="http://schemas.openxmlformats.org/drawingml/2006/main" noGrp="1"/>
          </p:cNvSpPr>
          <p:nvPr>
            <p:ph type="title" idx="16385" hasCustomPrompt="1"/>
          </p:nvPr>
        </p:nvSpPr>
        <p:spPr>
          <a:xfrm xmlns:a="http://schemas.openxmlformats.org/drawingml/2006/main">
            <a:off x="5696585" y="2983865"/>
            <a:ext cx="5479415" cy="1524000"/>
          </a:xfr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chemeClr val="tx2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r>
              <a:t>单击此处添加章节</a:t>
            </a:r>
          </a:p>
        </p:txBody>
      </p:sp>
      <p:sp>
        <p:nvSpPr>
          <p:cNvPr id="7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48FFB785-FB94-4FC9-A8ED-0641E41FD3D1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9648825" y="1358265"/>
            <a:ext cx="1527175" cy="1524000"/>
          </a:xfrm>
        </p:spPr>
        <p:txBody>
          <a:bodyPr xmlns:a="http://schemas.openxmlformats.org/drawingml/2006/main" vert="horz" wrap="none" lIns="0" tIns="0" rIns="0" bIns="0" anchor="ctr">
            <a:normAutofit/>
          </a:bodyPr>
          <a:lstStyle xmlns:a="http://schemas.openxmlformats.org/drawingml/2006/main">
            <a:lvl1pPr marL="0" indent="0" algn="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7200" b="0" spc="0">
                <a:solidFill>
                  <a:schemeClr val="accent2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B094B50-8697-4FEA-944C-70CC6D51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A8F1006C-6E52-4319-9707-70774418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46416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preserve="1" userDrawn="1">
  <p:cSld name="结束页_1_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38C22725-A51C-4431-A9F9-B522F716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355" y="0"/>
            <a:ext cx="5539105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424AAC99-D4FF-44C0-AAB9-19058941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8625" y="0"/>
            <a:ext cx="6702425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6" name="图片 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7bc7054860c4751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850765" y="908050"/>
            <a:ext cx="7360285" cy="5949950"/>
          </a:xfrm>
          <a:prstGeom xmlns:a="http://schemas.openxmlformats.org/drawingml/2006/main" prst="rect">
            <a:avLst/>
          </a:prstGeom>
        </p:spPr>
      </p:pic>
      <p:sp>
        <p:nvSpPr>
          <p:cNvPr id="8" name="Subtitle 7">
            <a:extLst xmlns:a="http://schemas.openxmlformats.org/drawingml/2006/main">
              <a:ext uri="{FF2B5EF4-FFF2-40B4-BE49-F238E27FC236}">
                <a16:creationId xmlns:a16="http://schemas.microsoft.com/office/drawing/2014/main" id="{2A84E680-FBC7-4CB2-8698-A9BA25AA19AD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1016000" y="2667000"/>
            <a:ext cx="54493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THE END</a:t>
            </a:r>
          </a:p>
        </p:txBody>
      </p:sp>
      <p:sp>
        <p:nvSpPr>
          <p:cNvPr id="6" name="标题 4">
            <a:extLst xmlns:a="http://schemas.openxmlformats.org/drawingml/2006/main">
              <a:ext uri="{FF2B5EF4-FFF2-40B4-BE49-F238E27FC236}">
                <a16:creationId xmlns:a16="http://schemas.microsoft.com/office/drawing/2014/main" id="{BB3B9986-17C0-4C0B-BCEE-4E697CF9D065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 hasCustomPrompt="1"/>
          </p:nvPr>
        </p:nvSpPr>
        <p:spPr>
          <a:xfrm xmlns:a="http://schemas.openxmlformats.org/drawingml/2006/main">
            <a:off x="1016000" y="3175000"/>
            <a:ext cx="5451122" cy="1016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400" b="0" spc="0">
                <a:solidFill>
                  <a:schemeClr val="tx2"/>
                </a:solidFill>
              </a:defRPr>
            </a:lvl1pPr>
          </a:lstStyle>
          <a:p xmlns:a="http://schemas.openxmlformats.org/drawingml/2006/main">
            <a:r>
              <a:t>谢谢观看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0DF5E00-6758-4FFB-B121-6A03DAE6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椭圆 2">
            <a:extLst xmlns:a="http://schemas.openxmlformats.org/drawingml/2006/main">
              <a:ext uri="{FF2B5EF4-FFF2-40B4-BE49-F238E27FC236}">
                <a16:creationId xmlns:a16="http://schemas.microsoft.com/office/drawing/2014/main" id="{6601768A-180F-4C07-8C3E-B541C1F8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椭圆 6">
            <a:extLst xmlns:a="http://schemas.openxmlformats.org/drawingml/2006/main">
              <a:ext uri="{FF2B5EF4-FFF2-40B4-BE49-F238E27FC236}">
                <a16:creationId xmlns:a16="http://schemas.microsoft.com/office/drawing/2014/main" id="{16504853-6B8A-4B22-8B8C-64B88A63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椭圆 8">
            <a:extLst xmlns:a="http://schemas.openxmlformats.org/drawingml/2006/main">
              <a:ext uri="{FF2B5EF4-FFF2-40B4-BE49-F238E27FC236}">
                <a16:creationId xmlns:a16="http://schemas.microsoft.com/office/drawing/2014/main" id="{8C7BC391-93DA-472A-AE87-4B7F4778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椭圆 10">
            <a:extLst xmlns:a="http://schemas.openxmlformats.org/drawingml/2006/main">
              <a:ext uri="{FF2B5EF4-FFF2-40B4-BE49-F238E27FC236}">
                <a16:creationId xmlns:a16="http://schemas.microsoft.com/office/drawing/2014/main" id="{476AB70A-E484-4997-B8DB-1EA579F7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28090CD9-D3A1-4DE2-B534-7F306A8D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143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目录页-1-5-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F6EABC1-3267-4966-8C17-E0B3B9641D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9238AED-D5EF-4DA4-9038-43302714E5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FFD9291-9F39-45BC-9F24-62B3D2909A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Subtitle 9">
            <a:extLst xmlns:a="http://schemas.openxmlformats.org/drawingml/2006/main">
              <a:ext uri="{FF2B5EF4-FFF2-40B4-BE49-F238E27FC236}">
                <a16:creationId xmlns:a16="http://schemas.microsoft.com/office/drawing/2014/main" id="{1AD6BDDF-4E35-40EC-ACE4-3D0DAA61B984}"/>
              </a:ext>
            </a:extLst>
          </p:cNvPr>
          <p:cNvSpPr>
            <a:spLocks xmlns:a="http://schemas.openxmlformats.org/drawingml/2006/main" noGrp="1"/>
          </p:cNvSpPr>
          <p:nvPr>
            <p:ph type="subTitle" idx="17826305" hasCustomPrompt="1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CONTENTS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7A09B91A-61F1-4483-A2B6-DEC907410824}"/>
              </a:ext>
            </a:extLst>
          </p:cNvPr>
          <p:cNvSpPr>
            <a:spLocks xmlns:a="http://schemas.openxmlformats.org/drawingml/2006/main" noGrp="1"/>
          </p:cNvSpPr>
          <p:nvPr>
            <p:ph type="ctrTitle" idx="17826049" hasCustomPrompt="1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目录</a:t>
            </a:r>
          </a:p>
        </p:txBody>
      </p:sp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17737482-C3C0-4E89-AF13-5CC075D36630}"/>
              </a:ext>
            </a:extLst>
          </p:cNvPr>
          <p:cNvSpPr>
            <a:spLocks xmlns:a="http://schemas.openxmlformats.org/drawingml/2006/main" noGrp="1"/>
          </p:cNvSpPr>
          <p:nvPr>
            <p:ph type="body" idx="319883777" hasCustomPrompt="1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C1730D6C-C22C-4D99-8459-D726F0C98C9D}"/>
              </a:ext>
            </a:extLst>
          </p:cNvPr>
          <p:cNvSpPr>
            <a:spLocks xmlns:a="http://schemas.openxmlformats.org/drawingml/2006/main" noGrp="1"/>
          </p:cNvSpPr>
          <p:nvPr>
            <p:ph type="body" idx="319883522" hasCustomPrompt="1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D67D0C01-27D2-493D-955B-4E02A270348B}"/>
              </a:ext>
            </a:extLst>
          </p:cNvPr>
          <p:cNvSpPr>
            <a:spLocks xmlns:a="http://schemas.openxmlformats.org/drawingml/2006/main" noGrp="1"/>
          </p:cNvSpPr>
          <p:nvPr>
            <p:ph type="body" idx="51446017" hasCustomPrompt="1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5210864C-E8D2-488E-8E49-5B1C8967C2A8}"/>
              </a:ext>
            </a:extLst>
          </p:cNvPr>
          <p:cNvSpPr>
            <a:spLocks xmlns:a="http://schemas.openxmlformats.org/drawingml/2006/main" noGrp="1"/>
          </p:cNvSpPr>
          <p:nvPr>
            <p:ph type="body" idx="319949313" hasCustomPrompt="1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53D987A8-C1E2-448C-9B6E-18D363BCE073}"/>
              </a:ext>
            </a:extLst>
          </p:cNvPr>
          <p:cNvSpPr>
            <a:spLocks xmlns:a="http://schemas.openxmlformats.org/drawingml/2006/main" noGrp="1"/>
          </p:cNvSpPr>
          <p:nvPr>
            <p:ph type="body" idx="319949058" hasCustomPrompt="1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8" name="Text Placeholder 17">
            <a:extLst xmlns:a="http://schemas.openxmlformats.org/drawingml/2006/main">
              <a:ext uri="{FF2B5EF4-FFF2-40B4-BE49-F238E27FC236}">
                <a16:creationId xmlns:a16="http://schemas.microsoft.com/office/drawing/2014/main" id="{4F9158D5-6495-44AB-8529-D5A21515C4DB}"/>
              </a:ext>
            </a:extLst>
          </p:cNvPr>
          <p:cNvSpPr>
            <a:spLocks xmlns:a="http://schemas.openxmlformats.org/drawingml/2006/main" noGrp="1"/>
          </p:cNvSpPr>
          <p:nvPr>
            <p:ph type="body" idx="51511553" hasCustomPrompt="1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8E5E2E4F-9089-4F7F-8E5B-685A48EE4492}"/>
              </a:ext>
            </a:extLst>
          </p:cNvPr>
          <p:cNvSpPr>
            <a:spLocks xmlns:a="http://schemas.openxmlformats.org/drawingml/2006/main" noGrp="1"/>
          </p:cNvSpPr>
          <p:nvPr>
            <p:ph type="body" idx="320014849" hasCustomPrompt="1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C67B4741-E4B7-4E0B-AC00-A3385F88816D}"/>
              </a:ext>
            </a:extLst>
          </p:cNvPr>
          <p:cNvSpPr>
            <a:spLocks xmlns:a="http://schemas.openxmlformats.org/drawingml/2006/main" noGrp="1"/>
          </p:cNvSpPr>
          <p:nvPr>
            <p:ph type="body" idx="320014594" hasCustomPrompt="1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C5072CDA-433A-49F3-AB0A-5FDA3D827A47}"/>
              </a:ext>
            </a:extLst>
          </p:cNvPr>
          <p:cNvSpPr>
            <a:spLocks xmlns:a="http://schemas.openxmlformats.org/drawingml/2006/main" noGrp="1"/>
          </p:cNvSpPr>
          <p:nvPr>
            <p:ph type="body" idx="51577089" hasCustomPrompt="1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2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102FA38C-57B6-4A3E-9105-D77AE0A92DD4}"/>
              </a:ext>
            </a:extLst>
          </p:cNvPr>
          <p:cNvSpPr>
            <a:spLocks xmlns:a="http://schemas.openxmlformats.org/drawingml/2006/main" noGrp="1"/>
          </p:cNvSpPr>
          <p:nvPr>
            <p:ph type="body" idx="320080385" hasCustomPrompt="1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B21086BF-33CE-4088-8132-DD7D1F3F1212}"/>
              </a:ext>
            </a:extLst>
          </p:cNvPr>
          <p:cNvSpPr>
            <a:spLocks xmlns:a="http://schemas.openxmlformats.org/drawingml/2006/main" noGrp="1"/>
          </p:cNvSpPr>
          <p:nvPr>
            <p:ph type="body" idx="320080130" hasCustomPrompt="1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4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BF55C18B-5862-41EB-B720-AC48BF657848}"/>
              </a:ext>
            </a:extLst>
          </p:cNvPr>
          <p:cNvSpPr>
            <a:spLocks xmlns:a="http://schemas.openxmlformats.org/drawingml/2006/main" noGrp="1"/>
          </p:cNvSpPr>
          <p:nvPr>
            <p:ph type="body" idx="51642625" hasCustomPrompt="1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0b896f01984626" /><Relationship Type="http://schemas.openxmlformats.org/officeDocument/2006/relationships/slideLayout" Target="/ppt/slideLayouts/slideLayout1.xml" Id="Re939417b7c3747cf" /><Relationship Type="http://schemas.openxmlformats.org/officeDocument/2006/relationships/slideLayout" Target="/ppt/slideLayouts/slideLayout2.xml" Id="Re89cd853865c4bf2" /><Relationship Type="http://schemas.openxmlformats.org/officeDocument/2006/relationships/slideLayout" Target="/ppt/slideLayouts/slideLayout3.xml" Id="R8b22e565ccef4d5a" /><Relationship Type="http://schemas.openxmlformats.org/officeDocument/2006/relationships/slideLayout" Target="/ppt/slideLayouts/slideLayout4.xml" Id="R2ea63c01f4aa4976" /><Relationship Type="http://schemas.openxmlformats.org/officeDocument/2006/relationships/slideLayout" Target="/ppt/slideLayouts/slideLayout5.xml" Id="R96a9e7b32db94313" /><Relationship Type="http://schemas.openxmlformats.org/officeDocument/2006/relationships/slideLayout" Target="/ppt/slideLayouts/slideLayout6.xml" Id="Rdd8d48d4ce954c7c" /><Relationship Type="http://schemas.openxmlformats.org/officeDocument/2006/relationships/slideLayout" Target="/ppt/slideLayouts/slideLayout7.xml" Id="Rc19c6fbfd29a4df8" /><Relationship Type="http://schemas.openxmlformats.org/officeDocument/2006/relationships/slideLayout" Target="/ppt/slideLayouts/slideLayout8.xml" Id="Ra19cac69193f4dd0" /><Relationship Type="http://schemas.openxmlformats.org/officeDocument/2006/relationships/slideLayout" Target="/ppt/slideLayouts/slideLayout9.xml" Id="Rf18636c94f884508" /><Relationship Type="http://schemas.openxmlformats.org/officeDocument/2006/relationships/slideLayout" Target="/ppt/slideLayouts/slideLayout10.xml" Id="Rbcd561be29e641a3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65e8dc135a544fbf" /><Relationship Type="http://schemas.openxmlformats.org/officeDocument/2006/relationships/slideLayout" Target="/ppt/slideLayouts/slideLayout11.xml" Id="Rb3e1cfe470854fa3" /><Relationship Type="http://schemas.openxmlformats.org/officeDocument/2006/relationships/slideLayout" Target="/ppt/slideLayouts/slideLayout12.xml" Id="Reb90c5dae87741a4" /><Relationship Type="http://schemas.openxmlformats.org/officeDocument/2006/relationships/slideLayout" Target="/ppt/slideLayouts/slideLayout13.xml" Id="R24f81b09fc044f66" /><Relationship Type="http://schemas.openxmlformats.org/officeDocument/2006/relationships/slideLayout" Target="/ppt/slideLayouts/slideLayout14.xml" Id="Rb67b6d2793e7492d" /><Relationship Type="http://schemas.openxmlformats.org/officeDocument/2006/relationships/slideLayout" Target="/ppt/slideLayouts/slideLayout15.xml" Id="Racc0836f24444faa" /><Relationship Type="http://schemas.openxmlformats.org/officeDocument/2006/relationships/slideLayout" Target="/ppt/slideLayouts/slideLayout16.xml" Id="R2fdafe784b44476b" /><Relationship Type="http://schemas.openxmlformats.org/officeDocument/2006/relationships/slideLayout" Target="/ppt/slideLayouts/slideLayout17.xml" Id="R176645d6dd7b4dcf" /><Relationship Type="http://schemas.openxmlformats.org/officeDocument/2006/relationships/slideLayout" Target="/ppt/slideLayouts/slideLayout18.xml" Id="R2d0dfd0b395e43fd" /><Relationship Type="http://schemas.openxmlformats.org/officeDocument/2006/relationships/slideLayout" Target="/ppt/slideLayouts/slideLayout19.xml" Id="R0780fc7f46834b73" /><Relationship Type="http://schemas.openxmlformats.org/officeDocument/2006/relationships/slideLayout" Target="/ppt/slideLayouts/slideLayout20.xml" Id="R3b8e1943b0954a78" /><Relationship Type="http://schemas.openxmlformats.org/officeDocument/2006/relationships/slideLayout" Target="/ppt/slideLayouts/slideLayout21.xml" Id="Rc0c73aaacbdc4bce" /><Relationship Type="http://schemas.openxmlformats.org/officeDocument/2006/relationships/slideLayout" Target="/ppt/slideLayouts/slideLayout22.xml" Id="R293c96c8252c4dff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87C2D50-0080-4315-B4FA-C649282D73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0365BA8-07F6-4390-B343-4D6E30D130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5ABBFB3-9BCE-4538-8ED3-6EE3304B007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D2B479-DDDA-484D-964C-7AFF8FDEC05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148DAE0-BC59-44E0-9729-2A9C9DD55AA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39417b7c3747cf"/>
    <p:sldLayoutId xmlns:r="http://schemas.openxmlformats.org/officeDocument/2006/relationships" id="2147483650" r:id="Re89cd853865c4bf2"/>
    <p:sldLayoutId xmlns:r="http://schemas.openxmlformats.org/officeDocument/2006/relationships" id="2147483651" r:id="R8b22e565ccef4d5a"/>
    <p:sldLayoutId xmlns:r="http://schemas.openxmlformats.org/officeDocument/2006/relationships" id="2147483652" r:id="R2ea63c01f4aa4976"/>
    <p:sldLayoutId xmlns:r="http://schemas.openxmlformats.org/officeDocument/2006/relationships" id="2147483653" r:id="R96a9e7b32db94313"/>
    <p:sldLayoutId xmlns:r="http://schemas.openxmlformats.org/officeDocument/2006/relationships" id="2147483654" r:id="Rdd8d48d4ce954c7c"/>
    <p:sldLayoutId xmlns:r="http://schemas.openxmlformats.org/officeDocument/2006/relationships" id="2147483655" r:id="Rc19c6fbfd29a4df8"/>
    <p:sldLayoutId xmlns:r="http://schemas.openxmlformats.org/officeDocument/2006/relationships" id="2147483656" r:id="Ra19cac69193f4dd0"/>
    <p:sldLayoutId xmlns:r="http://schemas.openxmlformats.org/officeDocument/2006/relationships" id="2147483657" r:id="Rf18636c94f884508"/>
    <p:sldLayoutId xmlns:r="http://schemas.openxmlformats.org/officeDocument/2006/relationships" id="2147483658" r:id="Rbcd561be29e641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0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0EB9BE55-7C96-468F-A18F-A931FE88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91255" cy="3428365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5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CD25DDA9-4379-469E-9AE2-0695210D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143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6CC58DB-0C7D-494F-BC5F-43BE8B01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48755"/>
            <a:ext cx="12192635" cy="30924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98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1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65AD0DF-2B1D-4E76-B9A7-992282E992A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63A76E9-9210-4F76-A482-C3CF9FC168B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D1445F3-A918-429A-9E0C-0C62DBD7FC2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95BAF3C-7B46-4791-8987-F3EF2FE3B6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43C5E987-B3C5-45E8-9901-E9F579E546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8" name="KSO_TEMPLATE" hidden="1">
            <a:extLst xmlns:a="http://schemas.openxmlformats.org/drawingml/2006/main">
              <a:ext uri="{FF2B5EF4-FFF2-40B4-BE49-F238E27FC236}">
                <a16:creationId xmlns:a16="http://schemas.microsoft.com/office/drawing/2014/main" id="{0D44C9A3-D2EC-4776-AE86-E20D2A9E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0" r:id="Rb3e1cfe470854fa3"/>
    <p:sldLayoutId xmlns:r="http://schemas.openxmlformats.org/officeDocument/2006/relationships" id="2147483661" r:id="Reb90c5dae87741a4"/>
    <p:sldLayoutId xmlns:r="http://schemas.openxmlformats.org/officeDocument/2006/relationships" id="2147483662" r:id="R24f81b09fc044f66"/>
    <p:sldLayoutId xmlns:r="http://schemas.openxmlformats.org/officeDocument/2006/relationships" id="2147483663" r:id="Rb67b6d2793e7492d"/>
    <p:sldLayoutId xmlns:r="http://schemas.openxmlformats.org/officeDocument/2006/relationships" id="2147483664" r:id="Racc0836f24444faa"/>
    <p:sldLayoutId xmlns:r="http://schemas.openxmlformats.org/officeDocument/2006/relationships" id="2147483665" r:id="R2fdafe784b44476b"/>
    <p:sldLayoutId xmlns:r="http://schemas.openxmlformats.org/officeDocument/2006/relationships" id="2147483666" r:id="R176645d6dd7b4dcf"/>
    <p:sldLayoutId xmlns:r="http://schemas.openxmlformats.org/officeDocument/2006/relationships" id="2147483667" r:id="R2d0dfd0b395e43fd"/>
    <p:sldLayoutId xmlns:r="http://schemas.openxmlformats.org/officeDocument/2006/relationships" id="2147483668" r:id="R0780fc7f46834b73"/>
    <p:sldLayoutId xmlns:r="http://schemas.openxmlformats.org/officeDocument/2006/relationships" id="2147483669" r:id="R3b8e1943b0954a78"/>
    <p:sldLayoutId xmlns:r="http://schemas.openxmlformats.org/officeDocument/2006/relationships" id="2147483670" r:id="Rc0c73aaacbdc4bce"/>
    <p:sldLayoutId xmlns:r="http://schemas.openxmlformats.org/officeDocument/2006/relationships" id="2147483671" r:id="R293c96c8252c4d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3200" b="1" i="0" u="none" spc="0">
          <a:solidFill>
            <a:schemeClr val="accent1">
              <a:lumMod val="7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0" algn="l">
        <a:lnSpc>
          <a:spcPct val="130000"/>
        </a:lnSpc>
        <a:spcBef>
          <a:spcPts val="1000"/>
        </a:spcBef>
        <a:buChar char="•"/>
        <a:defRPr sz="2400" spc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0" algn="l">
        <a:lnSpc>
          <a:spcPct val="130000"/>
        </a:lnSpc>
        <a:spcBef>
          <a:spcPts val="500"/>
        </a:spcBef>
        <a:buChar char="•"/>
        <a:defRPr sz="2000" spc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主题">
  <a:themeElements>
    <a:clrScheme name="自定义 399">
      <a:dk1>
        <a:srgbClr val="000000"/>
      </a:dk1>
      <a:lt1>
        <a:srgbClr val="FFFFFF"/>
      </a:lt1>
      <a:dk2>
        <a:srgbClr val="412B1D"/>
      </a:dk2>
      <a:lt2>
        <a:srgbClr val="FBF4EA"/>
      </a:lt2>
      <a:accent1>
        <a:srgbClr val="D59134"/>
      </a:accent1>
      <a:accent2>
        <a:srgbClr val="C46E34"/>
      </a:accent2>
      <a:accent3>
        <a:srgbClr val="DA6904"/>
      </a:accent3>
      <a:accent4>
        <a:srgbClr val="5B9BD5"/>
      </a:accent4>
      <a:accent5>
        <a:srgbClr val="327EC3"/>
      </a:accent5>
      <a:accent6>
        <a:srgbClr val="0563C1"/>
      </a:accent6>
      <a:hlink>
        <a:srgbClr val="C87A5C"/>
      </a:hlink>
      <a:folHlink>
        <a:srgbClr val="954F72"/>
      </a:folHlink>
    </a:clrScheme>
    <a:fontScheme name="商务风">
      <a:majorFont>
        <a:latin typeface="MiSans Medium"/>
        <a:ea typeface="MiSans Medium"/>
        <a:cs typeface=""/>
      </a:majorFont>
      <a:minorFont>
        <a:latin typeface="MiSans Normal"/>
        <a:ea typeface="MiSans Normal"/>
        <a:cs typeface=""/>
      </a:minorFont>
    </a:fontScheme>
    <a:fmtScheme name="自定义 399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03ded90263e94d0a" /><Relationship Type="http://schemas.openxmlformats.org/officeDocument/2006/relationships/image" Target="/ppt/media/image2.png" Id="R93545812df944037" /><Relationship Type="http://schemas.openxmlformats.org/officeDocument/2006/relationships/image" Target="/ppt/media/image2.svg" Id="R19950508ad064f64" /><Relationship Type="http://schemas.openxmlformats.org/officeDocument/2006/relationships/image" Target="/ppt/media/image3.png" Id="R4d27ddbd57284187" /><Relationship Type="http://schemas.openxmlformats.org/officeDocument/2006/relationships/image" Target="/ppt/media/image3.svg" Id="R1f023aa983a34875" /><Relationship Type="http://schemas.openxmlformats.org/officeDocument/2006/relationships/image" Target="/ppt/media/image4.png" Id="R2f5a5ae7506e46ad" /><Relationship Type="http://schemas.openxmlformats.org/officeDocument/2006/relationships/image" Target="/ppt/media/image4.svg" Id="Ra2f08791602948bf" /><Relationship Type="http://schemas.openxmlformats.org/officeDocument/2006/relationships/image" Target="/ppt/media/image5.png" Id="R5fb6eea90e6a4ea8" /><Relationship Type="http://schemas.openxmlformats.org/officeDocument/2006/relationships/image" Target="/ppt/media/image5.svg" Id="R085151fa07944354" /><Relationship Type="http://schemas.openxmlformats.org/officeDocument/2006/relationships/image" Target="/ppt/media/image6.png" Id="R2425b2a863c54f37" /><Relationship Type="http://schemas.openxmlformats.org/officeDocument/2006/relationships/image" Target="/ppt/media/image6.svg" Id="Rc47ceaa8a1cf4e8a" /><Relationship Type="http://schemas.openxmlformats.org/officeDocument/2006/relationships/image" Target="/ppt/media/image7.png" Id="R3dff6f71f5c741dd" /><Relationship Type="http://schemas.openxmlformats.org/officeDocument/2006/relationships/image" Target="/ppt/media/image7.svg" Id="R295f95452ce64069" /><Relationship Type="http://schemas.openxmlformats.org/officeDocument/2006/relationships/notesSlide" Target="/ppt/notesSlides/notesSlide1.xml" Id="R3303e386cbd840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7e1f11bc35b743bb" /><Relationship Type="http://schemas.openxmlformats.org/officeDocument/2006/relationships/image" Target="/ppt/media/image.jpeg" Id="R960ef6a8999a49a1" /><Relationship Type="http://schemas.openxmlformats.org/officeDocument/2006/relationships/image" Target="/ppt/media/image8.png" Id="Re0fc1bf1bb384379" /><Relationship Type="http://schemas.openxmlformats.org/officeDocument/2006/relationships/image" Target="/ppt/media/image8.svg" Id="R53e2ece90f024176" /><Relationship Type="http://schemas.openxmlformats.org/officeDocument/2006/relationships/image" Target="/ppt/media/image9.png" Id="R598d0d74ff7d45a3" /><Relationship Type="http://schemas.openxmlformats.org/officeDocument/2006/relationships/image" Target="/ppt/media/image9.svg" Id="R69c6a725e1ad474f" /><Relationship Type="http://schemas.openxmlformats.org/officeDocument/2006/relationships/image" Target="/ppt/media/image10.png" Id="R935e96103ee44271" /><Relationship Type="http://schemas.openxmlformats.org/officeDocument/2006/relationships/image" Target="/ppt/media/image10.svg" Id="Rfeddda56923e4e2b" /><Relationship Type="http://schemas.openxmlformats.org/officeDocument/2006/relationships/image" Target="/ppt/media/image11.png" Id="R1b417cc9b3ab4a5a" /><Relationship Type="http://schemas.openxmlformats.org/officeDocument/2006/relationships/image" Target="/ppt/media/image11.svg" Id="Rbfcfe77771074e3b" /><Relationship Type="http://schemas.openxmlformats.org/officeDocument/2006/relationships/notesSlide" Target="/ppt/notesSlides/notesSlide2.xml" Id="Rf1b99a62edee4e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1aaa85d656424b39" /><Relationship Type="http://schemas.openxmlformats.org/officeDocument/2006/relationships/notesSlide" Target="/ppt/notesSlides/notesSlide3.xml" Id="R7371016983eb4b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049f1a9558b64d87" /><Relationship Type="http://schemas.openxmlformats.org/officeDocument/2006/relationships/image" Target="/ppt/media/image12.png" Id="Rd1438e63fc7b45b6" /><Relationship Type="http://schemas.openxmlformats.org/officeDocument/2006/relationships/image" Target="/ppt/media/image12.svg" Id="Rcf81a800715e4eef" /><Relationship Type="http://schemas.openxmlformats.org/officeDocument/2006/relationships/notesSlide" Target="/ppt/notesSlides/notesSlide4.xml" Id="Re2c90bf8065543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fb989b7689da417a" /><Relationship Type="http://schemas.openxmlformats.org/officeDocument/2006/relationships/image" Target="/ppt/media/image13.png" Id="Rfdfa2db6dde94fcc" /><Relationship Type="http://schemas.openxmlformats.org/officeDocument/2006/relationships/notesSlide" Target="/ppt/notesSlides/notesSlide5.xml" Id="R08b97d62ff464e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0ba0d350097941ac" /><Relationship Type="http://schemas.openxmlformats.org/officeDocument/2006/relationships/notesSlide" Target="/ppt/notesSlides/notesSlide6.xml" Id="Rec4e74ad107943d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1C42F217-304A-4799-8C58-9EDCB520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A3BA593E-1EE2-4F85-8021-A467C368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D55BC454-E092-483C-A172-9F4DA9F1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VIP 先生 家庭财富传承方案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E9BC7219-184A-401F-8E46-733C80DD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11039475" cy="17907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E5082DB0-9B1F-4CCB-B603-40D9AF07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965" y="1757045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545812df944037">
            <a:extLst>
              <a:ext uri="{96DAC541-7B7A-43D3-8B79-37D633B846F1}">
                <asvg:svgBlip xmlns:asvg="http://schemas.microsoft.com/office/drawing/2016/SVG/main" r:embed="R19950508ad064f64"/>
              </a:ext>
            </a:extLst>
          </a:blip>
          <a:srcRect xmlns:a="http://schemas.openxmlformats.org/drawingml/2006/main" l="-2083" t="-4348" r="-2083" b="-43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26235" y="18859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812A083-0BA8-4075-BFE0-08BAF9A6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078" y="1802606"/>
            <a:ext cx="9157468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友邦保险 · 「匠X・传承」储蓄寿险计划2(尊尚版)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0D4407E-770D-4DAA-BBC6-E3202602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CA23EA66-D8D2-448A-AE9C-93740C84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315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3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27ddbd57284187">
            <a:extLst>
              <a:ext uri="{96DAC541-7B7A-43D3-8B79-37D633B846F1}">
                <asvg:svgBlip xmlns:asvg="http://schemas.microsoft.com/office/drawing/2016/SVG/main" r:embed="R1f023aa983a34875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30120" y="3446145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EBFFE91F-094E-4DA3-AE68-2075BA41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975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专业团队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9A15F52A-E3BA-420A-B614-41FDE997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25" y="4264838"/>
            <a:ext cx="30861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资深财富规划师、税务专家、法律顾问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58766344-83D0-43BA-85AE-0CC9BA60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627" y="4668660"/>
            <a:ext cx="1975771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12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年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平均经验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99BA36FA-ACB8-486B-ACCE-0A1E41E7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4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F863E515-9B37-46D6-9A8D-C48EB071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5a5ae7506e46ad">
            <a:extLst>
              <a:ext uri="{96DAC541-7B7A-43D3-8B79-37D633B846F1}">
                <asvg:svgBlip xmlns:asvg="http://schemas.microsoft.com/office/drawing/2016/SVG/main" r:embed="Ra2f08791602948bf"/>
              </a:ext>
            </a:extLst>
          </a:blip>
          <a:srcRect xmlns:a="http://schemas.openxmlformats.org/drawingml/2006/main" l="0" t="-8824" r="0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344614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74C296B8-3C44-49C4-B727-CFA8C30F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服务理念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7155E546-6FF1-4EFE-B0D0-A887AB49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264838"/>
            <a:ext cx="188602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以家族长远利益为核心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B336A2FE-2FA2-4F32-A23A-8E061461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68660"/>
            <a:ext cx="236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全生命周期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解决方案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CFAA7848-0E44-46A2-B9E6-AAF46B6E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89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26BD867D-2BA9-4CF4-A274-4ABDF96B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950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b6eea90e6a4ea8">
            <a:extLst>
              <a:ext uri="{96DAC541-7B7A-43D3-8B79-37D633B846F1}">
                <asvg:svgBlip xmlns:asvg="http://schemas.microsoft.com/office/drawing/2016/SVG/main" r:embed="R085151fa07944354"/>
              </a:ext>
            </a:extLst>
          </a:blip>
          <a:srcRect xmlns:a="http://schemas.openxmlformats.org/drawingml/2006/main" l="-2632" t="0" r="-26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47250" y="344614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848F9E6B-9830-4D70-8129-5B90300E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26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成功案例</a:t>
            </a: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88DDD8F2-4B1E-44C2-A8EC-0C2556B8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7059" y="4264838"/>
            <a:ext cx="1971008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200+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家族财富传承规划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2E46E73E-6350-4313-BF99-66DB883E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5074" y="4668660"/>
            <a:ext cx="1574978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98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%</a:t>
            </a: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执行率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9648A1DF-F6D7-42FB-87BF-34EA2DC1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5452745"/>
            <a:ext cx="11039475" cy="1019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0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25b2a863c54f37">
            <a:extLst>
              <a:ext uri="{96DAC541-7B7A-43D3-8B79-37D633B846F1}">
                <asvg:svgBlip xmlns:asvg="http://schemas.microsoft.com/office/drawing/2016/SVG/main" r:embed="Rc47ceaa8a1cf4e8a"/>
              </a:ext>
            </a:extLst>
          </a:blip>
          <a:srcRect xmlns:a="http://schemas.openxmlformats.org/drawingml/2006/main" l="-972" t="-32353" r="-972" b="-323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6145" y="5829300"/>
            <a:ext cx="233045" cy="266700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28CE8A58-0DB0-42D2-B9E2-810A419F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424" y="5710238"/>
            <a:ext cx="952500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i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2026-06-02</a:t>
            </a:r>
          </a:p>
        </p:txBody>
      </p:sp>
      <p:pic>
        <p:nvPicPr>
          <p:cNvPr id="32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ff6f71f5c741dd">
            <a:extLst>
              <a:ext uri="{96DAC541-7B7A-43D3-8B79-37D633B846F1}">
                <asvg:svgBlip xmlns:asvg="http://schemas.microsoft.com/office/drawing/2016/SVG/main" r:embed="R295f95452ce64069"/>
              </a:ext>
            </a:extLst>
          </a:blip>
          <a:srcRect xmlns:a="http://schemas.openxmlformats.org/drawingml/2006/main" l="-972" t="-32353" r="-972" b="-323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52175" y="5829300"/>
            <a:ext cx="233045" cy="266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51591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98E0AE3F-3A1C-49E4-9D10-254CE3F3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D6466AF8-590E-4F52-B2C6-6CDB9EB1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F0F69EDF-E28E-4CDA-BEF2-FCC3C60C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关于我们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17F7FD47-972E-47B3-8252-4FF17F5D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615" y="1104900"/>
            <a:ext cx="915035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A3285EB2-B343-4C33-B2B8-48755E6B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625" y="1181100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核心优势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45184815-CC36-405C-8D1A-C18F3DC0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652270"/>
            <a:ext cx="3508375" cy="23101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A2027ABE-4F21-49B0-A113-986EB7BA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84785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专注储蓄险定制与长期资产配置</a:t>
            </a:r>
          </a:p>
        </p:txBody>
      </p:sp>
      <p:pic>
        <p:nvPicPr>
          <p:cNvPr id="1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0ef6a8999a49a1"/>
          <a:srcRect xmlns:a="http://schemas.openxmlformats.org/drawingml/2006/main" l="16656" t="0" r="166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745" y="195707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014DC2B-6DBA-4C07-BEBC-0458D1C7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847850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长期稳健增值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B72FDEDF-5316-49F2-9B51-2784D35B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209800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产品设计以长期稳健增长为核心目标，通过多元化资产配置策略，在控制风险的前提下实现资产的持续增值。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0740644C-B03B-4501-86D7-9DB4DC7A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519488"/>
            <a:ext cx="1220991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专业团队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8BE9C908-85FD-4CB9-8122-B2B4F78E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316" y="3609975"/>
            <a:ext cx="13716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资深财富规划师、税务专家、法律顾问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DBEDA915-3A07-43DD-BC58-CC776EF3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162425"/>
            <a:ext cx="3508375" cy="23094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33389D71-1FDE-4C75-B2A4-8B92C857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38150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fc1bf1bb384379">
            <a:extLst>
              <a:ext uri="{96DAC541-7B7A-43D3-8B79-37D633B846F1}">
                <asvg:svgBlip xmlns:asvg="http://schemas.microsoft.com/office/drawing/2016/SVG/main" r:embed="R53e2ece90f024176"/>
              </a:ext>
            </a:extLst>
          </a:blip>
          <a:srcRect xmlns:a="http://schemas.openxmlformats.org/drawingml/2006/main" l="-2500" t="-15625" r="-2500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745" y="449072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476E68B8-1F1E-4630-9E3A-99F8507C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381500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灵活提领机制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6EFCA4D0-40B0-4615-BC70-2DC943A7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43450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核心方案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B1AB2339-FBF3-47E6-B4DD-E8F9D169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以官方计划书为依据，结构化输出客户沟通版计划书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4B50DA35-7D39-49F4-A05E-672FE0CC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801" y="6053138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860BB1C2-67B2-4A61-B1B5-CE6AA4E4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477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弹性提领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B38CA4F9-EF08-4C6F-8594-1F8E31A7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344" y="6053138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8A7021D7-448F-4146-808F-C857671E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020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紧急调用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E9697B47-47AB-49EF-8736-1D0D320A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495" y="1109345"/>
            <a:ext cx="3508375" cy="2581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2DD1EECF-E5F9-4A80-A8CE-15F23340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75" y="14643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8d0d74ff7d45a3">
            <a:extLst>
              <a:ext uri="{96DAC541-7B7A-43D3-8B79-37D633B846F1}">
                <asvg:svgBlip xmlns:asvg="http://schemas.microsoft.com/office/drawing/2016/SVG/main" r:embed="R69c6a725e1ad474f"/>
              </a:ext>
            </a:extLst>
          </a:blip>
          <a:srcRect xmlns:a="http://schemas.openxmlformats.org/drawingml/2006/main" l="-3333" t="-2500" r="-3333" b="-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70425" y="1573530"/>
            <a:ext cx="152400" cy="200025"/>
          </a:xfrm>
          <a:prstGeom xmlns:a="http://schemas.openxmlformats.org/drawingml/2006/main" prst="rect">
            <a:avLst/>
          </a:prstGeom>
        </p:spPr>
      </p:pic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8354508E-08ED-4063-826D-A82175F3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1464469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税务优化优势</a:t>
            </a: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FD8837D6-81A6-482C-A8EA-266E954A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1826419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充分利用保险产品的税收优惠政策，通过合理的架构设计，有效降低遗产税、赠与税等税务成本。</a:t>
            </a: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5F23C6DD-1B0B-41B2-8DFA-8B8B2E38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3136106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遗产税优化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2590C555-8338-4482-93D6-7AB4196F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777" y="3136106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BA8B8A4E-45BB-4230-BE03-B79667A6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7453" y="3136106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赠与税减免</a:t>
            </a:r>
          </a:p>
        </p:txBody>
      </p:sp>
      <p:sp>
        <p:nvSpPr>
          <p:cNvPr id="34" name="任意多边形 33">
            <a:extLst xmlns:a="http://schemas.openxmlformats.org/drawingml/2006/main">
              <a:ext uri="{FF2B5EF4-FFF2-40B4-BE49-F238E27FC236}">
                <a16:creationId xmlns:a16="http://schemas.microsoft.com/office/drawing/2014/main" id="{D799C785-A521-4B69-B94C-058FFB82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495" y="3890645"/>
            <a:ext cx="3508375" cy="2581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244A579C-FD60-4B19-B8C0-8DDFE96B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75" y="4245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6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5e96103ee44271">
            <a:extLst>
              <a:ext uri="{96DAC541-7B7A-43D3-8B79-37D633B846F1}">
                <asvg:svgBlip xmlns:asvg="http://schemas.microsoft.com/office/drawing/2016/SVG/main" r:embed="Rfeddda56923e4e2b"/>
              </a:ext>
            </a:extLst>
          </a:blip>
          <a:srcRect xmlns:a="http://schemas.openxmlformats.org/drawingml/2006/main" l="-8333" t="-5263" r="-8333" b="-52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6295" y="4354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DF412168-7DFB-4DB7-9BFC-BBA67879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4245769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资产隔离保护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8BB05C11-CFF6-4F66-B736-862F4F02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4607719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保险资产具有独立的法律地位，可有效实现家庭资产与企业经营风险隔离，构建坚实的法律保护屏障。</a:t>
            </a: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D299F05E-D45C-4105-AF2F-A5297867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591740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法律独立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1EE95683-3D4B-46C5-B095-FDA7294C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377" y="5917406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9C6D316D-CA6B-474C-8C9D-F6F8FE95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053" y="591740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风险隔离</a:t>
            </a:r>
          </a:p>
        </p:txBody>
      </p:sp>
      <p:sp>
        <p:nvSpPr>
          <p:cNvPr id="42" name="任意多边形 41">
            <a:extLst xmlns:a="http://schemas.openxmlformats.org/drawingml/2006/main">
              <a:ext uri="{FF2B5EF4-FFF2-40B4-BE49-F238E27FC236}">
                <a16:creationId xmlns:a16="http://schemas.microsoft.com/office/drawing/2014/main" id="{E7A3A596-B0D6-4744-8AA9-145510B8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045" y="1109345"/>
            <a:ext cx="3508375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 w="9525" cmpd="sng">
            <a:solidFill>
              <a:srgbClr val="D59134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987FAAC3-B118-4E02-8437-F5E0358B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625" y="1304925"/>
            <a:ext cx="3117850" cy="8953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任意多边形 43">
            <a:extLst xmlns:a="http://schemas.openxmlformats.org/drawingml/2006/main">
              <a:ext uri="{FF2B5EF4-FFF2-40B4-BE49-F238E27FC236}">
                <a16:creationId xmlns:a16="http://schemas.microsoft.com/office/drawing/2014/main" id="{5806CB4F-49FB-4A3A-9CDF-CDAB4FD2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625" y="2190750"/>
            <a:ext cx="3117850" cy="95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>
              <a:alpha val="2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FDD830A1-FE49-40E8-8107-99B65A45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0100" y="1304925"/>
            <a:ext cx="342900" cy="3429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17cc9b3ab4a5a">
            <a:extLst>
              <a:ext uri="{96DAC541-7B7A-43D3-8B79-37D633B846F1}">
                <asvg:svgBlip xmlns:asvg="http://schemas.microsoft.com/office/drawing/2016/SVG/main" r:embed="Rbfcfe77771074e3b"/>
              </a:ext>
            </a:extLst>
          </a:blip>
          <a:srcRect xmlns:a="http://schemas.openxmlformats.org/drawingml/2006/main" l="-6852" t="-4510" r="-6852" b="-45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3760" y="1385570"/>
            <a:ext cx="194945" cy="176530"/>
          </a:xfrm>
          <a:prstGeom xmlns:a="http://schemas.openxmlformats.org/drawingml/2006/main" prst="rect">
            <a:avLst/>
          </a:prstGeom>
        </p:spPr>
      </p:pic>
      <p:sp>
        <p:nvSpPr>
          <p:cNvPr id="48" name="任意多边形 47">
            <a:extLst xmlns:a="http://schemas.openxmlformats.org/drawingml/2006/main">
              <a:ext uri="{FF2B5EF4-FFF2-40B4-BE49-F238E27FC236}">
                <a16:creationId xmlns:a16="http://schemas.microsoft.com/office/drawing/2014/main" id="{69931B19-26BA-49B8-A916-AE918291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350" y="1724025"/>
            <a:ext cx="9144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F6AEA6E7-6419-412B-8D31-0AA054FA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776" y="1800225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最受关注</a:t>
            </a:r>
          </a:p>
        </p:txBody>
      </p:sp>
      <p:sp>
        <p:nvSpPr>
          <p:cNvPr id="50" name="任意多边形 49">
            <a:extLst xmlns:a="http://schemas.openxmlformats.org/drawingml/2006/main">
              <a:ext uri="{FF2B5EF4-FFF2-40B4-BE49-F238E27FC236}">
                <a16:creationId xmlns:a16="http://schemas.microsoft.com/office/drawing/2014/main" id="{F3B6C4BB-30BE-49D2-BB9E-DEFDF60A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2352675"/>
            <a:ext cx="3117850" cy="18859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1B33AA0E-287B-4E89-9301-A25A3271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2466975"/>
            <a:ext cx="28892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财富传承效率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8DB297B9-5A4D-4E48-B920-2A272866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2778919"/>
            <a:ext cx="2889275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通过税务优化与法律架构设计，最大化家族财富代际传承效率，降低资产损耗。</a:t>
            </a: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87649D6E-A9A4-4A21-987A-CEA35C1D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3707606"/>
            <a:ext cx="152400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最大化</a:t>
            </a:r>
          </a:p>
        </p:txBody>
      </p:sp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0B975315-5342-4BE2-96DD-2D258864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076" y="3902869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传承效率</a:t>
            </a:r>
          </a:p>
        </p:txBody>
      </p:sp>
      <p:sp>
        <p:nvSpPr>
          <p:cNvPr id="55" name="任意多边形 54">
            <a:extLst xmlns:a="http://schemas.openxmlformats.org/drawingml/2006/main">
              <a:ext uri="{FF2B5EF4-FFF2-40B4-BE49-F238E27FC236}">
                <a16:creationId xmlns:a16="http://schemas.microsoft.com/office/drawing/2014/main" id="{4E98DD20-7990-420B-8AE3-3C8E062E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4391025"/>
            <a:ext cx="3117850" cy="18859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文本框 55">
            <a:extLst xmlns:a="http://schemas.openxmlformats.org/drawingml/2006/main">
              <a:ext uri="{FF2B5EF4-FFF2-40B4-BE49-F238E27FC236}">
                <a16:creationId xmlns:a16="http://schemas.microsoft.com/office/drawing/2014/main" id="{9E9ABA66-5815-41C2-8FF6-98BDE544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4505325"/>
            <a:ext cx="28892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风险保障等级</a:t>
            </a:r>
          </a:p>
        </p:txBody>
      </p:sp>
      <p:sp>
        <p:nvSpPr>
          <p:cNvPr id="57" name="文本框 56">
            <a:extLst xmlns:a="http://schemas.openxmlformats.org/drawingml/2006/main">
              <a:ext uri="{FF2B5EF4-FFF2-40B4-BE49-F238E27FC236}">
                <a16:creationId xmlns:a16="http://schemas.microsoft.com/office/drawing/2014/main" id="{C19CF021-37D6-48BB-ACC6-5D0646A1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4817269"/>
            <a:ext cx="2889275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多重法律保障机制叠加，为家族核心资产提供全周期、全方位的安全防护体系。</a:t>
            </a:r>
          </a:p>
        </p:txBody>
      </p:sp>
      <p:sp>
        <p:nvSpPr>
          <p:cNvPr id="58" name="文本框 57">
            <a:extLst xmlns:a="http://schemas.openxmlformats.org/drawingml/2006/main">
              <a:ext uri="{FF2B5EF4-FFF2-40B4-BE49-F238E27FC236}">
                <a16:creationId xmlns:a16="http://schemas.microsoft.com/office/drawing/2014/main" id="{56336C9C-5CE3-4ED3-A81D-589825CC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5745956"/>
            <a:ext cx="152400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全周期</a:t>
            </a:r>
          </a:p>
        </p:txBody>
      </p:sp>
      <p:sp>
        <p:nvSpPr>
          <p:cNvPr id="59" name="文本框 58">
            <a:extLst xmlns:a="http://schemas.openxmlformats.org/drawingml/2006/main">
              <a:ext uri="{FF2B5EF4-FFF2-40B4-BE49-F238E27FC236}">
                <a16:creationId xmlns:a16="http://schemas.microsoft.com/office/drawing/2014/main" id="{821CD6AD-2EC5-400E-A564-2D94DAE2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076" y="5941219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安全防护</a:t>
            </a:r>
          </a:p>
        </p:txBody>
      </p:sp>
    </p:spTree>
    <p:extLst>
      <p:ext uri="{BB962C8B-B14F-4D97-AF65-F5344CB8AC3E}">
        <p14:creationId xmlns:p14="http://schemas.microsoft.com/office/powerpoint/2010/main" val="8781938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D046B49C-D604-4CBF-97F2-82BF3A4F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5E9D75BE-7675-416D-994C-1B1BE151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C15FB1C-04A8-4665-8091-379A9A3E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产品核心亮点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2127B064-FE32-4D92-8ED3-9A2CB201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300" y="1331576"/>
            <a:ext cx="1980009" cy="8353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3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倍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89E4B8A-7FB9-4A3B-A2D6-5E004742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909" y="167542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长期增值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81448BE8-35EA-4178-AFBE-BB6AF361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685" y="2284730"/>
            <a:ext cx="139255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9CE4E41C-2A38-4877-AC62-67A4D5A6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217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10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7C70C833-CB68-44C6-839D-D88AEF5B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321" y="2361228"/>
            <a:ext cx="65015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85%+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9FEC37A1-691E-4509-9DA5-F2615F83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740" y="2284730"/>
            <a:ext cx="134429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长期稳健增值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8259422-ED50-45A2-BAB0-CFC2F3D7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529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基于官方利益演示，展示不提领与提领两种路径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DD68A296-ADCA-4F16-8EC4-32C74A4A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634" y="2361228"/>
            <a:ext cx="60186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总缴保费约 US$500,000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17E6D579-5B9F-4D9C-9F55-A946ED06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535" y="2284730"/>
            <a:ext cx="141414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ABA4060-F6E3-4DEC-AA68-7151E563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539" y="237551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长期持有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21B6F3F4-DDB3-48CA-AD9E-9712940A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316" y="2361228"/>
            <a:ext cx="55691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E1455D6A-D725-4600-88D8-2DB1FE91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164840"/>
            <a:ext cx="5400675" cy="33070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0C812443-274C-4576-98B4-BC447841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不提领：第20年约 2.73 倍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16FAE891-0E95-4A9C-B3F3-51A1AAE3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4655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9927C24-C1C6-4EE8-B3EB-F3CE91D0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63295"/>
            <a:ext cx="3157538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积累期（第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1-10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FB4FFAD3-F5C5-4835-86FE-88E53C3F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5708"/>
            <a:ext cx="33289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稳步积累，第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10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年末达已交保费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85%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以上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AFC33E56-DD56-427B-A47A-5EC89DE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6824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CCB54DE1-9D93-4B47-BE3F-2631EDC8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85274"/>
            <a:ext cx="2530373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不提领：第30年约 5.57 倍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90555E71-217D-4C15-835C-B526C6AB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37687"/>
            <a:ext cx="270183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复利效应显著，第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25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59282124-4131-4C40-8814-5FD687DA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9056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EA3BC676-31D9-4FE8-8667-A125A53D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7253"/>
            <a:ext cx="250738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传承期（第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26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年及以后）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83304A5B-E07C-4FF5-97DC-E23BF538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9666"/>
            <a:ext cx="26788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持续稳健增长，长期可达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倍以上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940F8F70-C039-46D4-8F08-4268B976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3164840"/>
            <a:ext cx="5400675" cy="20307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F4872C21-1040-4B65-8830-8395244F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关键数字可回溯至官方保单表格与来源页码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2007662E-5A05-45EE-9C44-1BF11D61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4558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358C5461-CCEA-4BCB-90CB-466E507D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976983"/>
            <a:ext cx="3048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时间复利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的力量让财富跨越式增长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D465BAA3-E368-40CA-8A8A-C8829D6F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1454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966D31BF-2FA7-442D-8451-B346E0D9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45959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为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家族传承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奠定坚实物质基础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42211B2B-CECF-4CCD-86DD-83C5B1B7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5395595"/>
            <a:ext cx="5400675" cy="10763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5BB7B94F-ECB9-48E4-B164-B5D38CC1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59" y="5576888"/>
            <a:ext cx="4839891" cy="7096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时间复利的力量让您的财富在稳健中实现跨越式增长，为家族传承奠定坚实的物质基础。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8299725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326DC167-6D13-4CE8-9B63-6A91F06B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B7309C78-1A93-487C-ADD4-C650F9F5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076BF2DA-C516-46FB-9953-9CC920FE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现金价值增长曲线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62A4CAA1-E7EA-4574-B445-F8983BA2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" y="1111250"/>
            <a:ext cx="5868670" cy="16986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13087" cmpd="sng">
            <a:solidFill>
              <a:srgbClr val="D59134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2AD5EFF1-BEB1-4351-85E8-9A37DAF6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294765"/>
            <a:ext cx="523240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7CF04F31-43B7-431B-9323-3F5BB090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230" y="1320800"/>
            <a:ext cx="41846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方案一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F7E191B6-A841-4C82-9FCA-788E334D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1294765"/>
            <a:ext cx="36639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第20年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0A6365B3-A5C8-41E0-BCDD-96AA153A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505" y="1320800"/>
            <a:ext cx="31432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FFFFFF"/>
                </a:solidFill>
                <a:latin typeface="MiSans"/>
                <a:ea typeface="MiSans"/>
                <a:cs typeface="MiSans"/>
              </a:rPr>
              <a:t>退保价值约 US$1,366,345，约为本金 2.73 倍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09EBC556-3B87-4C50-8257-A4BF7FEA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497330"/>
            <a:ext cx="5332095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定期定额提领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60F1111-D7D9-4DB1-8AF9-C8B1C89F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706880"/>
            <a:ext cx="5332095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第30年</a:t>
            </a: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2F87CAEF-D6D1-494B-BD4B-CA98CBE4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229235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退保价值约 US$2,782,754，约为本金 5.57 倍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E757A9A6-B45D-4948-891C-AC495B88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560" y="231838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日常开支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492CA9C5-55D0-4C77-9339-CDE25C23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" y="229235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B7D05B2E-949D-4F09-996A-5646CD5D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210" y="2318385"/>
            <a:ext cx="523240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教育支出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18AD414E-F33C-43E0-8C08-B8644F39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75" y="2950845"/>
            <a:ext cx="5875020" cy="16929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6543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长期持有</a:t>
            </a: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88A9BA76-7AE8-411D-AF33-9B9FAF0A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130550"/>
            <a:ext cx="52387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本页聚焦不提领视角，展示保单现金价值随时间增长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CF2661B-3018-46D5-9ACA-294D78E4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45" y="3157220"/>
            <a:ext cx="419100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方案二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5B819D2-0197-4F67-A055-35D1ED6C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333750"/>
            <a:ext cx="5345430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阶段性大额提领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C950342C-05F2-43FC-B30E-0076C795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543300"/>
            <a:ext cx="5345430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针对家族重大事件（如子女婚嫁、创业支持、房产购置等），可申请大额提领，灵活应对家族重要节点的资金需求。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B80786DF-6D45-4723-B97C-9983797F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08A80873-1297-4C51-A7B5-8F529EEB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" y="4155440"/>
            <a:ext cx="52387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婚嫁支持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6848BC31-F22E-4720-A0D3-54945718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56EFF312-EDA6-47FF-A78E-AF7111A9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4155440"/>
            <a:ext cx="52387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创业资金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F99D6F96-6A88-45ED-AA49-F62330C9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135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FE05D7AD-3A74-4A39-8273-EA33DA5E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875" y="4155440"/>
            <a:ext cx="5232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房产购置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0D37A5F0-61DD-4E56-B3D7-5E6F470B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75" y="4780915"/>
            <a:ext cx="5875020" cy="16929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6543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任意多边形 29">
            <a:extLst xmlns:a="http://schemas.openxmlformats.org/drawingml/2006/main">
              <a:ext uri="{FF2B5EF4-FFF2-40B4-BE49-F238E27FC236}">
                <a16:creationId xmlns:a16="http://schemas.microsoft.com/office/drawing/2014/main" id="{DECF817C-2713-4F71-9AEC-329BA52D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4960620"/>
            <a:ext cx="52387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D6652D40-984C-4453-BA47-5BA2B815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45" y="4987290"/>
            <a:ext cx="4191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方案三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337EFE9-132D-4A3C-A39B-3014CEC2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163820"/>
            <a:ext cx="5345430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应急资金调用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AD48FCAB-7A26-42D1-9D19-DE81C75F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373370"/>
            <a:ext cx="5345430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设立应急提领通道，在家族遭遇突发情况时，可快速调用部分现金价值，解决燃眉之急，体现家族办公室的人性化服务。</a:t>
            </a:r>
          </a:p>
        </p:txBody>
      </p:sp>
      <p:sp>
        <p:nvSpPr>
          <p:cNvPr id="34" name="任意多边形 33">
            <a:extLst xmlns:a="http://schemas.openxmlformats.org/drawingml/2006/main">
              <a:ext uri="{FF2B5EF4-FFF2-40B4-BE49-F238E27FC236}">
                <a16:creationId xmlns:a16="http://schemas.microsoft.com/office/drawing/2014/main" id="{6D5C0EBB-D97D-4284-A9B0-C78DF346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95884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22651680-F928-40E9-8913-D70A6472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" y="598487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快速通道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A7482484-517C-4F88-9DF1-60A8AD0C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595884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84943883-B491-43AF-AE6B-F2D37587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598487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突发应对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E8676B13-90BD-4932-9108-25A378F5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015" y="1109345"/>
            <a:ext cx="4891405" cy="53632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8850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81212661-FA9A-4E99-9E0F-857A19EF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790" y="1397000"/>
            <a:ext cx="4174490" cy="327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提领策略建议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A87D1515-7CBD-4A97-818A-4D484503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1741805"/>
            <a:ext cx="4175125" cy="11861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5683A4B8-8D09-4B4E-9E06-4DFAF087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955" y="1828165"/>
            <a:ext cx="3820795" cy="10090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"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保留不低于现金价值</a:t>
            </a:r>
            <a:r>
              <a:rPr sz="2225" b="1" spc="-22">
                <a:solidFill>
                  <a:srgbClr val="5A3E0F"/>
                </a:solidFill>
                <a:latin typeface="MiSans"/>
                <a:ea typeface="MiSans"/>
                <a:cs typeface="MiSans"/>
              </a:rPr>
              <a:t>60%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的余额，确保保单持续有效并享受长期增值收益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E2321CB2-D66E-4999-A78D-2DEEF52C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29457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4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438e63fc7b45b6">
            <a:extLst>
              <a:ext uri="{96DAC541-7B7A-43D3-8B79-37D633B846F1}">
                <asvg:svgBlip xmlns:asvg="http://schemas.microsoft.com/office/drawing/2016/SVG/main" r:embed="Rcf81a800715e4eef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3016250"/>
            <a:ext cx="93345" cy="106680"/>
          </a:xfrm>
          <a:prstGeom xmlns:a="http://schemas.openxmlformats.org/drawingml/2006/main" prst="rect">
            <a:avLst/>
          </a:prstGeom>
        </p:spPr>
      </p:pic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539ED855-81F1-4AFD-9F1A-050E8C9F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2932430"/>
            <a:ext cx="3855720" cy="588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定期评估现金流需求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，根据家族实际支出情况调整提领频率与金额，避免过度提领影响保单价值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A86343C8-68E0-49B2-B9BD-FDAE8CD6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35299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438e63fc7b45b6">
            <a:extLst>
              <a:ext uri="{96DAC541-7B7A-43D3-8B79-37D633B846F1}">
                <asvg:svgBlip xmlns:asvg="http://schemas.microsoft.com/office/drawing/2016/SVG/main" r:embed="Rcf81a800715e4eef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3600450"/>
            <a:ext cx="93345" cy="106680"/>
          </a:xfrm>
          <a:prstGeom xmlns:a="http://schemas.openxmlformats.org/drawingml/2006/main" prst="rect">
            <a:avLst/>
          </a:prstGeom>
        </p:spPr>
      </p:pic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7622908F-D91B-4726-8B2C-DB78F279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3516630"/>
            <a:ext cx="3869690" cy="588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重大事件提前规划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，子女婚嫁、创业等大额支出应提前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6-12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个月与顾问沟通，制定最优提领方案</a:t>
            </a:r>
          </a:p>
        </p:txBody>
      </p:sp>
      <p:sp>
        <p:nvSpPr>
          <p:cNvPr id="49" name="任意多边形 48">
            <a:extLst xmlns:a="http://schemas.openxmlformats.org/drawingml/2006/main">
              <a:ext uri="{FF2B5EF4-FFF2-40B4-BE49-F238E27FC236}">
                <a16:creationId xmlns:a16="http://schemas.microsoft.com/office/drawing/2014/main" id="{6FB87C04-5859-47AF-8FD9-1283B473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41141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438e63fc7b45b6">
            <a:extLst>
              <a:ext uri="{96DAC541-7B7A-43D3-8B79-37D633B846F1}">
                <asvg:svgBlip xmlns:asvg="http://schemas.microsoft.com/office/drawing/2016/SVG/main" r:embed="Rcf81a800715e4eef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4184650"/>
            <a:ext cx="93345" cy="106045"/>
          </a:xfrm>
          <a:prstGeom xmlns:a="http://schemas.openxmlformats.org/drawingml/2006/main" prst="rect">
            <a:avLst/>
          </a:prstGeom>
        </p:spPr>
      </p:pic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9839AA07-99D9-4F8B-BEF4-AA1D91D4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4098925"/>
            <a:ext cx="3855720" cy="604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应急通道常备不懈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，建议预留</a:t>
            </a:r>
            <a:r>
              <a:rPr sz="1465" b="1" spc="-13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10%-15%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现金价值作为应急储备，确保突发情况下快速响应</a:t>
            </a:r>
          </a:p>
        </p:txBody>
      </p:sp>
      <p:sp>
        <p:nvSpPr>
          <p:cNvPr id="52" name="任意多边形 51">
            <a:extLst xmlns:a="http://schemas.openxmlformats.org/drawingml/2006/main">
              <a:ext uri="{FF2B5EF4-FFF2-40B4-BE49-F238E27FC236}">
                <a16:creationId xmlns:a16="http://schemas.microsoft.com/office/drawing/2014/main" id="{C1936A33-EFD0-4A28-8734-0769E7FF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2155" y="5560060"/>
            <a:ext cx="4175125" cy="62420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任意多边形 52">
            <a:extLst xmlns:a="http://schemas.openxmlformats.org/drawingml/2006/main">
              <a:ext uri="{FF2B5EF4-FFF2-40B4-BE49-F238E27FC236}">
                <a16:creationId xmlns:a16="http://schemas.microsoft.com/office/drawing/2014/main" id="{548AF146-DB15-42AD-9609-4C9E5B15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2155" y="5560060"/>
            <a:ext cx="4175125" cy="889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8DDD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A8135783-9753-434F-9849-0AF8BB57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790" y="5661025"/>
            <a:ext cx="4174490" cy="530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250" i="1">
                <a:solidFill>
                  <a:srgbClr val="7A6A5A"/>
                </a:solidFill>
                <a:latin typeface="MiSans"/>
                <a:ea typeface="MiSans"/>
                <a:cs typeface="MiSans"/>
              </a:rPr>
              <a:t>专业顾问将根据家族实际情况，综合考虑现金流需求、税务优化与长期增值目标，为您制定最优提领策略</a:t>
            </a:r>
          </a:p>
        </p:txBody>
      </p:sp>
    </p:spTree>
    <p:extLst>
      <p:ext uri="{BB962C8B-B14F-4D97-AF65-F5344CB8AC3E}">
        <p14:creationId xmlns:p14="http://schemas.microsoft.com/office/powerpoint/2010/main" val="11121572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ADAB52FB-5B93-4268-81EA-4294FB59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8676365D-F27F-4821-9A59-8E6DEE9F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FA1F09A3-F575-446C-A0B2-5F7E0E76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教育金 / 养老金规划视角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0682096D-30F9-4EEB-A7CA-EC516E9A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11039475" cy="426847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525" cmpd="sng">
            <a:solidFill>
              <a:srgbClr val="E2D4C4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F0C83F8D-706C-4CDE-BBD4-84D077B1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114425"/>
            <a:ext cx="11029950" cy="537845"/>
          </a:xfrm>
          <a:custGeom xmlns:a="http://schemas.openxmlformats.org/drawingml/2006/main">
            <a:pathLst>
              <a:path w="17370" h="847">
                <a:moveTo>
                  <a:pt x="240" y="0"/>
                </a:moveTo>
                <a:lnTo>
                  <a:pt x="17130" y="0"/>
                </a:lnTo>
                <a:cubicBezTo>
                  <a:pt x="17263" y="0"/>
                  <a:pt x="17370" y="107"/>
                  <a:pt x="17370" y="240"/>
                </a:cubicBezTo>
                <a:lnTo>
                  <a:pt x="17370" y="847"/>
                </a:lnTo>
                <a:lnTo>
                  <a:pt x="0" y="847"/>
                </a:lnTo>
                <a:lnTo>
                  <a:pt x="0" y="240"/>
                </a:lnTo>
                <a:cubicBezTo>
                  <a:pt x="0" y="107"/>
                  <a:pt x="107" y="0"/>
                  <a:pt x="24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D2F8E79E-EEC1-490E-A032-0FEE5F58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642745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5A3E0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EA1D36CA-1046-481C-9EDB-3354F93D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228725"/>
            <a:ext cx="1829991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传承工具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33102CFC-43ED-471C-9CBD-98C52981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789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若客户目标为教育金，可围绕成长节点重排现金流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AE9029A4-4D56-4C14-85BB-FE1C6FE3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802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若客户目标为养老金，可围绕退休节点重排现金流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E93FD4FB-755C-435C-B4FD-D05410F5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124" y="1228725"/>
            <a:ext cx="9144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流动性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54564A45-25F2-495C-BC9B-68932C67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536" y="1228725"/>
            <a:ext cx="13716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家庭用途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76D6DF77-FF28-4811-8E5E-600EEA00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59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不提领时，重点观察20/30年复利倍数与长期现金价值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D182413A-885D-41D0-BC10-26C542C7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37" y="1652270"/>
            <a:ext cx="11029926" cy="3720465"/>
          </a:xfrm>
          <a:custGeom xmlns:a="http://schemas.openxmlformats.org/drawingml/2006/main">
            <a:rect l="l" t="t" r="r" b="b"/>
            <a:pathLst>
              <a:path w="17370" h="5859">
                <a:moveTo>
                  <a:pt x="17370" y="0"/>
                </a:moveTo>
                <a:lnTo>
                  <a:pt x="17370" y="5619"/>
                </a:lnTo>
                <a:cubicBezTo>
                  <a:pt x="17370" y="5752"/>
                  <a:pt x="17263" y="5859"/>
                  <a:pt x="17130" y="5859"/>
                </a:cubicBezTo>
                <a:lnTo>
                  <a:pt x="240" y="5859"/>
                </a:lnTo>
                <a:cubicBezTo>
                  <a:pt x="107" y="5859"/>
                  <a:pt x="0" y="5752"/>
                  <a:pt x="0" y="5619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408D10AC-FB64-4743-A100-8DD0EF6B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652270"/>
            <a:ext cx="11029950" cy="930275"/>
          </a:xfrm>
          <a:custGeom xmlns:a="http://schemas.openxmlformats.org/drawingml/2006/main">
            <a:pathLst>
              <a:path w="17370" h="1465">
                <a:moveTo>
                  <a:pt x="17370" y="0"/>
                </a:moveTo>
                <a:lnTo>
                  <a:pt x="17370" y="1465"/>
                </a:lnTo>
                <a:lnTo>
                  <a:pt x="0" y="146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6A8DF6A3-DE9B-4A7B-8254-E73CCBDA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573020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长期持有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78A738FA-595B-42F5-A0FD-F00EA519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86629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所有数据均来自官方利益演示，不使用模拟正式数字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DBE04DDF-81B1-45B2-95E4-5203DBD3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F2A000CB-CB1E-4633-BE62-EFBF22E7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客户沟通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D8348FBE-A5A2-4622-9C91-884ECBDF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574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如需提领路径，可在后续拿到官方提领表后再生成正式版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335D49BF-FDBE-498F-90F7-37E6CBF5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836" y="1986629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C9FFD606-A3C0-4192-9C5D-2D15E4F7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1974215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FD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80221396-89AE-4D5C-80A0-8A56E418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2012823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D3A06"/>
                </a:solidFill>
                <a:latin typeface="MiSans"/>
                <a:ea typeface="MiSans"/>
                <a:cs typeface="MiSans"/>
              </a:rPr>
              <a:t>较高</a:t>
            </a:r>
          </a:p>
        </p:txBody>
      </p:sp>
      <p:sp>
        <p:nvSpPr>
          <p:cNvPr id="28" name="任意多边形 27">
            <a:extLst xmlns:a="http://schemas.openxmlformats.org/drawingml/2006/main">
              <a:ext uri="{FF2B5EF4-FFF2-40B4-BE49-F238E27FC236}">
                <a16:creationId xmlns:a16="http://schemas.microsoft.com/office/drawing/2014/main" id="{4FF513AD-1F66-4950-B012-E3BA5D80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582545"/>
            <a:ext cx="11029950" cy="929640"/>
          </a:xfrm>
          <a:custGeom xmlns:a="http://schemas.openxmlformats.org/drawingml/2006/main">
            <a:pathLst>
              <a:path w="17370" h="1464">
                <a:moveTo>
                  <a:pt x="17370" y="0"/>
                </a:moveTo>
                <a:lnTo>
                  <a:pt x="17370" y="1464"/>
                </a:lnTo>
                <a:lnTo>
                  <a:pt x="0" y="1464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142D3E09-3B30-4908-BCC4-57344060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3502660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A896EFD8-3A79-4738-9D48-00A1171F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16726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人寿保险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94A8EEC9-E7EB-4AE5-806B-16277982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6EE2CBFF-82DC-4D21-9F46-15E1BFEC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7024861D-E643-405B-A34E-B795E5C4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574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较高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F73BC02C-A1C6-45DD-8917-76DDEFF7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836" y="2916726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7B8C1F69-A408-4EA2-885F-4CCE77FC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2904490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AB67FBA1-A46D-4F02-8FF3-C3197F8A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2942920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适中</a:t>
            </a:r>
          </a:p>
        </p:txBody>
      </p:sp>
      <p:sp>
        <p:nvSpPr>
          <p:cNvPr id="38" name="任意多边形 37">
            <a:extLst xmlns:a="http://schemas.openxmlformats.org/drawingml/2006/main">
              <a:ext uri="{FF2B5EF4-FFF2-40B4-BE49-F238E27FC236}">
                <a16:creationId xmlns:a16="http://schemas.microsoft.com/office/drawing/2014/main" id="{5DF37C7E-EC0D-4049-B882-B4BB7940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3512185"/>
            <a:ext cx="11029950" cy="930275"/>
          </a:xfrm>
          <a:custGeom xmlns:a="http://schemas.openxmlformats.org/drawingml/2006/main">
            <a:pathLst>
              <a:path w="17370" h="1465">
                <a:moveTo>
                  <a:pt x="17370" y="0"/>
                </a:moveTo>
                <a:lnTo>
                  <a:pt x="17370" y="1465"/>
                </a:lnTo>
                <a:lnTo>
                  <a:pt x="0" y="146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A5A948CA-3229-49B1-B1C5-A794D715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4432935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C9DDC0CD-5ED6-4539-A989-650C32BC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46833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遗嘱继承</a:t>
            </a: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7DAEBFBA-10F4-4C0A-8F42-47612AB4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8562E85C-719B-44F3-A70B-BCD022CC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2783DF07-992E-470B-9DFA-36AAD863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824" y="3846833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32F5A508-9128-4763-A31C-68980635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586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较低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456198FE-15FB-40E7-BD57-A6036F72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840" y="3834765"/>
            <a:ext cx="3810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文本框 46">
            <a:extLst xmlns:a="http://schemas.openxmlformats.org/drawingml/2006/main">
              <a:ext uri="{FF2B5EF4-FFF2-40B4-BE49-F238E27FC236}">
                <a16:creationId xmlns:a16="http://schemas.microsoft.com/office/drawing/2014/main" id="{15995BD7-D97C-495B-BE29-03A814D8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5159" y="3873027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低</a:t>
            </a:r>
          </a:p>
        </p:txBody>
      </p:sp>
      <p:sp>
        <p:nvSpPr>
          <p:cNvPr id="48" name="任意多边形 47">
            <a:extLst xmlns:a="http://schemas.openxmlformats.org/drawingml/2006/main">
              <a:ext uri="{FF2B5EF4-FFF2-40B4-BE49-F238E27FC236}">
                <a16:creationId xmlns:a16="http://schemas.microsoft.com/office/drawing/2014/main" id="{12936161-3F69-43D2-A38A-49F9E251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37" y="4442460"/>
            <a:ext cx="11029926" cy="930275"/>
          </a:xfrm>
          <a:custGeom xmlns:a="http://schemas.openxmlformats.org/drawingml/2006/main">
            <a:rect l="l" t="t" r="r" b="b"/>
            <a:pathLst>
              <a:path w="17370" h="1465">
                <a:moveTo>
                  <a:pt x="17370" y="0"/>
                </a:moveTo>
                <a:lnTo>
                  <a:pt x="17370" y="1225"/>
                </a:lnTo>
                <a:cubicBezTo>
                  <a:pt x="17370" y="1358"/>
                  <a:pt x="17263" y="1465"/>
                  <a:pt x="17130" y="1465"/>
                </a:cubicBezTo>
                <a:lnTo>
                  <a:pt x="240" y="1465"/>
                </a:lnTo>
                <a:cubicBezTo>
                  <a:pt x="107" y="1465"/>
                  <a:pt x="0" y="1358"/>
                  <a:pt x="0" y="1225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4B62D1F2-2067-4C7F-BF15-8521FBD9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81769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赠与传承</a:t>
            </a: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612D3463-671E-4275-A2AD-670FA1E6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396306C2-93D4-4D85-94E2-0031BEAA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6279C087-B0B7-41CD-8390-BE9CB7DF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824" y="4781769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3AFB615F-EF63-4E61-A170-364B2BAB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586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较低</a:t>
            </a:r>
          </a:p>
        </p:txBody>
      </p:sp>
      <p:sp>
        <p:nvSpPr>
          <p:cNvPr id="54" name="任意多边形 53">
            <a:extLst xmlns:a="http://schemas.openxmlformats.org/drawingml/2006/main">
              <a:ext uri="{FF2B5EF4-FFF2-40B4-BE49-F238E27FC236}">
                <a16:creationId xmlns:a16="http://schemas.microsoft.com/office/drawing/2014/main" id="{FF129AD8-1018-45D9-A85D-DC1F426E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4769485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F06D1FA2-EFDA-440F-9790-DA3FBFA1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4807963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适中</a:t>
            </a:r>
          </a:p>
        </p:txBody>
      </p:sp>
      <p:sp>
        <p:nvSpPr>
          <p:cNvPr id="57" name="任意多边形 56">
            <a:extLst xmlns:a="http://schemas.openxmlformats.org/drawingml/2006/main">
              <a:ext uri="{FF2B5EF4-FFF2-40B4-BE49-F238E27FC236}">
                <a16:creationId xmlns:a16="http://schemas.microsoft.com/office/drawing/2014/main" id="{E760BD80-1414-4F74-9866-F41BD82E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96560"/>
            <a:ext cx="11049000" cy="98044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任意多边形 57">
            <a:extLst xmlns:a="http://schemas.openxmlformats.org/drawingml/2006/main">
              <a:ext uri="{FF2B5EF4-FFF2-40B4-BE49-F238E27FC236}">
                <a16:creationId xmlns:a16="http://schemas.microsoft.com/office/drawing/2014/main" id="{740AAD58-F555-4E83-9953-C02EC47C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72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a2db6dde94fcc"/>
          <a:srcRect xmlns:a="http://schemas.openxmlformats.org/drawingml/2006/main" l="25348" t="0" r="253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285" y="588645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60" name="文本框 59">
            <a:extLst xmlns:a="http://schemas.openxmlformats.org/drawingml/2006/main">
              <a:ext uri="{FF2B5EF4-FFF2-40B4-BE49-F238E27FC236}">
                <a16:creationId xmlns:a16="http://schemas.microsoft.com/office/drawing/2014/main" id="{670CCA13-AC82-48E4-8821-96217504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524" y="5667823"/>
            <a:ext cx="8953500" cy="633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5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人寿保险在资产隔离、税务优化、流动性和传承确定性方面表现均衡，是家族财富传承的理想工具之一。结合家族信托使用，可构建更完善的传承架构。</a:t>
            </a:r>
          </a:p>
        </p:txBody>
      </p:sp>
      <p:sp>
        <p:nvSpPr>
          <p:cNvPr id="61" name="任意多边形 60">
            <a:extLst xmlns:a="http://schemas.openxmlformats.org/drawingml/2006/main">
              <a:ext uri="{FF2B5EF4-FFF2-40B4-BE49-F238E27FC236}">
                <a16:creationId xmlns:a16="http://schemas.microsoft.com/office/drawing/2014/main" id="{32575F03-8E76-4106-BB80-CC7E337D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4965" y="5810250"/>
            <a:ext cx="9144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14118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文本框 61">
            <a:extLst xmlns:a="http://schemas.openxmlformats.org/drawingml/2006/main">
              <a:ext uri="{FF2B5EF4-FFF2-40B4-BE49-F238E27FC236}">
                <a16:creationId xmlns:a16="http://schemas.microsoft.com/office/drawing/2014/main" id="{5AD5EE4A-8BCB-4A96-8DDB-CBF99068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7924" y="588689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理想工具</a:t>
            </a:r>
          </a:p>
        </p:txBody>
      </p:sp>
    </p:spTree>
    <p:extLst>
      <p:ext uri="{BB962C8B-B14F-4D97-AF65-F5344CB8AC3E}">
        <p14:creationId xmlns:p14="http://schemas.microsoft.com/office/powerpoint/2010/main" val="41413028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D046B49C-D604-4CBF-97F2-82BF3A4F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5E9D75BE-7675-416D-994C-1B1BE151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C15FB1C-04A8-4665-8091-379A9A3E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方案总结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2127B064-FE32-4D92-8ED3-9A2CB201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300" y="1331576"/>
            <a:ext cx="1980009" cy="8353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3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倍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89E4B8A-7FB9-4A3B-A2D6-5E004742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909" y="167542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长期增值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81448BE8-35EA-4178-AFBE-BB6AF361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685" y="2284730"/>
            <a:ext cx="139255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9CE4E41C-2A38-4877-AC62-67A4D5A6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217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10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7C70C833-CB68-44C6-839D-D88AEF5B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321" y="2361228"/>
            <a:ext cx="65015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85%+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9FEC37A1-691E-4509-9DA5-F2615F83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740" y="2284730"/>
            <a:ext cx="134429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储蓄险定制输出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78259422-ED50-45A2-BAB0-CFC2F3D7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529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公司资料 + 官方保单 + 不提领视角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DD68A296-ADCA-4F16-8EC4-32C74A4A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634" y="2361228"/>
            <a:ext cx="60186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17E6D579-5B9F-4D9C-9F55-A946ED06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535" y="2284730"/>
            <a:ext cx="141414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ABA4060-F6E3-4DEC-AA68-7151E563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539" y="237551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长期持有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21B6F3F4-DDB3-48CA-AD9E-9712940A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316" y="2361228"/>
            <a:ext cx="55691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E1455D6A-D725-4600-88D8-2DB1FE91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164840"/>
            <a:ext cx="5400675" cy="33070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客户沟通重点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0C812443-274C-4576-98B4-BC447841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数字可追溯、页面可解释、结构可复用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16FAE891-0E95-4A9C-B3F3-51A1AAE3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4655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9927C24-C1C6-4EE8-B3EB-F3CE91D0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63295"/>
            <a:ext cx="3157538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积累期（第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1-10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FB4FFAD3-F5C5-4835-86FE-88E53C3F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5708"/>
            <a:ext cx="33289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稳步积累，第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10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年末达已交保费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85%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以上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AFC33E56-DD56-427B-A47A-5EC89DE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6824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CCB54DE1-9D93-4B47-BE3F-2631EDC8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85274"/>
            <a:ext cx="2530373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增长期（第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11-25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90555E71-217D-4C15-835C-B526C6AB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37687"/>
            <a:ext cx="270183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复利效应显著，第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25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59282124-4131-4C40-8814-5FD687DA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9056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EA3BC676-31D9-4FE8-8667-A125A53D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7253"/>
            <a:ext cx="250738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传承期（第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26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年及以后）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83304A5B-E07C-4FF5-97DC-E23BF538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9666"/>
            <a:ext cx="26788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持续稳健增长，长期可达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倍以上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940F8F70-C039-46D4-8F08-4268B976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3164840"/>
            <a:ext cx="5400675" cy="20307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F4872C21-1040-4B65-8830-8395244F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后续可在补齐提领表后自动切换双路径叙事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2007662E-5A05-45EE-9C44-1BF11D61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4558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358C5461-CCEA-4BCB-90CB-466E507D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976983"/>
            <a:ext cx="3048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时间复利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的力量让财富跨越式增长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D465BAA3-E368-40CA-8A8A-C8829D6F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1454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966D31BF-2FA7-442D-8451-B346E0D9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45959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为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家族传承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奠定坚实物质基础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42211B2B-CECF-4CCD-86DD-83C5B1B7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5395595"/>
            <a:ext cx="5400675" cy="10763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5BB7B94F-ECB9-48E4-B164-B5D38CC1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59" y="5576888"/>
            <a:ext cx="4839891" cy="7096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时间复利的力量让您的财富在稳健中实现跨越式增长，为家族传承奠定坚实的物质基础。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829972512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2026-06-03T02:29:05.5960000Z</dcterms:created>
  <dcterms:modified xsi:type="dcterms:W3CDTF">2026-06-03T02:29:05.5960000Z</dcterms:modified>
</coreProperties>
</file>