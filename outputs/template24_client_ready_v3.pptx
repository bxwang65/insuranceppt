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储蓄险家庭资产配置方案</a:t>
            </a:r>
          </a:p>
        </p:txBody>
      </p:sp>
      <p:pic>
        <p:nvPicPr>
          <p:cNvPr id="5" name="Picture 4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53949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核心参数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缴费期：5年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年缴保费：US$100,000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第7年价值：US$514,498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第20年价值：US$1,366,345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周大福人寿（CTF Life）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Fitch 财务实力评级：A-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Moody's 财务实力评级：A3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香港RBC偿付能力充足率：282%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定位：长期保障+家庭财富传承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教育金阶段（18-21岁）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资金使用场景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18岁累计可提领：US$420,004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21岁累计可提领：US$525,006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适配：学费、住宿、研究支出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可与海外升学节点匹配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价值增长曲线（保单1-80年）</a:t>
            </a:r>
          </a:p>
        </p:txBody>
      </p:sp>
      <p:pic>
        <p:nvPicPr>
          <p:cNvPr id="5" name="Picture 4" descr="growth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先看回本区间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再看20年/30年节点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提领后仍保留长期资产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保证/非保证构成（保单1-80年）</a:t>
            </a:r>
          </a:p>
        </p:txBody>
      </p:sp>
      <p:pic>
        <p:nvPicPr>
          <p:cNvPr id="5" name="Picture 4" descr="stack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保证部分是底盘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非保证部分提供弹性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时间越长弹性贡献越大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里程碑一：教育与家庭现金流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6岁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保单第5年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US$234,795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10岁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US$140,001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US$424,733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20岁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保单第19年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US$490,006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US$531,764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30岁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保单第29年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US$840,015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US$699,318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里程碑二：中后期与养老金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45岁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保单第44年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US$1,365,051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US$1,154,504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60岁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保单第59年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US$35,020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US$1,890,177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US$2,463,361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80岁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保单第79年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US$35,057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US$2,590,891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US$7,710,345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175,001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449,186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525,006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553,772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875,018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716,823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1.45%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1,225,045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985,224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1.71%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1,575,098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1,526,323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4.11%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1,925,185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2,610,075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35,013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2,275,414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4,607,809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11.74%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2,625,899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8,176,510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19.19%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3.55%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35,061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2,976,915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14,874,836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31.94%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3.84%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35,497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3,329,531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27,446,484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53.89%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35,389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3,683,718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51,042,767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91.90%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4.29%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4,040,361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95,333,722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158.06%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36,328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4,076,689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101,494,085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166.93%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36,133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4,112,822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108,055,068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176.32%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638,233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1,366,345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8.66%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2,782,754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5.89%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5,457,765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6.16%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10,315,070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39.26%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19,362,805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62.88%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36,346,648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102.42%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68,227,654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169.32%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128,072,686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283.49%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240,410,038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479.82%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451,282,690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819.60%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847,119,646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1411.03%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902,182,423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1490.38%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960,824,280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1574.30%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执行建议与下一步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执行框架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阶段1：教育金优先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阶段2：现金流补充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阶段3：养老金落地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每3年复盘提领与现价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