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3657600" cy="3657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Boxie 家庭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8963E"/>
                </a:solidFill>
              </a:defRPr>
            </a:pPr>
            <a:r>
              <a:t>家庭资产配置定制方案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28600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 储蓄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2286000" cy="7040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$100.0K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23944"/>
            <a:ext cx="237743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 年缴保费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2918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329184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429000"/>
            <a:ext cx="2286000" cy="7040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$500.0K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23944"/>
            <a:ext cx="237743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 总投入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9184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429000"/>
            <a:ext cx="2286000" cy="7040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$4.9K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123944"/>
            <a:ext cx="237743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 年缴保费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2918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329184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429000"/>
            <a:ext cx="2286000" cy="7040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$49.5K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23944"/>
            <a:ext cx="237743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 总投入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EC5"/>
                </a:solidFill>
              </a:defRPr>
            </a:pPr>
            <a:r>
              <a:t>生成日期: 2026-05-29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️ 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从健康保障到财富累积，再到资产传承 — 三层架构层层递进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47472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0">
                <a:solidFill>
                  <a:srgbClr val="4FC3F7"/>
                </a:solidFill>
              </a:defRPr>
            </a:pPr>
            <a:r>
              <a:t>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风险防护层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79"/>
              </a:lnSpc>
              <a:defRPr sz="1200" b="0">
                <a:solidFill>
                  <a:srgbClr val="B0BEC5"/>
                </a:solidFill>
              </a:defRPr>
            </a:pPr>
            <a:r>
              <a:t>危疾保障，抵御健康风险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474720" cy="73152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10972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0">
                <a:solidFill>
                  <a:srgbClr val="C8963E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财富累积层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79"/>
              </a:lnSpc>
              <a:defRPr sz="1200" b="0">
                <a:solidFill>
                  <a:srgbClr val="B0BEC5"/>
                </a:solidFill>
              </a:defRPr>
            </a:pPr>
            <a:r>
              <a:t>储蓄增值，长期复利增长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8963E"/>
                </a:solidFill>
              </a:defRPr>
            </a:pPr>
            <a:r>
              <a:t> 「匠X・传承」储蓄寿险计划2(尊尚版)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年缴 $100.0K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47472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10972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0">
                <a:solidFill>
                  <a:srgbClr val="00D4AA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传承规划层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79"/>
              </a:lnSpc>
              <a:defRPr sz="1200" b="0">
                <a:solidFill>
                  <a:srgbClr val="B0BEC5"/>
                </a:solidFill>
              </a:defRPr>
            </a:pPr>
            <a:r>
              <a:t>高杠杆传承，指数增长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账户价值增长分析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0BEC5"/>
                </a:solidFill>
              </a:defRPr>
            </a:pPr>
            <a:r>
              <a:t>时间是最好的朋友，复利是最大的杠杆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C8963E"/>
                </a:solidFill>
              </a:defRPr>
            </a:pPr>
            <a:r>
              <a:t>「匠X・传承」储蓄寿险计划2(尊尚版)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868680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0" y="1280160"/>
            <a:ext cx="2560320" cy="77724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128016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1417319"/>
            <a:ext cx="2286000" cy="42748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0.5x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785366"/>
            <a:ext cx="2377439" cy="2331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Y5 倍数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194560"/>
            <a:ext cx="2560320" cy="77724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219456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2331720"/>
            <a:ext cx="2286000" cy="42748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1.3x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699765"/>
            <a:ext cx="2377439" cy="2331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Y10 倍数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108960"/>
            <a:ext cx="2560320" cy="77724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310896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3246120"/>
            <a:ext cx="2286000" cy="42748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2.7x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614165"/>
            <a:ext cx="2377439" cy="2331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Y20 倍数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023360"/>
            <a:ext cx="2560320" cy="77724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4023360"/>
            <a:ext cx="25603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4160520"/>
            <a:ext cx="2286000" cy="42748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  <a:r>
              <a:t>5.6x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528566"/>
            <a:ext cx="2377439" cy="2331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Y30 倍数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212080"/>
            <a:ext cx="11430000" cy="123444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212080"/>
            <a:ext cx="73152" cy="123444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21808"/>
            <a:ext cx="11018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C8963E"/>
                </a:solidFill>
                <a:latin typeface="PingFang SC"/>
              </a:defRPr>
            </a:pPr>
            <a:r>
              <a:t>「「匠X・传承」储蓄寿险计划2(尊尚版)」— 为您实现教育金、退休规划和长期财富增值。</a:t>
            </a:r>
          </a:p>
          <a:p>
            <a:pPr>
              <a:spcAft>
                <a:spcPts val="500"/>
              </a:spcAft>
              <a:defRPr sz="1200" b="0">
                <a:solidFill>
                  <a:srgbClr val="E0E0E0"/>
                </a:solidFill>
                <a:latin typeface="PingFang SC"/>
              </a:defRPr>
            </a:pPr>
            <a:r>
              <a:t>账户价值随时间持续增长。保证现金价值提供本金安全垫，非保证终期分红带来额外增长潜力。第20年退保总额约为已缴保费的 2.7x。</a:t>
            </a:r>
          </a:p>
          <a:p>
            <a:pPr>
              <a:spcAft>
                <a:spcPts val="500"/>
              </a:spcAft>
              <a:defRPr sz="1200" b="0">
                <a:solidFill>
                  <a:srgbClr val="E0E0E0"/>
                </a:solidFill>
                <a:latin typeface="PingFang SC"/>
              </a:defRPr>
            </a:pPr>
            <a:r>
              <a:t>复利的力量：时间越长，账户增长越快 — 第20年的增长斜率远超前10年。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提领 vs 不提领 — 账户价值对比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0BEC5"/>
                </a:solidFill>
              </a:defRPr>
            </a:pPr>
            <a:r>
              <a:t>同样本金，不同策略，体验差异立现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C8963E"/>
                </a:solidFill>
              </a:defRPr>
            </a:pPr>
            <a:r>
              <a:t>「匠X・传承」储蓄寿险计划2(尊尚版)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4300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7492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74920"/>
            <a:ext cx="34747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21208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32918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 Y15 不提领  $931.2K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07492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5074920"/>
            <a:ext cx="34747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521208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06240" y="5669280"/>
            <a:ext cx="32918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 Y15 提领后  $0  (已提 $0)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07492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5074920"/>
            <a:ext cx="3474720" cy="457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521208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C8963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863840" y="5669280"/>
            <a:ext cx="32918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 Y15 差异  $931.2K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3657600"/>
            <a:ext cx="5486400" cy="5486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8963E"/>
                </a:solidFill>
              </a:defRPr>
            </a:pPr>
            <a:r>
              <a:t>感谢您的时间，期待为您提供专业服务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28600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EC5"/>
                </a:solidFill>
              </a:defRPr>
            </a:pPr>
            <a:r>
              <a:t>本文件仅供参考，不构成要约或建议。</a:t>
            </a:r>
            <a:br/>
            <a:r>
              <a:t>非保证金额并非保证，实际可能高于或低于预期。</a:t>
            </a:r>
            <a:br/>
            <a:r>
              <a:t>生成日期: 2026-05-29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