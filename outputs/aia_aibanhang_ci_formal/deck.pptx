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退保发还金额</c:v>
                </c:pt>
              </c:strCache>
            </c:strRef>
          </c:tx>
          <c:spPr>
            <a:ln w="27940">
              <a:solidFill>
                <a:srgbClr val="CE8A2C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65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4349.0</c:v>
                </c:pt>
                <c:pt idx="2">
                  <c:v>19976.0</c:v>
                </c:pt>
                <c:pt idx="3">
                  <c:v>48002.0</c:v>
                </c:pt>
                <c:pt idx="4">
                  <c:v>146065.0</c:v>
                </c:pt>
                <c:pt idx="5">
                  <c:v>177720.0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严重疾病赔偿</c:v>
                </c:pt>
              </c:strCache>
            </c:strRef>
          </c:tx>
          <c:spPr>
            <a:ln w="27940">
              <a:solidFill>
                <a:srgbClr val="186C4F"/>
              </a:solidFill>
            </a:ln>
          </c:spP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20</c:v>
                </c:pt>
                <c:pt idx="4">
                  <c:v>30</c:v>
                </c:pt>
                <c:pt idx="5">
                  <c:v>65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135000.0</c:v>
                </c:pt>
                <c:pt idx="1">
                  <c:v>138330.0</c:v>
                </c:pt>
                <c:pt idx="2">
                  <c:v>151460.0</c:v>
                </c:pt>
                <c:pt idx="3">
                  <c:v>124870.0</c:v>
                </c:pt>
                <c:pt idx="4">
                  <c:v>232830.0</c:v>
                </c:pt>
                <c:pt idx="5">
                  <c:v>263660.0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008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262626"/>
                </a:solidFill>
                <a:latin typeface="Microsoft YaHei"/>
              </a:rPr>
              <a:t>VIP 女士 家庭重疾保障方案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606060"/>
                </a:solidFill>
                <a:latin typeface="Microsoft YaHei"/>
              </a:rPr>
              <a:t>友邦保险 · 「爱伴航」保险计划 2（10 年缴费）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CE8A2C"/>
                </a:solidFill>
                <a:latin typeface="Microsoft YaHei"/>
              </a:rPr>
              <a:t>第一层：健康风险防火墙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697480"/>
            <a:ext cx="5120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基础保额 US$100,000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前 10 年升级保障 US$35,000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年缴保费 US$7,008，缴费 10 年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重疾 58 项，早期危疾 44 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371600"/>
            <a:ext cx="2011680" cy="1143000"/>
          </a:xfrm>
          <a:prstGeom prst="roundRect">
            <a:avLst/>
          </a:prstGeom>
          <a:solidFill>
            <a:srgbClr val="F0E6D0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0024" y="1499616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总保费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50024" y="1755648"/>
            <a:ext cx="1719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CE8A2C"/>
                </a:solidFill>
                <a:latin typeface="Microsoft YaHei"/>
              </a:rPr>
              <a:t>US$70,080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024" y="2176272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10 年供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90304" y="1499616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首十年总保障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0304" y="175564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US$135,000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0304" y="2176272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基础 + 升级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743200"/>
            <a:ext cx="2011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0024" y="2871216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现金价值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3127248"/>
            <a:ext cx="17190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保单可退保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4" y="3547872"/>
            <a:ext cx="17190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兼具一定储蓄属性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743200"/>
            <a:ext cx="19659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2871216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组合定位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3127248"/>
            <a:ext cx="16733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家庭防火墙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3547872"/>
            <a:ext cx="16733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可叠加储蓄险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00800"/>
            <a:ext cx="10972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060"/>
                </a:solidFill>
                <a:latin typeface="Microsoft YaHei"/>
              </a:rPr>
              <a:t>核心口径：年缴保费、缴费年期、基础保额、升级保障、重疾责任、多重赔付、现金价值。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公司介绍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以已确认的公司事实手册作为正式版展示口径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45720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262626"/>
                </a:solidFill>
                <a:latin typeface="Microsoft YaHei"/>
              </a:rPr>
              <a:t>根源可追溯至1919年的上海，2010年于香港联交所独立上市，是亚太地区最大的独立上市人寿保险集团之一，业务覆盖亚洲18个市场。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234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97296" y="1362456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成立/上市背景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7296" y="1618488"/>
            <a:ext cx="207568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根源可追溯至1919年的上海，2010年于香港联交所独立上市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234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0496" y="1362456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集团实力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0496" y="1618488"/>
            <a:ext cx="207568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亚太地区最大的独立上市人寿保险集团，业务覆盖亚洲18个市场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971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97296" y="3099816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业务定位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296" y="3355848"/>
            <a:ext cx="207568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长期储蓄、健康保障、高净值财富传承及健康管理生态圈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297180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0496" y="3099816"/>
            <a:ext cx="2075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穆迪评级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0496" y="3355848"/>
            <a:ext cx="207568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Aa2（稳定）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>
                <a:solidFill>
                  <a:srgbClr val="606060"/>
                </a:solidFill>
                <a:latin typeface="Microsoft YaHei"/>
              </a:rPr>
              <a:t>重疾险沟通重点：公司是否长期经营、偿付与评级是否稳健、理赔与服务体系是否成熟。</a:t>
            </a:r>
          </a:p>
          <a:p>
            <a:pPr algn="l">
              <a:lnSpc>
                <a:spcPct val="150000"/>
              </a:lnSpc>
            </a:pPr>
            <a:r>
              <a:rPr sz="1300">
                <a:solidFill>
                  <a:srgbClr val="606060"/>
                </a:solidFill>
                <a:latin typeface="Microsoft YaHei"/>
              </a:rPr>
              <a:t>客户听得懂的表达应聚焦：背景、实力、业务定位、评级，不展示资料来源文件名。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保单核心参数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先把保费、保额、责任边界讲清楚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453896"/>
            <a:ext cx="2770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基础保额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709928"/>
            <a:ext cx="2770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US$100,000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325880"/>
            <a:ext cx="30632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23943" y="1453896"/>
            <a:ext cx="2770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升级保障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3943" y="1709928"/>
            <a:ext cx="277063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US$35,000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3943" y="2130552"/>
            <a:ext cx="277063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前 10 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325880"/>
            <a:ext cx="3657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4" y="1453896"/>
            <a:ext cx="33649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首十年总保障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0064" y="1709928"/>
            <a:ext cx="33649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US$135,000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06040"/>
            <a:ext cx="2651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734056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年缴保费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990088"/>
            <a:ext cx="2359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US$7,008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410712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含征费约 US$7,015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606040"/>
            <a:ext cx="2651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58184" y="2734056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606060"/>
                </a:solidFill>
                <a:latin typeface="Microsoft YaHei"/>
              </a:rPr>
              <a:t>缴费年期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2990088"/>
            <a:ext cx="23591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262626"/>
                </a:solidFill>
                <a:latin typeface="Microsoft YaHei"/>
              </a:rPr>
              <a:t>10 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4" y="3410712"/>
            <a:ext cx="235915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总保费 US$70,080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794760"/>
            <a:ext cx="5303520" cy="1874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重大疾病：58 项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早期危疾：44 项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ICU 深切治疗保障：2 个层级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配偶身故豁免保费 + 免付保费附加契约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49039"/>
            <a:ext cx="457200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这张单的主定位不是财富增值，而是家庭重大健康风险的现金缓冲器。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前 10 年升级保障把核心保额从 10 万提升至 13.5 万，是销售沟通里的第一个重点。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后续若叠加储蓄险，重疾险负责防火墙，储蓄险负责现金流。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保障责任结构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按客户能理解的顺序讲：保什么、赔几次、附加什么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08176"/>
            <a:ext cx="3218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危疾与早期危疾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664208"/>
            <a:ext cx="3218688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58 种危疾保障；44 种早期危疾保障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8016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408176"/>
            <a:ext cx="3218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升级保障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1664208"/>
            <a:ext cx="3218688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前 10 年额外 US$35,000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280160"/>
            <a:ext cx="27432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408176"/>
            <a:ext cx="2487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豁免责任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1664208"/>
            <a:ext cx="2487168" cy="996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免付保费附加契约 + 配偶身故豁免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54680"/>
            <a:ext cx="50292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级别一深切治疗保障：20%，等待 72 小时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级别二深切治疗保障：100%，等待 120 小时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1546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癌症：最多 6 次，等待期 3年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心脏病及中风：最多 3 次，等待期 1年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亚尔兹默氏病/柏金逊症：最多 1 次，等待期 1年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现金价值与保障路径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这是保障型重疾险，现金价值是辅助，不是主卖点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463040"/>
          <a:ext cx="56692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37960" y="1508760"/>
            <a:ext cx="4572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第 10 年退保发还金额约 US$19,976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第 20 年约 US$48,002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第 30 年约 US$146,065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解读方式：重疾险的现金价值只做辅助决策，不应替代保障责任本身。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262626"/>
                </a:solidFill>
                <a:latin typeface="Microsoft YaHei"/>
              </a:rPr>
              <a:t>• 客户沟通应先讲保什么、赔多少、赔几次，再讲退保价值。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262626"/>
                </a:solidFill>
                <a:latin typeface="Microsoft YaHei"/>
              </a:rPr>
              <a:t>家庭防火墙建议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06060"/>
                </a:solidFill>
                <a:latin typeface="Microsoft YaHei"/>
              </a:rPr>
              <a:t>重疾险与储蓄险组合时，各自解决不同问题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45336"/>
            <a:ext cx="3218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第一层：重疾险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1801368"/>
            <a:ext cx="321868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解决大病、收入中断、治疗支出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545336"/>
            <a:ext cx="321868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第二层：储蓄险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1801368"/>
            <a:ext cx="321868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解决教育金、养老金、长期现金流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417320"/>
            <a:ext cx="29260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FD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545336"/>
            <a:ext cx="2670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606060"/>
                </a:solidFill>
                <a:latin typeface="Microsoft YaHei"/>
              </a:rPr>
              <a:t>组合输出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1801368"/>
            <a:ext cx="2670048" cy="9052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262626"/>
                </a:solidFill>
                <a:latin typeface="Microsoft YaHei"/>
              </a:rPr>
              <a:t>家庭防火墙方案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04241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爱伴航适合作为家庭健康风险底仓：先把重大疾病、早期危疾、ICU 和豁免责任锁住。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若客户同时追求教育金或养老金，再叠加储蓄险，由储蓄险承担未来现金流目标。</a:t>
            </a:r>
          </a:p>
          <a:p>
            <a:pPr algn="l">
              <a:lnSpc>
                <a:spcPct val="150000"/>
              </a:lnSpc>
            </a:pPr>
            <a:r>
              <a:rPr sz="1600">
                <a:solidFill>
                  <a:srgbClr val="262626"/>
                </a:solidFill>
                <a:latin typeface="Microsoft YaHei"/>
              </a:rPr>
              <a:t>• 这就是后期组合方案里的主线：重疾险保风险，储蓄险保未来。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