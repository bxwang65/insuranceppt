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900" b="1" dirty="0">
                <a:solidFill>
                  <a:srgbClr val="C89A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VIP 先生 家庭资产配置方案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457200" y="1228725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环X盈活储蓄保险计划（正式版）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933575"/>
            <a:ext cx="1150315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被保人：1岁 | 性别：男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2388394"/>
            <a:ext cx="1150315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缴费：5年 | 年缴：US$100,000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2843213"/>
            <a:ext cx="11503152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50" dirty="0">
                <a:solidFill>
                  <a:srgbClr val="4C63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基于官方计划书自动解析，按教育金目标定制展示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公司介绍与资质（本地知识库）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5553075" cy="2181225"/>
          </a:xfrm>
          <a:prstGeom prst="roundRect">
            <a:avLst>
              <a:gd name="adj" fmla="val 6114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1266825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承保公司：周大福人寿（CTF Life）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0075" y="1721644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产品：环X盈活储蓄保险计划(5年缴费)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0075" y="2176463"/>
            <a:ext cx="5372672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50" dirty="0">
                <a:solidFill>
                  <a:srgbClr val="4C63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资料来源：公司介绍库与官方计划书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181725" y="1047750"/>
            <a:ext cx="5553075" cy="2181225"/>
          </a:xfrm>
          <a:prstGeom prst="roundRect">
            <a:avLst>
              <a:gd name="adj" fmla="val 6114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24600" y="1266825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核心价值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24600" y="1721644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长期储蓄增值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324600" y="2176463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代际传承规划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24600" y="2631281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可配置教育金/养老金提领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价值增长曲线（官方数据）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6617940" cy="504825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Users/soldier/free-code/packages/insurance-ppt/outputs/huashu_trial_d6a3f20a/assets/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" y="1190625"/>
            <a:ext cx="6332041" cy="35502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7540" y="1047750"/>
            <a:ext cx="4507260" cy="5048250"/>
          </a:xfrm>
          <a:prstGeom prst="roundRect">
            <a:avLst>
              <a:gd name="adj" fmla="val 2959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370415" y="1266825"/>
            <a:ext cx="430594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20年约2.72倍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370415" y="1721644"/>
            <a:ext cx="430594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30年约5.85倍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370415" y="2176463"/>
            <a:ext cx="430594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适合教育金长期准备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教育金提领路径（示例）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11277600" cy="1726406"/>
          </a:xfrm>
          <a:prstGeom prst="roundRect">
            <a:avLst>
              <a:gd name="adj" fmla="val 7724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1266825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18岁起每年提领 US$35,000（示例口径）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0075" y="1721644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目标：覆盖本科/硕士阶段学费与生活费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0075" y="2176463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提领后仍保留退保现金价值，兼顾流动性与传承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2907506"/>
            <a:ext cx="5553075" cy="1461046"/>
          </a:xfrm>
          <a:prstGeom prst="roundRect">
            <a:avLst>
              <a:gd name="adj" fmla="val 912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0075" y="3126581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385,000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00075" y="3851970"/>
            <a:ext cx="5372672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50" dirty="0">
                <a:solidFill>
                  <a:srgbClr val="4C63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18岁累计提领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181725" y="2907506"/>
            <a:ext cx="5553075" cy="1461046"/>
          </a:xfrm>
          <a:prstGeom prst="roundRect">
            <a:avLst>
              <a:gd name="adj" fmla="val 912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24600" y="3126581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225,352,215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24600" y="3851970"/>
            <a:ext cx="5372672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50" dirty="0">
                <a:solidFill>
                  <a:srgbClr val="4C63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18岁提后剩余现价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里程碑一：年龄阶段规划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5553075" cy="1542157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1266825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0075" y="1992213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暂无节点数据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181725" y="1047750"/>
            <a:ext cx="5553075" cy="1542157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24600" y="1266825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20岁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324600" y="1992213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暂无节点数据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200" y="2761357"/>
            <a:ext cx="5553075" cy="1542157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0075" y="2980432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30岁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0075" y="3705820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暂无节点数据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里程碑二：年龄阶段规划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5553075" cy="1542157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1266825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0075" y="1992213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暂无节点数据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181725" y="1047750"/>
            <a:ext cx="5553075" cy="1542157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24600" y="1266825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60岁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324600" y="1992213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暂无节点数据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200" y="2761357"/>
            <a:ext cx="5553075" cy="1542157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0075" y="2980432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80岁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0075" y="3705820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暂无节点数据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提领方案数据表（每10年）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不提领方案数据表（每10年）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结论页：关键判断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11277600" cy="2181225"/>
          </a:xfrm>
          <a:prstGeom prst="roundRect">
            <a:avLst>
              <a:gd name="adj" fmla="val 6114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1266825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该方案可作为1岁客户教育金准备金池。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0075" y="1721644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不提领路径下，20/30年现金价值倍数具备竞争力。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0075" y="2176463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提领路径下，兼顾现金流与保单剩余价值。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0075" y="2631281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建议结合家庭教育目标设置提领节奏。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结束语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11277600" cy="1190476"/>
          </a:xfrm>
          <a:prstGeom prst="roundRect">
            <a:avLst>
              <a:gd name="adj" fmla="val 11201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1266825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祝愿 VIP 先生 家庭资产稳健增长，孩子学业与人生阶段规划顺利达成。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0075" y="1721644"/>
            <a:ext cx="11211687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50" dirty="0">
                <a:solidFill>
                  <a:srgbClr val="4C63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可继续输出：提领参数敏感性、不同年缴方案对比、执行清单。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2026-06-01T03:37:45Z</dcterms:created>
  <dcterms:modified xsi:type="dcterms:W3CDTF">2026-06-01T03:37:45Z</dcterms:modified>
</cp:coreProperties>
</file>