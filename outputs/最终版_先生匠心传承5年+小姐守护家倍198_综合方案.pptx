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已繳保費</c:v>
                </c:pt>
              </c:strCache>
            </c:strRef>
          </c:tx>
          <c:spPr>
            <a:solidFill>
              <a:srgbClr val="E37400"/>
            </a:solidFill>
            <a:ln w="25400" cap="flat">
              <a:solidFill>
                <a:srgbClr val="E3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7400"/>
              </a:solidFill>
              <a:ln w="9525" cap="flat">
                <a:solidFill>
                  <a:srgbClr val="E3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500000</c:v>
                </c:pt>
                <c:pt idx="6">
                  <c:v>500000</c:v>
                </c:pt>
                <c:pt idx="7">
                  <c:v>500000</c:v>
                </c:pt>
                <c:pt idx="8">
                  <c:v>500000</c:v>
                </c:pt>
                <c:pt idx="9">
                  <c:v>500000</c:v>
                </c:pt>
                <c:pt idx="10">
                  <c:v>500000</c:v>
                </c:pt>
                <c:pt idx="11">
                  <c:v>500000</c:v>
                </c:pt>
                <c:pt idx="12">
                  <c:v>500000</c:v>
                </c:pt>
                <c:pt idx="13">
                  <c:v>500000</c:v>
                </c:pt>
                <c:pt idx="14">
                  <c:v>500000</c:v>
                </c:pt>
                <c:pt idx="15">
                  <c:v>500000</c:v>
                </c:pt>
                <c:pt idx="16">
                  <c:v>500000</c:v>
                </c:pt>
                <c:pt idx="17">
                  <c:v>500000</c:v>
                </c:pt>
                <c:pt idx="18">
                  <c:v>500000</c:v>
                </c:pt>
                <c:pt idx="19">
                  <c:v>500000</c:v>
                </c:pt>
                <c:pt idx="20">
                  <c:v>500000</c:v>
                </c:pt>
                <c:pt idx="21">
                  <c:v>500000</c:v>
                </c:pt>
                <c:pt idx="22">
                  <c:v>500000</c:v>
                </c:pt>
                <c:pt idx="23">
                  <c:v>500000</c:v>
                </c:pt>
                <c:pt idx="24">
                  <c:v>500000</c:v>
                </c:pt>
                <c:pt idx="25">
                  <c:v>500000</c:v>
                </c:pt>
                <c:pt idx="26">
                  <c:v>500000</c:v>
                </c:pt>
                <c:pt idx="27">
                  <c:v>500000</c:v>
                </c:pt>
                <c:pt idx="28">
                  <c:v>500000</c:v>
                </c:pt>
                <c:pt idx="29">
                  <c:v>500000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退保總額</c:v>
                </c:pt>
              </c:strCache>
            </c:strRef>
          </c:tx>
          <c:spPr>
            <a:solidFill>
              <a:srgbClr val="1A73E8"/>
            </a:solidFill>
            <a:ln w="2540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2643</c:v>
                </c:pt>
                <c:pt idx="1">
                  <c:v>4742</c:v>
                </c:pt>
                <c:pt idx="2">
                  <c:v>36393</c:v>
                </c:pt>
                <c:pt idx="3">
                  <c:v>93326</c:v>
                </c:pt>
                <c:pt idx="4">
                  <c:v>234795</c:v>
                </c:pt>
                <c:pt idx="5">
                  <c:v>339801</c:v>
                </c:pt>
                <c:pt idx="6">
                  <c:v>514498</c:v>
                </c:pt>
                <c:pt idx="7">
                  <c:v>537816</c:v>
                </c:pt>
                <c:pt idx="8">
                  <c:v>570781</c:v>
                </c:pt>
                <c:pt idx="9">
                  <c:v>638233</c:v>
                </c:pt>
                <c:pt idx="10">
                  <c:v>668078</c:v>
                </c:pt>
                <c:pt idx="11">
                  <c:v>695703</c:v>
                </c:pt>
                <c:pt idx="12">
                  <c:v>821066</c:v>
                </c:pt>
                <c:pt idx="13">
                  <c:v>861709</c:v>
                </c:pt>
                <c:pt idx="14">
                  <c:v>931210</c:v>
                </c:pt>
                <c:pt idx="15">
                  <c:v>980864</c:v>
                </c:pt>
                <c:pt idx="16">
                  <c:v>1057827</c:v>
                </c:pt>
                <c:pt idx="17">
                  <c:v>1144103</c:v>
                </c:pt>
                <c:pt idx="18">
                  <c:v>1251890</c:v>
                </c:pt>
                <c:pt idx="19">
                  <c:v>1366345</c:v>
                </c:pt>
                <c:pt idx="20">
                  <c:v>1451156</c:v>
                </c:pt>
                <c:pt idx="21">
                  <c:v>1551871</c:v>
                </c:pt>
                <c:pt idx="22">
                  <c:v>1672015</c:v>
                </c:pt>
                <c:pt idx="23">
                  <c:v>1797654</c:v>
                </c:pt>
                <c:pt idx="24">
                  <c:v>1934601</c:v>
                </c:pt>
                <c:pt idx="25">
                  <c:v>2091085</c:v>
                </c:pt>
                <c:pt idx="26">
                  <c:v>2254161</c:v>
                </c:pt>
                <c:pt idx="27">
                  <c:v>2440423</c:v>
                </c:pt>
                <c:pt idx="28">
                  <c:v>2605480</c:v>
                </c:pt>
                <c:pt idx="29">
                  <c:v>2782754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已繳保費</c:v>
                </c:pt>
              </c:strCache>
            </c:strRef>
          </c:tx>
          <c:spPr>
            <a:solidFill>
              <a:srgbClr val="E37400"/>
            </a:solidFill>
            <a:ln w="25400" cap="flat">
              <a:solidFill>
                <a:srgbClr val="E3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7400"/>
              </a:solidFill>
              <a:ln w="9525" cap="flat">
                <a:solidFill>
                  <a:srgbClr val="E3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4949</c:v>
                </c:pt>
                <c:pt idx="1">
                  <c:v>9898</c:v>
                </c:pt>
                <c:pt idx="2">
                  <c:v>14847</c:v>
                </c:pt>
                <c:pt idx="3">
                  <c:v>19796</c:v>
                </c:pt>
                <c:pt idx="4">
                  <c:v>24745</c:v>
                </c:pt>
                <c:pt idx="5">
                  <c:v>29694</c:v>
                </c:pt>
                <c:pt idx="6">
                  <c:v>34643</c:v>
                </c:pt>
                <c:pt idx="7">
                  <c:v>39592</c:v>
                </c:pt>
                <c:pt idx="8">
                  <c:v>44541</c:v>
                </c:pt>
                <c:pt idx="9">
                  <c:v>49490</c:v>
                </c:pt>
                <c:pt idx="10">
                  <c:v>49490</c:v>
                </c:pt>
                <c:pt idx="11">
                  <c:v>49490</c:v>
                </c:pt>
                <c:pt idx="12">
                  <c:v>49490</c:v>
                </c:pt>
                <c:pt idx="13">
                  <c:v>49490</c:v>
                </c:pt>
                <c:pt idx="14">
                  <c:v>49490</c:v>
                </c:pt>
                <c:pt idx="15">
                  <c:v>49490</c:v>
                </c:pt>
                <c:pt idx="16">
                  <c:v>49490</c:v>
                </c:pt>
                <c:pt idx="17">
                  <c:v>49490</c:v>
                </c:pt>
                <c:pt idx="18">
                  <c:v>49490</c:v>
                </c:pt>
                <c:pt idx="19">
                  <c:v>49490</c:v>
                </c:pt>
                <c:pt idx="20">
                  <c:v>49490</c:v>
                </c:pt>
                <c:pt idx="21">
                  <c:v>49490</c:v>
                </c:pt>
                <c:pt idx="22">
                  <c:v>49490</c:v>
                </c:pt>
                <c:pt idx="23">
                  <c:v>49490</c:v>
                </c:pt>
                <c:pt idx="24">
                  <c:v>49490</c:v>
                </c:pt>
                <c:pt idx="25">
                  <c:v>49490</c:v>
                </c:pt>
                <c:pt idx="26">
                  <c:v>49490</c:v>
                </c:pt>
                <c:pt idx="27">
                  <c:v>49490</c:v>
                </c:pt>
                <c:pt idx="28">
                  <c:v>49490</c:v>
                </c:pt>
                <c:pt idx="29">
                  <c:v>49490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退保總額</c:v>
                </c:pt>
              </c:strCache>
            </c:strRef>
          </c:tx>
          <c:spPr>
            <a:solidFill>
              <a:srgbClr val="1A73E8"/>
            </a:solidFill>
            <a:ln w="2540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984</c:v>
                </c:pt>
                <c:pt idx="5">
                  <c:v>1091</c:v>
                </c:pt>
                <c:pt idx="6">
                  <c:v>1215</c:v>
                </c:pt>
                <c:pt idx="7">
                  <c:v>1355</c:v>
                </c:pt>
                <c:pt idx="8">
                  <c:v>2432</c:v>
                </c:pt>
                <c:pt idx="9">
                  <c:v>8023</c:v>
                </c:pt>
                <c:pt idx="10">
                  <c:v>10141</c:v>
                </c:pt>
                <c:pt idx="11">
                  <c:v>11832</c:v>
                </c:pt>
                <c:pt idx="12">
                  <c:v>13560</c:v>
                </c:pt>
                <c:pt idx="13">
                  <c:v>15324</c:v>
                </c:pt>
                <c:pt idx="14">
                  <c:v>35631</c:v>
                </c:pt>
                <c:pt idx="15">
                  <c:v>50295</c:v>
                </c:pt>
                <c:pt idx="16">
                  <c:v>52664</c:v>
                </c:pt>
                <c:pt idx="17">
                  <c:v>56579</c:v>
                </c:pt>
                <c:pt idx="18">
                  <c:v>60625</c:v>
                </c:pt>
                <c:pt idx="19">
                  <c:v>69363</c:v>
                </c:pt>
                <c:pt idx="20">
                  <c:v>72360</c:v>
                </c:pt>
                <c:pt idx="21">
                  <c:v>75022</c:v>
                </c:pt>
                <c:pt idx="22">
                  <c:v>78255</c:v>
                </c:pt>
                <c:pt idx="23">
                  <c:v>82189</c:v>
                </c:pt>
                <c:pt idx="24">
                  <c:v>86503</c:v>
                </c:pt>
                <c:pt idx="25">
                  <c:v>91224</c:v>
                </c:pt>
                <c:pt idx="26">
                  <c:v>96375</c:v>
                </c:pt>
                <c:pt idx="27">
                  <c:v>101973</c:v>
                </c:pt>
                <c:pt idx="28">
                  <c:v>107850</c:v>
                </c:pt>
                <c:pt idx="29">
                  <c:v>118458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已繳保費</c:v>
                </c:pt>
              </c:strCache>
            </c:strRef>
          </c:tx>
          <c:spPr>
            <a:solidFill>
              <a:srgbClr val="E37400"/>
            </a:solidFill>
            <a:ln w="25400" cap="flat">
              <a:solidFill>
                <a:srgbClr val="E3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7400"/>
              </a:solidFill>
              <a:ln w="9525" cap="flat">
                <a:solidFill>
                  <a:srgbClr val="E3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500000</c:v>
                </c:pt>
                <c:pt idx="6">
                  <c:v>500000</c:v>
                </c:pt>
                <c:pt idx="7">
                  <c:v>500000</c:v>
                </c:pt>
                <c:pt idx="8">
                  <c:v>500000</c:v>
                </c:pt>
                <c:pt idx="9">
                  <c:v>500000</c:v>
                </c:pt>
                <c:pt idx="10">
                  <c:v>500000</c:v>
                </c:pt>
                <c:pt idx="11">
                  <c:v>500000</c:v>
                </c:pt>
                <c:pt idx="12">
                  <c:v>500000</c:v>
                </c:pt>
                <c:pt idx="13">
                  <c:v>500000</c:v>
                </c:pt>
                <c:pt idx="14">
                  <c:v>500000</c:v>
                </c:pt>
                <c:pt idx="15">
                  <c:v>500000</c:v>
                </c:pt>
                <c:pt idx="16">
                  <c:v>500000</c:v>
                </c:pt>
                <c:pt idx="17">
                  <c:v>500000</c:v>
                </c:pt>
                <c:pt idx="18">
                  <c:v>500000</c:v>
                </c:pt>
                <c:pt idx="19">
                  <c:v>500000</c:v>
                </c:pt>
                <c:pt idx="20">
                  <c:v>500000</c:v>
                </c:pt>
                <c:pt idx="21">
                  <c:v>500000</c:v>
                </c:pt>
                <c:pt idx="22">
                  <c:v>500000</c:v>
                </c:pt>
                <c:pt idx="23">
                  <c:v>500000</c:v>
                </c:pt>
                <c:pt idx="24">
                  <c:v>500000</c:v>
                </c:pt>
                <c:pt idx="25">
                  <c:v>500000</c:v>
                </c:pt>
                <c:pt idx="26">
                  <c:v>500000</c:v>
                </c:pt>
                <c:pt idx="27">
                  <c:v>500000</c:v>
                </c:pt>
                <c:pt idx="28">
                  <c:v>500000</c:v>
                </c:pt>
                <c:pt idx="29">
                  <c:v>500000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退保總額</c:v>
                </c:pt>
              </c:strCache>
            </c:strRef>
          </c:tx>
          <c:spPr>
            <a:solidFill>
              <a:srgbClr val="1A73E8"/>
            </a:solidFill>
            <a:ln w="2540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2643</c:v>
                </c:pt>
                <c:pt idx="1">
                  <c:v>4742</c:v>
                </c:pt>
                <c:pt idx="2">
                  <c:v>36393</c:v>
                </c:pt>
                <c:pt idx="3">
                  <c:v>93326</c:v>
                </c:pt>
                <c:pt idx="4">
                  <c:v>234795</c:v>
                </c:pt>
                <c:pt idx="5">
                  <c:v>339801</c:v>
                </c:pt>
                <c:pt idx="6">
                  <c:v>514498</c:v>
                </c:pt>
                <c:pt idx="7">
                  <c:v>537816</c:v>
                </c:pt>
                <c:pt idx="8">
                  <c:v>570781</c:v>
                </c:pt>
                <c:pt idx="9">
                  <c:v>638233</c:v>
                </c:pt>
                <c:pt idx="10">
                  <c:v>668078</c:v>
                </c:pt>
                <c:pt idx="11">
                  <c:v>695703</c:v>
                </c:pt>
                <c:pt idx="12">
                  <c:v>821066</c:v>
                </c:pt>
                <c:pt idx="13">
                  <c:v>861709</c:v>
                </c:pt>
                <c:pt idx="14">
                  <c:v>931210</c:v>
                </c:pt>
                <c:pt idx="15">
                  <c:v>980864</c:v>
                </c:pt>
                <c:pt idx="16">
                  <c:v>1057827</c:v>
                </c:pt>
                <c:pt idx="17">
                  <c:v>1144103</c:v>
                </c:pt>
                <c:pt idx="18">
                  <c:v>1251890</c:v>
                </c:pt>
                <c:pt idx="19">
                  <c:v>1366345</c:v>
                </c:pt>
                <c:pt idx="20">
                  <c:v>1451156</c:v>
                </c:pt>
                <c:pt idx="21">
                  <c:v>1551871</c:v>
                </c:pt>
                <c:pt idx="22">
                  <c:v>1672015</c:v>
                </c:pt>
                <c:pt idx="23">
                  <c:v>1797654</c:v>
                </c:pt>
                <c:pt idx="24">
                  <c:v>1934601</c:v>
                </c:pt>
                <c:pt idx="25">
                  <c:v>2091085</c:v>
                </c:pt>
                <c:pt idx="26">
                  <c:v>2254161</c:v>
                </c:pt>
                <c:pt idx="27">
                  <c:v>2440423</c:v>
                </c:pt>
                <c:pt idx="28">
                  <c:v>2605480</c:v>
                </c:pt>
                <c:pt idx="29">
                  <c:v>2782754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已繳保費</c:v>
                </c:pt>
              </c:strCache>
            </c:strRef>
          </c:tx>
          <c:spPr>
            <a:solidFill>
              <a:srgbClr val="E37400"/>
            </a:solidFill>
            <a:ln w="25400" cap="flat">
              <a:solidFill>
                <a:srgbClr val="E3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7400"/>
              </a:solidFill>
              <a:ln w="9525" cap="flat">
                <a:solidFill>
                  <a:srgbClr val="E3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4949</c:v>
                </c:pt>
                <c:pt idx="1">
                  <c:v>9898</c:v>
                </c:pt>
                <c:pt idx="2">
                  <c:v>14847</c:v>
                </c:pt>
                <c:pt idx="3">
                  <c:v>19796</c:v>
                </c:pt>
                <c:pt idx="4">
                  <c:v>24745</c:v>
                </c:pt>
                <c:pt idx="5">
                  <c:v>29694</c:v>
                </c:pt>
                <c:pt idx="6">
                  <c:v>34643</c:v>
                </c:pt>
                <c:pt idx="7">
                  <c:v>39592</c:v>
                </c:pt>
                <c:pt idx="8">
                  <c:v>44541</c:v>
                </c:pt>
                <c:pt idx="9">
                  <c:v>49490</c:v>
                </c:pt>
                <c:pt idx="10">
                  <c:v>49490</c:v>
                </c:pt>
                <c:pt idx="11">
                  <c:v>49490</c:v>
                </c:pt>
                <c:pt idx="12">
                  <c:v>49490</c:v>
                </c:pt>
                <c:pt idx="13">
                  <c:v>49490</c:v>
                </c:pt>
                <c:pt idx="14">
                  <c:v>49490</c:v>
                </c:pt>
                <c:pt idx="15">
                  <c:v>49490</c:v>
                </c:pt>
                <c:pt idx="16">
                  <c:v>49490</c:v>
                </c:pt>
                <c:pt idx="17">
                  <c:v>49490</c:v>
                </c:pt>
                <c:pt idx="18">
                  <c:v>49490</c:v>
                </c:pt>
                <c:pt idx="19">
                  <c:v>49490</c:v>
                </c:pt>
                <c:pt idx="20">
                  <c:v>49490</c:v>
                </c:pt>
                <c:pt idx="21">
                  <c:v>49490</c:v>
                </c:pt>
                <c:pt idx="22">
                  <c:v>49490</c:v>
                </c:pt>
                <c:pt idx="23">
                  <c:v>49490</c:v>
                </c:pt>
                <c:pt idx="24">
                  <c:v>49490</c:v>
                </c:pt>
                <c:pt idx="25">
                  <c:v>49490</c:v>
                </c:pt>
                <c:pt idx="26">
                  <c:v>49490</c:v>
                </c:pt>
                <c:pt idx="27">
                  <c:v>49490</c:v>
                </c:pt>
                <c:pt idx="28">
                  <c:v>49490</c:v>
                </c:pt>
                <c:pt idx="29">
                  <c:v>49490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退保總額</c:v>
                </c:pt>
              </c:strCache>
            </c:strRef>
          </c:tx>
          <c:spPr>
            <a:solidFill>
              <a:srgbClr val="1A73E8"/>
            </a:solidFill>
            <a:ln w="2540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  <c:pt idx="10">
                    <c:v>Y11</c:v>
                  </c:pt>
                  <c:pt idx="11">
                    <c:v>Y12</c:v>
                  </c:pt>
                  <c:pt idx="12">
                    <c:v>Y13</c:v>
                  </c:pt>
                  <c:pt idx="13">
                    <c:v>Y14</c:v>
                  </c:pt>
                  <c:pt idx="14">
                    <c:v>Y15</c:v>
                  </c:pt>
                  <c:pt idx="15">
                    <c:v>Y16</c:v>
                  </c:pt>
                  <c:pt idx="16">
                    <c:v>Y17</c:v>
                  </c:pt>
                  <c:pt idx="17">
                    <c:v>Y18</c:v>
                  </c:pt>
                  <c:pt idx="18">
                    <c:v>Y19</c:v>
                  </c:pt>
                  <c:pt idx="19">
                    <c:v>Y20</c:v>
                  </c:pt>
                  <c:pt idx="20">
                    <c:v>Y21</c:v>
                  </c:pt>
                  <c:pt idx="21">
                    <c:v>Y22</c:v>
                  </c:pt>
                  <c:pt idx="22">
                    <c:v>Y23</c:v>
                  </c:pt>
                  <c:pt idx="23">
                    <c:v>Y24</c:v>
                  </c:pt>
                  <c:pt idx="24">
                    <c:v>Y25</c:v>
                  </c:pt>
                  <c:pt idx="25">
                    <c:v>Y26</c:v>
                  </c:pt>
                  <c:pt idx="26">
                    <c:v>Y27</c:v>
                  </c:pt>
                  <c:pt idx="27">
                    <c:v>Y28</c:v>
                  </c:pt>
                  <c:pt idx="28">
                    <c:v>Y29</c:v>
                  </c:pt>
                  <c:pt idx="29">
                    <c:v>Y30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984</c:v>
                </c:pt>
                <c:pt idx="5">
                  <c:v>1091</c:v>
                </c:pt>
                <c:pt idx="6">
                  <c:v>1215</c:v>
                </c:pt>
                <c:pt idx="7">
                  <c:v>1355</c:v>
                </c:pt>
                <c:pt idx="8">
                  <c:v>2432</c:v>
                </c:pt>
                <c:pt idx="9">
                  <c:v>8023</c:v>
                </c:pt>
                <c:pt idx="10">
                  <c:v>10141</c:v>
                </c:pt>
                <c:pt idx="11">
                  <c:v>11832</c:v>
                </c:pt>
                <c:pt idx="12">
                  <c:v>13560</c:v>
                </c:pt>
                <c:pt idx="13">
                  <c:v>15324</c:v>
                </c:pt>
                <c:pt idx="14">
                  <c:v>35631</c:v>
                </c:pt>
                <c:pt idx="15">
                  <c:v>50295</c:v>
                </c:pt>
                <c:pt idx="16">
                  <c:v>52664</c:v>
                </c:pt>
                <c:pt idx="17">
                  <c:v>56579</c:v>
                </c:pt>
                <c:pt idx="18">
                  <c:v>60625</c:v>
                </c:pt>
                <c:pt idx="19">
                  <c:v>69363</c:v>
                </c:pt>
                <c:pt idx="20">
                  <c:v>72360</c:v>
                </c:pt>
                <c:pt idx="21">
                  <c:v>75022</c:v>
                </c:pt>
                <c:pt idx="22">
                  <c:v>78255</c:v>
                </c:pt>
                <c:pt idx="23">
                  <c:v>82189</c:v>
                </c:pt>
                <c:pt idx="24">
                  <c:v>86503</c:v>
                </c:pt>
                <c:pt idx="25">
                  <c:v>91224</c:v>
                </c:pt>
                <c:pt idx="26">
                  <c:v>96375</c:v>
                </c:pt>
                <c:pt idx="27">
                  <c:v>101973</c:v>
                </c:pt>
                <c:pt idx="28">
                  <c:v>107850</c:v>
                </c:pt>
                <c:pt idx="29">
                  <c:v>118458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先生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家庭保障與財富方案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財富增值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2377440" cy="1188720"/>
          </a:xfrm>
          <a:prstGeom prst="roundRect">
            <a:avLst>
              <a:gd name="adj" fmla="val 46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$100,000.04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931920"/>
            <a:ext cx="2377440" cy="1188720"/>
          </a:xfrm>
          <a:prstGeom prst="roundRect">
            <a:avLst>
              <a:gd name="adj" fmla="val 46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2377440" cy="1188720"/>
          </a:xfrm>
          <a:prstGeom prst="roundRect">
            <a:avLst>
              <a:gd name="adj" fmla="val 46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$4,949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3931920"/>
            <a:ext cx="2377440" cy="1188720"/>
          </a:xfrm>
          <a:prstGeom prst="roundRect">
            <a:avLst>
              <a:gd name="adj" fmla="val 46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$49,490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0" y="4663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方案生成: 2026-05-29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儲蓄方案詳解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「匠X・传承」储蓄寿险计划2(尊尚版)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41148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6304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**受保人**: VIP 先生 | 1歲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**年繳保費**: $100,000.04 | 繳費5年 | 保障至128岁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**📊 預期回本**: 第7年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財富增長軌跡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188720"/>
            <a:ext cx="3200400" cy="2286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3716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**回本分析**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回本年度: **Y7**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總投入: $500,000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末期總值: $1316.4M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增長: **2632.8x**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247120" cy="640080"/>
          </a:xfrm>
          <a:prstGeom prst="roundRect">
            <a:avLst>
              <a:gd name="adj" fmla="val 85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Y5: $234,795 (0.5x)    Y10: $638,233 (1.3x)    Y15: $931,210 (1.9x)    Y20: $1.4M (2.7x)    Y25: $1.9M (3.9x)    Y30: $2.8M (5.6x)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關鍵年度數據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011680"/>
                <a:gridCol w="20116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已繳保費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保證金額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非保證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退保總額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$27,273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$9,120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$36,393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$99,301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$135,494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$234,795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$316,084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$198,414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$514,498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$382,518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$255,715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$638,233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$504,196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$427,014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$931,210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$507,693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$858,652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$511,189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$514,686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儲蓄方案詳解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「守X家倍198」危疾保障计划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41148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6304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**受保人**: VIP 小姐 | 32歲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**年繳保費**: $4,949 | 繳費10年 | 保障至100岁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32岁非吸烟女性，寻求全面危疾保障，尤其关注长期健康风险（如癌症、中风、心脏病）的多次赔付，并希望保单具有财富增长潜力，偏好短期缴费（10年）。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• 短期缴费，终身保障：仅需10年缴费，即可享受长达至100岁的危疾与人寿保障，及早实现保费『自由』。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卓越的多次赔付机制：针对高发的癌症、中风、严重心脏病提供多达6次的100%保额额外赔付，并独家具备『无限次增值保障』，有效应对慢性或复发性疾病风险。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财富增长潜力：保单包含非保证终期红利，在保障健康的同时，能为客户积累可观的现金价值和身故/危疾赔偿，实现财富增值。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**📊 預期回本**: 第16年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財富增長軌跡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188720"/>
            <a:ext cx="3200400" cy="2286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3716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**回本分析**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回本年度: **Y16**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總投入: $49,490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末期總值: $1.7M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增長: **33.5x**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247120" cy="640080"/>
          </a:xfrm>
          <a:prstGeom prst="roundRect">
            <a:avLst>
              <a:gd name="adj" fmla="val 85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Y5: $984 (0.0x)    Y10: $8,023 (0.2x)    Y15: $35,631 (0.7x)    Y20: $69,363 (1.4x)    Y25: $86,503 (1.7x)    Y30: $118,458 (2.4x)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關鍵年度數據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011680"/>
                <a:gridCol w="20116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已繳保費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保證金額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非保證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退保總額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$14,847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$24,745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$5,548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$14,847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$20,784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$35,631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$69,363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$37,013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$86,503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$68,968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$118,458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儲蓄方案詳解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「匠X・传承」储蓄寿险计划2(尊尚版)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41148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6304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**受保人**: VIP 先生 | 1歲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**年繳保費**: $100,000.04 | 繳費5年 | 保障至128岁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**📊 預期回本**: 第7年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財富增長軌跡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188720"/>
            <a:ext cx="3200400" cy="2286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3716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**回本分析**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回本年度: **Y7**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總投入: $500,000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末期總值: $1316.4M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增長: **2632.8x**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247120" cy="640080"/>
          </a:xfrm>
          <a:prstGeom prst="roundRect">
            <a:avLst>
              <a:gd name="adj" fmla="val 85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Y5: $234,795 (0.5x)    Y10: $638,233 (1.3x)    Y15: $931,210 (1.9x)    Y20: $1.4M (2.7x)    Y25: $1.9M (3.9x)    Y30: $2.8M (5.6x)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關鍵年度數據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011680"/>
                <a:gridCol w="20116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已繳保費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保證金額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非保證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退保總額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$27,273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$9,120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$36,393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$99,301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$135,494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$234,795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$316,084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$198,414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$514,498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$382,518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$255,715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$638,233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$504,196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$427,014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$931,210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$507,693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$858,652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$511,189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$514,686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儲蓄方案詳解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「守X家倍198」危疾保障计划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41148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46304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**受保人**: VIP 小姐 | 32歲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**年繳保費**: $4,949 | 繳費10年 | 保障至100岁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32岁非吸烟女性，寻求全面危疾保障，尤其关注长期健康风险（如癌症、中风、心脏病）的多次赔付，并希望保单具有财富增长潜力，偏好短期缴费（10年）。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• 短期缴费，终身保障：仅需10年缴费，即可享受长达至100岁的危疾与人寿保障，及早实现保费『自由』。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卓越的多次赔付机制：针对高发的癌症、中风、严重心脏病提供多达6次的100%保额额外赔付，并独家具备『无限次增值保障』，有效应对慢性或复发性疾病风险。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财富增长潜力：保单包含非保证终期红利，在保障健康的同时，能为客户积累可观的现金价值和身故/危疾赔偿，实现财富增值。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**📊 預期回本**: 第16年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財富增長軌跡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188720"/>
            <a:ext cx="3200400" cy="2286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37160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**回本分析**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回本年度: **Y16**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總投入: $49,490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末期總值: $1.7M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增長: **33.5x**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247120" cy="640080"/>
          </a:xfrm>
          <a:prstGeom prst="roundRect">
            <a:avLst>
              <a:gd name="adj" fmla="val 85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Y5: $984 (0.0x)    Y10: $8,023 (0.2x)    Y15: $35,631 (0.7x)    Y20: $69,363 (1.4x)    Y25: $86,503 (1.7x)    Y30: $118,458 (2.4x)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關鍵年度數據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" cy="5303520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011680"/>
                <a:gridCol w="2011680"/>
                <a:gridCol w="20116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已繳保費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保證金額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非保證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退保總額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$14,847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$24,745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$34,643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$5,548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$14,847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$20,784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$35,631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$69,363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$37,013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$86,503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$49,490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74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$68,968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$118,458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7C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期待為您提供專業服務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212080" y="3657600"/>
            <a:ext cx="18288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本文件僅供參考，不構成要約或建議。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非保證金額並非保證，實際可能高於或低於預期。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生成日期: 2026-05-29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2026-05-29T02:57:31Z</dcterms:created>
  <dcterms:modified xsi:type="dcterms:W3CDTF">2026-05-29T02:57:31Z</dcterms:modified>
</cp:coreProperties>
</file>