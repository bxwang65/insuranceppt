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51e63669a74b31" /><Relationship Type="http://schemas.openxmlformats.org/officeDocument/2006/relationships/extended-properties" Target="/docProps/app.xml" Id="Ree173e9e50234166" /><Relationship Type="http://schemas.openxmlformats.org/officeDocument/2006/relationships/officeDocument" Target="/ppt/presentation.xml" Id="R91b16968ca9648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0faba629da4efa"/>
    <p:sldMasterId xmlns:r="http://schemas.openxmlformats.org/officeDocument/2006/relationships" id="2147483659" r:id="R065b3433c81e4b93"/>
  </p:sldMasterIdLst>
  <p:notesMasterIdLst>
    <p:notesMasterId xmlns:r="http://schemas.openxmlformats.org/officeDocument/2006/relationships" r:id="R59961454348b44d7"/>
  </p:notesMasterIdLst>
  <p:sldIdLst>
    <p:sldId xmlns:r="http://schemas.openxmlformats.org/officeDocument/2006/relationships" id="256" r:id="R1c490bdb850841a8"/>
    <p:sldId xmlns:r="http://schemas.openxmlformats.org/officeDocument/2006/relationships" id="257" r:id="Ra5fc605bd6044601"/>
    <p:sldId xmlns:r="http://schemas.openxmlformats.org/officeDocument/2006/relationships" id="258" r:id="R2f6181879ce94ad2"/>
    <p:sldId xmlns:r="http://schemas.openxmlformats.org/officeDocument/2006/relationships" id="259" r:id="R1be65428f12c4b58"/>
    <p:sldId xmlns:r="http://schemas.openxmlformats.org/officeDocument/2006/relationships" id="260" r:id="Rc3d6d267a1314c98"/>
    <p:sldId xmlns:r="http://schemas.openxmlformats.org/officeDocument/2006/relationships" id="261" r:id="Rdb5d4e0429f44d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d5fa088b4a489f" /><Relationship Type="http://schemas.openxmlformats.org/officeDocument/2006/relationships/slideMaster" Target="/ppt/slideMasters/slideMaster1.xml" Id="R710faba629da4efa" /><Relationship Type="http://schemas.openxmlformats.org/officeDocument/2006/relationships/slideMaster" Target="/ppt/slideMasters/slideMaster2.xml" Id="R065b3433c81e4b93" /><Relationship Type="http://schemas.openxmlformats.org/officeDocument/2006/relationships/notesMaster" Target="/ppt/notesMasters/notesMaster1.xml" Id="R59961454348b44d7" /><Relationship Type="http://schemas.openxmlformats.org/officeDocument/2006/relationships/presProps" Target="/ppt/presProps.xml" Id="R29096f70664742d1" /><Relationship Type="http://schemas.openxmlformats.org/officeDocument/2006/relationships/viewProps" Target="/ppt/viewProps.xml" Id="Ra6844cd02ab14f3d" /><Relationship Type="http://schemas.openxmlformats.org/officeDocument/2006/relationships/tableStyles" Target="/ppt/tableStyles.xml" Id="Rc7b0046c82894e32" /><Relationship Type="http://schemas.openxmlformats.org/officeDocument/2006/relationships/slide" Target="/ppt/slides/slide1.xml" Id="R1c490bdb850841a8" /><Relationship Type="http://schemas.openxmlformats.org/officeDocument/2006/relationships/slide" Target="/ppt/slides/slide2.xml" Id="Ra5fc605bd6044601" /><Relationship Type="http://schemas.openxmlformats.org/officeDocument/2006/relationships/slide" Target="/ppt/slides/slide3.xml" Id="R2f6181879ce94ad2" /><Relationship Type="http://schemas.openxmlformats.org/officeDocument/2006/relationships/slide" Target="/ppt/slides/slide4.xml" Id="R1be65428f12c4b58" /><Relationship Type="http://schemas.openxmlformats.org/officeDocument/2006/relationships/slide" Target="/ppt/slides/slide5.xml" Id="Rc3d6d267a1314c98" /><Relationship Type="http://schemas.openxmlformats.org/officeDocument/2006/relationships/slide" Target="/ppt/slides/slide6.xml" Id="Rdb5d4e0429f44d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fd9ebf352af4e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cd8e5b974544ff" /><Relationship Type="http://schemas.openxmlformats.org/officeDocument/2006/relationships/notesMaster" Target="/ppt/notesMasters/notesMaster1.xml" Id="R7bd0a16973ae4b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f41b222fe64a14" /><Relationship Type="http://schemas.openxmlformats.org/officeDocument/2006/relationships/notesMaster" Target="/ppt/notesMasters/notesMaster1.xml" Id="R2ad54be5fc88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edc29c313f465e" /><Relationship Type="http://schemas.openxmlformats.org/officeDocument/2006/relationships/notesMaster" Target="/ppt/notesMasters/notesMaster1.xml" Id="R19459716e1274d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784855d93a4ba7" /><Relationship Type="http://schemas.openxmlformats.org/officeDocument/2006/relationships/notesMaster" Target="/ppt/notesMasters/notesMaster1.xml" Id="Ra5ac11483a6a44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76e512360f470b" /><Relationship Type="http://schemas.openxmlformats.org/officeDocument/2006/relationships/notesMaster" Target="/ppt/notesMasters/notesMaster1.xml" Id="R7dc0d0ca3cf249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a4039966564fbc" /><Relationship Type="http://schemas.openxmlformats.org/officeDocument/2006/relationships/notesMaster" Target="/ppt/notesMasters/notesMaster1.xml" Id="R15725d5beebd44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d4d5a365c4c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d8d493166844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e87e5c90d4c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85c416af04d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9de225ce3c48b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510778c704c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746276aeb64d6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07d37dade495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99fd413284a5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65c43ba19b43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071b11927c04b0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2ad755f5f9c41c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2930d851cf441e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96d8aa82cc4aa5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fe857e60154c1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f524a6450c4617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10072b4f5e4a3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980d21c2e24804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d63a1303fe3496a" /><Relationship Type="http://schemas.openxmlformats.org/officeDocument/2006/relationships/image" Target="/ppt/media/image.png" Id="R9a38027fc65f4189" /><Relationship Type="http://schemas.openxmlformats.org/officeDocument/2006/relationships/image" Target="/ppt/media/image.svg" Id="Rcfbf76e7667b42c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450b7487b4a4631" /><Relationship Type="http://schemas.openxmlformats.org/officeDocument/2006/relationships/image" Target="/ppt/media/image.png" Id="R1fab2a12ec394c1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85c88786474ba8" /><Relationship Type="http://schemas.openxmlformats.org/officeDocument/2006/relationships/image" Target="/ppt/media/image.png" Id="R2e8b8f15cfec4786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19e70b046ae4405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B17CE19-80D5-46C7-858A-2D7308D6CEA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68DD482-4FBE-44CA-BB78-FCA00A16BB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4D6E1DE-F39E-4230-A5D4-FFC4307A18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5843E9A-A056-4A6E-9BF9-531D64FC0F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5621373-3175-472D-A7E1-0BD16FAD284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ADE9FE0-78AE-4AAF-96B6-FD8DF294FC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C8E7E99-DEB8-4F56-96E8-7735736B7D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83A9F6-1323-4908-946A-B50E0CC3D1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80D4352-0E50-4A7A-AFC3-1D18196C743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CE8B73-FB3E-4130-9440-4B53563361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4647B74-BCA1-43E7-ABB5-AB3790E4F1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A73C4131-1079-4823-A5F0-EF932B3957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F087491-CA3B-4D6B-BF27-854A15514B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C9A9F7A-FFFB-4FA9-AB1F-367DF3F28FC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B26A70F-CDC1-4458-B2B0-57978FE43C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734678E-F6CD-4935-A7FA-5906F230B3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7742BBE-DDA7-49A4-B622-D41B05FE50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16A1AA0-C144-44B5-9DA9-1D9175CC4FA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5D2EF6-3DCB-4AA7-8079-C43F4E0310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44F9721-2B9D-4BC6-BB2A-945505068B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7CE6BA5-C682-4EF4-BFE3-B420AEBBC9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A8F31EF-B583-4A3B-A198-DA49BC1651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6C199D1-02C9-4358-9181-1229177D49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892434F-3A01-4C47-A9C2-5A55C4B39F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AC1FFB0-8633-4D0D-88DA-4AAF36783C0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8BBF1C5-FF37-4F56-A21A-1C3CE6E9DA95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CC86B0B-8B16-4558-B8B5-477ECB37AE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0B275628-558B-45ED-90B1-F72EE9BC6B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E04581D4-BC18-4287-B90E-DDC58927DC5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E1128AB-49B9-4CFF-830D-7A0DCCD0D5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6F02B1-201C-45B8-BB13-C63A479D51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0B332E1D-A8B3-4FEB-B96B-CD14CD9B7E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A0D88479-D0CA-4C14-ADDF-44BDF1FDEE2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B70F6E53-2055-4D3C-A22F-32CABAF7CD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EB2DCDD6-0F2D-4F76-A270-1CA986943A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E3701C4-D387-4D62-BBB7-3AECF4326F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BCF4322-3FB2-4649-92E4-7381B99C527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96E7E99-466C-4CDC-AD1C-314FC572B6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EC64DFF-8E80-4190-AAC7-77D175F8D2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FF0B719-7638-4631-9434-E7FFA911E5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6A1364E-EB03-48BB-BF13-246F1C8C3F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48286ED-553F-45E9-AD84-BB66DB028C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77FB4BF-5EA9-487E-A071-21D172A1B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3561FE3D-50B5-437D-AC68-450A146B45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055535D-5B9A-4BAB-BEFB-F2D62DC11E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67CECEA-3FD3-49DA-8F47-0396413D42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6FD11CF-011E-43ED-B7C0-2D6652EF77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584EB72-440C-4C97-91B6-6127992893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259DBDE-6242-46C0-AC1B-600D8B1142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9049E140-A652-48A9-ADCE-EC287F5871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5C7D9998-01E7-4B1F-A72D-2883423455A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93027314-3B27-4D40-AED0-96FC0C9A73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6716BB3-690C-4E40-840E-483DDBDA88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三级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四级</a:t>
            </a:r>
          </a:p>
          <a:p xmlns:a="http://schemas.openxmlformats.org/drawingml/2006/main">
            <a:pPr>
              <a:buNone/>
            </a:pPr>
            <a:r>
              <a:t>第</a:t>
            </a: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D39EDA5-1885-4A81-B041-7B43DC2091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94EBCA4-25EF-4FAD-A9D0-B5AB6BBDBA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0497B5-5B64-4839-A4DB-A970A72614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type="blank" preserve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任意多边形: 形状 4">
            <a:extLst xmlns:a="http://schemas.openxmlformats.org/drawingml/2006/main">
              <a:ext uri="{FF2B5EF4-FFF2-40B4-BE49-F238E27FC236}">
                <a16:creationId xmlns:a16="http://schemas.microsoft.com/office/drawing/2014/main" id="{A1FAA59D-32B8-4D49-9641-1CE5DD64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385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82667E0-A900-4E50-B00D-63E87E29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105" y="0"/>
            <a:ext cx="5481320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8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CA027BA4-34AE-4628-A87A-F143D733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655" y="6456309"/>
            <a:ext cx="850846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9E6712F2-B32F-4DEA-8ED0-35AECBA6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B891EBEB-12DD-49E9-B30B-3C0054F5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3F5B02F4-6705-4F80-9CFE-5E5A6D6D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C9006D37-E826-45E7-8085-54438A0B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385BDF73-09B5-4002-9919-FE9EF010ED9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107123" y="811262"/>
            <a:ext cx="1977755" cy="1081088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algn="ctr">
              <a:buNone/>
              <a:defRPr sz="6000" b="1" i="0" u="none" cap="none" spc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r>
              <a:t>标题</a:t>
            </a:r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3499ECA-8341-48F8-A93A-CDBE64C67A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F308E5E-A237-4076-9BDC-CB90880122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2D64F77-9E53-400A-84F0-46C8D979A3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3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4644965-3570-4249-8529-D7B2ED09C05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9C5FF31-EFE3-49FB-AC1A-E4CEA89D977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EC8FF6E-5C50-4F8D-B024-34EB49944D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39BC474B-5087-4435-BA59-54DD6626E8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32963FB-365B-40A3-8F83-3E482B37F4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7F8D7B25-69F8-4E9A-BF25-16D540DD26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DC17DA6-4462-493E-9E40-07937E04FF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9C73DE5-9B3C-4A3E-BA80-834E2AECA9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7B704698-5530-420D-8AC6-22309F38FF8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1D6A204-3182-4AD8-B739-E3A442A5695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F1AED1E-B7C2-4C46-9A79-B9BFDBB0FC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CCE227E-E69F-4CDA-A9C1-97B10FE765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F3736B0-0977-4045-8216-C20D761497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标题 1">
            <a:extLst xmlns:a="http://schemas.openxmlformats.org/drawingml/2006/main">
              <a:ext uri="{FF2B5EF4-FFF2-40B4-BE49-F238E27FC236}">
                <a16:creationId xmlns:a16="http://schemas.microsoft.com/office/drawing/2014/main" id="{096A7662-6599-4DAF-8731-EA5A98444C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22C386D1-B437-4A05-9B46-228925AC91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3CABC42-9AB5-4192-B045-1ABF470683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D5B3FDF-84D1-4932-BD5A-2F3415FCC7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F1A871C1-5792-42F9-811F-4B7C5C3184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9679EBF-6931-4827-9A59-B2C0D2E584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62E64E8-5F7B-43E1-9CCD-4D8A47CC36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F8E6A23-F05B-477F-B7F3-EC36AC3029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BE6375E-81EF-4BC6-948D-BE2F3221AD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A84286-71A5-4E6F-BA20-3428A04DE3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A300BF-86FF-4DD9-903D-1E385F4346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09DC6B-AF8C-45DD-838D-2EFB0301BA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11E42234-395B-47CB-B24A-D7099E4F49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5299A9B5-3B29-498B-BDC8-C49B7562B9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72007F2-A73E-41D8-84D1-E798DEAC8F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14E5E9D6-53F2-41DE-AB3A-64C8E1810346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/>
          <a:lstStyle xmlns:a="http://schemas.openxmlformats.org/drawingml/2006/main"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单击此处编辑副标题</a:t>
            </a:r>
          </a:p>
        </p:txBody>
      </p:sp>
      <p:sp>
        <p:nvSpPr>
          <p:cNvPr id="7" name="标题 1">
            <a:extLst xmlns:a="http://schemas.openxmlformats.org/drawingml/2006/main">
              <a:ext uri="{FF2B5EF4-FFF2-40B4-BE49-F238E27FC236}">
                <a16:creationId xmlns:a16="http://schemas.microsoft.com/office/drawing/2014/main" id="{254AAACD-8750-4F40-BC91-6CCCC5F724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封面页_1_3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47301CA-8A5A-411F-8643-1A080E94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0" y="-15875"/>
            <a:ext cx="1786890" cy="2779395"/>
          </a:xfrm>
          <a:prstGeom xmlns:a="http://schemas.openxmlformats.org/drawingml/2006/main" prst="rtTriangle">
            <a:avLst/>
          </a:pr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1416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C4790997-7B8F-432E-9D75-6C33D805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5119D497-3231-4CC4-8AA4-60B9D01D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6" name="图片 6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a38027fc65f4189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46" name="日期">
            <a:extLst xmlns:a="http://schemas.openxmlformats.org/drawingml/2006/main">
              <a:ext uri="{FF2B5EF4-FFF2-40B4-BE49-F238E27FC236}">
                <a16:creationId xmlns:a16="http://schemas.microsoft.com/office/drawing/2014/main" id="{D3C94835-2303-43CF-AC70-0217BCDFE946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1651000"/>
            <a:ext cx="6097058" cy="4572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2"/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20XX YEAR</a:t>
            </a:r>
          </a:p>
        </p:txBody>
      </p:sp>
      <p:sp>
        <p:nvSpPr>
          <p:cNvPr id="45" name="标题 44">
            <a:extLst xmlns:a="http://schemas.openxmlformats.org/drawingml/2006/main">
              <a:ext uri="{FF2B5EF4-FFF2-40B4-BE49-F238E27FC236}">
                <a16:creationId xmlns:a16="http://schemas.microsoft.com/office/drawing/2014/main" id="{7DFE5DAE-A911-4237-8FBE-6A69908A8246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2159000"/>
            <a:ext cx="6352646" cy="2540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商务风融资计划</a:t>
            </a:r>
            <a:br/>
            <a:r>
              <a:t>通用模板</a:t>
            </a:r>
          </a:p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36465BD7-ABB5-467F-ACF3-043355F6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265" y="5255260"/>
            <a:ext cx="1241425" cy="533400"/>
          </a:xfrm>
          <a:prstGeom xmlns:a="http://schemas.openxmlformats.org/drawingml/2006/main" prst="roundRect">
            <a:avLst>
              <a:gd name="adj" fmla="val 50000"/>
            </a:avLst>
          </a:prstGeom>
          <a:gradFill xmlns:a="http://schemas.openxmlformats.org/drawingml/2006/main">
            <a:gsLst>
              <a:gs pos="2000">
                <a:schemeClr val="accent1"/>
              </a:gs>
              <a:gs pos="100000">
                <a:schemeClr val="accent2"/>
              </a:gs>
            </a:gsLst>
            <a:lin ang="135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</a:pPr>
          </a:p>
        </p:txBody>
      </p:sp>
      <p:sp>
        <p:nvSpPr>
          <p:cNvPr id="47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ED656D69-5590-4FAB-BBB2-00813A255301}"/>
              </a:ext>
            </a:extLst>
          </p:cNvPr>
          <p:cNvSpPr>
            <a:spLocks xmlns:a="http://schemas.openxmlformats.org/drawingml/2006/main" noGrp="1"/>
          </p:cNvSpPr>
          <p:nvPr>
            <p:ph type="body" idx="16387" hasCustomPrompt="1"/>
          </p:nvPr>
        </p:nvSpPr>
        <p:spPr>
          <a:xfrm xmlns:a="http://schemas.openxmlformats.org/drawingml/2006/main">
            <a:off x="1016000" y="5255239"/>
            <a:ext cx="254088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chemeClr val="bg2"/>
            </a:solidFill>
          </a:ln>
          <a:effectLst xmlns:a="http://schemas.openxmlformats.org/drawingml/2006/main">
            <a:outerShdw blurRad="444500" dist="152400" dir="5520000" sx="104000" sy="104000" algn="tl" rotWithShape="0">
              <a:schemeClr val="accent2">
                <a:alpha val="21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 u="none" cap="none" spc="0">
                <a:solidFill>
                  <a:srgbClr val="031A2F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pPr>
              <a:buNone/>
            </a:pPr>
            <a:r>
              <a:t>BY WPS</a:t>
            </a:r>
          </a:p>
        </p:txBody>
      </p:sp>
      <p:pic>
        <p:nvPicPr>
          <p:cNvPr id="71" name="图形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8027fc65f4189">
            <a:extLst>
              <a:ext uri="{96DAC541-7B7A-43D3-8B79-37D633B846F1}">
                <asvg:svgBlip xmlns:asvg="http://schemas.microsoft.com/office/drawing/2016/SVG/main" r:embed="Rcfbf76e7667b42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2700000">
            <a:off x="3764071" y="5443856"/>
            <a:ext cx="162734" cy="162734"/>
          </a:xfrm>
          <a:prstGeom xmlns:a="http://schemas.openxmlformats.org/drawingml/2006/main" prst="rect">
            <a:avLst/>
          </a:prstGeom>
        </p:spPr>
      </p:pic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A35C23E-5F65-4A3A-9BFD-F99B4BFC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DEB1C632-4462-489D-830D-7D022D19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135B59A-C82F-475D-9E2C-1E4A3054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BCF2D22B-F8D3-422F-A137-BF702205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40F518D3-3246-4221-A71E-D5C3D2FA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章节页_1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85123189-A55E-4D81-9512-88A0915B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DCD832A9-B586-487B-9C35-EC9119C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D5921138-D736-4D3A-B7A6-79CA0167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椭圆 32">
            <a:extLst xmlns:a="http://schemas.openxmlformats.org/drawingml/2006/main">
              <a:ext uri="{FF2B5EF4-FFF2-40B4-BE49-F238E27FC236}">
                <a16:creationId xmlns:a16="http://schemas.microsoft.com/office/drawing/2014/main" id="{BC051323-73ED-4BC4-8D79-DE25872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735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CD1EEF1B-A010-4807-9DA9-15D3829D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8733733" y="0"/>
            <a:ext cx="5055397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9E530096-E40F-4F0C-8B2A-68E0AC26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>
            <a:off x="-9394418" y="0"/>
            <a:ext cx="6117129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fab2a12ec394c1f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1" flipV="0">
            <a:off x="-8794006" y="908050"/>
            <a:ext cx="6717541" cy="5949950"/>
          </a:xfrm>
          <a:prstGeom xmlns:a="http://schemas.openxmlformats.org/drawingml/2006/main" prst="rect">
            <a:avLst/>
          </a:prstGeom>
        </p:spPr>
      </p:pic>
      <p:sp>
        <p:nvSpPr>
          <p:cNvPr id="6" name="标题 2">
            <a:extLst xmlns:a="http://schemas.openxmlformats.org/drawingml/2006/main">
              <a:ext uri="{FF2B5EF4-FFF2-40B4-BE49-F238E27FC236}">
                <a16:creationId xmlns:a16="http://schemas.microsoft.com/office/drawing/2014/main" id="{22EAF0C1-D605-4EE9-ACC9-532FDC7A0266}"/>
              </a:ext>
            </a:extLst>
          </p:cNvPr>
          <p:cNvSpPr>
            <a:spLocks xmlns:a="http://schemas.openxmlformats.org/drawingml/2006/main" noGrp="1"/>
          </p:cNvSpPr>
          <p:nvPr>
            <p:ph type="title" idx="16385" hasCustomPrompt="1"/>
          </p:nvPr>
        </p:nvSpPr>
        <p:spPr>
          <a:xfrm xmlns:a="http://schemas.openxmlformats.org/drawingml/2006/main">
            <a:off x="5696585" y="2983865"/>
            <a:ext cx="5479415" cy="1524000"/>
          </a:xfr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0" spc="0">
                <a:solidFill>
                  <a:schemeClr val="tx2"/>
                </a:solidFill>
                <a:latin typeface="+mn-ea"/>
                <a:ea typeface="+mn-ea"/>
                <a:cs typeface="+mn-ea"/>
              </a:defRPr>
            </a:lvl1pPr>
          </a:lstStyle>
          <a:p xmlns:a="http://schemas.openxmlformats.org/drawingml/2006/main">
            <a:r>
              <a:t>单击此处添加章节</a:t>
            </a:r>
          </a:p>
        </p:txBody>
      </p:sp>
      <p:sp>
        <p:nvSpPr>
          <p:cNvPr id="7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C315BAD-D08D-4E53-8736-224D8E8F332A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9648825" y="1358265"/>
            <a:ext cx="1527175" cy="1524000"/>
          </a:xfrm>
        </p:spPr>
        <p:txBody>
          <a:bodyPr xmlns:a="http://schemas.openxmlformats.org/drawingml/2006/main" vert="horz" wrap="none" lIns="0" tIns="0" rIns="0" bIns="0" anchor="ctr">
            <a:normAutofit/>
          </a:bodyPr>
          <a:lstStyle xmlns:a="http://schemas.openxmlformats.org/drawingml/2006/main">
            <a:lvl1pPr marL="0" indent="0" algn="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7200" b="0" spc="0">
                <a:solidFill>
                  <a:schemeClr val="accent2"/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6CE597F7-7518-4620-8E16-22E63F4B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5FD2F6E6-7814-4320-BCE0-00E6E583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46416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结束页_1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6A481C9F-3EEB-4F95-B1B2-9582906E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64355" y="0"/>
            <a:ext cx="5539105" cy="5143500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19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任意多边形: 形状 27">
            <a:extLst xmlns:a="http://schemas.openxmlformats.org/drawingml/2006/main">
              <a:ext uri="{FF2B5EF4-FFF2-40B4-BE49-F238E27FC236}">
                <a16:creationId xmlns:a16="http://schemas.microsoft.com/office/drawing/2014/main" id="{E8A04FCD-1211-4FF9-B522-C5EEC361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08625" y="0"/>
            <a:ext cx="6702425" cy="6858000"/>
          </a:xfrm>
          <a:custGeom xmlns:a="http://schemas.openxmlformats.org/drawingml/2006/main">
            <a:rect l="l" t="t" r="r" b="b"/>
            <a:pathLst>
              <a:path w="10555" h="10800">
                <a:moveTo>
                  <a:pt x="6933" y="0"/>
                </a:moveTo>
                <a:lnTo>
                  <a:pt x="10555" y="0"/>
                </a:lnTo>
                <a:lnTo>
                  <a:pt x="10555" y="3948"/>
                </a:lnTo>
                <a:lnTo>
                  <a:pt x="6156" y="10800"/>
                </a:lnTo>
                <a:lnTo>
                  <a:pt x="0" y="10800"/>
                </a:lnTo>
                <a:lnTo>
                  <a:pt x="6933" y="0"/>
                </a:lnTo>
                <a:close/>
              </a:path>
            </a:pathLst>
          </a:custGeom>
          <a:gradFill xmlns:a="http://schemas.openxmlformats.org/drawingml/2006/main">
            <a:gsLst>
              <a:gs pos="0">
                <a:schemeClr val="accent1">
                  <a:lumMod val="75000"/>
                  <a:alpha val="80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图片 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e8b8f15cfec4786"/>
          <a:srcRect xmlns:a="http://schemas.openxmlformats.org/drawingml/2006/main" l="0" t="0" r="174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850765" y="908050"/>
            <a:ext cx="7360285" cy="5949950"/>
          </a:xfrm>
          <a:prstGeom xmlns:a="http://schemas.openxmlformats.org/drawingml/2006/main" prst="rect">
            <a:avLst/>
          </a:prstGeom>
        </p:spPr>
      </p:pic>
      <p:sp>
        <p:nvSpPr>
          <p:cNvPr id="8" name="Subtitle 7">
            <a:extLst xmlns:a="http://schemas.openxmlformats.org/drawingml/2006/main">
              <a:ext uri="{FF2B5EF4-FFF2-40B4-BE49-F238E27FC236}">
                <a16:creationId xmlns:a16="http://schemas.microsoft.com/office/drawing/2014/main" id="{4D9B2156-21F1-4252-AABF-460BB26468C4}"/>
              </a:ext>
            </a:extLst>
          </p:cNvPr>
          <p:cNvSpPr>
            <a:spLocks xmlns:a="http://schemas.openxmlformats.org/drawingml/2006/main" noGrp="1"/>
          </p:cNvSpPr>
          <p:nvPr>
            <p:ph type="body" idx="16386" hasCustomPrompt="1"/>
          </p:nvPr>
        </p:nvSpPr>
        <p:spPr>
          <a:xfrm xmlns:a="http://schemas.openxmlformats.org/drawingml/2006/main">
            <a:off x="1016000" y="2667000"/>
            <a:ext cx="54493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THE END</a:t>
            </a:r>
          </a:p>
        </p:txBody>
      </p:sp>
      <p:sp>
        <p:nvSpPr>
          <p:cNvPr id="6" name="标题 4">
            <a:extLst xmlns:a="http://schemas.openxmlformats.org/drawingml/2006/main">
              <a:ext uri="{FF2B5EF4-FFF2-40B4-BE49-F238E27FC236}">
                <a16:creationId xmlns:a16="http://schemas.microsoft.com/office/drawing/2014/main" id="{4D6BB133-86AD-4641-8C73-0F3DF65D98F1}"/>
              </a:ext>
            </a:extLst>
          </p:cNvPr>
          <p:cNvSpPr>
            <a:spLocks xmlns:a="http://schemas.openxmlformats.org/drawingml/2006/main" noGrp="1"/>
          </p:cNvSpPr>
          <p:nvPr>
            <p:ph type="ctrTitle" idx="16385" hasCustomPrompt="1"/>
          </p:nvPr>
        </p:nvSpPr>
        <p:spPr>
          <a:xfrm xmlns:a="http://schemas.openxmlformats.org/drawingml/2006/main">
            <a:off x="1016000" y="3175000"/>
            <a:ext cx="5451122" cy="1016000"/>
          </a:xfrm>
        </p:spPr>
        <p:txBody>
          <a:bodyPr xmlns:a="http://schemas.openxmlformats.org/drawingml/2006/main" vert="horz" wrap="square" lIns="0" tIns="0" rIns="0" bIns="0" anchor="t">
            <a:norm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400" b="0" spc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r>
              <a:t>谢谢观看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2299A5E-A8ED-41AC-8A25-F43F349E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22390"/>
            <a:ext cx="12210415" cy="43561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00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2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椭圆 2">
            <a:extLst xmlns:a="http://schemas.openxmlformats.org/drawingml/2006/main">
              <a:ext uri="{FF2B5EF4-FFF2-40B4-BE49-F238E27FC236}">
                <a16:creationId xmlns:a16="http://schemas.microsoft.com/office/drawing/2014/main" id="{24C32745-EC19-4D20-90E1-FC117DEA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2992755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0F17DA8C-5653-4F7B-9624-F9ED1F1E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25056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DA0F8738-D3B0-48E9-9BDD-E065100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509010"/>
            <a:ext cx="97790" cy="9779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椭圆 10">
            <a:extLst xmlns:a="http://schemas.openxmlformats.org/drawingml/2006/main">
              <a:ext uri="{FF2B5EF4-FFF2-40B4-BE49-F238E27FC236}">
                <a16:creationId xmlns:a16="http://schemas.microsoft.com/office/drawing/2014/main" id="{251113B4-765A-400D-AA8E-81B6D96D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05" y="3767455"/>
            <a:ext cx="97790" cy="9779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361A2132-B651-4457-8D32-D0BCBE5A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目录页-1-5-4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8BE1A04-67C9-4C77-87BB-B0F6FAA575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6AAF4E5-61F9-472A-BE55-6EC199F264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EAD74DE-DA45-452B-A9C8-C2531AB471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10" name="Subtitle 9">
            <a:extLst xmlns:a="http://schemas.openxmlformats.org/drawingml/2006/main">
              <a:ext uri="{FF2B5EF4-FFF2-40B4-BE49-F238E27FC236}">
                <a16:creationId xmlns:a16="http://schemas.microsoft.com/office/drawing/2014/main" id="{86DA1A2E-DB6E-4FCF-86CD-0093F7A7E073}"/>
              </a:ext>
            </a:extLst>
          </p:cNvPr>
          <p:cNvSpPr>
            <a:spLocks xmlns:a="http://schemas.openxmlformats.org/drawingml/2006/main" noGrp="1"/>
          </p:cNvSpPr>
          <p:nvPr>
            <p:ph type="subTitle" idx="17826305" hasCustomPrompt="1"/>
          </p:nvPr>
        </p:nvSpPr>
        <p:spPr>
          <a:xfrm xmlns:a="http://schemas.openxmlformats.org/drawingml/2006/main">
            <a:off x="761471" y="2667000"/>
            <a:ext cx="236325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CONTENTS</a:t>
            </a:r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F5233145-66C6-40A0-B68A-0EAB5BB56EBE}"/>
              </a:ext>
            </a:extLst>
          </p:cNvPr>
          <p:cNvSpPr>
            <a:spLocks xmlns:a="http://schemas.openxmlformats.org/drawingml/2006/main" noGrp="1"/>
          </p:cNvSpPr>
          <p:nvPr>
            <p:ph type="ctrTitle" idx="17826049" hasCustomPrompt="1"/>
          </p:nvPr>
        </p:nvSpPr>
        <p:spPr>
          <a:xfrm xmlns:a="http://schemas.openxmlformats.org/drawingml/2006/main">
            <a:off x="760942" y="3175000"/>
            <a:ext cx="2364317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indent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目录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A3347339-332E-4C7C-AA08-DFA8D73B0C2D}"/>
              </a:ext>
            </a:extLst>
          </p:cNvPr>
          <p:cNvSpPr>
            <a:spLocks xmlns:a="http://schemas.openxmlformats.org/drawingml/2006/main" noGrp="1"/>
          </p:cNvSpPr>
          <p:nvPr>
            <p:ph type="body" idx="319883777" hasCustomPrompt="1"/>
          </p:nvPr>
        </p:nvSpPr>
        <p:spPr>
          <a:xfrm xmlns:a="http://schemas.openxmlformats.org/drawingml/2006/main">
            <a:off x="40703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01</a:t>
            </a:r>
          </a:p>
        </p:txBody>
      </p:sp>
      <p:sp>
        <p:nvSpPr>
          <p:cNvPr id="13" name="装饰  2">
            <a:extLst xmlns:a="http://schemas.openxmlformats.org/drawingml/2006/main">
              <a:ext uri="{FF2B5EF4-FFF2-40B4-BE49-F238E27FC236}">
                <a16:creationId xmlns:a16="http://schemas.microsoft.com/office/drawing/2014/main" id="{4E401339-C04B-4C09-A3EC-A8CE7F5889DF}"/>
              </a:ext>
            </a:extLst>
          </p:cNvPr>
          <p:cNvSpPr>
            <a:spLocks xmlns:a="http://schemas.openxmlformats.org/drawingml/2006/main" noGrp="1"/>
          </p:cNvSpPr>
          <p:nvPr>
            <p:ph type="body" idx="319883522" hasCustomPrompt="1"/>
          </p:nvPr>
        </p:nvSpPr>
        <p:spPr>
          <a:xfrm xmlns:a="http://schemas.openxmlformats.org/drawingml/2006/main">
            <a:off x="48514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E43D111E-ED7F-42F3-9106-CA3162B7138A}"/>
              </a:ext>
            </a:extLst>
          </p:cNvPr>
          <p:cNvSpPr>
            <a:spLocks xmlns:a="http://schemas.openxmlformats.org/drawingml/2006/main" noGrp="1"/>
          </p:cNvSpPr>
          <p:nvPr>
            <p:ph type="body" idx="51446017" hasCustomPrompt="1"/>
          </p:nvPr>
        </p:nvSpPr>
        <p:spPr>
          <a:xfrm xmlns:a="http://schemas.openxmlformats.org/drawingml/2006/main">
            <a:off x="50800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5" name="Text Placeholder 14">
            <a:extLst xmlns:a="http://schemas.openxmlformats.org/drawingml/2006/main">
              <a:ext uri="{FF2B5EF4-FFF2-40B4-BE49-F238E27FC236}">
                <a16:creationId xmlns:a16="http://schemas.microsoft.com/office/drawing/2014/main" id="{AD41C65C-3B0E-46B5-8C13-D04178BB3B63}"/>
              </a:ext>
            </a:extLst>
          </p:cNvPr>
          <p:cNvSpPr>
            <a:spLocks xmlns:a="http://schemas.openxmlformats.org/drawingml/2006/main" noGrp="1"/>
          </p:cNvSpPr>
          <p:nvPr>
            <p:ph type="body" idx="319949313" hasCustomPrompt="1"/>
          </p:nvPr>
        </p:nvSpPr>
        <p:spPr>
          <a:xfrm xmlns:a="http://schemas.openxmlformats.org/drawingml/2006/main">
            <a:off x="7994650" y="22860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02</a:t>
            </a:r>
          </a:p>
        </p:txBody>
      </p:sp>
      <p:sp>
        <p:nvSpPr>
          <p:cNvPr id="16" name="装饰  5">
            <a:extLst xmlns:a="http://schemas.openxmlformats.org/drawingml/2006/main">
              <a:ext uri="{FF2B5EF4-FFF2-40B4-BE49-F238E27FC236}">
                <a16:creationId xmlns:a16="http://schemas.microsoft.com/office/drawing/2014/main" id="{837C5F4B-C581-4A55-B58F-3FD863F20ACD}"/>
              </a:ext>
            </a:extLst>
          </p:cNvPr>
          <p:cNvSpPr>
            <a:spLocks xmlns:a="http://schemas.openxmlformats.org/drawingml/2006/main" noGrp="1"/>
          </p:cNvSpPr>
          <p:nvPr>
            <p:ph type="body" idx="319949058" hasCustomPrompt="1"/>
          </p:nvPr>
        </p:nvSpPr>
        <p:spPr>
          <a:xfrm xmlns:a="http://schemas.openxmlformats.org/drawingml/2006/main">
            <a:off x="8775700" y="22098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501CFCA8-B50E-40F6-9A48-97AF3B9B1DA7}"/>
              </a:ext>
            </a:extLst>
          </p:cNvPr>
          <p:cNvSpPr>
            <a:spLocks xmlns:a="http://schemas.openxmlformats.org/drawingml/2006/main" noGrp="1"/>
          </p:cNvSpPr>
          <p:nvPr>
            <p:ph type="body" idx="51511553" hasCustomPrompt="1"/>
          </p:nvPr>
        </p:nvSpPr>
        <p:spPr>
          <a:xfrm xmlns:a="http://schemas.openxmlformats.org/drawingml/2006/main">
            <a:off x="9004300" y="21336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19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F19DBEEF-A589-4F06-84C7-08FDBB656F4C}"/>
              </a:ext>
            </a:extLst>
          </p:cNvPr>
          <p:cNvSpPr>
            <a:spLocks xmlns:a="http://schemas.openxmlformats.org/drawingml/2006/main" noGrp="1"/>
          </p:cNvSpPr>
          <p:nvPr>
            <p:ph type="body" idx="320014849" hasCustomPrompt="1"/>
          </p:nvPr>
        </p:nvSpPr>
        <p:spPr>
          <a:xfrm xmlns:a="http://schemas.openxmlformats.org/drawingml/2006/main">
            <a:off x="40703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03</a:t>
            </a:r>
          </a:p>
        </p:txBody>
      </p:sp>
      <p:sp>
        <p:nvSpPr>
          <p:cNvPr id="20" name="装饰  9">
            <a:extLst xmlns:a="http://schemas.openxmlformats.org/drawingml/2006/main">
              <a:ext uri="{FF2B5EF4-FFF2-40B4-BE49-F238E27FC236}">
                <a16:creationId xmlns:a16="http://schemas.microsoft.com/office/drawing/2014/main" id="{52D35103-667E-4F1E-9097-B879D4EF0659}"/>
              </a:ext>
            </a:extLst>
          </p:cNvPr>
          <p:cNvSpPr>
            <a:spLocks xmlns:a="http://schemas.openxmlformats.org/drawingml/2006/main" noGrp="1"/>
          </p:cNvSpPr>
          <p:nvPr>
            <p:ph type="body" idx="320014594" hasCustomPrompt="1"/>
          </p:nvPr>
        </p:nvSpPr>
        <p:spPr>
          <a:xfrm xmlns:a="http://schemas.openxmlformats.org/drawingml/2006/main">
            <a:off x="48514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1" name="Text Placeholder 20">
            <a:extLst xmlns:a="http://schemas.openxmlformats.org/drawingml/2006/main">
              <a:ext uri="{FF2B5EF4-FFF2-40B4-BE49-F238E27FC236}">
                <a16:creationId xmlns:a16="http://schemas.microsoft.com/office/drawing/2014/main" id="{5BA33765-CC38-405A-B879-4FFF29124167}"/>
              </a:ext>
            </a:extLst>
          </p:cNvPr>
          <p:cNvSpPr>
            <a:spLocks xmlns:a="http://schemas.openxmlformats.org/drawingml/2006/main" noGrp="1"/>
          </p:cNvSpPr>
          <p:nvPr>
            <p:ph type="body" idx="51577089" hasCustomPrompt="1"/>
          </p:nvPr>
        </p:nvSpPr>
        <p:spPr>
          <a:xfrm xmlns:a="http://schemas.openxmlformats.org/drawingml/2006/main">
            <a:off x="50800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  <p:sp>
        <p:nvSpPr>
          <p:cNvPr id="22" name="Text Placeholder 21">
            <a:extLst xmlns:a="http://schemas.openxmlformats.org/drawingml/2006/main">
              <a:ext uri="{FF2B5EF4-FFF2-40B4-BE49-F238E27FC236}">
                <a16:creationId xmlns:a16="http://schemas.microsoft.com/office/drawing/2014/main" id="{008BC23B-3E99-4EAA-8376-FD8F8ABF9B8B}"/>
              </a:ext>
            </a:extLst>
          </p:cNvPr>
          <p:cNvSpPr>
            <a:spLocks xmlns:a="http://schemas.openxmlformats.org/drawingml/2006/main" noGrp="1"/>
          </p:cNvSpPr>
          <p:nvPr>
            <p:ph type="body" idx="320080385" hasCustomPrompt="1"/>
          </p:nvPr>
        </p:nvSpPr>
        <p:spPr>
          <a:xfrm xmlns:a="http://schemas.openxmlformats.org/drawingml/2006/main">
            <a:off x="7994650" y="3962400"/>
            <a:ext cx="596900" cy="5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lvl1pPr marL="0" indent="0" algn="ctr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04</a:t>
            </a:r>
          </a:p>
        </p:txBody>
      </p:sp>
      <p:sp>
        <p:nvSpPr>
          <p:cNvPr id="23" name="装饰  2">
            <a:extLst xmlns:a="http://schemas.openxmlformats.org/drawingml/2006/main">
              <a:ext uri="{FF2B5EF4-FFF2-40B4-BE49-F238E27FC236}">
                <a16:creationId xmlns:a16="http://schemas.microsoft.com/office/drawing/2014/main" id="{4C28F829-29ED-42FC-A968-C5A2C738B877}"/>
              </a:ext>
            </a:extLst>
          </p:cNvPr>
          <p:cNvSpPr>
            <a:spLocks xmlns:a="http://schemas.openxmlformats.org/drawingml/2006/main" noGrp="1"/>
          </p:cNvSpPr>
          <p:nvPr>
            <p:ph type="body" idx="320080130" hasCustomPrompt="1"/>
          </p:nvPr>
        </p:nvSpPr>
        <p:spPr>
          <a:xfrm xmlns:a="http://schemas.openxmlformats.org/drawingml/2006/main">
            <a:off x="8775700" y="3886200"/>
            <a:ext cx="25400" cy="762000"/>
          </a:xfrm>
          <a:custGeom xmlns:a="http://schemas.openxmlformats.org/drawingml/2006/main"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50000"/>
            </a:schemeClr>
          </a:solidFill>
          <a:ln xmlns:a="http://schemas.openxmlformats.org/drawingml/2006/main">
            <a:solidFill>
              <a:prstClr val="black">
                <a:alpha val="0"/>
              </a:prstClr>
            </a:solidFill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 xmlns:a="http://schemas.openxmlformats.org/drawingml/2006/main">
            <a:pPr>
              <a:buNone/>
            </a:pPr>
            <a:r>
              <a:t> </a:t>
            </a:r>
          </a:p>
        </p:txBody>
      </p:sp>
      <p:sp>
        <p:nvSpPr>
          <p:cNvPr id="24" name="Text Placeholder 23">
            <a:extLst xmlns:a="http://schemas.openxmlformats.org/drawingml/2006/main">
              <a:ext uri="{FF2B5EF4-FFF2-40B4-BE49-F238E27FC236}">
                <a16:creationId xmlns:a16="http://schemas.microsoft.com/office/drawing/2014/main" id="{0DFA5A07-1154-4535-93D9-423F86B3DF1E}"/>
              </a:ext>
            </a:extLst>
          </p:cNvPr>
          <p:cNvSpPr>
            <a:spLocks xmlns:a="http://schemas.openxmlformats.org/drawingml/2006/main" noGrp="1"/>
          </p:cNvSpPr>
          <p:nvPr>
            <p:ph type="body" idx="51642625" hasCustomPrompt="1"/>
          </p:nvPr>
        </p:nvSpPr>
        <p:spPr>
          <a:xfrm xmlns:a="http://schemas.openxmlformats.org/drawingml/2006/main">
            <a:off x="9004300" y="3810000"/>
            <a:ext cx="23241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lvl1pPr mar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 xmlns:a="http://schemas.openxmlformats.org/drawingml/2006/main">
            <a:pPr>
              <a:buNone/>
            </a:pPr>
            <a:r>
              <a:t>单击此处添加项标题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1be8ee72f848e1" /><Relationship Type="http://schemas.openxmlformats.org/officeDocument/2006/relationships/slideLayout" Target="/ppt/slideLayouts/slideLayout1.xml" Id="R885113a077a94682" /><Relationship Type="http://schemas.openxmlformats.org/officeDocument/2006/relationships/slideLayout" Target="/ppt/slideLayouts/slideLayout2.xml" Id="R691c52c76d8f4a13" /><Relationship Type="http://schemas.openxmlformats.org/officeDocument/2006/relationships/slideLayout" Target="/ppt/slideLayouts/slideLayout3.xml" Id="R5feffcac49334304" /><Relationship Type="http://schemas.openxmlformats.org/officeDocument/2006/relationships/slideLayout" Target="/ppt/slideLayouts/slideLayout4.xml" Id="Rbf9bbda68046470f" /><Relationship Type="http://schemas.openxmlformats.org/officeDocument/2006/relationships/slideLayout" Target="/ppt/slideLayouts/slideLayout5.xml" Id="R2e994ff644824fc9" /><Relationship Type="http://schemas.openxmlformats.org/officeDocument/2006/relationships/slideLayout" Target="/ppt/slideLayouts/slideLayout6.xml" Id="R9caff7ff4f6f48b5" /><Relationship Type="http://schemas.openxmlformats.org/officeDocument/2006/relationships/slideLayout" Target="/ppt/slideLayouts/slideLayout7.xml" Id="R9af62b93dd8b4d68" /><Relationship Type="http://schemas.openxmlformats.org/officeDocument/2006/relationships/slideLayout" Target="/ppt/slideLayouts/slideLayout8.xml" Id="Rffea3e9f2a864813" /><Relationship Type="http://schemas.openxmlformats.org/officeDocument/2006/relationships/slideLayout" Target="/ppt/slideLayouts/slideLayout9.xml" Id="R6fd3a9c7a79a4233" /><Relationship Type="http://schemas.openxmlformats.org/officeDocument/2006/relationships/slideLayout" Target="/ppt/slideLayouts/slideLayout10.xml" Id="R23447443c68249b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b855cc403b94f1b" /><Relationship Type="http://schemas.openxmlformats.org/officeDocument/2006/relationships/slideLayout" Target="/ppt/slideLayouts/slideLayout11.xml" Id="Rbd45ada5cd4d401c" /><Relationship Type="http://schemas.openxmlformats.org/officeDocument/2006/relationships/slideLayout" Target="/ppt/slideLayouts/slideLayout12.xml" Id="R2d18e7ea85614a67" /><Relationship Type="http://schemas.openxmlformats.org/officeDocument/2006/relationships/slideLayout" Target="/ppt/slideLayouts/slideLayout13.xml" Id="R225a484e579c4f25" /><Relationship Type="http://schemas.openxmlformats.org/officeDocument/2006/relationships/slideLayout" Target="/ppt/slideLayouts/slideLayout14.xml" Id="Rdd230e74bf1c42c6" /><Relationship Type="http://schemas.openxmlformats.org/officeDocument/2006/relationships/slideLayout" Target="/ppt/slideLayouts/slideLayout15.xml" Id="R2de79dbf7c8c4e2e" /><Relationship Type="http://schemas.openxmlformats.org/officeDocument/2006/relationships/slideLayout" Target="/ppt/slideLayouts/slideLayout16.xml" Id="R7e16f8f5a7da4eb5" /><Relationship Type="http://schemas.openxmlformats.org/officeDocument/2006/relationships/slideLayout" Target="/ppt/slideLayouts/slideLayout17.xml" Id="R79176d166a674d95" /><Relationship Type="http://schemas.openxmlformats.org/officeDocument/2006/relationships/slideLayout" Target="/ppt/slideLayouts/slideLayout18.xml" Id="Rde0a690f752a4432" /><Relationship Type="http://schemas.openxmlformats.org/officeDocument/2006/relationships/slideLayout" Target="/ppt/slideLayouts/slideLayout19.xml" Id="R024fb9bdf8f54ea9" /><Relationship Type="http://schemas.openxmlformats.org/officeDocument/2006/relationships/slideLayout" Target="/ppt/slideLayouts/slideLayout20.xml" Id="R1bd9536437d64b83" /><Relationship Type="http://schemas.openxmlformats.org/officeDocument/2006/relationships/slideLayout" Target="/ppt/slideLayouts/slideLayout21.xml" Id="Rc6fc9380140e4cf5" /><Relationship Type="http://schemas.openxmlformats.org/officeDocument/2006/relationships/slideLayout" Target="/ppt/slideLayouts/slideLayout22.xml" Id="R77be51ed1dc749f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EEA2D9F-BABC-4132-A8CE-777D88ACBA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0AA2FD1-C276-4289-86AE-FC2054B2D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7E7E03B-E4B4-4CBE-896A-203FEFA9097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9DEF269-0C41-42A1-B877-8A747B638A4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FC14F91-C17B-4DE9-B82C-916383D47A6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5113a077a94682"/>
    <p:sldLayoutId xmlns:r="http://schemas.openxmlformats.org/officeDocument/2006/relationships" id="2147483650" r:id="R691c52c76d8f4a13"/>
    <p:sldLayoutId xmlns:r="http://schemas.openxmlformats.org/officeDocument/2006/relationships" id="2147483651" r:id="R5feffcac49334304"/>
    <p:sldLayoutId xmlns:r="http://schemas.openxmlformats.org/officeDocument/2006/relationships" id="2147483652" r:id="Rbf9bbda68046470f"/>
    <p:sldLayoutId xmlns:r="http://schemas.openxmlformats.org/officeDocument/2006/relationships" id="2147483653" r:id="R2e994ff644824fc9"/>
    <p:sldLayoutId xmlns:r="http://schemas.openxmlformats.org/officeDocument/2006/relationships" id="2147483654" r:id="R9caff7ff4f6f48b5"/>
    <p:sldLayoutId xmlns:r="http://schemas.openxmlformats.org/officeDocument/2006/relationships" id="2147483655" r:id="R9af62b93dd8b4d68"/>
    <p:sldLayoutId xmlns:r="http://schemas.openxmlformats.org/officeDocument/2006/relationships" id="2147483656" r:id="Rffea3e9f2a864813"/>
    <p:sldLayoutId xmlns:r="http://schemas.openxmlformats.org/officeDocument/2006/relationships" id="2147483657" r:id="R6fd3a9c7a79a4233"/>
    <p:sldLayoutId xmlns:r="http://schemas.openxmlformats.org/officeDocument/2006/relationships" id="2147483658" r:id="R23447443c68249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任意多边形: 形状 22">
            <a:extLst xmlns:a="http://schemas.openxmlformats.org/drawingml/2006/main">
              <a:ext uri="{FF2B5EF4-FFF2-40B4-BE49-F238E27FC236}">
                <a16:creationId xmlns:a16="http://schemas.microsoft.com/office/drawing/2014/main" id="{F9131C0D-88B2-46F1-B016-24D34FCC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91255" cy="3428365"/>
          </a:xfrm>
          <a:custGeom xmlns:a="http://schemas.openxmlformats.org/drawingml/2006/main">
            <a:rect l="l" t="t" r="r" b="b"/>
            <a:pathLst>
              <a:path w="5539139" h="5143500">
                <a:moveTo>
                  <a:pt x="3286736" y="0"/>
                </a:moveTo>
                <a:lnTo>
                  <a:pt x="5539139" y="0"/>
                </a:lnTo>
                <a:lnTo>
                  <a:pt x="2252403" y="5143500"/>
                </a:lnTo>
                <a:lnTo>
                  <a:pt x="0" y="514350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alpha val="5000"/>
                </a:schemeClr>
              </a:gs>
              <a:gs pos="100000">
                <a:srgbClr val="ECC784">
                  <a:alpha val="0"/>
                </a:srgb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任意多边形: 形状 3">
            <a:extLst xmlns:a="http://schemas.openxmlformats.org/drawingml/2006/main">
              <a:ext uri="{FF2B5EF4-FFF2-40B4-BE49-F238E27FC236}">
                <a16:creationId xmlns:a16="http://schemas.microsoft.com/office/drawing/2014/main" id="{D0CAFD65-E31C-4B5F-A0EE-32EE3356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1435" y="-15875"/>
            <a:ext cx="1786890" cy="2779395"/>
          </a:xfrm>
          <a:custGeom xmlns:a="http://schemas.openxmlformats.org/drawingml/2006/main">
            <a:rect l="l" t="t" r="r" b="b"/>
            <a:pathLst>
              <a:path w="2814" h="4377">
                <a:moveTo>
                  <a:pt x="86" y="0"/>
                </a:moveTo>
                <a:lnTo>
                  <a:pt x="2814" y="25"/>
                </a:lnTo>
                <a:lnTo>
                  <a:pt x="0" y="4377"/>
                </a:lnTo>
                <a:lnTo>
                  <a:pt x="76" y="4287"/>
                </a:lnTo>
                <a:lnTo>
                  <a:pt x="86" y="0"/>
                </a:lnTo>
                <a:close/>
              </a:path>
            </a:pathLst>
          </a:custGeom>
          <a:gradFill xmlns:a="http://schemas.openxmlformats.org/drawingml/2006/main">
            <a:gsLst>
              <a:gs pos="32000">
                <a:schemeClr val="accent1">
                  <a:lumMod val="40000"/>
                  <a:lumOff val="60000"/>
                  <a:alpha val="16000"/>
                </a:schemeClr>
              </a:gs>
              <a:gs pos="100000">
                <a:schemeClr val="accent1">
                  <a:lumMod val="40000"/>
                  <a:lumOff val="60000"/>
                  <a:alpha val="0"/>
                </a:schemeClr>
              </a:gs>
            </a:gsLst>
            <a:lin ang="540000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3560158-0921-4C76-AD2E-F68940A2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48755"/>
            <a:ext cx="12192635" cy="309245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98000">
                <a:schemeClr val="accent1">
                  <a:lumMod val="60000"/>
                  <a:lumOff val="40000"/>
                  <a:alpha val="30000"/>
                </a:schemeClr>
              </a:gs>
              <a:gs pos="0">
                <a:schemeClr val="accent1"/>
              </a:gs>
            </a:gsLst>
            <a:lin ang="0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9D670E8-5C63-48F5-8900-BE3BD3AB35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1581D16-3FD5-4545-BE08-B28D8750E7B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BBB32A0-DD99-4069-9ED7-7A84379B039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23A445F-30EA-45B4-A1B5-6D74E6D8F8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第二级</a:t>
            </a:r>
          </a:p>
          <a:p xmlns:a="http://schemas.openxmlformats.org/drawingml/2006/main">
            <a:pPr>
              <a:buNone/>
            </a:pPr>
            <a:r>
              <a:t>第三级</a:t>
            </a:r>
          </a:p>
          <a:p xmlns:a="http://schemas.openxmlformats.org/drawingml/2006/main">
            <a:pPr>
              <a:buNone/>
            </a:pPr>
            <a:r>
              <a:t>第四级</a:t>
            </a:r>
          </a:p>
          <a:p xmlns:a="http://schemas.openxmlformats.org/drawingml/2006/main">
            <a:pPr>
              <a:buNone/>
            </a:pPr>
            <a:r>
              <a:t>第五级</a:t>
            </a: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C81A876-F063-4068-B2E5-CD0317D53D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C9A877C5-F376-4590-AEE9-581E5129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0" r:id="Rbd45ada5cd4d401c"/>
    <p:sldLayoutId xmlns:r="http://schemas.openxmlformats.org/officeDocument/2006/relationships" id="2147483661" r:id="R2d18e7ea85614a67"/>
    <p:sldLayoutId xmlns:r="http://schemas.openxmlformats.org/officeDocument/2006/relationships" id="2147483662" r:id="R225a484e579c4f25"/>
    <p:sldLayoutId xmlns:r="http://schemas.openxmlformats.org/officeDocument/2006/relationships" id="2147483663" r:id="Rdd230e74bf1c42c6"/>
    <p:sldLayoutId xmlns:r="http://schemas.openxmlformats.org/officeDocument/2006/relationships" id="2147483664" r:id="R2de79dbf7c8c4e2e"/>
    <p:sldLayoutId xmlns:r="http://schemas.openxmlformats.org/officeDocument/2006/relationships" id="2147483665" r:id="R7e16f8f5a7da4eb5"/>
    <p:sldLayoutId xmlns:r="http://schemas.openxmlformats.org/officeDocument/2006/relationships" id="2147483666" r:id="R79176d166a674d95"/>
    <p:sldLayoutId xmlns:r="http://schemas.openxmlformats.org/officeDocument/2006/relationships" id="2147483667" r:id="Rde0a690f752a4432"/>
    <p:sldLayoutId xmlns:r="http://schemas.openxmlformats.org/officeDocument/2006/relationships" id="2147483668" r:id="R024fb9bdf8f54ea9"/>
    <p:sldLayoutId xmlns:r="http://schemas.openxmlformats.org/officeDocument/2006/relationships" id="2147483669" r:id="R1bd9536437d64b83"/>
    <p:sldLayoutId xmlns:r="http://schemas.openxmlformats.org/officeDocument/2006/relationships" id="2147483670" r:id="Rc6fc9380140e4cf5"/>
    <p:sldLayoutId xmlns:r="http://schemas.openxmlformats.org/officeDocument/2006/relationships" id="2147483671" r:id="R77be51ed1dc749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3200" b="1" i="0" u="none" spc="0">
          <a:solidFill>
            <a:schemeClr val="accent1">
              <a:lumMod val="7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0" algn="l">
        <a:lnSpc>
          <a:spcPct val="130000"/>
        </a:lnSpc>
        <a:spcBef>
          <a:spcPts val="1000"/>
        </a:spcBef>
        <a:buChar char="•"/>
        <a:defRPr sz="2400" spc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0" algn="l">
        <a:lnSpc>
          <a:spcPct val="130000"/>
        </a:lnSpc>
        <a:spcBef>
          <a:spcPts val="500"/>
        </a:spcBef>
        <a:buChar char="•"/>
        <a:defRPr sz="2000" spc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0" algn="l">
        <a:lnSpc>
          <a:spcPct val="130000"/>
        </a:lnSpc>
        <a:spcBef>
          <a:spcPts val="500"/>
        </a:spcBef>
        <a:buChar char="•"/>
        <a:defRPr sz="1800" spc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主题">
  <a:themeElements>
    <a:clrScheme name="自定义 399">
      <a:dk1>
        <a:srgbClr val="000000"/>
      </a:dk1>
      <a:lt1>
        <a:srgbClr val="FFFFFF"/>
      </a:lt1>
      <a:dk2>
        <a:srgbClr val="412B1D"/>
      </a:dk2>
      <a:lt2>
        <a:srgbClr val="FBF4EA"/>
      </a:lt2>
      <a:accent1>
        <a:srgbClr val="D59134"/>
      </a:accent1>
      <a:accent2>
        <a:srgbClr val="C46E34"/>
      </a:accent2>
      <a:accent3>
        <a:srgbClr val="DA6904"/>
      </a:accent3>
      <a:accent4>
        <a:srgbClr val="5B9BD5"/>
      </a:accent4>
      <a:accent5>
        <a:srgbClr val="327EC3"/>
      </a:accent5>
      <a:accent6>
        <a:srgbClr val="0563C1"/>
      </a:accent6>
      <a:hlink>
        <a:srgbClr val="C87A5C"/>
      </a:hlink>
      <a:folHlink>
        <a:srgbClr val="954F72"/>
      </a:folHlink>
    </a:clrScheme>
    <a:fontScheme name="商务风">
      <a:majorFont>
        <a:latin typeface="MiSans Medium"/>
        <a:ea typeface="MiSans Medium"/>
        <a:cs typeface=""/>
      </a:majorFont>
      <a:minorFont>
        <a:latin typeface="MiSans Normal"/>
        <a:ea typeface="MiSans Normal"/>
        <a:cs typeface=""/>
      </a:minorFont>
    </a:fontScheme>
    <a:fmtScheme name="自定义 399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2c391bbc2a934dfd" /><Relationship Type="http://schemas.openxmlformats.org/officeDocument/2006/relationships/image" Target="/ppt/media/image2.png" Id="R064d6124327a4d03" /><Relationship Type="http://schemas.openxmlformats.org/officeDocument/2006/relationships/image" Target="/ppt/media/image2.svg" Id="Rf80d4fb7b8cf4193" /><Relationship Type="http://schemas.openxmlformats.org/officeDocument/2006/relationships/image" Target="/ppt/media/image3.png" Id="Rb7416f53f63747f1" /><Relationship Type="http://schemas.openxmlformats.org/officeDocument/2006/relationships/image" Target="/ppt/media/image3.svg" Id="Ra16218a0d8b4431e" /><Relationship Type="http://schemas.openxmlformats.org/officeDocument/2006/relationships/image" Target="/ppt/media/image4.png" Id="R683cdca3ad4741ea" /><Relationship Type="http://schemas.openxmlformats.org/officeDocument/2006/relationships/image" Target="/ppt/media/image4.svg" Id="Rad1c044bf51a4b2a" /><Relationship Type="http://schemas.openxmlformats.org/officeDocument/2006/relationships/image" Target="/ppt/media/image5.png" Id="R75ca5dbab65e41c6" /><Relationship Type="http://schemas.openxmlformats.org/officeDocument/2006/relationships/image" Target="/ppt/media/image5.svg" Id="R883965bc6d374ed3" /><Relationship Type="http://schemas.openxmlformats.org/officeDocument/2006/relationships/image" Target="/ppt/media/image6.png" Id="R22fae396baf34b88" /><Relationship Type="http://schemas.openxmlformats.org/officeDocument/2006/relationships/image" Target="/ppt/media/image6.svg" Id="R6aba3a0de1624bf5" /><Relationship Type="http://schemas.openxmlformats.org/officeDocument/2006/relationships/image" Target="/ppt/media/image7.png" Id="Rfdb30063b1614ec7" /><Relationship Type="http://schemas.openxmlformats.org/officeDocument/2006/relationships/image" Target="/ppt/media/image7.svg" Id="R5eb91c374d214935" /><Relationship Type="http://schemas.openxmlformats.org/officeDocument/2006/relationships/notesSlide" Target="/ppt/notesSlides/notesSlide1.xml" Id="R7602c7dd5a4d49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99a84ee7e934696" /><Relationship Type="http://schemas.openxmlformats.org/officeDocument/2006/relationships/image" Target="/ppt/media/image.jpeg" Id="Rb8c53fd1faa04b43" /><Relationship Type="http://schemas.openxmlformats.org/officeDocument/2006/relationships/image" Target="/ppt/media/image8.png" Id="R0e1f0024416845fd" /><Relationship Type="http://schemas.openxmlformats.org/officeDocument/2006/relationships/image" Target="/ppt/media/image8.svg" Id="Reb34206edfb349c1" /><Relationship Type="http://schemas.openxmlformats.org/officeDocument/2006/relationships/image" Target="/ppt/media/image9.png" Id="R05399f3a82254782" /><Relationship Type="http://schemas.openxmlformats.org/officeDocument/2006/relationships/image" Target="/ppt/media/image9.svg" Id="Rf6c8db2c1bb040f9" /><Relationship Type="http://schemas.openxmlformats.org/officeDocument/2006/relationships/image" Target="/ppt/media/image10.png" Id="R06e4d6a9cdc549da" /><Relationship Type="http://schemas.openxmlformats.org/officeDocument/2006/relationships/image" Target="/ppt/media/image10.svg" Id="R1d29b16c08e84685" /><Relationship Type="http://schemas.openxmlformats.org/officeDocument/2006/relationships/image" Target="/ppt/media/image11.png" Id="R9253b6dadd1d46fa" /><Relationship Type="http://schemas.openxmlformats.org/officeDocument/2006/relationships/image" Target="/ppt/media/image11.svg" Id="Rf9c994ec59334a0f" /><Relationship Type="http://schemas.openxmlformats.org/officeDocument/2006/relationships/notesSlide" Target="/ppt/notesSlides/notesSlide2.xml" Id="Rf693dd7df27e4d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a6bdc182e084aae" /><Relationship Type="http://schemas.openxmlformats.org/officeDocument/2006/relationships/notesSlide" Target="/ppt/notesSlides/notesSlide3.xml" Id="Rbc96aa443cc644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c569504044cb4531" /><Relationship Type="http://schemas.openxmlformats.org/officeDocument/2006/relationships/image" Target="/ppt/media/image12.png" Id="Rd73fd8e7148c40ac" /><Relationship Type="http://schemas.openxmlformats.org/officeDocument/2006/relationships/image" Target="/ppt/media/image12.svg" Id="R4629d1d2e60845e3" /><Relationship Type="http://schemas.openxmlformats.org/officeDocument/2006/relationships/notesSlide" Target="/ppt/notesSlides/notesSlide4.xml" Id="R7402e59b67824c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134f73b49aae4706" /><Relationship Type="http://schemas.openxmlformats.org/officeDocument/2006/relationships/image" Target="/ppt/media/image13.png" Id="Re8def2963d774985" /><Relationship Type="http://schemas.openxmlformats.org/officeDocument/2006/relationships/notesSlide" Target="/ppt/notesSlides/notesSlide5.xml" Id="R9fc12d3a14194b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61cd8ef036f84302" /><Relationship Type="http://schemas.openxmlformats.org/officeDocument/2006/relationships/notesSlide" Target="/ppt/notesSlides/notesSlide6.xml" Id="Rf615085237bf46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06553604-6F4E-41F6-A662-C796ABE2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8BFB6A70-625A-4FB5-A3B5-BD22E1D5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A7DAD48F-8B86-4870-A5AE-ACB7F8BC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VIP 先生 家庭财富传承方案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8085CDDA-5E77-424D-92AC-4ED79671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17907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C9113C5F-3DFB-45B7-8AF1-2E9519FA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965" y="1757045"/>
            <a:ext cx="495300" cy="495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" name="图片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d6124327a4d03">
            <a:extLst>
              <a:ext uri="{96DAC541-7B7A-43D3-8B79-37D633B846F1}">
                <asvg:svgBlip xmlns:asvg="http://schemas.microsoft.com/office/drawing/2016/SVG/main" r:embed="Rf80d4fb7b8cf4193"/>
              </a:ext>
            </a:extLst>
          </a:blip>
          <a:srcRect xmlns:a="http://schemas.openxmlformats.org/drawingml/2006/main" l="-2083" t="-4348" r="-2083" b="-43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26235" y="1885950"/>
            <a:ext cx="238125" cy="238125"/>
          </a:xfrm>
          <a:prstGeom xmlns:a="http://schemas.openxmlformats.org/drawingml/2006/main" prst="rect">
            <a:avLst/>
          </a:prstGeom>
        </p:spPr>
      </p:pic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81663E0-ADF5-409E-AC8C-95CCEE75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078" y="1802606"/>
            <a:ext cx="9157468" cy="4048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周大福人寿 · 「匠·传承」</a:t>
            </a: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4A1834DF-3FF8-46F1-BD6F-AF799BE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CF3722E0-10CB-4D36-AE98-EF864E37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416f53f63747f1">
            <a:extLst>
              <a:ext uri="{96DAC541-7B7A-43D3-8B79-37D633B846F1}">
                <asvg:svgBlip xmlns:asvg="http://schemas.microsoft.com/office/drawing/2016/SVG/main" r:embed="Ra16218a0d8b4431e"/>
              </a:ext>
            </a:extLst>
          </a:blip>
          <a:srcRect xmlns:a="http://schemas.openxmlformats.org/drawingml/2006/main" l="0" t="-5556" r="0" b="-5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30120" y="3446145"/>
            <a:ext cx="238125" cy="190500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5486EA33-AC63-4568-BDBE-EA577D09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7975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EBE6AC86-0A66-400C-BFAE-ECD92F9D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25" y="4264838"/>
            <a:ext cx="308617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2518822F-EC87-4DA0-8FF8-7CB87D1D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627" y="4668660"/>
            <a:ext cx="197577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12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年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平均经验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64B068AA-567F-48D9-A657-DA5F52DC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83ADE01E-E18F-41EC-BA17-63B50C71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cdca3ad4741ea">
            <a:extLst>
              <a:ext uri="{96DAC541-7B7A-43D3-8B79-37D633B846F1}">
                <asvg:svgBlip xmlns:asvg="http://schemas.microsoft.com/office/drawing/2016/SVG/main" r:embed="Rad1c044bf51a4b2a"/>
              </a:ext>
            </a:extLst>
          </a:blip>
          <a:srcRect xmlns:a="http://schemas.openxmlformats.org/drawingml/2006/main" l="0" t="-8824" r="0" b="-8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9B09DB6-8106-4182-9A71-46AB38F44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服务理念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F6AFE63D-DE11-42AB-A463-A1587390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64838"/>
            <a:ext cx="1886026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以家族长远利益为核心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B59BB801-36DD-48B2-BBC3-80A8C762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668660"/>
            <a:ext cx="23622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全生命周期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解决方案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ECB48CE2-116E-4035-8DB8-6254FAFB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945" y="3023870"/>
            <a:ext cx="3546475" cy="23050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任意多边形 23">
            <a:extLst xmlns:a="http://schemas.openxmlformats.org/drawingml/2006/main">
              <a:ext uri="{FF2B5EF4-FFF2-40B4-BE49-F238E27FC236}">
                <a16:creationId xmlns:a16="http://schemas.microsoft.com/office/drawing/2014/main" id="{47E49801-E283-4250-8213-8FD1F48A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950" y="3331845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a5dbab65e41c6">
            <a:extLst>
              <a:ext uri="{96DAC541-7B7A-43D3-8B79-37D633B846F1}">
                <asvg:svgBlip xmlns:asvg="http://schemas.microsoft.com/office/drawing/2016/SVG/main" r:embed="R883965bc6d374ed3"/>
              </a:ext>
            </a:extLst>
          </a:blip>
          <a:srcRect xmlns:a="http://schemas.openxmlformats.org/drawingml/2006/main" l="-2632" t="0" r="-26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47250" y="3446145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7B7CF6E6-A3F1-4EB8-80BF-825F81ED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26" y="3865740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成功案例</a:t>
            </a: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4B5F2A66-3845-4610-B853-BB5A8635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7059" y="4264838"/>
            <a:ext cx="1971008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200+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家族财富传承规划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B860CBD3-6941-4EB4-80FE-04A4BC77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5074" y="4668660"/>
            <a:ext cx="1574978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98</a:t>
            </a:r>
            <a:r>
              <a:rPr sz="15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%</a:t>
            </a: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执行率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4A38C2CB-910F-4467-A53D-D3CAEF3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5452745"/>
            <a:ext cx="11039475" cy="10191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ae396baf34b88">
            <a:extLst>
              <a:ext uri="{96DAC541-7B7A-43D3-8B79-37D633B846F1}">
                <asvg:svgBlip xmlns:asvg="http://schemas.microsoft.com/office/drawing/2016/SVG/main" r:embed="R6aba3a0de1624bf5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6145" y="5829300"/>
            <a:ext cx="233045" cy="266700"/>
          </a:xfrm>
          <a:prstGeom xmlns:a="http://schemas.openxmlformats.org/drawingml/2006/main" prst="rect">
            <a:avLst/>
          </a:prstGeom>
        </p:spPr>
      </p:pic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30C49D3A-8DCD-4F43-95CC-96105C40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4" y="5710238"/>
            <a:ext cx="952500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i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2026-06-08</a:t>
            </a:r>
          </a:p>
        </p:txBody>
      </p:sp>
      <p:pic>
        <p:nvPicPr>
          <p:cNvPr id="32" name="图片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30063b1614ec7">
            <a:extLst>
              <a:ext uri="{96DAC541-7B7A-43D3-8B79-37D633B846F1}">
                <asvg:svgBlip xmlns:asvg="http://schemas.microsoft.com/office/drawing/2016/SVG/main" r:embed="R5eb91c374d214935"/>
              </a:ext>
            </a:extLst>
          </a:blip>
          <a:srcRect xmlns:a="http://schemas.openxmlformats.org/drawingml/2006/main" l="-972" t="-32353" r="-972" b="-32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2175" y="5829300"/>
            <a:ext cx="233045" cy="266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3864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C3B1CD3E-89E8-436C-B3F4-287A892E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04743E64-A852-4794-A244-B538DF80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6412DD27-FDC9-480B-B215-4CB4E74B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关于我们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63BAB4A6-9568-46FB-9B76-E1335941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615" y="1104900"/>
            <a:ext cx="915035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AC611E3-7D2E-4DC6-B7E4-3027E39F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5625" y="1181100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核心优势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52132292-683E-4152-A8C4-43EDD509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652270"/>
            <a:ext cx="3508375" cy="23101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9FD11D98-EBED-4C8E-9951-98091C38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84785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专注储蓄险定制与长期资产配置</a:t>
            </a:r>
          </a:p>
        </p:txBody>
      </p:sp>
      <p:pic>
        <p:nvPicPr>
          <p:cNvPr id="1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53fd1faa04b43"/>
          <a:srcRect xmlns:a="http://schemas.openxmlformats.org/drawingml/2006/main" l="16667" t="0" r="16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195707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D2D189B-F6B6-4B56-9E26-64A84EC9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84785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4A72C9C8-E861-4030-BF77-CC637BC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0980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产品设计以长期稳健增长为核心目标，通过多元化资产配置策略，在控制风险的前提下实现资产的持续增值。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7A69A44-A068-42BE-82D9-A74441E0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9488"/>
            <a:ext cx="1220991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专业团队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88331D70-D7A7-4DA2-9128-80FD11D7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7316" y="3609975"/>
            <a:ext cx="137167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资深财富规划师、税务专家、法律顾问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3DF07E7-85FA-40A3-BFAD-EAE3F5BF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4162425"/>
            <a:ext cx="3508375" cy="230949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72820B91-E56E-46E1-A267-2552412B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8150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1f0024416845fd">
            <a:extLst>
              <a:ext uri="{96DAC541-7B7A-43D3-8B79-37D633B846F1}">
                <asvg:svgBlip xmlns:asvg="http://schemas.microsoft.com/office/drawing/2016/SVG/main" r:embed="Reb34206edfb349c1"/>
              </a:ext>
            </a:extLst>
          </a:blip>
          <a:srcRect xmlns:a="http://schemas.openxmlformats.org/drawingml/2006/main" l="-2500" t="-15625" r="-2500" b="-15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0745" y="449072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D2E1CDF-D4E5-4E8F-9FFB-4E12B45D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381500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灵活提领机制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2E060A00-9F60-4EF3-8201-5BBBC77A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43450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核心方案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D5DE0C17-1C8B-49EC-AC1E-50F38AE0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以官方计划书为依据，结构化输出客户沟通版计划书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82D88F1-EBA2-4246-8EA5-28530C1B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801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3D05AA9C-ED9A-4379-9E13-11F49FEB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477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弹性提领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6F2255D8-A946-47E8-8A5B-E7F254EB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344" y="6053138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9B2F509A-AA73-4A58-B6B5-DBEC408C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4020" y="605313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D59134"/>
                </a:solidFill>
                <a:latin typeface="MiSans"/>
                <a:ea typeface="MiSans"/>
                <a:cs typeface="MiSans"/>
              </a:rPr>
              <a:t>紧急调用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BA2EE94F-B588-44A5-8236-F576C438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11093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5725400B-D724-4F88-B7FD-E7C321D3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14643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8" name="图片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99f3a82254782">
            <a:extLst>
              <a:ext uri="{96DAC541-7B7A-43D3-8B79-37D633B846F1}">
                <asvg:svgBlip xmlns:asvg="http://schemas.microsoft.com/office/drawing/2016/SVG/main" r:embed="Rf6c8db2c1bb040f9"/>
              </a:ext>
            </a:extLst>
          </a:blip>
          <a:srcRect xmlns:a="http://schemas.openxmlformats.org/drawingml/2006/main" l="-3333" t="-2500" r="-3333" b="-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70425" y="1573530"/>
            <a:ext cx="152400" cy="200025"/>
          </a:xfrm>
          <a:prstGeom xmlns:a="http://schemas.openxmlformats.org/drawingml/2006/main" prst="rect">
            <a:avLst/>
          </a:prstGeom>
        </p:spPr>
      </p:pic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6A568906-9C01-45AA-B1FE-954202E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4644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税务优化优势</a:t>
            </a: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DB8AE52C-1E7D-48B7-A788-E00EBAAE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18264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充分利用保险产品的税收优惠政策，通过合理的架构设计，有效降低遗产税、赠与税等税务成本。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C14112B9-A2FE-4FB1-96AD-D78519AC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遗产税优化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E0E6DA-DA71-4F7D-82C4-CAF26D28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8777" y="31361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486250A6-C442-46E1-A223-9D88CDEE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7453" y="3136106"/>
            <a:ext cx="9144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赠与税减免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FD9A980D-10C9-43D3-8228-3DD250FF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1495" y="3890645"/>
            <a:ext cx="3508375" cy="25812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C51D471A-03A7-44E9-9B00-45DEBB50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075" y="424561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4d6a9cdc549da">
            <a:extLst>
              <a:ext uri="{96DAC541-7B7A-43D3-8B79-37D633B846F1}">
                <asvg:svgBlip xmlns:asvg="http://schemas.microsoft.com/office/drawing/2016/SVG/main" r:embed="R1d29b16c08e84685"/>
              </a:ext>
            </a:extLst>
          </a:blip>
          <a:srcRect xmlns:a="http://schemas.openxmlformats.org/drawingml/2006/main" l="-8333" t="-5263" r="-8333" b="-52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46295" y="4354830"/>
            <a:ext cx="200025" cy="200025"/>
          </a:xfrm>
          <a:prstGeom xmlns:a="http://schemas.openxmlformats.org/drawingml/2006/main" prst="rect">
            <a:avLst/>
          </a:prstGeom>
        </p:spPr>
      </p:pic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A9997450-D338-4159-AF18-019890E4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245769"/>
            <a:ext cx="25844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资产隔离保护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B1B7669-9C0C-4BFD-8616-4B03411B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4607719"/>
            <a:ext cx="2584475" cy="12430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保险资产具有独立的法律地位，可有效实现家庭资产与企业经营风险隔离，构建坚实的法律保护屏障。</a:t>
            </a:r>
          </a:p>
        </p:txBody>
      </p:sp>
      <p:sp>
        <p:nvSpPr>
          <p:cNvPr id="39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589C6031-775E-4DF1-8796-9DA25B8B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0501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法律独立</a:t>
            </a: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86537C4-A9B7-4689-983A-3256A2B7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377" y="5917406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7A6A5A"/>
                </a:solidFill>
                <a:latin typeface="MiSans"/>
                <a:ea typeface="MiSans"/>
                <a:cs typeface="MiSans"/>
              </a:rPr>
              <a:t>•</a:t>
            </a: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DC4C194E-DB1C-40BB-A097-1098F945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053" y="591740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>
                <a:solidFill>
                  <a:srgbClr val="C46E34"/>
                </a:solidFill>
                <a:latin typeface="MiSans"/>
                <a:ea typeface="MiSans"/>
                <a:cs typeface="MiSans"/>
              </a:rPr>
              <a:t>风险隔离</a:t>
            </a:r>
          </a:p>
        </p:txBody>
      </p:sp>
      <p:sp>
        <p:nvSpPr>
          <p:cNvPr id="42" name="任意多边形 41">
            <a:extLst xmlns:a="http://schemas.openxmlformats.org/drawingml/2006/main">
              <a:ext uri="{FF2B5EF4-FFF2-40B4-BE49-F238E27FC236}">
                <a16:creationId xmlns:a16="http://schemas.microsoft.com/office/drawing/2014/main" id="{71B474D4-9C9E-4D08-AB07-596FC940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045" y="1109345"/>
            <a:ext cx="3508375" cy="536257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 w="9525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8F0EA851-3E93-4D40-92E9-D611A907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1304925"/>
            <a:ext cx="3117850" cy="8953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任意多边形 43">
            <a:extLst xmlns:a="http://schemas.openxmlformats.org/drawingml/2006/main">
              <a:ext uri="{FF2B5EF4-FFF2-40B4-BE49-F238E27FC236}">
                <a16:creationId xmlns:a16="http://schemas.microsoft.com/office/drawing/2014/main" id="{02B26A4D-58AF-4DC3-8443-86652F3E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625" y="2190750"/>
            <a:ext cx="3117850" cy="95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>
              <a:alpha val="2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8773C917-EEE0-4A0E-B70E-467123D1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0100" y="1304925"/>
            <a:ext cx="342900" cy="3429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3b6dadd1d46fa">
            <a:extLst>
              <a:ext uri="{96DAC541-7B7A-43D3-8B79-37D633B846F1}">
                <asvg:svgBlip xmlns:asvg="http://schemas.microsoft.com/office/drawing/2016/SVG/main" r:embed="Rf9c994ec59334a0f"/>
              </a:ext>
            </a:extLst>
          </a:blip>
          <a:srcRect xmlns:a="http://schemas.openxmlformats.org/drawingml/2006/main" l="-6852" t="-4510" r="-6852" b="-45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760" y="1385570"/>
            <a:ext cx="194945" cy="176530"/>
          </a:xfrm>
          <a:prstGeom xmlns:a="http://schemas.openxmlformats.org/drawingml/2006/main" prst="rect">
            <a:avLst/>
          </a:prstGeom>
        </p:spPr>
      </p:pic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2EBBC4F7-329D-4512-857C-EDACAA7E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350" y="1724025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C664EB08-E34C-4432-9D10-527556CD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776" y="1800225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最受关注</a:t>
            </a:r>
          </a:p>
        </p:txBody>
      </p:sp>
      <p:sp>
        <p:nvSpPr>
          <p:cNvPr id="50" name="任意多边形 49">
            <a:extLst xmlns:a="http://schemas.openxmlformats.org/drawingml/2006/main">
              <a:ext uri="{FF2B5EF4-FFF2-40B4-BE49-F238E27FC236}">
                <a16:creationId xmlns:a16="http://schemas.microsoft.com/office/drawing/2014/main" id="{DDF03CF4-44C9-43D7-ABE2-E31D8E9D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235267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4C2E45B6-A0AA-4B43-93B4-76B22844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46697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财富传承效率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36B3CA93-C53C-4F8D-89CD-11CB6411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277891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通过税务优化与法律架构设计，最大化家族财富代际传承效率，降低资产损耗。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81BDB241-C204-4F29-852F-7E54966F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370760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最大化</a:t>
            </a:r>
          </a:p>
        </p:txBody>
      </p:sp>
      <p:sp>
        <p:nvSpPr>
          <p:cNvPr id="54" name="文本框 53">
            <a:extLst xmlns:a="http://schemas.openxmlformats.org/drawingml/2006/main">
              <a:ext uri="{FF2B5EF4-FFF2-40B4-BE49-F238E27FC236}">
                <a16:creationId xmlns:a16="http://schemas.microsoft.com/office/drawing/2014/main" id="{72994E84-5CE7-46C4-B9EE-34BE3DC6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390286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传承效率</a:t>
            </a:r>
          </a:p>
        </p:txBody>
      </p:sp>
      <p:sp>
        <p:nvSpPr>
          <p:cNvPr id="55" name="任意多边形 54">
            <a:extLst xmlns:a="http://schemas.openxmlformats.org/drawingml/2006/main">
              <a:ext uri="{FF2B5EF4-FFF2-40B4-BE49-F238E27FC236}">
                <a16:creationId xmlns:a16="http://schemas.microsoft.com/office/drawing/2014/main" id="{66BB5976-5857-452C-805B-563D0703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625" y="4391025"/>
            <a:ext cx="3117850" cy="18859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文本框 55">
            <a:extLst xmlns:a="http://schemas.openxmlformats.org/drawingml/2006/main">
              <a:ext uri="{FF2B5EF4-FFF2-40B4-BE49-F238E27FC236}">
                <a16:creationId xmlns:a16="http://schemas.microsoft.com/office/drawing/2014/main" id="{39F3E944-E846-4141-BD05-77C19543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505325"/>
            <a:ext cx="2889275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风险保障等级</a:t>
            </a:r>
          </a:p>
        </p:txBody>
      </p:sp>
      <p:sp>
        <p:nvSpPr>
          <p:cNvPr id="57" name="文本框 56">
            <a:extLst xmlns:a="http://schemas.openxmlformats.org/drawingml/2006/main">
              <a:ext uri="{FF2B5EF4-FFF2-40B4-BE49-F238E27FC236}">
                <a16:creationId xmlns:a16="http://schemas.microsoft.com/office/drawing/2014/main" id="{B3D061F2-0327-4726-8768-FEB7BB82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4817269"/>
            <a:ext cx="2889275" cy="9382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多重法律保障机制叠加，为家族核心资产提供全周期、全方位的安全防护体系。</a:t>
            </a:r>
          </a:p>
        </p:txBody>
      </p:sp>
      <p:sp>
        <p:nvSpPr>
          <p:cNvPr id="58" name="文本框 57">
            <a:extLst xmlns:a="http://schemas.openxmlformats.org/drawingml/2006/main">
              <a:ext uri="{FF2B5EF4-FFF2-40B4-BE49-F238E27FC236}">
                <a16:creationId xmlns:a16="http://schemas.microsoft.com/office/drawing/2014/main" id="{17B86DB0-B5B6-44AE-AF79-E7E1A36E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76" y="5745956"/>
            <a:ext cx="152400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全周期</a:t>
            </a:r>
          </a:p>
        </p:txBody>
      </p:sp>
      <p:sp>
        <p:nvSpPr>
          <p:cNvPr id="59" name="文本框 58">
            <a:extLst xmlns:a="http://schemas.openxmlformats.org/drawingml/2006/main">
              <a:ext uri="{FF2B5EF4-FFF2-40B4-BE49-F238E27FC236}">
                <a16:creationId xmlns:a16="http://schemas.microsoft.com/office/drawing/2014/main" id="{E002710D-7E81-4F04-AF85-6DE71D3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8076" y="5941219"/>
            <a:ext cx="85732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安全防护</a:t>
            </a:r>
          </a:p>
        </p:txBody>
      </p:sp>
    </p:spTree>
    <p:extLst>
      <p:ext uri="{BB962C8B-B14F-4D97-AF65-F5344CB8AC3E}">
        <p14:creationId xmlns:p14="http://schemas.microsoft.com/office/powerpoint/2010/main" val="38903025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8E206EF-067B-474B-9164-0B049DBB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613D77F-C099-47C6-9404-8CB8267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F8241A-9FAC-470F-AB36-DEF057CE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产品核心亮点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32373FA-F893-49CE-ACC9-632E122D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8CA66BF-CE51-4A07-93B2-44D63B46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46C56C62-6F77-4BC1-956D-A0F23BBF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B179D77-9E0A-4BBA-BA5F-C729B6E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9D2C7E-1233-4E30-BCB8-7BFBF921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73B0F135-AB7B-4C43-A737-1CE195F8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长期稳健增值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611282F-7BAE-4387-A5E9-343228D7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基于官方利益演示，展示不提领与提领两种路径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11D4D21-ECC8-4223-98E2-E27A00A4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总缴保费约 US$500,000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5BF72C3B-4EF1-4F13-8EDC-767DCFF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4C3E385-D90E-4317-8EB2-BBCAA61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A93DEE14-C70C-4348-9D21-2CA47848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AE3323D-F623-40CC-9961-776B1C12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F49CC5B-40EA-4AF9-86E5-2841009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不提领：第20年约 2.73 倍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27B6E24E-C321-409C-AFE0-9C3B5398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29A5D19-8717-42DF-9380-D0EA0243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32C497CC-40FB-49A9-97F2-72F7532D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091CA43C-751C-4671-B52C-7C4D754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3ED074B-5F57-49E0-A792-36BA3F94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不提领：第30年约 5.57 倍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FD89B4B8-0BB5-4CCF-83AE-50575F50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F2FFA137-27AF-46B4-B3B7-632ABB20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32273D62-C2AE-41A7-80D9-779E1536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8A5A8DE-874D-430D-92B8-BE773260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217ABAE-CF42-4F17-8968-62B36406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5ACDF67-610F-400C-8268-00A2EFC7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关键数字可回溯至官方保单表格与来源页码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B84A16DA-7230-4825-812F-A039FA9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6FFE59A5-20B7-4FE6-ADE8-76D80248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381DCDE-49EF-43E0-BB48-95577036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C1D9822-B9ED-49EA-B136-CE6FFD7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70B6307E-8D7A-4B15-9105-07448F2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1C73569-A29F-40CD-9DD9-0D3F15C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746207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5FBD2C46-5607-43F0-9E14-A20BE959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AC5CCA19-32EC-4B96-8E32-16B9CEE6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506A2471-FCF7-426A-A9C6-D305A367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现金价值增长曲线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3BF7F655-39E0-4916-8A5A-99CC7229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" y="1111250"/>
            <a:ext cx="5868670" cy="16986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13087" cmpd="sng">
            <a:solidFill>
              <a:srgbClr val="D59134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236D40D9-E468-4FCD-9896-16205D87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294765"/>
            <a:ext cx="523240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CE930F-89E5-40CE-AA03-5BE289F2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230" y="1320800"/>
            <a:ext cx="41846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方案一</a:t>
            </a:r>
          </a:p>
        </p:txBody>
      </p:sp>
      <p:sp>
        <p:nvSpPr>
          <p:cNvPr id="10" name="任意多边形 9">
            <a:extLst xmlns:a="http://schemas.openxmlformats.org/drawingml/2006/main">
              <a:ext uri="{FF2B5EF4-FFF2-40B4-BE49-F238E27FC236}">
                <a16:creationId xmlns:a16="http://schemas.microsoft.com/office/drawing/2014/main" id="{79BA7B3B-D14D-4917-A075-E0EA9617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94765"/>
            <a:ext cx="36639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第10年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3295F61B-C985-420B-A096-D84E99DD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505" y="1320800"/>
            <a:ext cx="31432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现金价值增长进入可见区间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5508EF6-B900-431B-8E4A-A979089C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497330"/>
            <a:ext cx="5332095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A9337F38-4EE6-4DB6-B579-0C4F91D0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1706880"/>
            <a:ext cx="5332095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第25年</a:t>
            </a:r>
          </a:p>
        </p:txBody>
      </p:sp>
      <p:sp>
        <p:nvSpPr>
          <p:cNvPr id="14" name="任意多边形 13">
            <a:extLst xmlns:a="http://schemas.openxmlformats.org/drawingml/2006/main">
              <a:ext uri="{FF2B5EF4-FFF2-40B4-BE49-F238E27FC236}">
                <a16:creationId xmlns:a16="http://schemas.microsoft.com/office/drawing/2014/main" id="{8D351505-2357-4DF3-9DD2-3ACE62B2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455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复利效应逐步体现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314413D4-CB61-45C7-A22D-C191C7A1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560" y="231838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B6EA62-105B-4978-99FE-85C318E1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229235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D09CE3D8-38CA-4108-B4C7-A91000E0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3210" y="2318385"/>
            <a:ext cx="52324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教育支出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FF376A0B-76D6-46F3-9F93-D6288AF3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295084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第60年</a:t>
            </a: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38FEA122-6A64-4EAF-8462-B258C38C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13055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长期价值与现金流能力并行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CBB84754-E15F-4A18-9A8A-C182AA0C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3157220"/>
            <a:ext cx="419100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方案二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CC550C5-23E9-415F-B5C5-13A3FDF46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33375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阶段性大额提领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A15435FB-998C-43FA-BACC-57F3EB7A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354330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针对家族重大事件（如子女婚嫁、创业支持、房产购置等），可申请大额提领，灵活应对家族重要节点的资金需求。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52E34CCB-6406-4CC8-82F4-1AB74712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38E24EF-4590-4CEB-AF83-FE472A9B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婚嫁支持</a:t>
            </a:r>
          </a:p>
        </p:txBody>
      </p:sp>
      <p:sp>
        <p:nvSpPr>
          <p:cNvPr id="25" name="任意多边形 24">
            <a:extLst xmlns:a="http://schemas.openxmlformats.org/drawingml/2006/main">
              <a:ext uri="{FF2B5EF4-FFF2-40B4-BE49-F238E27FC236}">
                <a16:creationId xmlns:a16="http://schemas.microsoft.com/office/drawing/2014/main" id="{BCE7B167-599F-4A43-B3D8-4FF20156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第6年起可年领 US$35,000</a:t>
            </a: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B0F126AE-FD13-4895-B201-31D9BD42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4155440"/>
            <a:ext cx="523875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第20年累计领取 US$525,006</a:t>
            </a:r>
          </a:p>
        </p:txBody>
      </p:sp>
      <p:sp>
        <p:nvSpPr>
          <p:cNvPr id="27" name="任意多边形 26">
            <a:extLst xmlns:a="http://schemas.openxmlformats.org/drawingml/2006/main">
              <a:ext uri="{FF2B5EF4-FFF2-40B4-BE49-F238E27FC236}">
                <a16:creationId xmlns:a16="http://schemas.microsoft.com/office/drawing/2014/main" id="{16C99BB7-E7FD-499C-956C-FBEB36C0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6135" y="412877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97683EC5-1A28-4DBF-87DF-9A38A622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875" y="4155440"/>
            <a:ext cx="52324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房产购置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372ABA74-819C-4D76-8F07-6AD1E0B3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675" y="4780915"/>
            <a:ext cx="5875020" cy="16929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6543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任意多边形 29">
            <a:extLst xmlns:a="http://schemas.openxmlformats.org/drawingml/2006/main">
              <a:ext uri="{FF2B5EF4-FFF2-40B4-BE49-F238E27FC236}">
                <a16:creationId xmlns:a16="http://schemas.microsoft.com/office/drawing/2014/main" id="{F3743353-1C3F-4BF1-98F6-A51CAD2B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4960620"/>
            <a:ext cx="52387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第30年累计领取 US$875,016</a:t>
            </a: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289EE0B9-292F-4B40-B49B-D74200BE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45" y="4987290"/>
            <a:ext cx="41910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第60年累计领取 US$1,925,212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220A97D0-3609-450B-A14D-3A7BF745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163820"/>
            <a:ext cx="5345430" cy="206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35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应急资金调用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5C6CA127-864F-4850-B8A1-E6FA2814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373370"/>
            <a:ext cx="5345430" cy="434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03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设立应急提领通道，在家族遭遇突发情况时，可快速调用部分现金价值，解决燃眉之急，体现家族办公室的人性化服务。</a:t>
            </a:r>
          </a:p>
        </p:txBody>
      </p:sp>
      <p:sp>
        <p:nvSpPr>
          <p:cNvPr id="34" name="任意多边形 33">
            <a:extLst xmlns:a="http://schemas.openxmlformats.org/drawingml/2006/main">
              <a:ext uri="{FF2B5EF4-FFF2-40B4-BE49-F238E27FC236}">
                <a16:creationId xmlns:a16="http://schemas.microsoft.com/office/drawing/2014/main" id="{75C57CD4-3DD0-4F8B-B750-63E86CBF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7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ACDE635-6502-4DE6-9A6E-C42281F6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快速通道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D4E8A96B-9613-4B8B-A190-380D9EAE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120" y="5958840"/>
            <a:ext cx="575945" cy="18986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1DF52FCB-31E2-4951-B074-C3314639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225" y="5984875"/>
            <a:ext cx="523875" cy="1377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2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突发应对</a:t>
            </a: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9D56C361-62A5-4CAD-8B00-6DA893A0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015" y="1109345"/>
            <a:ext cx="4891405" cy="536321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8850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17B4CAE1-F62F-4AB0-8A3B-5B3CABD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1397000"/>
            <a:ext cx="4174490" cy="3276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5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提领策略建议</a:t>
            </a:r>
          </a:p>
        </p:txBody>
      </p:sp>
      <p:sp>
        <p:nvSpPr>
          <p:cNvPr id="41" name="任意多边形 40">
            <a:extLst xmlns:a="http://schemas.openxmlformats.org/drawingml/2006/main">
              <a:ext uri="{FF2B5EF4-FFF2-40B4-BE49-F238E27FC236}">
                <a16:creationId xmlns:a16="http://schemas.microsoft.com/office/drawing/2014/main" id="{65845A4A-9E34-43B9-9909-FCE7CB28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1741805"/>
            <a:ext cx="4175125" cy="11861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FC5B9C11-AB8C-4831-A664-CE38FCB2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9955" y="1828165"/>
            <a:ext cx="3820795" cy="10090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保留不低于现金价值</a:t>
            </a:r>
            <a:r>
              <a:rPr sz="2225" b="1" spc="-22">
                <a:solidFill>
                  <a:srgbClr val="5A3E0F"/>
                </a:solidFill>
                <a:latin typeface="MiSans"/>
                <a:ea typeface="MiSans"/>
                <a:cs typeface="MiSans"/>
              </a:rPr>
              <a:t>60%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的余额，确保保单持续有效并享受长期增值收益</a:t>
            </a:r>
            <a:r>
              <a:rPr sz="19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  <p:sp>
        <p:nvSpPr>
          <p:cNvPr id="43" name="任意多边形 42">
            <a:extLst xmlns:a="http://schemas.openxmlformats.org/drawingml/2006/main">
              <a:ext uri="{FF2B5EF4-FFF2-40B4-BE49-F238E27FC236}">
                <a16:creationId xmlns:a16="http://schemas.microsoft.com/office/drawing/2014/main" id="{566CC09D-7816-40D2-8F3B-E6439C50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29457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fd8e7148c40ac">
            <a:extLst>
              <a:ext uri="{96DAC541-7B7A-43D3-8B79-37D633B846F1}">
                <asvg:svgBlip xmlns:asvg="http://schemas.microsoft.com/office/drawing/2016/SVG/main" r:embed="R4629d1d2e60845e3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0162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5B9F1016-5F17-48C7-9BB9-702A6857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2932430"/>
            <a:ext cx="385572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定期评估现金流需求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，根据家族实际支出情况调整提领频率与金额，避免过度提领影响保单价值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29639DB9-EE6F-4E2B-A402-14EC02D5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35299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图片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fd8e7148c40ac">
            <a:extLst>
              <a:ext uri="{96DAC541-7B7A-43D3-8B79-37D633B846F1}">
                <asvg:svgBlip xmlns:asvg="http://schemas.microsoft.com/office/drawing/2016/SVG/main" r:embed="R4629d1d2e60845e3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3600450"/>
            <a:ext cx="93345" cy="106680"/>
          </a:xfrm>
          <a:prstGeom xmlns:a="http://schemas.openxmlformats.org/drawingml/2006/main" prst="rect">
            <a:avLst/>
          </a:prstGeom>
        </p:spPr>
      </p:pic>
      <p:sp>
        <p:nvSpPr>
          <p:cNvPr id="48" name="文本框 47">
            <a:extLst xmlns:a="http://schemas.openxmlformats.org/drawingml/2006/main">
              <a:ext uri="{FF2B5EF4-FFF2-40B4-BE49-F238E27FC236}">
                <a16:creationId xmlns:a16="http://schemas.microsoft.com/office/drawing/2014/main" id="{BE1C61E5-5337-4462-AFB0-8C0C8FB1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3516630"/>
            <a:ext cx="3869690" cy="5886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重大事件提前规划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，子女婚嫁、创业等大额支出应提前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6-12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个月与顾问沟通，制定最优提领方案</a:t>
            </a:r>
          </a:p>
        </p:txBody>
      </p:sp>
      <p:sp>
        <p:nvSpPr>
          <p:cNvPr id="49" name="任意多边形 48">
            <a:extLst xmlns:a="http://schemas.openxmlformats.org/drawingml/2006/main">
              <a:ext uri="{FF2B5EF4-FFF2-40B4-BE49-F238E27FC236}">
                <a16:creationId xmlns:a16="http://schemas.microsoft.com/office/drawing/2014/main" id="{88EDF2A5-6B73-41CC-98AA-61B75341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155" y="4114165"/>
            <a:ext cx="248285" cy="24765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0" name="图片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fd8e7148c40ac">
            <a:extLst>
              <a:ext uri="{96DAC541-7B7A-43D3-8B79-37D633B846F1}">
                <asvg:svgBlip xmlns:asvg="http://schemas.microsoft.com/office/drawing/2016/SVG/main" r:embed="R4629d1d2e60845e3"/>
              </a:ext>
            </a:extLst>
          </a:blip>
          <a:srcRect xmlns:a="http://schemas.openxmlformats.org/drawingml/2006/main" l="-2667" t="-16667" r="-2667" b="-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9625" y="4184650"/>
            <a:ext cx="93345" cy="106045"/>
          </a:xfrm>
          <a:prstGeom xmlns:a="http://schemas.openxmlformats.org/drawingml/2006/main" prst="rect">
            <a:avLst/>
          </a:prstGeom>
        </p:spPr>
      </p:pic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1937CE78-02C8-4BBA-BFA0-25390D03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1560" y="4098925"/>
            <a:ext cx="3855720" cy="604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39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应急通道常备不懈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，建议预留</a:t>
            </a:r>
            <a:r>
              <a:rPr sz="1465" b="1" spc="-13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10%-15%</a:t>
            </a:r>
            <a:r>
              <a:rPr sz="1390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现金价值作为应急储备，确保突发情况下快速响应</a:t>
            </a:r>
          </a:p>
        </p:txBody>
      </p:sp>
      <p:sp>
        <p:nvSpPr>
          <p:cNvPr id="52" name="任意多边形 51">
            <a:extLst xmlns:a="http://schemas.openxmlformats.org/drawingml/2006/main">
              <a:ext uri="{FF2B5EF4-FFF2-40B4-BE49-F238E27FC236}">
                <a16:creationId xmlns:a16="http://schemas.microsoft.com/office/drawing/2014/main" id="{C3DADDE5-12B2-4322-8406-181F5FD6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62420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任意多边形 52">
            <a:extLst xmlns:a="http://schemas.openxmlformats.org/drawingml/2006/main">
              <a:ext uri="{FF2B5EF4-FFF2-40B4-BE49-F238E27FC236}">
                <a16:creationId xmlns:a16="http://schemas.microsoft.com/office/drawing/2014/main" id="{1EE98ECE-528A-47A1-87D8-7B551025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82155" y="5560060"/>
            <a:ext cx="4175125" cy="889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DDD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5DE59FC0-2D54-4DA2-B95F-DBECD76E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2790" y="5661025"/>
            <a:ext cx="4174490" cy="530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3000"/>
              </a:lnSpc>
              <a:buNone/>
            </a:pPr>
            <a:r>
              <a:rPr sz="1250" i="1">
                <a:solidFill>
                  <a:srgbClr val="7A6A5A"/>
                </a:solidFill>
                <a:latin typeface="MiSans"/>
                <a:ea typeface="MiSans"/>
                <a:cs typeface="MiSans"/>
              </a:rPr>
              <a:t>专业顾问将根据家族实际情况，综合考虑现金流需求、税务优化与长期增值目标，为您制定最优提领策略</a:t>
            </a:r>
          </a:p>
        </p:txBody>
      </p:sp>
    </p:spTree>
    <p:extLst>
      <p:ext uri="{BB962C8B-B14F-4D97-AF65-F5344CB8AC3E}">
        <p14:creationId xmlns:p14="http://schemas.microsoft.com/office/powerpoint/2010/main" val="5951574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96408FF4-1869-4832-BF4D-98781E17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57AB83EA-42EF-4FE7-AC09-791823F4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C949EA9E-04F0-4450-87D5-332C58B2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灵活提领路径</a:t>
            </a:r>
          </a:p>
        </p:txBody>
      </p:sp>
      <p:sp>
        <p:nvSpPr>
          <p:cNvPr id="7" name="任意多边形 6">
            <a:extLst xmlns:a="http://schemas.openxmlformats.org/drawingml/2006/main">
              <a:ext uri="{FF2B5EF4-FFF2-40B4-BE49-F238E27FC236}">
                <a16:creationId xmlns:a16="http://schemas.microsoft.com/office/drawing/2014/main" id="{C5765F6C-7D3B-4BED-82F5-5C278D5E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1109345"/>
            <a:ext cx="11039475" cy="426847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25" cmpd="sng">
            <a:solidFill>
              <a:srgbClr val="E2D4C4"/>
            </a:solidFill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任意多边形 7">
            <a:extLst xmlns:a="http://schemas.openxmlformats.org/drawingml/2006/main">
              <a:ext uri="{FF2B5EF4-FFF2-40B4-BE49-F238E27FC236}">
                <a16:creationId xmlns:a16="http://schemas.microsoft.com/office/drawing/2014/main" id="{8A3E5244-1F2F-438F-94D4-570A3DEA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114425"/>
            <a:ext cx="11029950" cy="537845"/>
          </a:xfrm>
          <a:custGeom xmlns:a="http://schemas.openxmlformats.org/drawingml/2006/main">
            <a:pathLst>
              <a:path w="17370" h="847">
                <a:moveTo>
                  <a:pt x="240" y="0"/>
                </a:moveTo>
                <a:lnTo>
                  <a:pt x="17130" y="0"/>
                </a:lnTo>
                <a:cubicBezTo>
                  <a:pt x="17263" y="0"/>
                  <a:pt x="17370" y="107"/>
                  <a:pt x="17370" y="240"/>
                </a:cubicBezTo>
                <a:lnTo>
                  <a:pt x="17370" y="847"/>
                </a:lnTo>
                <a:lnTo>
                  <a:pt x="0" y="847"/>
                </a:lnTo>
                <a:lnTo>
                  <a:pt x="0" y="240"/>
                </a:lnTo>
                <a:cubicBezTo>
                  <a:pt x="0" y="107"/>
                  <a:pt x="107" y="0"/>
                  <a:pt x="24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AD5F8413-EB97-452B-BC3B-F012C399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4274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5A3E0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499FA91-FE1D-40AA-9237-A4AB7378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28725"/>
            <a:ext cx="1829991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传承工具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484185D3-E977-4A65-BCED-23C0DCA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378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定期定额提领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A90DCEB-45A9-45C6-B6ED-E9E8FCD1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2802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适合教育金与家庭现金流安排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F7AA4578-49EB-4032-ADFA-997DAE86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6124" y="1228725"/>
            <a:ext cx="9144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流动性</a:t>
            </a: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D306587-076E-4040-9639-301E3D5A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6536" y="1228725"/>
            <a:ext cx="13716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日常开支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E2218E85-107E-4AF5-811B-9D7CD72B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59" y="1228725"/>
            <a:ext cx="1143076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第6年起每年领取 US$35,000</a:t>
            </a:r>
          </a:p>
        </p:txBody>
      </p:sp>
      <p:sp>
        <p:nvSpPr>
          <p:cNvPr id="17" name="任意多边形 16">
            <a:extLst xmlns:a="http://schemas.openxmlformats.org/drawingml/2006/main">
              <a:ext uri="{FF2B5EF4-FFF2-40B4-BE49-F238E27FC236}">
                <a16:creationId xmlns:a16="http://schemas.microsoft.com/office/drawing/2014/main" id="{A9BB9812-9D9A-484B-8340-AB5A213C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1652270"/>
            <a:ext cx="11029926" cy="3720465"/>
          </a:xfrm>
          <a:custGeom xmlns:a="http://schemas.openxmlformats.org/drawingml/2006/main">
            <a:rect l="l" t="t" r="r" b="b"/>
            <a:pathLst>
              <a:path w="17370" h="5859">
                <a:moveTo>
                  <a:pt x="17370" y="0"/>
                </a:moveTo>
                <a:lnTo>
                  <a:pt x="17370" y="5619"/>
                </a:lnTo>
                <a:cubicBezTo>
                  <a:pt x="17370" y="5752"/>
                  <a:pt x="17263" y="5859"/>
                  <a:pt x="17130" y="5859"/>
                </a:cubicBezTo>
                <a:lnTo>
                  <a:pt x="240" y="5859"/>
                </a:lnTo>
                <a:cubicBezTo>
                  <a:pt x="107" y="5859"/>
                  <a:pt x="0" y="5752"/>
                  <a:pt x="0" y="5619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8163F770-5EB8-45E9-9488-980ED364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652270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任意多边形 18">
            <a:extLst xmlns:a="http://schemas.openxmlformats.org/drawingml/2006/main">
              <a:ext uri="{FF2B5EF4-FFF2-40B4-BE49-F238E27FC236}">
                <a16:creationId xmlns:a16="http://schemas.microsoft.com/office/drawing/2014/main" id="{2C6E93A3-E9C4-415B-8102-5C4BBAB2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302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阶段提领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20354CAE-0C4F-4E55-8A8D-27B1C772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662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第20年累计 US$525,006，第30年累计 US$875,016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31A00CA3-8FE3-43DB-B2B8-30968661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22E357D6-4D36-44DA-9584-9B9AF5EB5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养老补充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14AEBDF9-E633-4E75-80CB-63CAF6FE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198662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长期领取后仍保有退保价值与灵活性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7BD9C1C4-90BA-4C58-87FE-35FFA51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198662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DD69EBF5-93D9-4DA6-94F8-5B787E6C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197421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FD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A65CC23-AA65-4ECF-9805-2B005814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01282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4D3A06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28" name="任意多边形 27">
            <a:extLst xmlns:a="http://schemas.openxmlformats.org/drawingml/2006/main">
              <a:ext uri="{FF2B5EF4-FFF2-40B4-BE49-F238E27FC236}">
                <a16:creationId xmlns:a16="http://schemas.microsoft.com/office/drawing/2014/main" id="{C834D845-EE90-4828-8067-A763B179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82545"/>
            <a:ext cx="11029950" cy="929640"/>
          </a:xfrm>
          <a:custGeom xmlns:a="http://schemas.openxmlformats.org/drawingml/2006/main">
            <a:pathLst>
              <a:path w="17370" h="1464">
                <a:moveTo>
                  <a:pt x="17370" y="0"/>
                </a:moveTo>
                <a:lnTo>
                  <a:pt x="17370" y="1464"/>
                </a:lnTo>
                <a:lnTo>
                  <a:pt x="0" y="1464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813504E1-3106-495B-8F97-F46F6B498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02660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文本框 30">
            <a:extLst xmlns:a="http://schemas.openxmlformats.org/drawingml/2006/main">
              <a:ext uri="{FF2B5EF4-FFF2-40B4-BE49-F238E27FC236}">
                <a16:creationId xmlns:a16="http://schemas.microsoft.com/office/drawing/2014/main" id="{7E683417-4A07-4176-92D3-F619A5DC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6726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人寿保险</a:t>
            </a: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7B1C3E1C-3335-46B3-8F81-45AF43EA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3" name="文本框 32">
            <a:extLst xmlns:a="http://schemas.openxmlformats.org/drawingml/2006/main">
              <a:ext uri="{FF2B5EF4-FFF2-40B4-BE49-F238E27FC236}">
                <a16:creationId xmlns:a16="http://schemas.microsoft.com/office/drawing/2014/main" id="{9DCE56E0-5568-47F9-9D0B-6A177245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优秀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559D3B5E-6684-453F-A0B4-C755B50B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574" y="2916726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较高</a:t>
            </a: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DAC9C06-75C8-4E4D-9A00-535C9201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1836" y="2916726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36" name="任意多边形 35">
            <a:extLst xmlns:a="http://schemas.openxmlformats.org/drawingml/2006/main">
              <a:ext uri="{FF2B5EF4-FFF2-40B4-BE49-F238E27FC236}">
                <a16:creationId xmlns:a16="http://schemas.microsoft.com/office/drawing/2014/main" id="{4C8A9564-9620-43F3-B6BC-684282E9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2904490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文本框 36">
            <a:extLst xmlns:a="http://schemas.openxmlformats.org/drawingml/2006/main">
              <a:ext uri="{FF2B5EF4-FFF2-40B4-BE49-F238E27FC236}">
                <a16:creationId xmlns:a16="http://schemas.microsoft.com/office/drawing/2014/main" id="{9A1A5BC9-0689-476B-BD7B-08DBA532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2942920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38" name="任意多边形 37">
            <a:extLst xmlns:a="http://schemas.openxmlformats.org/drawingml/2006/main">
              <a:ext uri="{FF2B5EF4-FFF2-40B4-BE49-F238E27FC236}">
                <a16:creationId xmlns:a16="http://schemas.microsoft.com/office/drawing/2014/main" id="{DE4E1CCE-F57E-4651-9C77-8A856E02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512185"/>
            <a:ext cx="11029950" cy="930275"/>
          </a:xfrm>
          <a:custGeom xmlns:a="http://schemas.openxmlformats.org/drawingml/2006/main">
            <a:pathLst>
              <a:path w="17370" h="1465">
                <a:moveTo>
                  <a:pt x="17370" y="0"/>
                </a:moveTo>
                <a:lnTo>
                  <a:pt x="17370" y="1465"/>
                </a:lnTo>
                <a:lnTo>
                  <a:pt x="0" y="146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任意多边形 38">
            <a:extLst xmlns:a="http://schemas.openxmlformats.org/drawingml/2006/main">
              <a:ext uri="{FF2B5EF4-FFF2-40B4-BE49-F238E27FC236}">
                <a16:creationId xmlns:a16="http://schemas.microsoft.com/office/drawing/2014/main" id="{727BF298-3225-4113-AE3B-94F39BFC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432935"/>
            <a:ext cx="11029950" cy="9525"/>
          </a:xfrm>
          <a:custGeom xmlns:a="http://schemas.openxmlformats.org/drawingml/2006/main">
            <a:pathLst>
              <a:path w="17370" h="15">
                <a:moveTo>
                  <a:pt x="17370" y="0"/>
                </a:moveTo>
                <a:lnTo>
                  <a:pt x="17370" y="15"/>
                </a:lnTo>
                <a:lnTo>
                  <a:pt x="0" y="15"/>
                </a:lnTo>
                <a:lnTo>
                  <a:pt x="0" y="0"/>
                </a:lnTo>
                <a:lnTo>
                  <a:pt x="17370" y="0"/>
                </a:lnTo>
                <a:close/>
              </a:path>
            </a:pathLst>
          </a:custGeom>
          <a:solidFill xmlns:a="http://schemas.openxmlformats.org/drawingml/2006/main">
            <a:srgbClr val="EFE4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文本框 40">
            <a:extLst xmlns:a="http://schemas.openxmlformats.org/drawingml/2006/main">
              <a:ext uri="{FF2B5EF4-FFF2-40B4-BE49-F238E27FC236}">
                <a16:creationId xmlns:a16="http://schemas.microsoft.com/office/drawing/2014/main" id="{EE8A227C-72A1-44F1-A5F8-A1E6743F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46833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遗嘱继承</a:t>
            </a: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BDA9936B-36FC-4395-8C8E-089CDB08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3" name="文本框 42">
            <a:extLst xmlns:a="http://schemas.openxmlformats.org/drawingml/2006/main">
              <a:ext uri="{FF2B5EF4-FFF2-40B4-BE49-F238E27FC236}">
                <a16:creationId xmlns:a16="http://schemas.microsoft.com/office/drawing/2014/main" id="{F8615686-5B96-4325-B9F6-EE4E663CF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3F50902E-96F1-4477-983F-1B5DA036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3846833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45" name="文本框 44">
            <a:extLst xmlns:a="http://schemas.openxmlformats.org/drawingml/2006/main">
              <a:ext uri="{FF2B5EF4-FFF2-40B4-BE49-F238E27FC236}">
                <a16:creationId xmlns:a16="http://schemas.microsoft.com/office/drawing/2014/main" id="{82029E8A-CEBD-411F-893C-81F331DE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3846833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46" name="任意多边形 45">
            <a:extLst xmlns:a="http://schemas.openxmlformats.org/drawingml/2006/main">
              <a:ext uri="{FF2B5EF4-FFF2-40B4-BE49-F238E27FC236}">
                <a16:creationId xmlns:a16="http://schemas.microsoft.com/office/drawing/2014/main" id="{3B4D600E-5904-4E67-B5BF-6CDFF588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3834765"/>
            <a:ext cx="3810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文本框 46">
            <a:extLst xmlns:a="http://schemas.openxmlformats.org/drawingml/2006/main">
              <a:ext uri="{FF2B5EF4-FFF2-40B4-BE49-F238E27FC236}">
                <a16:creationId xmlns:a16="http://schemas.microsoft.com/office/drawing/2014/main" id="{514A4069-B35F-40FE-87E6-6761293E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59" y="3873027"/>
            <a:ext cx="3048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低</a:t>
            </a:r>
          </a:p>
        </p:txBody>
      </p:sp>
      <p:sp>
        <p:nvSpPr>
          <p:cNvPr id="48" name="任意多边形 47">
            <a:extLst xmlns:a="http://schemas.openxmlformats.org/drawingml/2006/main">
              <a:ext uri="{FF2B5EF4-FFF2-40B4-BE49-F238E27FC236}">
                <a16:creationId xmlns:a16="http://schemas.microsoft.com/office/drawing/2014/main" id="{617C9B6B-5859-4201-85B1-8CA68ABA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37" y="4442460"/>
            <a:ext cx="11029926" cy="930275"/>
          </a:xfrm>
          <a:custGeom xmlns:a="http://schemas.openxmlformats.org/drawingml/2006/main">
            <a:rect l="l" t="t" r="r" b="b"/>
            <a:pathLst>
              <a:path w="17370" h="1465">
                <a:moveTo>
                  <a:pt x="17370" y="0"/>
                </a:moveTo>
                <a:lnTo>
                  <a:pt x="17370" y="1225"/>
                </a:lnTo>
                <a:cubicBezTo>
                  <a:pt x="17370" y="1358"/>
                  <a:pt x="17263" y="1465"/>
                  <a:pt x="17130" y="1465"/>
                </a:cubicBezTo>
                <a:lnTo>
                  <a:pt x="240" y="1465"/>
                </a:lnTo>
                <a:cubicBezTo>
                  <a:pt x="107" y="1465"/>
                  <a:pt x="0" y="1358"/>
                  <a:pt x="0" y="1225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文本框 48">
            <a:extLst xmlns:a="http://schemas.openxmlformats.org/drawingml/2006/main">
              <a:ext uri="{FF2B5EF4-FFF2-40B4-BE49-F238E27FC236}">
                <a16:creationId xmlns:a16="http://schemas.microsoft.com/office/drawing/2014/main" id="{2AE9251A-97B7-4233-AD9A-89CF09AF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769"/>
            <a:ext cx="1829991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赠与传承</a:t>
            </a:r>
          </a:p>
        </p:txBody>
      </p:sp>
      <p:sp>
        <p:nvSpPr>
          <p:cNvPr id="50" name="文本框 49">
            <a:extLst xmlns:a="http://schemas.openxmlformats.org/drawingml/2006/main">
              <a:ext uri="{FF2B5EF4-FFF2-40B4-BE49-F238E27FC236}">
                <a16:creationId xmlns:a16="http://schemas.microsoft.com/office/drawing/2014/main" id="{E609E696-F1A5-4ACC-B394-0375CE3A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9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1" name="文本框 50">
            <a:extLst xmlns:a="http://schemas.openxmlformats.org/drawingml/2006/main">
              <a:ext uri="{FF2B5EF4-FFF2-40B4-BE49-F238E27FC236}">
                <a16:creationId xmlns:a16="http://schemas.microsoft.com/office/drawing/2014/main" id="{732AE0FD-EA71-4FBB-AC98-3C08104C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8552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较弱</a:t>
            </a:r>
          </a:p>
        </p:txBody>
      </p:sp>
      <p:sp>
        <p:nvSpPr>
          <p:cNvPr id="52" name="文本框 51">
            <a:extLst xmlns:a="http://schemas.openxmlformats.org/drawingml/2006/main">
              <a:ext uri="{FF2B5EF4-FFF2-40B4-BE49-F238E27FC236}">
                <a16:creationId xmlns:a16="http://schemas.microsoft.com/office/drawing/2014/main" id="{412AC47A-5822-4D1F-A4C6-01500C3D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824" y="4781769"/>
            <a:ext cx="381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高</a:t>
            </a:r>
          </a:p>
        </p:txBody>
      </p:sp>
      <p:sp>
        <p:nvSpPr>
          <p:cNvPr id="53" name="文本框 52">
            <a:extLst xmlns:a="http://schemas.openxmlformats.org/drawingml/2006/main">
              <a:ext uri="{FF2B5EF4-FFF2-40B4-BE49-F238E27FC236}">
                <a16:creationId xmlns:a16="http://schemas.microsoft.com/office/drawing/2014/main" id="{152DF5BD-CCE8-43AB-92D2-EED7A828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586" y="4781769"/>
            <a:ext cx="5715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较低</a:t>
            </a:r>
          </a:p>
        </p:txBody>
      </p:sp>
      <p:sp>
        <p:nvSpPr>
          <p:cNvPr id="54" name="任意多边形 53">
            <a:extLst xmlns:a="http://schemas.openxmlformats.org/drawingml/2006/main">
              <a:ext uri="{FF2B5EF4-FFF2-40B4-BE49-F238E27FC236}">
                <a16:creationId xmlns:a16="http://schemas.microsoft.com/office/drawing/2014/main" id="{82D9D157-CFAB-499C-98C8-66340257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769485"/>
            <a:ext cx="533400" cy="2762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CF3E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文本框 54">
            <a:extLst xmlns:a="http://schemas.openxmlformats.org/drawingml/2006/main">
              <a:ext uri="{FF2B5EF4-FFF2-40B4-BE49-F238E27FC236}">
                <a16:creationId xmlns:a16="http://schemas.microsoft.com/office/drawing/2014/main" id="{7B338F9E-CD42-46C5-8AAF-1CC1EBB8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8959" y="4807963"/>
            <a:ext cx="4572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F4D33"/>
                </a:solidFill>
                <a:latin typeface="MiSans"/>
                <a:ea typeface="MiSans"/>
                <a:cs typeface="MiSans"/>
              </a:rPr>
              <a:t>适中</a:t>
            </a:r>
          </a:p>
        </p:txBody>
      </p:sp>
      <p:sp>
        <p:nvSpPr>
          <p:cNvPr id="57" name="任意多边形 56">
            <a:extLst xmlns:a="http://schemas.openxmlformats.org/drawingml/2006/main">
              <a:ext uri="{FF2B5EF4-FFF2-40B4-BE49-F238E27FC236}">
                <a16:creationId xmlns:a16="http://schemas.microsoft.com/office/drawing/2014/main" id="{36002803-F6CD-4214-BD57-CDEE9268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96560"/>
            <a:ext cx="11049000" cy="98044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任意多边形 57">
            <a:extLst xmlns:a="http://schemas.openxmlformats.org/drawingml/2006/main">
              <a:ext uri="{FF2B5EF4-FFF2-40B4-BE49-F238E27FC236}">
                <a16:creationId xmlns:a16="http://schemas.microsoft.com/office/drawing/2014/main" id="{2BB5A1F1-1B3C-4D21-A039-E09B1469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7230"/>
            <a:ext cx="419100" cy="4191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9" name="图片 5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def2963d774985"/>
          <a:srcRect xmlns:a="http://schemas.openxmlformats.org/drawingml/2006/main" l="25348" t="0" r="253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3285" y="5886450"/>
            <a:ext cx="175895" cy="200025"/>
          </a:xfrm>
          <a:prstGeom xmlns:a="http://schemas.openxmlformats.org/drawingml/2006/main" prst="rect">
            <a:avLst/>
          </a:prstGeom>
        </p:spPr>
      </p:pic>
      <p:sp>
        <p:nvSpPr>
          <p:cNvPr id="60" name="文本框 59">
            <a:extLst xmlns:a="http://schemas.openxmlformats.org/drawingml/2006/main">
              <a:ext uri="{FF2B5EF4-FFF2-40B4-BE49-F238E27FC236}">
                <a16:creationId xmlns:a16="http://schemas.microsoft.com/office/drawing/2014/main" id="{E44EC113-B28A-45CB-A9A7-C5E434C7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524" y="5667823"/>
            <a:ext cx="8953500" cy="633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3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人寿保险在资产隔离、税务优化、流动性和传承确定性方面表现均衡，是家族财富传承的理想工具之一。结合家族信托使用，可构建更完善的传承架构。</a:t>
            </a:r>
          </a:p>
        </p:txBody>
      </p:sp>
      <p:sp>
        <p:nvSpPr>
          <p:cNvPr id="61" name="任意多边形 60">
            <a:extLst xmlns:a="http://schemas.openxmlformats.org/drawingml/2006/main">
              <a:ext uri="{FF2B5EF4-FFF2-40B4-BE49-F238E27FC236}">
                <a16:creationId xmlns:a16="http://schemas.microsoft.com/office/drawing/2014/main" id="{92C94CE1-F8C6-400C-AC65-79AFDBEA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4965" y="5810250"/>
            <a:ext cx="914400" cy="3524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FFFFF">
              <a:alpha val="14118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文本框 61">
            <a:extLst xmlns:a="http://schemas.openxmlformats.org/drawingml/2006/main">
              <a:ext uri="{FF2B5EF4-FFF2-40B4-BE49-F238E27FC236}">
                <a16:creationId xmlns:a16="http://schemas.microsoft.com/office/drawing/2014/main" id="{5D0D8E12-AC8F-4978-9E80-17995ABB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7924" y="5886898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理想工具</a:t>
            </a:r>
          </a:p>
        </p:txBody>
      </p:sp>
    </p:spTree>
    <p:extLst>
      <p:ext uri="{BB962C8B-B14F-4D97-AF65-F5344CB8AC3E}">
        <p14:creationId xmlns:p14="http://schemas.microsoft.com/office/powerpoint/2010/main" val="12313593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任意多边形 2">
            <a:extLst xmlns:a="http://schemas.openxmlformats.org/drawingml/2006/main">
              <a:ext uri="{FF2B5EF4-FFF2-40B4-BE49-F238E27FC236}">
                <a16:creationId xmlns:a16="http://schemas.microsoft.com/office/drawing/2014/main" id="{F8E206EF-067B-474B-9164-0B049DBB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111252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任意多边形 3">
            <a:extLst xmlns:a="http://schemas.openxmlformats.org/drawingml/2006/main">
              <a:ext uri="{FF2B5EF4-FFF2-40B4-BE49-F238E27FC236}">
                <a16:creationId xmlns:a16="http://schemas.microsoft.com/office/drawing/2014/main" id="{F613D77F-C099-47C6-9404-8CB82671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81000"/>
            <a:ext cx="38100" cy="4572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80F8241A-9FAC-470F-AB36-DEF057CE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8"/>
            <a:ext cx="10953750" cy="5000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方案总结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32373FA-F893-49CE-ACC9-632E122D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9300" y="1331576"/>
            <a:ext cx="1980009" cy="8353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</a:pP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3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倍</a:t>
            </a:r>
            <a:r>
              <a:rPr sz="4800" b="1">
                <a:solidFill>
                  <a:srgbClr val="D59134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8CA66BF-CE51-4A07-93B2-44D63B46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909" y="1675428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长期增值</a:t>
            </a:r>
          </a:p>
        </p:txBody>
      </p:sp>
      <p:sp>
        <p:nvSpPr>
          <p:cNvPr id="9" name="任意多边形 8">
            <a:extLst xmlns:a="http://schemas.openxmlformats.org/drawingml/2006/main">
              <a:ext uri="{FF2B5EF4-FFF2-40B4-BE49-F238E27FC236}">
                <a16:creationId xmlns:a16="http://schemas.microsoft.com/office/drawing/2014/main" id="{46C56C62-6F77-4BC1-956D-A0F23BBF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685" y="2284730"/>
            <a:ext cx="139255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5B179D77-9E0A-4BBA-BA5F-C729B6E8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17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第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10</a:t>
            </a: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年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509D2C7E-1233-4E30-BCB8-7BFBF921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321" y="2361228"/>
            <a:ext cx="65015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85%+</a:t>
            </a:r>
          </a:p>
        </p:txBody>
      </p:sp>
      <p:sp>
        <p:nvSpPr>
          <p:cNvPr id="12" name="任意多边形 11">
            <a:extLst xmlns:a="http://schemas.openxmlformats.org/drawingml/2006/main">
              <a:ext uri="{FF2B5EF4-FFF2-40B4-BE49-F238E27FC236}">
                <a16:creationId xmlns:a16="http://schemas.microsoft.com/office/drawing/2014/main" id="{73B0F135-AB7B-4C43-A737-1CE195F8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2740" y="2284730"/>
            <a:ext cx="134429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储蓄险定制输出</a:t>
            </a: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611282F-7BAE-4387-A5E9-343228D7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3529" y="2375516"/>
            <a:ext cx="647405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公司资料 + 官方保单 + 双路径分析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A11D4D21-ECC8-4223-98E2-E27A00A4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34" y="2361228"/>
            <a:ext cx="601866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15" name="任意多边形 14">
            <a:extLst xmlns:a="http://schemas.openxmlformats.org/drawingml/2006/main">
              <a:ext uri="{FF2B5EF4-FFF2-40B4-BE49-F238E27FC236}">
                <a16:creationId xmlns:a16="http://schemas.microsoft.com/office/drawing/2014/main" id="{5BF72C3B-4EF1-4F13-8EDC-767DCFFF0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535" y="2284730"/>
            <a:ext cx="1414145" cy="3810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8ECD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4C3E385-D90E-4317-8EB2-BBCAA619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8539" y="2375516"/>
            <a:ext cx="762076" cy="2000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长期持有</a:t>
            </a:r>
          </a:p>
        </p:txBody>
      </p:sp>
      <p:sp>
        <p:nvSpPr>
          <p:cNvPr id="17" name="文本框 16">
            <a:extLst xmlns:a="http://schemas.openxmlformats.org/drawingml/2006/main">
              <a:ext uri="{FF2B5EF4-FFF2-40B4-BE49-F238E27FC236}">
                <a16:creationId xmlns:a16="http://schemas.microsoft.com/office/drawing/2014/main" id="{A93DEE14-C70C-4348-9D21-2CA47848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6316" y="2361228"/>
            <a:ext cx="556917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倍</a:t>
            </a:r>
            <a:r>
              <a:rPr sz="1350" b="1">
                <a:solidFill>
                  <a:srgbClr val="5A3E0F"/>
                </a:solidFill>
                <a:latin typeface="MiSans"/>
                <a:ea typeface="MiSans"/>
                <a:cs typeface="MiSans"/>
              </a:rPr>
              <a:t>+</a:t>
            </a:r>
          </a:p>
        </p:txBody>
      </p:sp>
      <p:sp>
        <p:nvSpPr>
          <p:cNvPr id="18" name="任意多边形 17">
            <a:extLst xmlns:a="http://schemas.openxmlformats.org/drawingml/2006/main">
              <a:ext uri="{FF2B5EF4-FFF2-40B4-BE49-F238E27FC236}">
                <a16:creationId xmlns:a16="http://schemas.microsoft.com/office/drawing/2014/main" id="{4AE3323D-F623-40CC-9961-776B1C12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945" y="3164840"/>
            <a:ext cx="5400675" cy="330708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客户沟通重点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3F49CC5B-40EA-4AF9-86E5-2841009F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数字可追溯、页面可解释、结构可复用</a:t>
            </a:r>
          </a:p>
        </p:txBody>
      </p:sp>
      <p:sp>
        <p:nvSpPr>
          <p:cNvPr id="20" name="任意多边形 19">
            <a:extLst xmlns:a="http://schemas.openxmlformats.org/drawingml/2006/main">
              <a:ext uri="{FF2B5EF4-FFF2-40B4-BE49-F238E27FC236}">
                <a16:creationId xmlns:a16="http://schemas.microsoft.com/office/drawing/2014/main" id="{27B6E24E-C321-409C-AFE0-9C3B53982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4655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829A5D19-8717-42DF-9380-D0EA0243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63295"/>
            <a:ext cx="3157538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积累期（第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1-10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32C497CC-40FB-49A9-97F2-72F7532D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5708"/>
            <a:ext cx="3328988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稳步积累，第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10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年末达已交保费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85%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以上</a:t>
            </a:r>
          </a:p>
        </p:txBody>
      </p:sp>
      <p:sp>
        <p:nvSpPr>
          <p:cNvPr id="23" name="任意多边形 22">
            <a:extLst xmlns:a="http://schemas.openxmlformats.org/drawingml/2006/main">
              <a:ext uri="{FF2B5EF4-FFF2-40B4-BE49-F238E27FC236}">
                <a16:creationId xmlns:a16="http://schemas.microsoft.com/office/drawing/2014/main" id="{091CA43C-751C-4671-B52C-7C4D7548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68240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03ED074B-5F57-49E0-A792-36BA3F94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5274"/>
            <a:ext cx="2530373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增长期（第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11-25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年）</a:t>
            </a:r>
          </a:p>
        </p:txBody>
      </p:sp>
      <p:sp>
        <p:nvSpPr>
          <p:cNvPr id="25" name="文本框 24">
            <a:extLst xmlns:a="http://schemas.openxmlformats.org/drawingml/2006/main">
              <a:ext uri="{FF2B5EF4-FFF2-40B4-BE49-F238E27FC236}">
                <a16:creationId xmlns:a16="http://schemas.microsoft.com/office/drawing/2014/main" id="{FD89B4B8-0BB5-4CCF-83AE-50575F50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37687"/>
            <a:ext cx="2701833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复利效应显著，第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25</a:t>
            </a: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年末达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2.1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</a:t>
            </a:r>
          </a:p>
        </p:txBody>
      </p:sp>
      <p:sp>
        <p:nvSpPr>
          <p:cNvPr id="26" name="任意多边形 25">
            <a:extLst xmlns:a="http://schemas.openxmlformats.org/drawingml/2006/main">
              <a:ext uri="{FF2B5EF4-FFF2-40B4-BE49-F238E27FC236}">
                <a16:creationId xmlns:a16="http://schemas.microsoft.com/office/drawing/2014/main" id="{F2FFA137-27AF-46B4-B3B7-632ABB20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9056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32273D62-C2AE-41A7-80D9-779E1536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7253"/>
            <a:ext cx="250738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传承期（第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26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年及以后）</a:t>
            </a: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08A5A8DE-874D-430D-92B8-BE773260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9666"/>
            <a:ext cx="267883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持续稳健增长，长期可达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3</a:t>
            </a:r>
            <a:r>
              <a:rPr sz="1350" b="1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倍以上</a:t>
            </a:r>
          </a:p>
        </p:txBody>
      </p:sp>
      <p:sp>
        <p:nvSpPr>
          <p:cNvPr id="29" name="任意多边形 28">
            <a:extLst xmlns:a="http://schemas.openxmlformats.org/drawingml/2006/main">
              <a:ext uri="{FF2B5EF4-FFF2-40B4-BE49-F238E27FC236}">
                <a16:creationId xmlns:a16="http://schemas.microsoft.com/office/drawing/2014/main" id="{1217ABAE-CF42-4F17-8968-62B36406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3164840"/>
            <a:ext cx="5400675" cy="203073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FBF4EA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5ACDF67-610F-400C-8268-00A2EFC7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360391"/>
            <a:ext cx="5010150" cy="3000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后续可按客户目标自动切换教育金/养老金叙事</a:t>
            </a:r>
          </a:p>
        </p:txBody>
      </p:sp>
      <p:sp>
        <p:nvSpPr>
          <p:cNvPr id="31" name="任意多边形 30">
            <a:extLst xmlns:a="http://schemas.openxmlformats.org/drawingml/2006/main">
              <a:ext uri="{FF2B5EF4-FFF2-40B4-BE49-F238E27FC236}">
                <a16:creationId xmlns:a16="http://schemas.microsoft.com/office/drawing/2014/main" id="{B84A16DA-7230-4825-812F-A039FA9E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4558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6FFE59A5-20B7-4FE6-ADE8-76D80248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976983"/>
            <a:ext cx="3048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时间复利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的力量让财富跨越式增长</a:t>
            </a: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6381DCDE-49EF-43E0-BB48-95577036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614545"/>
            <a:ext cx="114300" cy="114300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D5913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1C1D9822-B9ED-49EA-B136-CE6FFD7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45959"/>
            <a:ext cx="2667000" cy="2524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为</a:t>
            </a:r>
            <a:r>
              <a:rPr sz="1500" b="1">
                <a:solidFill>
                  <a:srgbClr val="000000"/>
                </a:solidFill>
                <a:latin typeface="MiSans"/>
                <a:ea typeface="MiSans"/>
                <a:cs typeface="MiSans"/>
              </a:rPr>
              <a:t>家族传承</a:t>
            </a:r>
            <a:r>
              <a:rPr sz="1500">
                <a:solidFill>
                  <a:srgbClr val="4A3828"/>
                </a:solidFill>
                <a:latin typeface="MiSans"/>
                <a:ea typeface="MiSans"/>
                <a:cs typeface="MiSans"/>
              </a:rPr>
              <a:t>奠定坚实物质基础</a:t>
            </a:r>
          </a:p>
        </p:txBody>
      </p:sp>
      <p:sp>
        <p:nvSpPr>
          <p:cNvPr id="35" name="任意多边形 34">
            <a:extLst xmlns:a="http://schemas.openxmlformats.org/drawingml/2006/main">
              <a:ext uri="{FF2B5EF4-FFF2-40B4-BE49-F238E27FC236}">
                <a16:creationId xmlns:a16="http://schemas.microsoft.com/office/drawing/2014/main" id="{70B6307E-8D7A-4B15-9105-07448F2C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4745" y="5395595"/>
            <a:ext cx="5400675" cy="1076325"/>
          </a:xfrm>
          <a:custGeom xmlns:a="http://schemas.openxmlformats.org/drawingml/2006/main">
            <a:pathLst>
              <a:path w="0" h="0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lnTo>
                  <a:pt x="0" y="0"/>
                </a:lnTo>
                <a:cubicBezTo>
                  <a:pt x="0" y="0"/>
                  <a:pt x="0" y="0"/>
                  <a:pt x="0" y="0"/>
                </a:cubicBezTo>
                <a:close/>
              </a:path>
            </a:pathLst>
          </a:custGeom>
          <a:solidFill xmlns:a="http://schemas.openxmlformats.org/drawingml/2006/main">
            <a:srgbClr val="EAB871"/>
          </a:solidFill>
          <a:ln xmlns:a="http://schemas.openxmlformats.org/drawingml/2006/main" w="9525" cmpd="sng">
            <a:solidFill>
              <a:srgbClr val="EFE4D8"/>
            </a:solidFill>
            <a:prstDash val="solid"/>
          </a:ln>
          <a:effectLst xmlns:a="http://schemas.openxmlformats.org/drawingml/2006/main">
            <a:outerShdw blurRad="85725" dist="19050" dir="5399999" algn="ctr" rotWithShape="0">
              <a:srgbClr val="50371E">
                <a:alpha val="7843"/>
              </a:srgb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01C73569-A29F-40CD-9DD9-0D3F15C3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459" y="5576888"/>
            <a:ext cx="4839891" cy="7096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时间复利的力量让您的财富在稳健中实现跨越式增长，为家族传承奠定坚实的物质基础。</a:t>
            </a:r>
            <a:r>
              <a:rPr sz="1500" i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474620713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2026-06-08T09:34:21.5260000Z</dcterms:created>
  <dcterms:modified xsi:type="dcterms:W3CDTF">2026-06-08T09:34:21.5260000Z</dcterms:modified>
</coreProperties>
</file>