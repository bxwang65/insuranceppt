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41897cfe8c482b" /><Relationship Type="http://schemas.openxmlformats.org/officeDocument/2006/relationships/extended-properties" Target="/docProps/app.xml" Id="R95ada6e04fdd45d5" /><Relationship Type="http://schemas.openxmlformats.org/officeDocument/2006/relationships/officeDocument" Target="/ppt/presentation.xml" Id="R9d4757ddadac4b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0fb7097b524a72"/>
    <p:sldMasterId xmlns:r="http://schemas.openxmlformats.org/officeDocument/2006/relationships" id="2147483659" r:id="Ra698aa6c6c3347d4"/>
  </p:sldMasterIdLst>
  <p:notesMasterIdLst>
    <p:notesMasterId xmlns:r="http://schemas.openxmlformats.org/officeDocument/2006/relationships" r:id="R6cec6e91b8774ff2"/>
  </p:notesMasterIdLst>
  <p:sldIdLst>
    <p:sldId xmlns:r="http://schemas.openxmlformats.org/officeDocument/2006/relationships" id="256" r:id="R3a5c7d52e1fa4eed"/>
    <p:sldId xmlns:r="http://schemas.openxmlformats.org/officeDocument/2006/relationships" id="257" r:id="Rdfde6445db8b47f8"/>
    <p:sldId xmlns:r="http://schemas.openxmlformats.org/officeDocument/2006/relationships" id="258" r:id="Rc68e856dd4c94430"/>
    <p:sldId xmlns:r="http://schemas.openxmlformats.org/officeDocument/2006/relationships" id="259" r:id="R1e22e13fec4b4cb2"/>
    <p:sldId xmlns:r="http://schemas.openxmlformats.org/officeDocument/2006/relationships" id="260" r:id="R9bd2dedcee9f4663"/>
    <p:sldId xmlns:r="http://schemas.openxmlformats.org/officeDocument/2006/relationships" id="261" r:id="R9ace666f7a4345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b539d0df9e44be" /><Relationship Type="http://schemas.openxmlformats.org/officeDocument/2006/relationships/slideMaster" Target="/ppt/slideMasters/slideMaster1.xml" Id="R180fb7097b524a72" /><Relationship Type="http://schemas.openxmlformats.org/officeDocument/2006/relationships/slideMaster" Target="/ppt/slideMasters/slideMaster2.xml" Id="Ra698aa6c6c3347d4" /><Relationship Type="http://schemas.openxmlformats.org/officeDocument/2006/relationships/notesMaster" Target="/ppt/notesMasters/notesMaster1.xml" Id="R6cec6e91b8774ff2" /><Relationship Type="http://schemas.openxmlformats.org/officeDocument/2006/relationships/presProps" Target="/ppt/presProps.xml" Id="R9d44f2d914884059" /><Relationship Type="http://schemas.openxmlformats.org/officeDocument/2006/relationships/viewProps" Target="/ppt/viewProps.xml" Id="R187039b8413d4581" /><Relationship Type="http://schemas.openxmlformats.org/officeDocument/2006/relationships/tableStyles" Target="/ppt/tableStyles.xml" Id="R4b4a5b1721f04c18" /><Relationship Type="http://schemas.openxmlformats.org/officeDocument/2006/relationships/slide" Target="/ppt/slides/slide1.xml" Id="R3a5c7d52e1fa4eed" /><Relationship Type="http://schemas.openxmlformats.org/officeDocument/2006/relationships/slide" Target="/ppt/slides/slide2.xml" Id="Rdfde6445db8b47f8" /><Relationship Type="http://schemas.openxmlformats.org/officeDocument/2006/relationships/slide" Target="/ppt/slides/slide3.xml" Id="Rc68e856dd4c94430" /><Relationship Type="http://schemas.openxmlformats.org/officeDocument/2006/relationships/slide" Target="/ppt/slides/slide4.xml" Id="R1e22e13fec4b4cb2" /><Relationship Type="http://schemas.openxmlformats.org/officeDocument/2006/relationships/slide" Target="/ppt/slides/slide5.xml" Id="R9bd2dedcee9f4663" /><Relationship Type="http://schemas.openxmlformats.org/officeDocument/2006/relationships/slide" Target="/ppt/slides/slide6.xml" Id="R9ace666f7a4345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f5b1d2592bd14b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8598ad92e54ae6" /><Relationship Type="http://schemas.openxmlformats.org/officeDocument/2006/relationships/notesMaster" Target="/ppt/notesMasters/notesMaster1.xml" Id="R87b4aea3588f4a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5dd611f30e4834" /><Relationship Type="http://schemas.openxmlformats.org/officeDocument/2006/relationships/notesMaster" Target="/ppt/notesMasters/notesMaster1.xml" Id="R28012d50d75e4d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072652bc2b48bf" /><Relationship Type="http://schemas.openxmlformats.org/officeDocument/2006/relationships/notesMaster" Target="/ppt/notesMasters/notesMaster1.xml" Id="R7d5d21c94cf740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587a5109f54f9a" /><Relationship Type="http://schemas.openxmlformats.org/officeDocument/2006/relationships/notesMaster" Target="/ppt/notesMasters/notesMaster1.xml" Id="Rf8bc8bf1069244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70bbd41b4c4c6b" /><Relationship Type="http://schemas.openxmlformats.org/officeDocument/2006/relationships/notesMaster" Target="/ppt/notesMasters/notesMaster1.xml" Id="R1d8ea46d69404c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b521fca3db4ec9" /><Relationship Type="http://schemas.openxmlformats.org/officeDocument/2006/relationships/notesMaster" Target="/ppt/notesMasters/notesMaster1.xml" Id="R828145c7a961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4a4f376f84e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9db6107ad49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c9b288c83c40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89373c4a04a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c8158b5f941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1b6b43ef44488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3be7c0a3ce42a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d734a140c47a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5aafcc6524f0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1042e6cb0b409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421566d2d7e4c9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39824664fcb43f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ed62a072474d0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9a2620d3d9495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4dd8dddea34c6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bc0feeff7d47d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c8d15df09d4d7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cf34bc4ca94c3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d50d906b074aea" /><Relationship Type="http://schemas.openxmlformats.org/officeDocument/2006/relationships/image" Target="/ppt/media/image.png" Id="R97b551fd390d48a4" /><Relationship Type="http://schemas.openxmlformats.org/officeDocument/2006/relationships/image" Target="/ppt/media/image2.png" Id="R42e843efa4cf44f0" /><Relationship Type="http://schemas.openxmlformats.org/officeDocument/2006/relationships/image" Target="/ppt/media/image.svg" Id="Rd49fb398982e4b4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0c646907f246f9" /><Relationship Type="http://schemas.openxmlformats.org/officeDocument/2006/relationships/image" Target="/ppt/media/image.png" Id="R08da21c50a9e4c1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56a58474174e29" /><Relationship Type="http://schemas.openxmlformats.org/officeDocument/2006/relationships/image" Target="/ppt/media/image.png" Id="R2f6e19dc7d0948a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4034960d154ba6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B17CE19-80D5-46C7-858A-2D7308D6CEA4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68DD482-4FBE-44CA-BB78-FCA00A16BB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4D6E1DE-F39E-4230-A5D4-FFC4307A18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5843E9A-A056-4A6E-9BF9-531D64FC0F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5621373-3175-472D-A7E1-0BD16FAD284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ADE9FE0-78AE-4AAF-96B6-FD8DF294FC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C8E7E99-DEB8-4F56-96E8-7735736B7D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883A9F6-1323-4908-946A-B50E0CC3D1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80D4352-0E50-4A7A-AFC3-1D18196C74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CE8B73-FB3E-4130-9440-4B53563361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4647B74-BCA1-43E7-ABB5-AB3790E4F1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73C4131-1079-4823-A5F0-EF932B3957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F087491-CA3B-4D6B-BF27-854A15514B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C9A9F7A-FFFB-4FA9-AB1F-367DF3F28F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B26A70F-CDC1-4458-B2B0-57978FE43C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734678E-F6CD-4935-A7FA-5906F230B3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7742BBE-DDA7-49A4-B622-D41B05FE50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16A1AA0-C144-44B5-9DA9-1D9175CC4FA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5D2EF6-3DCB-4AA7-8079-C43F4E0310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44F9721-2B9D-4BC6-BB2A-945505068B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7CE6BA5-C682-4EF4-BFE3-B420AEBBC9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A8F31EF-B583-4A3B-A198-DA49BC1651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6C199D1-02C9-4358-9181-1229177D49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892434F-3A01-4C47-A9C2-5A55C4B39F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AC1FFB0-8633-4D0D-88DA-4AAF36783C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8BBF1C5-FF37-4F56-A21A-1C3CE6E9DA9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CC86B0B-8B16-4558-B8B5-477ECB37AE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0B275628-558B-45ED-90B1-F72EE9BC6B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04581D4-BC18-4287-B90E-DDC58927DC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E1128AB-49B9-4CFF-830D-7A0DCCD0D5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6F02B1-201C-45B8-BB13-C63A479D51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B332E1D-A8B3-4FEB-B96B-CD14CD9B7E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0D88479-D0CA-4C14-ADDF-44BDF1FDEE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70F6E53-2055-4D3C-A22F-32CABAF7CD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EB2DCDD6-0F2D-4F76-A270-1CA986943A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E3701C4-D387-4D62-BBB7-3AECF4326F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CF4322-3FB2-4649-92E4-7381B99C527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96E7E99-466C-4CDC-AD1C-314FC572B6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EC64DFF-8E80-4190-AAC7-77D175F8D2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FF0B719-7638-4631-9434-E7FFA911E5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6A1364E-EB03-48BB-BF13-246F1C8C3F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48286ED-553F-45E9-AD84-BB66DB028C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777FB4BF-5EA9-487E-A071-21D172A1B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561FE3D-50B5-437D-AC68-450A146B45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055535D-5B9A-4BAB-BEFB-F2D62DC11E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67CECEA-3FD3-49DA-8F47-0396413D42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6FD11CF-011E-43ED-B7C0-2D6652EF77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584EB72-440C-4C97-91B6-6127992893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259DBDE-6242-46C0-AC1B-600D8B1142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049E140-A652-48A9-ADCE-EC287F5871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5C7D9998-01E7-4B1F-A72D-2883423455A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93027314-3B27-4D40-AED0-96FC0C9A73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6716BB3-690C-4E40-840E-483DDBDA88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D39EDA5-1885-4A81-B041-7B43DC2091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94EBCA4-25EF-4FAD-A9D0-B5AB6BBDBA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0497B5-5B64-4839-A4DB-A970A72614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type="blank" preserve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A1FAA59D-32B8-4D49-9641-1CE5DD64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85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D82667E0-A900-4E50-B00D-63E87E29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0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CA027BA4-34AE-4628-A87A-F143D733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655" y="6456309"/>
            <a:ext cx="850846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9E6712F2-B32F-4DEA-8ED0-35AECBA6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B891EBEB-12DD-49E9-B30B-3C0054F5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椭圆 37">
            <a:extLst xmlns:a="http://schemas.openxmlformats.org/drawingml/2006/main">
              <a:ext uri="{FF2B5EF4-FFF2-40B4-BE49-F238E27FC236}">
                <a16:creationId xmlns:a16="http://schemas.microsoft.com/office/drawing/2014/main" id="{3F5B02F4-6705-4F80-9CFE-5E5A6D6D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C9006D37-E826-45E7-8085-54438A0B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385BDF73-09B5-4002-9919-FE9EF010ED9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107123" y="811262"/>
            <a:ext cx="1977755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buNone/>
              <a:defRPr sz="6000" b="1" i="0" u="none" cap="none" spc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3499ECA-8341-48F8-A93A-CDBE64C67A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F308E5E-A237-4076-9BDC-CB90880122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2D64F77-9E53-400A-84F0-46C8D979A3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4644965-3570-4249-8529-D7B2ED09C05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9C5FF31-EFE3-49FB-AC1A-E4CEA89D977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EC8FF6E-5C50-4F8D-B024-34EB49944D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9BC474B-5087-4435-BA59-54DD6626E8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32963FB-365B-40A3-8F83-3E482B37F4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7F8D7B25-69F8-4E9A-BF25-16D540DD26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DC17DA6-4462-493E-9E40-07937E04FF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9C73DE5-9B3C-4A3E-BA80-834E2AECA9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B704698-5530-420D-8AC6-22309F38FF8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1D6A204-3182-4AD8-B739-E3A442A5695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F1AED1E-B7C2-4C46-9A79-B9BFDBB0FC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CCE227E-E69F-4CDA-A9C1-97B10FE765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F3736B0-0977-4045-8216-C20D761497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096A7662-6599-4DAF-8731-EA5A98444C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2C386D1-B437-4A05-9B46-228925AC91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3CABC42-9AB5-4192-B045-1ABF470683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D5B3FDF-84D1-4932-BD5A-2F3415FCC7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F1A871C1-5792-42F9-811F-4B7C5C3184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9679EBF-6931-4827-9A59-B2C0D2E584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262E64E8-5F7B-43E1-9CCD-4D8A47CC36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F8E6A23-F05B-477F-B7F3-EC36AC3029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BE6375E-81EF-4BC6-948D-BE2F3221AD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AA84286-71A5-4E6F-BA20-3428A04DE3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A300BF-86FF-4DD9-903D-1E385F4346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609DC6B-AF8C-45DD-838D-2EFB0301BA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1E42234-395B-47CB-B24A-D7099E4F49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299A9B5-3B29-498B-BDC8-C49B7562B9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72007F2-A73E-41D8-84D1-E798DEAC8F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4E5E9D6-53F2-41DE-AB3A-64C8E181034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单击此处编辑副标题</a:t>
            </a: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254AAACD-8750-4F40-BC91-6CCCC5F72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D47301CA-8A5A-411F-8643-1A080E94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-15875"/>
            <a:ext cx="1786890" cy="2779395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416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C4790997-7B8F-432E-9D75-6C33D805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5119D497-3231-4CC4-8AA4-60B9D01D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6" name="图片 6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7b551fd390d48a4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46" name="日期">
            <a:extLst xmlns:a="http://schemas.openxmlformats.org/drawingml/2006/main">
              <a:ext uri="{FF2B5EF4-FFF2-40B4-BE49-F238E27FC236}">
                <a16:creationId xmlns:a16="http://schemas.microsoft.com/office/drawing/2014/main" id="{D3C94835-2303-43CF-AC70-0217BCDFE946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2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20XX YEAR</a:t>
            </a:r>
          </a:p>
        </p:txBody>
      </p:sp>
      <p:sp>
        <p:nvSpPr>
          <p:cNvPr id="45" name="标题 44">
            <a:extLst xmlns:a="http://schemas.openxmlformats.org/drawingml/2006/main">
              <a:ext uri="{FF2B5EF4-FFF2-40B4-BE49-F238E27FC236}">
                <a16:creationId xmlns:a16="http://schemas.microsoft.com/office/drawing/2014/main" id="{7DFE5DAE-A911-4237-8FBE-6A69908A8246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商务风融资计划</a:t>
            </a:r>
            <a:br/>
            <a:r>
              <a:t>通用模板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36465BD7-ABB5-467F-ACF3-043355F6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265" y="5255260"/>
            <a:ext cx="1241425" cy="5334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47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ED656D69-5590-4FAB-BBB2-00813A255301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1016000" y="5255239"/>
            <a:ext cx="2540882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bg2"/>
            </a:solidFill>
          </a:ln>
          <a:effectLst xmlns:a="http://schemas.openxmlformats.org/drawingml/2006/main">
            <a:outerShdw blurRad="444500" dist="152400" dir="5520000" sx="104000" sy="104000" algn="tl" rotWithShape="0">
              <a:schemeClr val="accent2">
                <a:alpha val="21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u="none" cap="none" spc="0">
                <a:solidFill>
                  <a:srgbClr val="031A2F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  <p:pic>
        <p:nvPicPr>
          <p:cNvPr id="71" name="图形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843efa4cf44f0">
            <a:extLst>
              <a:ext uri="{96DAC541-7B7A-43D3-8B79-37D633B846F1}">
                <asvg:svgBlip xmlns:asvg="http://schemas.microsoft.com/office/drawing/2016/SVG/main" r:embed="Rd49fb398982e4b4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700000">
            <a:off x="3764071" y="5443856"/>
            <a:ext cx="162734" cy="162734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A35C23E-5F65-4A3A-9BFD-F99B4BFC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DEB1C632-4462-489D-830D-7D022D19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135B59A-C82F-475D-9E2C-1E4A3054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BCF2D22B-F8D3-422F-A137-BF702205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40F518D3-3246-4221-A71E-D5C3D2FA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85123189-A55E-4D81-9512-88A0915B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DCD832A9-B586-487B-9C35-EC9119CC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D5921138-D736-4D3A-B7A6-79CA0167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BC051323-73ED-4BC4-8D79-DE25872E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CD1EEF1B-A010-4807-9DA9-15D3829D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8733733" y="0"/>
            <a:ext cx="5055397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9E530096-E40F-4F0C-8B2A-68E0AC26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9394418" y="0"/>
            <a:ext cx="6117129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da21c50a9e4c12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794006" y="908050"/>
            <a:ext cx="6717541" cy="5949950"/>
          </a:xfrm>
          <a:prstGeom xmlns:a="http://schemas.openxmlformats.org/drawingml/2006/main" prst="rect">
            <a:avLst/>
          </a:prstGeom>
        </p:spPr>
      </p:pic>
      <p:sp>
        <p:nvSpPr>
          <p:cNvPr id="6" name="标题 2">
            <a:extLst xmlns:a="http://schemas.openxmlformats.org/drawingml/2006/main">
              <a:ext uri="{FF2B5EF4-FFF2-40B4-BE49-F238E27FC236}">
                <a16:creationId xmlns:a16="http://schemas.microsoft.com/office/drawing/2014/main" id="{22EAF0C1-D605-4EE9-ACC9-532FDC7A0266}"/>
              </a:ext>
            </a:extLst>
          </p:cNvPr>
          <p:cNvSpPr>
            <a:spLocks xmlns:a="http://schemas.openxmlformats.org/drawingml/2006/main" noGrp="1"/>
          </p:cNvSpPr>
          <p:nvPr>
            <p:ph type="title" idx="16385" hasCustomPrompt="1"/>
          </p:nvPr>
        </p:nvSpPr>
        <p:spPr>
          <a:xfrm xmlns:a="http://schemas.openxmlformats.org/drawingml/2006/main">
            <a:off x="5696585" y="2983865"/>
            <a:ext cx="5479415" cy="1524000"/>
          </a:xfr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2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r>
              <a:t>单击此处添加章节</a:t>
            </a:r>
          </a:p>
        </p:txBody>
      </p:sp>
      <p:sp>
        <p:nvSpPr>
          <p:cNvPr id="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C315BAD-D08D-4E53-8736-224D8E8F332A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9648825" y="135826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0" spc="0">
                <a:solidFill>
                  <a:schemeClr val="accent2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CE597F7-7518-4620-8E16-22E63F4B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5FD2F6E6-7814-4320-BCE0-00E6E583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46416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6A481C9F-3EEB-4F95-B1B2-9582906E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E8A04FCD-1211-4FF9-B522-C5EEC361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图片 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6e19dc7d0948ae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8" name="Subtitle 7">
            <a:extLst xmlns:a="http://schemas.openxmlformats.org/drawingml/2006/main">
              <a:ext uri="{FF2B5EF4-FFF2-40B4-BE49-F238E27FC236}">
                <a16:creationId xmlns:a16="http://schemas.microsoft.com/office/drawing/2014/main" id="{4D9B2156-21F1-4252-AABF-460BB26468C4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2667000"/>
            <a:ext cx="54493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4D6BB133-86AD-4641-8C73-0F3DF65D98F1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2299A5E-A8ED-41AC-8A25-F43F349E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24C32745-EC19-4D20-90E1-FC117DEA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0F17DA8C-5653-4F7B-9624-F9ED1F1E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DA0F8738-D3B0-48E9-9BDD-E0651004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251113B4-765A-400D-AA8E-81B6D96D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361A2132-B651-4457-8D32-D0BCBE5A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8BE1A04-67C9-4C77-87BB-B0F6FAA575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6AAF4E5-61F9-472A-BE55-6EC199F264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EAD74DE-DA45-452B-A9C8-C2531AB471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Subtitle 9">
            <a:extLst xmlns:a="http://schemas.openxmlformats.org/drawingml/2006/main">
              <a:ext uri="{FF2B5EF4-FFF2-40B4-BE49-F238E27FC236}">
                <a16:creationId xmlns:a16="http://schemas.microsoft.com/office/drawing/2014/main" id="{86DA1A2E-DB6E-4FCF-86CD-0093F7A7E073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F5233145-66C6-40A0-B68A-0EAB5BB56EBE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A3347339-332E-4C7C-AA08-DFA8D73B0C2D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4E401339-C04B-4C09-A3EC-A8CE7F5889DF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E43D111E-ED7F-42F3-9106-CA3162B7138A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AD41C65C-3B0E-46B5-8C13-D04178BB3B63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837C5F4B-C581-4A55-B58F-3FD863F20ACD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501CFCA8-B50E-40F6-9A48-97AF3B9B1DA7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F19DBEEF-A589-4F06-84C7-08FDBB656F4C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52D35103-667E-4F1E-9097-B879D4EF0659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5BA33765-CC38-405A-B879-4FFF29124167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008BC23B-3E99-4EAA-8376-FD8F8ABF9B8B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4C28F829-29ED-42FC-A968-C5A2C738B877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0DFA5A07-1154-4535-93D9-423F86B3DF1E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990b3ad6b3464a" /><Relationship Type="http://schemas.openxmlformats.org/officeDocument/2006/relationships/slideLayout" Target="/ppt/slideLayouts/slideLayout1.xml" Id="Raef12c42dcda4864" /><Relationship Type="http://schemas.openxmlformats.org/officeDocument/2006/relationships/slideLayout" Target="/ppt/slideLayouts/slideLayout2.xml" Id="Rf4ebfd768bdd4ad8" /><Relationship Type="http://schemas.openxmlformats.org/officeDocument/2006/relationships/slideLayout" Target="/ppt/slideLayouts/slideLayout3.xml" Id="Rde2e2817f4e34869" /><Relationship Type="http://schemas.openxmlformats.org/officeDocument/2006/relationships/slideLayout" Target="/ppt/slideLayouts/slideLayout4.xml" Id="R087df42f17fa4329" /><Relationship Type="http://schemas.openxmlformats.org/officeDocument/2006/relationships/slideLayout" Target="/ppt/slideLayouts/slideLayout5.xml" Id="R6eb3e9a43a8c4a17" /><Relationship Type="http://schemas.openxmlformats.org/officeDocument/2006/relationships/slideLayout" Target="/ppt/slideLayouts/slideLayout6.xml" Id="R11834e2793b54087" /><Relationship Type="http://schemas.openxmlformats.org/officeDocument/2006/relationships/slideLayout" Target="/ppt/slideLayouts/slideLayout7.xml" Id="Ra74f549b0f2045f3" /><Relationship Type="http://schemas.openxmlformats.org/officeDocument/2006/relationships/slideLayout" Target="/ppt/slideLayouts/slideLayout8.xml" Id="Re19d9a187be3495c" /><Relationship Type="http://schemas.openxmlformats.org/officeDocument/2006/relationships/slideLayout" Target="/ppt/slideLayouts/slideLayout9.xml" Id="Rc1cceb18f3424436" /><Relationship Type="http://schemas.openxmlformats.org/officeDocument/2006/relationships/slideLayout" Target="/ppt/slideLayouts/slideLayout10.xml" Id="Rde2c9efe45ec407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ccd337b325e42a1" /><Relationship Type="http://schemas.openxmlformats.org/officeDocument/2006/relationships/slideLayout" Target="/ppt/slideLayouts/slideLayout11.xml" Id="R8ed8440b5cf34075" /><Relationship Type="http://schemas.openxmlformats.org/officeDocument/2006/relationships/slideLayout" Target="/ppt/slideLayouts/slideLayout12.xml" Id="R79043582a4f74049" /><Relationship Type="http://schemas.openxmlformats.org/officeDocument/2006/relationships/slideLayout" Target="/ppt/slideLayouts/slideLayout13.xml" Id="R8c0f24e1348d43b2" /><Relationship Type="http://schemas.openxmlformats.org/officeDocument/2006/relationships/slideLayout" Target="/ppt/slideLayouts/slideLayout14.xml" Id="R3a7b8aaf84db4109" /><Relationship Type="http://schemas.openxmlformats.org/officeDocument/2006/relationships/slideLayout" Target="/ppt/slideLayouts/slideLayout15.xml" Id="R489d4ddbe0594930" /><Relationship Type="http://schemas.openxmlformats.org/officeDocument/2006/relationships/slideLayout" Target="/ppt/slideLayouts/slideLayout16.xml" Id="Rf8e37bb5352340bd" /><Relationship Type="http://schemas.openxmlformats.org/officeDocument/2006/relationships/slideLayout" Target="/ppt/slideLayouts/slideLayout17.xml" Id="Rcc6ed5c9c366462f" /><Relationship Type="http://schemas.openxmlformats.org/officeDocument/2006/relationships/slideLayout" Target="/ppt/slideLayouts/slideLayout18.xml" Id="R38cb9f0657134f23" /><Relationship Type="http://schemas.openxmlformats.org/officeDocument/2006/relationships/slideLayout" Target="/ppt/slideLayouts/slideLayout19.xml" Id="R0b31eee2af934fca" /><Relationship Type="http://schemas.openxmlformats.org/officeDocument/2006/relationships/slideLayout" Target="/ppt/slideLayouts/slideLayout20.xml" Id="Rce41da2a087641e1" /><Relationship Type="http://schemas.openxmlformats.org/officeDocument/2006/relationships/slideLayout" Target="/ppt/slideLayouts/slideLayout21.xml" Id="Rae05f236d2264766" /><Relationship Type="http://schemas.openxmlformats.org/officeDocument/2006/relationships/slideLayout" Target="/ppt/slideLayouts/slideLayout22.xml" Id="Rd2365aa6a170491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EEA2D9F-BABC-4132-A8CE-777D88ACBA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0AA2FD1-C276-4289-86AE-FC2054B2D2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7E7E03B-E4B4-4CBE-896A-203FEFA9097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9DEF269-0C41-42A1-B877-8A747B638A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FC14F91-C17B-4DE9-B82C-916383D47A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f12c42dcda4864"/>
    <p:sldLayoutId xmlns:r="http://schemas.openxmlformats.org/officeDocument/2006/relationships" id="2147483650" r:id="Rf4ebfd768bdd4ad8"/>
    <p:sldLayoutId xmlns:r="http://schemas.openxmlformats.org/officeDocument/2006/relationships" id="2147483651" r:id="Rde2e2817f4e34869"/>
    <p:sldLayoutId xmlns:r="http://schemas.openxmlformats.org/officeDocument/2006/relationships" id="2147483652" r:id="R087df42f17fa4329"/>
    <p:sldLayoutId xmlns:r="http://schemas.openxmlformats.org/officeDocument/2006/relationships" id="2147483653" r:id="R6eb3e9a43a8c4a17"/>
    <p:sldLayoutId xmlns:r="http://schemas.openxmlformats.org/officeDocument/2006/relationships" id="2147483654" r:id="R11834e2793b54087"/>
    <p:sldLayoutId xmlns:r="http://schemas.openxmlformats.org/officeDocument/2006/relationships" id="2147483655" r:id="Ra74f549b0f2045f3"/>
    <p:sldLayoutId xmlns:r="http://schemas.openxmlformats.org/officeDocument/2006/relationships" id="2147483656" r:id="Re19d9a187be3495c"/>
    <p:sldLayoutId xmlns:r="http://schemas.openxmlformats.org/officeDocument/2006/relationships" id="2147483657" r:id="Rc1cceb18f3424436"/>
    <p:sldLayoutId xmlns:r="http://schemas.openxmlformats.org/officeDocument/2006/relationships" id="2147483658" r:id="Rde2c9efe45ec40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F9131C0D-88B2-46F1-B016-24D34FCC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91255" cy="3428365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5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D0CAFD65-E31C-4B5F-A0EE-32EE3356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60158-0921-4C76-AD2E-F68940A2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8755"/>
            <a:ext cx="12192635" cy="30924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98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9D670E8-5C63-48F5-8900-BE3BD3AB35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1581D16-3FD5-4545-BE08-B28D8750E7B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BBB32A0-DD99-4069-9ED7-7A84379B039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23A445F-30EA-45B4-A1B5-6D74E6D8F8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C81A876-F063-4068-B2E5-CD0317D53D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C9A877C5-F376-4590-AEE9-581E5129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8ed8440b5cf34075"/>
    <p:sldLayoutId xmlns:r="http://schemas.openxmlformats.org/officeDocument/2006/relationships" id="2147483661" r:id="R79043582a4f74049"/>
    <p:sldLayoutId xmlns:r="http://schemas.openxmlformats.org/officeDocument/2006/relationships" id="2147483662" r:id="R8c0f24e1348d43b2"/>
    <p:sldLayoutId xmlns:r="http://schemas.openxmlformats.org/officeDocument/2006/relationships" id="2147483663" r:id="R3a7b8aaf84db4109"/>
    <p:sldLayoutId xmlns:r="http://schemas.openxmlformats.org/officeDocument/2006/relationships" id="2147483664" r:id="R489d4ddbe0594930"/>
    <p:sldLayoutId xmlns:r="http://schemas.openxmlformats.org/officeDocument/2006/relationships" id="2147483665" r:id="Rf8e37bb5352340bd"/>
    <p:sldLayoutId xmlns:r="http://schemas.openxmlformats.org/officeDocument/2006/relationships" id="2147483666" r:id="Rcc6ed5c9c366462f"/>
    <p:sldLayoutId xmlns:r="http://schemas.openxmlformats.org/officeDocument/2006/relationships" id="2147483667" r:id="R38cb9f0657134f23"/>
    <p:sldLayoutId xmlns:r="http://schemas.openxmlformats.org/officeDocument/2006/relationships" id="2147483668" r:id="R0b31eee2af934fca"/>
    <p:sldLayoutId xmlns:r="http://schemas.openxmlformats.org/officeDocument/2006/relationships" id="2147483669" r:id="Rce41da2a087641e1"/>
    <p:sldLayoutId xmlns:r="http://schemas.openxmlformats.org/officeDocument/2006/relationships" id="2147483670" r:id="Rae05f236d2264766"/>
    <p:sldLayoutId xmlns:r="http://schemas.openxmlformats.org/officeDocument/2006/relationships" id="2147483671" r:id="Rd2365aa6a17049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200" b="1" i="0" u="none" spc="0">
          <a:solidFill>
            <a:schemeClr val="accent1">
              <a:lumMod val="7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0" algn="l">
        <a:lnSpc>
          <a:spcPct val="130000"/>
        </a:lnSpc>
        <a:spcBef>
          <a:spcPts val="1000"/>
        </a:spcBef>
        <a:buChar char="•"/>
        <a:defRPr sz="2400" spc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0" algn="l">
        <a:lnSpc>
          <a:spcPct val="130000"/>
        </a:lnSpc>
        <a:spcBef>
          <a:spcPts val="500"/>
        </a:spcBef>
        <a:buChar char="•"/>
        <a:defRPr sz="2000" spc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">
  <a:themeElements>
    <a:clrScheme name="自定义 399">
      <a:dk1>
        <a:srgbClr val="000000"/>
      </a:dk1>
      <a:lt1>
        <a:srgbClr val="FFFFFF"/>
      </a:lt1>
      <a:dk2>
        <a:srgbClr val="412B1D"/>
      </a:dk2>
      <a:lt2>
        <a:srgbClr val="FBF4EA"/>
      </a:lt2>
      <a:accent1>
        <a:srgbClr val="D59134"/>
      </a:accent1>
      <a:accent2>
        <a:srgbClr val="C46E34"/>
      </a:accent2>
      <a:accent3>
        <a:srgbClr val="DA6904"/>
      </a:accent3>
      <a:accent4>
        <a:srgbClr val="5B9BD5"/>
      </a:accent4>
      <a:accent5>
        <a:srgbClr val="327EC3"/>
      </a:accent5>
      <a:accent6>
        <a:srgbClr val="0563C1"/>
      </a:accent6>
      <a:hlink>
        <a:srgbClr val="C87A5C"/>
      </a:hlink>
      <a:folHlink>
        <a:srgbClr val="954F72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自定义 399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cc21dacd3c14d3c" /><Relationship Type="http://schemas.openxmlformats.org/officeDocument/2006/relationships/image" Target="/ppt/media/image3.png" Id="Rb0901f1e4ba34b11" /><Relationship Type="http://schemas.openxmlformats.org/officeDocument/2006/relationships/image" Target="/ppt/media/image2.svg" Id="R7a4f18a2cd6d456f" /><Relationship Type="http://schemas.openxmlformats.org/officeDocument/2006/relationships/image" Target="/ppt/media/image4.png" Id="R2dd1014c511e405b" /><Relationship Type="http://schemas.openxmlformats.org/officeDocument/2006/relationships/image" Target="/ppt/media/image3.svg" Id="Rd287c2697a7047f0" /><Relationship Type="http://schemas.openxmlformats.org/officeDocument/2006/relationships/image" Target="/ppt/media/image5.png" Id="R9e0504284ee84814" /><Relationship Type="http://schemas.openxmlformats.org/officeDocument/2006/relationships/image" Target="/ppt/media/image4.svg" Id="Re331c9e4e38b4396" /><Relationship Type="http://schemas.openxmlformats.org/officeDocument/2006/relationships/image" Target="/ppt/media/image6.png" Id="R6d4c8f4bfb4b4ace" /><Relationship Type="http://schemas.openxmlformats.org/officeDocument/2006/relationships/image" Target="/ppt/media/image5.svg" Id="R2fd69425600d443e" /><Relationship Type="http://schemas.openxmlformats.org/officeDocument/2006/relationships/image" Target="/ppt/media/image7.png" Id="R345aa76aa9b343d8" /><Relationship Type="http://schemas.openxmlformats.org/officeDocument/2006/relationships/image" Target="/ppt/media/image6.svg" Id="R1293d26b4c8442ee" /><Relationship Type="http://schemas.openxmlformats.org/officeDocument/2006/relationships/image" Target="/ppt/media/image8.png" Id="Rfaa253ca7ed14db9" /><Relationship Type="http://schemas.openxmlformats.org/officeDocument/2006/relationships/image" Target="/ppt/media/image7.svg" Id="R10ca38cd4a1a432a" /><Relationship Type="http://schemas.openxmlformats.org/officeDocument/2006/relationships/notesSlide" Target="/ppt/notesSlides/notesSlide1.xml" Id="R170a21b421354d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973568a0e3c04132" /><Relationship Type="http://schemas.openxmlformats.org/officeDocument/2006/relationships/image" Target="/ppt/media/image9.png" Id="R4743aa25fc9e49c5" /><Relationship Type="http://schemas.openxmlformats.org/officeDocument/2006/relationships/image" Target="/ppt/media/image8.svg" Id="R61d68d600b77477d" /><Relationship Type="http://schemas.openxmlformats.org/officeDocument/2006/relationships/image" Target="/ppt/media/image10.png" Id="R1c6a161ce8e6448b" /><Relationship Type="http://schemas.openxmlformats.org/officeDocument/2006/relationships/image" Target="/ppt/media/image9.svg" Id="Reb74f751ece24c71" /><Relationship Type="http://schemas.openxmlformats.org/officeDocument/2006/relationships/image" Target="/ppt/media/image11.png" Id="R0c3ad167cc1e40d7" /><Relationship Type="http://schemas.openxmlformats.org/officeDocument/2006/relationships/image" Target="/ppt/media/image10.svg" Id="Rffa08a40ee234a48" /><Relationship Type="http://schemas.openxmlformats.org/officeDocument/2006/relationships/image" Target="/ppt/media/image12.png" Id="Rbd32d8e3b8c348b8" /><Relationship Type="http://schemas.openxmlformats.org/officeDocument/2006/relationships/image" Target="/ppt/media/image11.svg" Id="Rca78a32c0f7a4fdd" /><Relationship Type="http://schemas.openxmlformats.org/officeDocument/2006/relationships/image" Target="/ppt/media/image13.png" Id="R559fff4a15a54afb" /><Relationship Type="http://schemas.openxmlformats.org/officeDocument/2006/relationships/image" Target="/ppt/media/image12.svg" Id="Rb73e8218e1f04535" /><Relationship Type="http://schemas.openxmlformats.org/officeDocument/2006/relationships/notesSlide" Target="/ppt/notesSlides/notesSlide2.xml" Id="R8e45fb4beeba48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6dee941b2c547ad" /><Relationship Type="http://schemas.openxmlformats.org/officeDocument/2006/relationships/notesSlide" Target="/ppt/notesSlides/notesSlide3.xml" Id="Rfb3e8032491441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db17dda93474c97" /><Relationship Type="http://schemas.openxmlformats.org/officeDocument/2006/relationships/image" Target="/ppt/media/image14.png" Id="R5df96b609c754a7f" /><Relationship Type="http://schemas.openxmlformats.org/officeDocument/2006/relationships/image" Target="/ppt/media/image13.svg" Id="Rdaa4616016c14283" /><Relationship Type="http://schemas.openxmlformats.org/officeDocument/2006/relationships/notesSlide" Target="/ppt/notesSlides/notesSlide4.xml" Id="R01ac69e44e5443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4967652a4b64675" /><Relationship Type="http://schemas.openxmlformats.org/officeDocument/2006/relationships/image" Target="/ppt/media/image15.png" Id="Raa92cc0c88b842bd" /><Relationship Type="http://schemas.openxmlformats.org/officeDocument/2006/relationships/image" Target="/ppt/media/image14.svg" Id="R314b302dff96426e" /><Relationship Type="http://schemas.openxmlformats.org/officeDocument/2006/relationships/notesSlide" Target="/ppt/notesSlides/notesSlide5.xml" Id="Rc1eb063fe8b443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d07d8e582e24a0b" /><Relationship Type="http://schemas.openxmlformats.org/officeDocument/2006/relationships/notesSlide" Target="/ppt/notesSlides/notesSlide6.xml" Id="R3bcb584a01d94f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6553604-6F4E-41F6-A662-C796ABE2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BFB6A70-625A-4FB5-A3B5-BD22E1D5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A7DAD48F-8B86-4870-A5AE-ACB7F8BC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8085CDDA-5E77-424D-92AC-4ED79671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17907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C9113C5F-3DFB-45B7-8AF1-2E9519FA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965" y="1757045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01f1e4ba34b11">
            <a:extLst>
              <a:ext uri="{96DAC541-7B7A-43D3-8B79-37D633B846F1}">
                <asvg:svgBlip xmlns:asvg="http://schemas.microsoft.com/office/drawing/2016/SVG/main" r:embed="R7a4f18a2cd6d456f"/>
              </a:ext>
            </a:extLst>
          </a:blip>
          <a:srcRect xmlns:a="http://schemas.openxmlformats.org/drawingml/2006/main" l="-2083" t="-4348" r="-2083" b="-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6235" y="18859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81663E0-ADF5-409E-AC8C-95CCEE75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078" y="1802606"/>
            <a:ext cx="9157468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专注高净值家族财富管理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 · 15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年深耕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 · 500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亿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资产管理规模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A1834DF-3FF8-46F1-BD6F-AF799BEE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CF3722E0-10CB-4D36-AE98-EF864E37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1014c511e405b">
            <a:extLst>
              <a:ext uri="{96DAC541-7B7A-43D3-8B79-37D633B846F1}">
                <asvg:svgBlip xmlns:asvg="http://schemas.microsoft.com/office/drawing/2016/SVG/main" r:embed="Rd287c2697a7047f0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0120" y="3446145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5486EA33-AC63-4568-BDBE-EA577D09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75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BE6AC86-0A66-400C-BFAE-ECD92F9D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5" y="4264838"/>
            <a:ext cx="30861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2518822F-EC87-4DA0-8FF8-7CB87D1D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27" y="4668660"/>
            <a:ext cx="197577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12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年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平均经验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64B068AA-567F-48D9-A657-DA5F52DC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83ADE01E-E18F-41EC-BA17-63B50C71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504284ee84814">
            <a:extLst>
              <a:ext uri="{96DAC541-7B7A-43D3-8B79-37D633B846F1}">
                <asvg:svgBlip xmlns:asvg="http://schemas.microsoft.com/office/drawing/2016/SVG/main" r:embed="Re331c9e4e38b4396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29B09DB6-8106-4182-9A71-46AB38F4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服务理念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F6AFE63D-DE11-42AB-A463-A1587390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64838"/>
            <a:ext cx="188602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以家族长远利益为核心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B59BB801-36DD-48B2-BBC3-80A8C762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866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全生命周期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解决方案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ECB48CE2-116E-4035-8DB8-6254FAFB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47E49801-E283-4250-8213-8FD1F48A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c8f4bfb4b4ace">
            <a:extLst>
              <a:ext uri="{96DAC541-7B7A-43D3-8B79-37D633B846F1}">
                <asvg:svgBlip xmlns:asvg="http://schemas.microsoft.com/office/drawing/2016/SVG/main" r:embed="R2fd69425600d443e"/>
              </a:ext>
            </a:extLst>
          </a:blip>
          <a:srcRect xmlns:a="http://schemas.openxmlformats.org/drawingml/2006/main" l="-2632" t="0" r="-26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2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7B7CF6E6-A3F1-4EB8-80BF-825F81ED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26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成功案例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4B5F2A66-3845-4610-B853-BB5A8635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059" y="4264838"/>
            <a:ext cx="1971008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200+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家族财富传承规划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860CBD3-6941-4EB4-80FE-04A4BC77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074" y="4668660"/>
            <a:ext cx="1574978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98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%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执行率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4A38C2CB-910F-4467-A53D-D3CAEF3A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452745"/>
            <a:ext cx="11039475" cy="1019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aa76aa9b343d8">
            <a:extLst>
              <a:ext uri="{96DAC541-7B7A-43D3-8B79-37D633B846F1}">
                <asvg:svgBlip xmlns:asvg="http://schemas.microsoft.com/office/drawing/2016/SVG/main" r:embed="R1293d26b4c8442ee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45" y="5829300"/>
            <a:ext cx="233045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30C49D3A-8DCD-4F43-95CC-96105C40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24" y="5710238"/>
            <a:ext cx="952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i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我们深知家族财富传承不仅是资产的传递，更是家族价值观与精神的延续。我们将以最大的专业性和责任感，守护您家族的财富与未来。</a:t>
            </a:r>
          </a:p>
        </p:txBody>
      </p:sp>
      <p:pic>
        <p:nvPicPr>
          <p:cNvPr id="32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253ca7ed14db9">
            <a:extLst>
              <a:ext uri="{96DAC541-7B7A-43D3-8B79-37D633B846F1}">
                <asvg:svgBlip xmlns:asvg="http://schemas.microsoft.com/office/drawing/2016/SVG/main" r:embed="R10ca38cd4a1a432a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2175" y="5829300"/>
            <a:ext cx="233045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386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3B1CD3E-89E8-436C-B3F4-287A892E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4743E64-A852-4794-A244-B538DF80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412DD27-FDC9-480B-B215-4CB4E74B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产品核心亮点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63BAB4A6-9568-46FB-9B76-E1335941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" y="1104900"/>
            <a:ext cx="915035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3AC611E3-7D2E-4DC6-B7E4-3027E39F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25" y="1181100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52132292-683E-4152-A8C4-43EDD509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652270"/>
            <a:ext cx="3508375" cy="23101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9FD11D98-EBED-4C8E-9951-98091C38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4785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3aa25fc9e49c5">
            <a:extLst>
              <a:ext uri="{96DAC541-7B7A-43D3-8B79-37D633B846F1}">
                <asvg:svgBlip xmlns:asvg="http://schemas.microsoft.com/office/drawing/2016/SVG/main" r:embed="R61d68d600b77477d"/>
              </a:ext>
            </a:extLst>
          </a:blip>
          <a:srcRect xmlns:a="http://schemas.openxmlformats.org/drawingml/2006/main" l="-2500" t="-11765" r="-2500" b="-11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195707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D2D189B-F6B6-4B56-9E26-64A84EC9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4785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4A72C9C8-E861-4030-BF77-CC637BCE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0980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产品设计以长期稳健增长为核心目标，通过多元化资产配置策略，在控制风险的前提下实现资产的持续增值。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7A69A44-A068-42BE-82D9-A74441E0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9488"/>
            <a:ext cx="122099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5%-7%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8331D70-D7A7-4DA2-9128-80FD11D7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16" y="3609975"/>
            <a:ext cx="13716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历史年化收益率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03DF07E7-85FA-40A3-BFAD-EAE3F5BF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162425"/>
            <a:ext cx="3508375" cy="23094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72820B91-E56E-46E1-A267-2552412B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8150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a161ce8e6448b">
            <a:extLst>
              <a:ext uri="{96DAC541-7B7A-43D3-8B79-37D633B846F1}">
                <asvg:svgBlip xmlns:asvg="http://schemas.microsoft.com/office/drawing/2016/SVG/main" r:embed="Reb74f751ece24c71"/>
              </a:ext>
            </a:extLst>
          </a:blip>
          <a:srcRect xmlns:a="http://schemas.openxmlformats.org/drawingml/2006/main" l="-2500" t="-15625" r="-2500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449072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8D2E1CDF-D4E5-4E8F-9FFB-4E12B45D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8150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灵活提领机制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2E060A00-9F60-4EF3-8201-5BBBC77A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提供多种提领选择，支持定期提领、弹性提领及紧急资金调用，满足家族不同阶段的现金流需求。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D5DE0C17-1C8B-49EC-AC1E-50F38AE0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定期提领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A82D88F1-EBA2-4246-8EA5-28530C1B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801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3D05AA9C-ED9A-4379-9E13-11F49FEB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77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弹性提领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6F2255D8-A946-47E8-8A5B-E7F254EB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44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9B2F509A-AA73-4A58-B6B5-DBEC408C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020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紧急调用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BA2EE94F-B588-44A5-8236-F576C438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11093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5725400B-D724-4F88-B7FD-E7C321D3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14643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ad167cc1e40d7">
            <a:extLst>
              <a:ext uri="{96DAC541-7B7A-43D3-8B79-37D633B846F1}">
                <asvg:svgBlip xmlns:asvg="http://schemas.microsoft.com/office/drawing/2016/SVG/main" r:embed="Rffa08a40ee234a48"/>
              </a:ext>
            </a:extLst>
          </a:blip>
          <a:srcRect xmlns:a="http://schemas.openxmlformats.org/drawingml/2006/main" l="-3333" t="-2500" r="-3333" b="-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0425" y="1573530"/>
            <a:ext cx="1524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6A568906-9C01-45AA-B1FE-954202EA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4644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税务优化优势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DB8AE52C-1E7D-48B7-A788-E00EBAAE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8264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充分利用保险产品的税收优惠政策，通过合理的架构设计，有效降低遗产税、赠与税等税务成本。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C14112B9-A2FE-4FB1-96AD-D78519AC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遗产税优化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E0E6DA-DA71-4F7D-82C4-CAF26D28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77" y="31361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486250A6-C442-46E1-A223-9D88CDEE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53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赠与税减免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FD9A980D-10C9-43D3-8228-3DD250FF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8906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C51D471A-03A7-44E9-9B00-45DEBB50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4245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2d8e3b8c348b8">
            <a:extLst>
              <a:ext uri="{96DAC541-7B7A-43D3-8B79-37D633B846F1}">
                <asvg:svgBlip xmlns:asvg="http://schemas.microsoft.com/office/drawing/2016/SVG/main" r:embed="Rca78a32c0f7a4fdd"/>
              </a:ext>
            </a:extLst>
          </a:blip>
          <a:srcRect xmlns:a="http://schemas.openxmlformats.org/drawingml/2006/main" l="-8333" t="-5263" r="-8333" b="-5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295" y="4354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A9997450-D338-4159-AF18-019890E4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2457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资产隔离保护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B1B7669-9C0C-4BFD-8616-4B03411B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6077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保险资产具有独立的法律地位，可有效实现家庭资产与企业经营风险隔离，构建坚实的法律保护屏障。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589C6031-775E-4DF1-8796-9DA25B8B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法律独立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86537C4-A9B7-4689-983A-3256A2B7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77" y="59174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DC4C194E-DB1C-40BB-A097-1098F945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53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风险隔离</a:t>
            </a: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71B474D4-9C9E-4D08-AB07-596FC940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45" y="1109345"/>
            <a:ext cx="350837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8F0EA851-3E93-4D40-92E9-D611A907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1304925"/>
            <a:ext cx="3117850" cy="895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02B26A4D-58AF-4DC3-8443-86652F3E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2190750"/>
            <a:ext cx="3117850" cy="95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>
              <a:alpha val="2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8773C917-EEE0-4A0E-B70E-467123D1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1304925"/>
            <a:ext cx="342900" cy="3429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fff4a15a54afb">
            <a:extLst>
              <a:ext uri="{96DAC541-7B7A-43D3-8B79-37D633B846F1}">
                <asvg:svgBlip xmlns:asvg="http://schemas.microsoft.com/office/drawing/2016/SVG/main" r:embed="Rb73e8218e1f04535"/>
              </a:ext>
            </a:extLst>
          </a:blip>
          <a:srcRect xmlns:a="http://schemas.openxmlformats.org/drawingml/2006/main" l="-6852" t="-4510" r="-6852" b="-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385570"/>
            <a:ext cx="194945" cy="176530"/>
          </a:xfrm>
          <a:prstGeom xmlns:a="http://schemas.openxmlformats.org/drawingml/2006/main" prst="rect">
            <a:avLst/>
          </a:prstGeom>
        </p:spPr>
      </p:pic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2EBBC4F7-329D-4512-857C-EDACAA7E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350" y="1724025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C664EB08-E34C-4432-9D10-527556CD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76" y="18002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最受关注</a:t>
            </a: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DDF03CF4-44C9-43D7-ABE2-E31D8E9D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235267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4C2E45B6-A0AA-4B43-93B4-76B22844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46697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财富传承效率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36B3CA93-C53C-4F8D-89CD-11CB6411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77891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通过税务优化与法律架构设计，最大化家族财富代际传承效率，降低资产损耗。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81BDB241-C204-4F29-852F-7E54966F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370760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最大化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72994E84-5CE7-46C4-B9EE-34BE3DC6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390286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传承效率</a:t>
            </a:r>
          </a:p>
        </p:txBody>
      </p:sp>
      <p:sp>
        <p:nvSpPr>
          <p:cNvPr id="55" name="任意多边形 54">
            <a:extLst xmlns:a="http://schemas.openxmlformats.org/drawingml/2006/main">
              <a:ext uri="{FF2B5EF4-FFF2-40B4-BE49-F238E27FC236}">
                <a16:creationId xmlns:a16="http://schemas.microsoft.com/office/drawing/2014/main" id="{66BB5976-5857-452C-805B-563D0703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439102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39F3E944-E846-4141-BD05-77C19543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50532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风险保障等级</a:t>
            </a: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B3D061F2-0327-4726-8768-FEB7BB82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81726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多重法律保障机制叠加，为家族核心资产提供全周期、全方位的安全防护体系。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17B86DB0-B5B6-44AE-AF79-E7E1A36E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574595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全周期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E002710D-7E81-4F04-AF85-6DE71D3C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594121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安全防护</a:t>
            </a:r>
          </a:p>
        </p:txBody>
      </p:sp>
    </p:spTree>
    <p:extLst>
      <p:ext uri="{BB962C8B-B14F-4D97-AF65-F5344CB8AC3E}">
        <p14:creationId xmlns:p14="http://schemas.microsoft.com/office/powerpoint/2010/main" val="3890302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F8E206EF-067B-474B-9164-0B049DBB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F613D77F-C099-47C6-9404-8CB82671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F8241A-9FAC-470F-AB36-DEF057CE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32373FA-F893-49CE-ACC9-632E122D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8CA66BF-CE51-4A07-93B2-44D63B46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46C56C62-6F77-4BC1-956D-A0F23BBF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5B179D77-9E0A-4BBA-BA5F-C729B6E8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09D2C7E-1233-4E30-BCB8-7BFBF921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73B0F135-AB7B-4C43-A737-1CE195F8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611282F-7BAE-4387-A5E9-343228D7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25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11D4D21-ECC8-4223-98E2-E27A00A4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5BF72C3B-4EF1-4F13-8EDC-767DCFFF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4C3E385-D90E-4317-8EB2-BBCAA619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A93DEE14-C70C-4348-9D21-2CA47848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4AE3323D-F623-40CC-9961-776B1C12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F49CC5B-40EA-4AF9-86E5-2841009F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价值增长曲线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27B6E24E-C321-409C-AFE0-9C3B5398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29A5D19-8717-42DF-9380-D0EA0243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32C497CC-40FB-49A9-97F2-72F7532D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091CA43C-751C-4671-B52C-7C4D7548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3ED074B-5F57-49E0-A792-36BA3F94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FD89B4B8-0BB5-4CCF-83AE-50575F50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F2FFA137-27AF-46B4-B3B7-632ABB20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32273D62-C2AE-41A7-80D9-779E1536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8A5A8DE-874D-430D-92B8-BE773260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217ABAE-CF42-4F17-8968-62B36406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5ACDF67-610F-400C-8268-00A2EFC7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B84A16DA-7230-4825-812F-A039FA9E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6FFE59A5-20B7-4FE6-ADE8-76D80248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6381DCDE-49EF-43E0-BB48-95577036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1C1D9822-B9ED-49EA-B136-CE6FFD76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70B6307E-8D7A-4B15-9105-07448F2C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01C73569-A29F-40CD-9DD9-0D3F15C3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4746207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5FBD2C46-5607-43F0-9E14-A20BE959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AC5CCA19-32EC-4B96-8E32-16B9CEE6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06A2471-FCF7-426A-A9C6-D305A367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灵活提领路径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BF7F655-39E0-4916-8A5A-99CC7229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" y="1111250"/>
            <a:ext cx="5868670" cy="16986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13087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236D40D9-E468-4FCD-9896-16205D87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294765"/>
            <a:ext cx="523240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CE930F-89E5-40CE-AA03-5BE289F2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" y="1320800"/>
            <a:ext cx="41846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方案一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79BA7B3B-D14D-4917-A075-E0EA9617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94765"/>
            <a:ext cx="36639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295F61B-C985-420B-A096-D84E99DD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05" y="1320800"/>
            <a:ext cx="31432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推荐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5508EF6-B900-431B-8E4A-A979089C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497330"/>
            <a:ext cx="5332095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A9337F38-4EE6-4DB6-B579-0C4F91D0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706880"/>
            <a:ext cx="533209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适合有稳定现金流需求的家族，可按月、季度或年度提取固定金额，用于家族日常开支、教育支出等。提领不影响保单核心保障功能。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8D351505-2357-4DF3-9DD2-3ACE62B2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314413D4-CB61-45C7-A22D-C191C7A1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" y="231838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B6EA62-105B-4978-99FE-85C318E1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D09CE3D8-38CA-4108-B4C7-A91000E0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10" y="2318385"/>
            <a:ext cx="52324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教育支出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FF376A0B-76D6-46F3-9F93-D6288AF3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295084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38FEA122-6A64-4EAF-8462-B258C38C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13055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CBB84754-E15F-4A18-9A8A-C182AA0C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3157220"/>
            <a:ext cx="41910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方案二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CC550C5-23E9-415F-B5C5-13A3FDF4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33375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阶段性大额提领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A15435FB-998C-43FA-BACC-57F3EB7A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54330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针对家族重大事件（如子女婚嫁、创业支持、房产购置等），可申请大额提领，灵活应对家族重要节点的资金需求。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52E34CCB-6406-4CC8-82F4-1AB74712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38E24EF-4590-4CEB-AF83-FE472A9B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婚嫁支持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BCE7B167-599F-4A43-B3D8-4FF20156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B0F126AE-FD13-4895-B201-31D9BD42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创业资金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16C99BB7-E7FD-499C-956C-FBEB36C0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35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97683EC5-1A28-4DBF-87DF-9A38A622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155440"/>
            <a:ext cx="523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房产购置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372ABA74-819C-4D76-8F07-6AD1E0B3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478091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F3743353-1C3F-4BF1-98F6-A51CAD2B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96062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289EE0B9-292F-4B40-B49B-D74200BE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4987290"/>
            <a:ext cx="4191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方案三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220A97D0-3609-450B-A14D-3A7BF745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16382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应急资金调用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5C6CA127-864F-4850-B8A1-E6FA2814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37337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设立应急提领通道，在家族遭遇突发情况时，可快速调用部分现金价值，解决燃眉之急，体现家族办公室的人性化服务。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75C57CD4-3DD0-4F8B-B750-63E86CBF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ACDE635-6502-4DE6-9A6E-C42281F6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快速通道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D4E8A96B-9613-4B8B-A190-380D9EAE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1DF52FCB-31E2-4951-B074-C3314639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突发应对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9D56C361-62A5-4CAD-8B00-6DA893A0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015" y="1109345"/>
            <a:ext cx="4891405" cy="53632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8850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17B4CAE1-F62F-4AB0-8A3B-5B3CABD9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397000"/>
            <a:ext cx="4174490" cy="327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提领策略建议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65845A4A-9E34-43B9-9909-FCE7CB28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1741805"/>
            <a:ext cx="4175125" cy="11861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FC5B9C11-AB8C-4831-A664-CE38FCB2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1828165"/>
            <a:ext cx="3820795" cy="1009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保留不低于现金价值</a:t>
            </a:r>
            <a:r>
              <a:rPr sz="2225" b="1" spc="-22">
                <a:solidFill>
                  <a:srgbClr val="5A3E0F"/>
                </a:solidFill>
                <a:latin typeface="MiSans"/>
                <a:ea typeface="MiSans"/>
                <a:cs typeface="MiSans"/>
              </a:rPr>
              <a:t>60%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的余额，确保保单持续有效并享受长期增值收益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566CC09D-7816-40D2-8F3B-E6439C50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29457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96b609c754a7f">
            <a:extLst>
              <a:ext uri="{96DAC541-7B7A-43D3-8B79-37D633B846F1}">
                <asvg:svgBlip xmlns:asvg="http://schemas.microsoft.com/office/drawing/2016/SVG/main" r:embed="Rdaa4616016c14283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0162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5B9F1016-5F17-48C7-9BB9-702A6857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2932430"/>
            <a:ext cx="385572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定期评估现金流需求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，根据家族实际支出情况调整提领频率与金额，避免过度提领影响保单价值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29639DB9-EE6F-4E2B-A402-14EC02D5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35299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96b609c754a7f">
            <a:extLst>
              <a:ext uri="{96DAC541-7B7A-43D3-8B79-37D633B846F1}">
                <asvg:svgBlip xmlns:asvg="http://schemas.microsoft.com/office/drawing/2016/SVG/main" r:embed="Rdaa4616016c14283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6004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BE1C61E5-5337-4462-AFB0-8C0C8FB1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3516630"/>
            <a:ext cx="386969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重大事件提前规划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，子女婚嫁、创业等大额支出应提前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6-12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个月与顾问沟通，制定最优提领方案</a:t>
            </a:r>
          </a:p>
        </p:txBody>
      </p:sp>
      <p:sp>
        <p:nvSpPr>
          <p:cNvPr id="49" name="任意多边形 48">
            <a:extLst xmlns:a="http://schemas.openxmlformats.org/drawingml/2006/main">
              <a:ext uri="{FF2B5EF4-FFF2-40B4-BE49-F238E27FC236}">
                <a16:creationId xmlns:a16="http://schemas.microsoft.com/office/drawing/2014/main" id="{88EDF2A5-6B73-41CC-98AA-61B75341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41141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96b609c754a7f">
            <a:extLst>
              <a:ext uri="{96DAC541-7B7A-43D3-8B79-37D633B846F1}">
                <asvg:svgBlip xmlns:asvg="http://schemas.microsoft.com/office/drawing/2016/SVG/main" r:embed="Rdaa4616016c14283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4184650"/>
            <a:ext cx="93345" cy="106045"/>
          </a:xfrm>
          <a:prstGeom xmlns:a="http://schemas.openxmlformats.org/drawingml/2006/main" prst="rect">
            <a:avLst/>
          </a:prstGeom>
        </p:spPr>
      </p:pic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1937CE78-02C8-4BBA-BFA0-25390D03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4098925"/>
            <a:ext cx="3855720" cy="60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应急通道常备不懈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，建议预留</a:t>
            </a:r>
            <a:r>
              <a:rPr sz="1465" b="1" spc="-13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10%-15%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现金价值作为应急储备，确保突发情况下快速响应</a:t>
            </a:r>
          </a:p>
        </p:txBody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C3DADDE5-12B2-4322-8406-181F5FD6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62420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任意多边形 52">
            <a:extLst xmlns:a="http://schemas.openxmlformats.org/drawingml/2006/main">
              <a:ext uri="{FF2B5EF4-FFF2-40B4-BE49-F238E27FC236}">
                <a16:creationId xmlns:a16="http://schemas.microsoft.com/office/drawing/2014/main" id="{1EE98ECE-528A-47A1-87D8-7B551025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889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D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5DE59FC0-2D54-4DA2-B95F-DBECD76E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661025"/>
            <a:ext cx="4174490" cy="530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250" i="1">
                <a:solidFill>
                  <a:srgbClr val="7A6A5A"/>
                </a:solidFill>
                <a:latin typeface="MiSans"/>
                <a:ea typeface="MiSans"/>
                <a:cs typeface="MiSans"/>
              </a:rPr>
              <a:t>专业顾问将根据家族实际情况，综合考虑现金流需求、税务优化与长期增值目标，为您制定最优提领策略</a:t>
            </a:r>
          </a:p>
        </p:txBody>
      </p:sp>
    </p:spTree>
    <p:extLst>
      <p:ext uri="{BB962C8B-B14F-4D97-AF65-F5344CB8AC3E}">
        <p14:creationId xmlns:p14="http://schemas.microsoft.com/office/powerpoint/2010/main" val="5951574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96408FF4-1869-4832-BF4D-98781E17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57AB83EA-42EF-4FE7-AC09-791823F4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949EA9E-04F0-4450-87D5-332C58B2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方案对比分析（一）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C5765F6C-7D3B-4BED-82F5-5C278D5E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426847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25" cmpd="sng">
            <a:solidFill>
              <a:srgbClr val="E2D4C4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8A3E5244-1F2F-438F-94D4-570A3DEA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114425"/>
            <a:ext cx="11029950" cy="537845"/>
          </a:xfrm>
          <a:custGeom xmlns:a="http://schemas.openxmlformats.org/drawingml/2006/main">
            <a:pathLst>
              <a:path w="17370" h="847">
                <a:moveTo>
                  <a:pt x="240" y="0"/>
                </a:moveTo>
                <a:lnTo>
                  <a:pt x="17130" y="0"/>
                </a:lnTo>
                <a:cubicBezTo>
                  <a:pt x="17263" y="0"/>
                  <a:pt x="17370" y="107"/>
                  <a:pt x="17370" y="240"/>
                </a:cubicBezTo>
                <a:lnTo>
                  <a:pt x="17370" y="847"/>
                </a:lnTo>
                <a:lnTo>
                  <a:pt x="0" y="847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AD5F8413-EB97-452B-BC3B-F012C399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4274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5A3E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499FA91-FE1D-40AA-9237-A4AB7378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28725"/>
            <a:ext cx="1829991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传承工具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84185D3-E977-4A65-BCED-23C0DCAB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8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资产隔离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A90DCEB-45A9-45C6-B6ED-E9E8FCD1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02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税务优化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7AA4578-49EB-4032-ADFA-997DAE86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124" y="1228725"/>
            <a:ext cx="9144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流动性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9D306587-076E-4040-9639-301E3D5A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6" y="1228725"/>
            <a:ext cx="13716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传承确定性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2218E85-107E-4AF5-811B-9D7CD72B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5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成本控制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A9BB9812-9D9A-484B-8340-AB5A213C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1652270"/>
            <a:ext cx="11029926" cy="3720465"/>
          </a:xfrm>
          <a:custGeom xmlns:a="http://schemas.openxmlformats.org/drawingml/2006/main">
            <a:rect l="l" t="t" r="r" b="b"/>
            <a:pathLst>
              <a:path w="17370" h="5859">
                <a:moveTo>
                  <a:pt x="17370" y="0"/>
                </a:moveTo>
                <a:lnTo>
                  <a:pt x="17370" y="5619"/>
                </a:lnTo>
                <a:cubicBezTo>
                  <a:pt x="17370" y="5752"/>
                  <a:pt x="17263" y="5859"/>
                  <a:pt x="17130" y="5859"/>
                </a:cubicBezTo>
                <a:lnTo>
                  <a:pt x="240" y="5859"/>
                </a:lnTo>
                <a:cubicBezTo>
                  <a:pt x="107" y="5859"/>
                  <a:pt x="0" y="5752"/>
                  <a:pt x="0" y="56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8163F770-5EB8-45E9-9488-980ED364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52270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2C6E93A3-E9C4-415B-8102-5C4BBAB2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7302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20354CAE-0C4F-4E55-8A8D-27B1C772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662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家族信托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31A00CA3-8FE3-43DB-B2B8-30968661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2E357D6-4D36-44DA-9584-9B9AF5EB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14AEBDF9-E633-4E75-80CB-63CAF6FE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7BD9C1C4-90BA-4C58-87FE-35FFA51C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198662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DD69EBF5-93D9-4DA6-94F8-5B787E6C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197421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FD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A65CC23-AA65-4ECF-9805-2B005814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01282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D3A06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C834D845-EE90-4828-8067-A763B179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82545"/>
            <a:ext cx="11029950" cy="929640"/>
          </a:xfrm>
          <a:custGeom xmlns:a="http://schemas.openxmlformats.org/drawingml/2006/main">
            <a:pathLst>
              <a:path w="17370" h="1464">
                <a:moveTo>
                  <a:pt x="17370" y="0"/>
                </a:moveTo>
                <a:lnTo>
                  <a:pt x="17370" y="1464"/>
                </a:lnTo>
                <a:lnTo>
                  <a:pt x="0" y="1464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813504E1-3106-495B-8F97-F46F6B49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0266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7E683417-4A07-4176-92D3-F619A5DC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6726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人寿保险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7B1C3E1C-3335-46B3-8F81-45AF43EA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9DCE56E0-5568-47F9-9D0B-6A177245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59D3B5E-6684-453F-A0B4-C755B50B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DAC9C06-75C8-4E4D-9A00-535C9201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2916726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4C8A9564-9620-43F3-B6BC-684282E9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2904490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9A1A5BC9-0689-476B-BD7B-08DBA532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942920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DE4E1CCE-F57E-4651-9C77-8A856E02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12185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727BF298-3225-4113-AE3B-94F39BFC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43293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EE8A227C-72A1-44F1-A5F8-A1E6743F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46833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遗嘱继承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DA9936B-36FC-4395-8C8E-089CDB08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F8615686-5B96-4325-B9F6-EE4E663C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3F50902E-96F1-4477-983F-1B5DA036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3846833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82029E8A-CEBD-411F-893C-81F331DE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3B4D600E-5904-4E67-B5BF-6CDFF588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3834765"/>
            <a:ext cx="3810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514A4069-B35F-40FE-87E6-6761293E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59" y="3873027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低</a:t>
            </a:r>
          </a:p>
        </p:txBody>
      </p:sp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617C9B6B-5859-4201-85B1-8CA68ABA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4442460"/>
            <a:ext cx="11029926" cy="930275"/>
          </a:xfrm>
          <a:custGeom xmlns:a="http://schemas.openxmlformats.org/drawingml/2006/main">
            <a:rect l="l" t="t" r="r" b="b"/>
            <a:pathLst>
              <a:path w="17370" h="1465">
                <a:moveTo>
                  <a:pt x="17370" y="0"/>
                </a:moveTo>
                <a:lnTo>
                  <a:pt x="17370" y="1225"/>
                </a:lnTo>
                <a:cubicBezTo>
                  <a:pt x="17370" y="1358"/>
                  <a:pt x="17263" y="1465"/>
                  <a:pt x="17130" y="1465"/>
                </a:cubicBezTo>
                <a:lnTo>
                  <a:pt x="240" y="1465"/>
                </a:lnTo>
                <a:cubicBezTo>
                  <a:pt x="107" y="1465"/>
                  <a:pt x="0" y="1358"/>
                  <a:pt x="0" y="122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2AE9251A-97B7-4233-AD9A-89CF09AF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76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赠与传承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E609E696-F1A5-4ACC-B394-0375CE3A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732AE0FD-EA71-4FBB-AC98-3C08104C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412AC47A-5822-4D1F-A4C6-01500C3D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478176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152DF5BD-CCE8-43AB-92D2-EED7A828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54" name="任意多边形 53">
            <a:extLst xmlns:a="http://schemas.openxmlformats.org/drawingml/2006/main">
              <a:ext uri="{FF2B5EF4-FFF2-40B4-BE49-F238E27FC236}">
                <a16:creationId xmlns:a16="http://schemas.microsoft.com/office/drawing/2014/main" id="{82D9D157-CFAB-499C-98C8-66340257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476948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7B338F9E-CD42-46C5-8AAF-1CC1EBB8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480796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36002803-F6CD-4214-BD57-CDEE9268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6560"/>
            <a:ext cx="11049000" cy="98044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2BB5A1F1-1B3C-4D21-A039-E09B1469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72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2cc0c88b842bd">
            <a:extLst>
              <a:ext uri="{96DAC541-7B7A-43D3-8B79-37D633B846F1}">
                <asvg:svgBlip xmlns:asvg="http://schemas.microsoft.com/office/drawing/2016/SVG/main" r:embed="R314b302dff96426e"/>
              </a:ext>
            </a:extLst>
          </a:blip>
          <a:srcRect xmlns:a="http://schemas.openxmlformats.org/drawingml/2006/main" l="-4314" t="-37500" r="-4314" b="-37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85" y="588645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E44EC113-B28A-45CB-A9A7-C5E434C7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24" y="5667823"/>
            <a:ext cx="895350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人寿保险在资产隔离、税务优化、流动性和传承确定性方面表现均衡，是家族财富传承的理想工具之一。结合家族信托使用，可构建更完善的传承架构。</a:t>
            </a:r>
          </a:p>
        </p:txBody>
      </p:sp>
      <p:sp>
        <p:nvSpPr>
          <p:cNvPr id="61" name="任意多边形 60">
            <a:extLst xmlns:a="http://schemas.openxmlformats.org/drawingml/2006/main">
              <a:ext uri="{FF2B5EF4-FFF2-40B4-BE49-F238E27FC236}">
                <a16:creationId xmlns:a16="http://schemas.microsoft.com/office/drawing/2014/main" id="{92C94CE1-F8C6-400C-AC65-79AFDBEA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965" y="5810250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5D0D8E12-AC8F-4978-9E80-17995ABB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24" y="588689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理想工具</a:t>
            </a:r>
          </a:p>
        </p:txBody>
      </p:sp>
    </p:spTree>
    <p:extLst>
      <p:ext uri="{BB962C8B-B14F-4D97-AF65-F5344CB8AC3E}">
        <p14:creationId xmlns:p14="http://schemas.microsoft.com/office/powerpoint/2010/main" val="12313593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F8E206EF-067B-474B-9164-0B049DBB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F613D77F-C099-47C6-9404-8CB82671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F8241A-9FAC-470F-AB36-DEF057CE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32373FA-F893-49CE-ACC9-632E122D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8CA66BF-CE51-4A07-93B2-44D63B46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46C56C62-6F77-4BC1-956D-A0F23BBF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5B179D77-9E0A-4BBA-BA5F-C729B6E8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09D2C7E-1233-4E30-BCB8-7BFBF921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73B0F135-AB7B-4C43-A737-1CE195F8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611282F-7BAE-4387-A5E9-343228D7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25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11D4D21-ECC8-4223-98E2-E27A00A4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5BF72C3B-4EF1-4F13-8EDC-767DCFFF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4C3E385-D90E-4317-8EB2-BBCAA619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A93DEE14-C70C-4348-9D21-2CA47848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4AE3323D-F623-40CC-9961-776B1C12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F49CC5B-40EA-4AF9-86E5-2841009F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价值增长曲线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27B6E24E-C321-409C-AFE0-9C3B5398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29A5D19-8717-42DF-9380-D0EA0243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32C497CC-40FB-49A9-97F2-72F7532D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091CA43C-751C-4671-B52C-7C4D7548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3ED074B-5F57-49E0-A792-36BA3F94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FD89B4B8-0BB5-4CCF-83AE-50575F50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F2FFA137-27AF-46B4-B3B7-632ABB20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32273D62-C2AE-41A7-80D9-779E1536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8A5A8DE-874D-430D-92B8-BE773260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217ABAE-CF42-4F17-8968-62B36406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5ACDF67-610F-400C-8268-00A2EFC7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B84A16DA-7230-4825-812F-A039FA9E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6FFE59A5-20B7-4FE6-ADE8-76D80248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6381DCDE-49EF-43E0-BB48-95577036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1C1D9822-B9ED-49EA-B136-CE6FFD76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70B6307E-8D7A-4B15-9105-07448F2C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01C73569-A29F-40CD-9DD9-0D3F15C3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474620713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2026-06-08T09:34:10.9460000Z</dcterms:created>
  <dcterms:modified xsi:type="dcterms:W3CDTF">2026-06-08T09:34:10.9460000Z</dcterms:modified>
</coreProperties>
</file>