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重疾赔付额</c:v>
                </c:pt>
              </c:strCache>
            </c:strRef>
          </c:tx>
          <c:spPr>
            <a:ln w="27940">
              <a:solidFill>
                <a:srgbClr val="CE8A2C"/>
              </a:solidFill>
            </a:ln>
          </c:spPr>
          <c:cat>
            <c:strRef>
              <c:f>Sheet1!$A$2:$A$38</c:f>
              <c:strCache>
                <c:ptCount val="3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160000.0</c:v>
                </c:pt>
                <c:pt idx="1">
                  <c:v>160000.0</c:v>
                </c:pt>
                <c:pt idx="2">
                  <c:v>160000.0</c:v>
                </c:pt>
                <c:pt idx="3">
                  <c:v>160000.0</c:v>
                </c:pt>
                <c:pt idx="4">
                  <c:v>160000.0</c:v>
                </c:pt>
                <c:pt idx="5">
                  <c:v>160000.0</c:v>
                </c:pt>
                <c:pt idx="6">
                  <c:v>160000.0</c:v>
                </c:pt>
                <c:pt idx="7">
                  <c:v>160000.0</c:v>
                </c:pt>
                <c:pt idx="8">
                  <c:v>160000.0</c:v>
                </c:pt>
                <c:pt idx="9">
                  <c:v>160000.0</c:v>
                </c:pt>
                <c:pt idx="10">
                  <c:v>100000.0</c:v>
                </c:pt>
                <c:pt idx="11">
                  <c:v>100000.0</c:v>
                </c:pt>
                <c:pt idx="12">
                  <c:v>100000.0</c:v>
                </c:pt>
                <c:pt idx="13">
                  <c:v>100000.0</c:v>
                </c:pt>
                <c:pt idx="14">
                  <c:v>100000.0</c:v>
                </c:pt>
                <c:pt idx="15">
                  <c:v>100000.0</c:v>
                </c:pt>
                <c:pt idx="16">
                  <c:v>100000.0</c:v>
                </c:pt>
                <c:pt idx="17">
                  <c:v>100000.0</c:v>
                </c:pt>
                <c:pt idx="18">
                  <c:v>100000.0</c:v>
                </c:pt>
                <c:pt idx="19">
                  <c:v>100000.0</c:v>
                </c:pt>
                <c:pt idx="20">
                  <c:v>100000.0</c:v>
                </c:pt>
                <c:pt idx="21">
                  <c:v>100000.0</c:v>
                </c:pt>
                <c:pt idx="22">
                  <c:v>100000.0</c:v>
                </c:pt>
                <c:pt idx="23">
                  <c:v>100000.0</c:v>
                </c:pt>
                <c:pt idx="24">
                  <c:v>100000.0</c:v>
                </c:pt>
                <c:pt idx="25">
                  <c:v>100000.0</c:v>
                </c:pt>
                <c:pt idx="26">
                  <c:v>100000.0</c:v>
                </c:pt>
                <c:pt idx="27">
                  <c:v>100000.0</c:v>
                </c:pt>
                <c:pt idx="28">
                  <c:v>100000.0</c:v>
                </c:pt>
                <c:pt idx="29">
                  <c:v>100000.0</c:v>
                </c:pt>
                <c:pt idx="30">
                  <c:v>100000.0</c:v>
                </c:pt>
                <c:pt idx="31">
                  <c:v>100000.0</c:v>
                </c:pt>
                <c:pt idx="32">
                  <c:v>100000.0</c:v>
                </c:pt>
                <c:pt idx="33">
                  <c:v>100000.0</c:v>
                </c:pt>
                <c:pt idx="34">
                  <c:v>100000.0</c:v>
                </c:pt>
                <c:pt idx="35">
                  <c:v>100000.0</c:v>
                </c:pt>
                <c:pt idx="36">
                  <c:v>100000.0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退保价值</c:v>
                </c:pt>
              </c:strCache>
            </c:strRef>
          </c:tx>
          <c:spPr>
            <a:ln w="27940">
              <a:solidFill>
                <a:srgbClr val="186C4F"/>
              </a:solidFill>
            </a:ln>
          </c:spPr>
          <c:cat>
            <c:strRef>
              <c:f>Sheet1!$A$2:$A$38</c:f>
              <c:strCache>
                <c:ptCount val="3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160000.0</c:v>
                </c:pt>
                <c:pt idx="1">
                  <c:v>160000.0</c:v>
                </c:pt>
                <c:pt idx="2">
                  <c:v>160000.0</c:v>
                </c:pt>
                <c:pt idx="3">
                  <c:v>160000.0</c:v>
                </c:pt>
                <c:pt idx="4">
                  <c:v>160000.0</c:v>
                </c:pt>
                <c:pt idx="5">
                  <c:v>160000.0</c:v>
                </c:pt>
                <c:pt idx="6">
                  <c:v>160000.0</c:v>
                </c:pt>
                <c:pt idx="7">
                  <c:v>160000.0</c:v>
                </c:pt>
                <c:pt idx="8">
                  <c:v>160000.0</c:v>
                </c:pt>
                <c:pt idx="9">
                  <c:v>160000.0</c:v>
                </c:pt>
                <c:pt idx="10">
                  <c:v>100000.0</c:v>
                </c:pt>
                <c:pt idx="11">
                  <c:v>100000.0</c:v>
                </c:pt>
                <c:pt idx="12">
                  <c:v>100000.0</c:v>
                </c:pt>
                <c:pt idx="13">
                  <c:v>100000.0</c:v>
                </c:pt>
                <c:pt idx="14">
                  <c:v>100000.0</c:v>
                </c:pt>
                <c:pt idx="15">
                  <c:v>100000.0</c:v>
                </c:pt>
                <c:pt idx="16">
                  <c:v>100000.0</c:v>
                </c:pt>
                <c:pt idx="17">
                  <c:v>100000.0</c:v>
                </c:pt>
                <c:pt idx="18">
                  <c:v>100000.0</c:v>
                </c:pt>
                <c:pt idx="19">
                  <c:v>100000.0</c:v>
                </c:pt>
                <c:pt idx="20">
                  <c:v>100000.0</c:v>
                </c:pt>
                <c:pt idx="21">
                  <c:v>100000.0</c:v>
                </c:pt>
                <c:pt idx="22">
                  <c:v>100000.0</c:v>
                </c:pt>
                <c:pt idx="23">
                  <c:v>100000.0</c:v>
                </c:pt>
                <c:pt idx="24">
                  <c:v>100000.0</c:v>
                </c:pt>
                <c:pt idx="25">
                  <c:v>100000.0</c:v>
                </c:pt>
                <c:pt idx="26">
                  <c:v>100000.0</c:v>
                </c:pt>
                <c:pt idx="27">
                  <c:v>100000.0</c:v>
                </c:pt>
                <c:pt idx="28">
                  <c:v>100000.0</c:v>
                </c:pt>
                <c:pt idx="29">
                  <c:v>100000.0</c:v>
                </c:pt>
                <c:pt idx="30">
                  <c:v>100000.0</c:v>
                </c:pt>
                <c:pt idx="31">
                  <c:v>100000.0</c:v>
                </c:pt>
                <c:pt idx="32">
                  <c:v>100000.0</c:v>
                </c:pt>
                <c:pt idx="33">
                  <c:v>100000.0</c:v>
                </c:pt>
                <c:pt idx="34">
                  <c:v>100000.0</c:v>
                </c:pt>
                <c:pt idx="35">
                  <c:v>100000.0</c:v>
                </c:pt>
                <c:pt idx="36">
                  <c:v>100000.0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27940">
              <a:solidFill>
                <a:srgbClr val="365E8C"/>
              </a:solidFill>
            </a:ln>
          </c:spPr>
          <c:cat>
            <c:strRef>
              <c:f>Sheet1!$A$2:$A$38</c:f>
              <c:strCache>
                <c:ptCount val="3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4949.0</c:v>
                </c:pt>
                <c:pt idx="1">
                  <c:v>9898.0</c:v>
                </c:pt>
                <c:pt idx="2">
                  <c:v>14847.0</c:v>
                </c:pt>
                <c:pt idx="3">
                  <c:v>19796.0</c:v>
                </c:pt>
                <c:pt idx="4">
                  <c:v>24745.0</c:v>
                </c:pt>
                <c:pt idx="5">
                  <c:v>29694.0</c:v>
                </c:pt>
                <c:pt idx="6">
                  <c:v>34643.0</c:v>
                </c:pt>
                <c:pt idx="7">
                  <c:v>39592.0</c:v>
                </c:pt>
                <c:pt idx="8">
                  <c:v>44541.0</c:v>
                </c:pt>
                <c:pt idx="9">
                  <c:v>49490.0</c:v>
                </c:pt>
                <c:pt idx="10">
                  <c:v>49490.0</c:v>
                </c:pt>
                <c:pt idx="11">
                  <c:v>49490.0</c:v>
                </c:pt>
                <c:pt idx="12">
                  <c:v>49490.0</c:v>
                </c:pt>
                <c:pt idx="13">
                  <c:v>49490.0</c:v>
                </c:pt>
                <c:pt idx="14">
                  <c:v>49490.0</c:v>
                </c:pt>
                <c:pt idx="15">
                  <c:v>49490.0</c:v>
                </c:pt>
                <c:pt idx="16">
                  <c:v>49490.0</c:v>
                </c:pt>
                <c:pt idx="17">
                  <c:v>49490.0</c:v>
                </c:pt>
                <c:pt idx="18">
                  <c:v>49490.0</c:v>
                </c:pt>
                <c:pt idx="19">
                  <c:v>49490.0</c:v>
                </c:pt>
                <c:pt idx="20">
                  <c:v>49490.0</c:v>
                </c:pt>
                <c:pt idx="21">
                  <c:v>49490.0</c:v>
                </c:pt>
                <c:pt idx="22">
                  <c:v>49490.0</c:v>
                </c:pt>
                <c:pt idx="23">
                  <c:v>49490.0</c:v>
                </c:pt>
                <c:pt idx="24">
                  <c:v>49490.0</c:v>
                </c:pt>
                <c:pt idx="25">
                  <c:v>49490.0</c:v>
                </c:pt>
                <c:pt idx="26">
                  <c:v>49490.0</c:v>
                </c:pt>
                <c:pt idx="27">
                  <c:v>49490.0</c:v>
                </c:pt>
                <c:pt idx="28">
                  <c:v>49490.0</c:v>
                </c:pt>
                <c:pt idx="29">
                  <c:v>49490.0</c:v>
                </c:pt>
                <c:pt idx="30">
                  <c:v>49490.0</c:v>
                </c:pt>
                <c:pt idx="31">
                  <c:v>49490.0</c:v>
                </c:pt>
                <c:pt idx="32">
                  <c:v>49490.0</c:v>
                </c:pt>
                <c:pt idx="33">
                  <c:v>49490.0</c:v>
                </c:pt>
                <c:pt idx="34">
                  <c:v>49490.0</c:v>
                </c:pt>
                <c:pt idx="35">
                  <c:v>49490.0</c:v>
                </c:pt>
                <c:pt idx="36">
                  <c:v>49490.0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总退保价值</c:v>
                </c:pt>
              </c:strCache>
            </c:strRef>
          </c:tx>
          <c:spPr>
            <a:ln w="27940">
              <a:solidFill>
                <a:srgbClr val="CE8A2C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2643.0</c:v>
                </c:pt>
                <c:pt idx="1">
                  <c:v>234795.0</c:v>
                </c:pt>
                <c:pt idx="2">
                  <c:v>638233.0</c:v>
                </c:pt>
                <c:pt idx="3">
                  <c:v>1366345.0</c:v>
                </c:pt>
                <c:pt idx="4">
                  <c:v>2782754.0</c:v>
                </c:pt>
                <c:pt idx="5">
                  <c:v>5457765.0</c:v>
                </c:pt>
                <c:pt idx="6">
                  <c:v>10825076.0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保证现金价值</c:v>
                </c:pt>
              </c:strCache>
            </c:strRef>
          </c:tx>
          <c:spPr>
            <a:ln w="27940">
              <a:solidFill>
                <a:srgbClr val="186C4F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99301.0</c:v>
                </c:pt>
                <c:pt idx="2">
                  <c:v>382518.0</c:v>
                </c:pt>
                <c:pt idx="3">
                  <c:v>507693.0</c:v>
                </c:pt>
                <c:pt idx="4">
                  <c:v>514686.0</c:v>
                </c:pt>
                <c:pt idx="5">
                  <c:v>521679.0</c:v>
                </c:pt>
                <c:pt idx="6">
                  <c:v>583916.0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27940">
              <a:solidFill>
                <a:srgbClr val="365E8C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100000.04</c:v>
                </c:pt>
                <c:pt idx="1">
                  <c:v>500000.19999999995</c:v>
                </c:pt>
                <c:pt idx="2">
                  <c:v>500000.19999999995</c:v>
                </c:pt>
                <c:pt idx="3">
                  <c:v>500000.19999999995</c:v>
                </c:pt>
                <c:pt idx="4">
                  <c:v>500000.19999999995</c:v>
                </c:pt>
                <c:pt idx="5">
                  <c:v>500000.19999999995</c:v>
                </c:pt>
                <c:pt idx="6">
                  <c:v>500000.19999999995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累计领取金额</c:v>
                </c:pt>
              </c:strCache>
            </c:strRef>
          </c:tx>
          <c:spPr>
            <a:ln w="27940">
              <a:solidFill>
                <a:srgbClr val="CE8A2C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35000.0</c:v>
                </c:pt>
                <c:pt idx="2">
                  <c:v>175001.0</c:v>
                </c:pt>
                <c:pt idx="3">
                  <c:v>525006.0</c:v>
                </c:pt>
                <c:pt idx="4">
                  <c:v>875016.0</c:v>
                </c:pt>
                <c:pt idx="5">
                  <c:v>1225045.0</c:v>
                </c:pt>
                <c:pt idx="6">
                  <c:v>1575107.0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提取后退保价值</c:v>
                </c:pt>
              </c:strCache>
            </c:strRef>
          </c:tx>
          <c:spPr>
            <a:ln w="27940">
              <a:solidFill>
                <a:srgbClr val="186C4F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2643.0</c:v>
                </c:pt>
                <c:pt idx="1">
                  <c:v>304801.0</c:v>
                </c:pt>
                <c:pt idx="2">
                  <c:v>449186.0</c:v>
                </c:pt>
                <c:pt idx="3">
                  <c:v>609591.0</c:v>
                </c:pt>
                <c:pt idx="4">
                  <c:v>866288.0</c:v>
                </c:pt>
                <c:pt idx="5">
                  <c:v>1153800.0</c:v>
                </c:pt>
                <c:pt idx="6">
                  <c:v>1693461.0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累计经济总值</c:v>
                </c:pt>
              </c:strCache>
            </c:strRef>
          </c:tx>
          <c:spPr>
            <a:ln w="27940">
              <a:solidFill>
                <a:srgbClr val="365E8C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2643.0</c:v>
                </c:pt>
                <c:pt idx="1">
                  <c:v>339801.0</c:v>
                </c:pt>
                <c:pt idx="2">
                  <c:v>624187.0</c:v>
                </c:pt>
                <c:pt idx="3">
                  <c:v>1134597.0</c:v>
                </c:pt>
                <c:pt idx="4">
                  <c:v>1741304.0</c:v>
                </c:pt>
                <c:pt idx="5">
                  <c:v>2378845.0</c:v>
                </c:pt>
                <c:pt idx="6">
                  <c:v>3268568.0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孩子储蓄险退保价值</c:v>
                </c:pt>
              </c:strCache>
            </c:strRef>
          </c:tx>
          <c:spPr>
            <a:ln w="27940">
              <a:solidFill>
                <a:srgbClr val="CE8A2C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2643.0</c:v>
                </c:pt>
                <c:pt idx="1">
                  <c:v>234795.0</c:v>
                </c:pt>
                <c:pt idx="2">
                  <c:v>638233.0</c:v>
                </c:pt>
                <c:pt idx="3">
                  <c:v>1366345.0</c:v>
                </c:pt>
                <c:pt idx="4">
                  <c:v>2782754.0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妈妈重疾险赔付额</c:v>
                </c:pt>
              </c:strCache>
            </c:strRef>
          </c:tx>
          <c:spPr>
            <a:ln w="27940">
              <a:solidFill>
                <a:srgbClr val="186C4F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160000.0</c:v>
                </c:pt>
                <c:pt idx="1">
                  <c:v>160000.0</c:v>
                </c:pt>
                <c:pt idx="2">
                  <c:v>160000.0</c:v>
                </c:pt>
                <c:pt idx="3">
                  <c:v>100000.0</c:v>
                </c:pt>
                <c:pt idx="4">
                  <c:v>100000.0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48640"/>
            <a:ext cx="5669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家庭防火墙与教育金定制方案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606060"/>
                </a:solidFill>
                <a:latin typeface="Microsoft YaHei"/>
              </a:rPr>
              <a:t>周大福人寿 · 爱伴航重疾险 + 环宇盈活储蓄险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2103120" cy="1078992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5786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妈妈重疾险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816352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CE8A2C"/>
                </a:solidFill>
                <a:latin typeface="Microsoft YaHei"/>
              </a:rPr>
              <a:t>US$130,000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2186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前10年总保障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46888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25786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孩子储蓄险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816352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262626"/>
                </a:solidFill>
                <a:latin typeface="Microsoft YaHei"/>
              </a:rPr>
              <a:t>US$500,000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32186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5年教育金储备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76732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妈妈年缴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4005072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262626"/>
                </a:solidFill>
                <a:latin typeface="Microsoft YaHei"/>
              </a:rPr>
              <a:t>US$4,949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4074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10年缴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65760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376732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孩子年缴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4005072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262626"/>
                </a:solidFill>
                <a:latin typeface="Microsoft YaHei"/>
              </a:rPr>
              <a:t>US$100,000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44074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5年缴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主线：妈妈负责家庭稳定，孩子负责未来规划。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第一章 家庭画像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先按家庭角色讲，再按产品落位</a:t>
            </a:r>
          </a:p>
        </p:txBody>
      </p:sp>
      <p:pic>
        <p:nvPicPr>
          <p:cNvPr id="4" name="Picture 3" descr="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07008"/>
            <a:ext cx="4892040" cy="40416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" y="1335024"/>
            <a:ext cx="199339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4475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妈妈 · 32 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682496"/>
            <a:ext cx="173736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30" b="0">
                <a:solidFill>
                  <a:srgbClr val="262626"/>
                </a:solidFill>
                <a:latin typeface="Microsoft YaHei"/>
              </a:rPr>
              <a:t>家庭收入与照顾责任核心
需要先锁住重大健康风险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2656" y="1335024"/>
            <a:ext cx="199339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444752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孩子 · 2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682496"/>
            <a:ext cx="173736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30" b="0">
                <a:solidFill>
                  <a:srgbClr val="262626"/>
                </a:solidFill>
                <a:latin typeface="Microsoft YaHei"/>
              </a:rPr>
              <a:t>未来教育金准备对象
需要长期现金流按节奏累积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335024"/>
            <a:ext cx="12801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1444752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1682496"/>
            <a:ext cx="1024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30" b="0">
                <a:solidFill>
                  <a:srgbClr val="262626"/>
                </a:solidFill>
                <a:latin typeface="Microsoft YaHei"/>
              </a:rPr>
              <a:t>防风险
备教育金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440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如果妈妈先出风险，家庭收入和照顾能力会受影响。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这时候不能先动孩子的教育金，所以重疾险必须放在第一层。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孩子储蓄险负责未来 18/21/25 岁阶段的教育资金节奏。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家庭主语先统一，后续每一页都围绕“谁承担什么责任”展开。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第二章 公司实力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公司页先交代品牌与财务底座，再讲产品</a:t>
            </a:r>
          </a:p>
        </p:txBody>
      </p:sp>
      <p:pic>
        <p:nvPicPr>
          <p:cNvPr id="4" name="Picture 3" descr="compan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4663440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4068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前身为富通保险，2019年被新创建集团收购，2024年正式更名为周大福人寿，依托周大福集团多元产业生态圈。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325880"/>
            <a:ext cx="2514600" cy="155448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1576" y="1435608"/>
            <a:ext cx="2258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成立/上市背景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1576" y="1673352"/>
            <a:ext cx="22585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前身富通保险，2019年被新创建集团收购，2024年更名为周大福人寿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32588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77656" y="1435608"/>
            <a:ext cx="2258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集团实力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7656" y="1673352"/>
            <a:ext cx="22585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紧扣周大福集团在零售、地产、医疗等多元产业生态圈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32461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1576" y="3355848"/>
            <a:ext cx="2258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业务定位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1576" y="3593592"/>
            <a:ext cx="22585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中高端家庭长期财富增值、代际传承与医疗增值服务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2461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7656" y="3355848"/>
            <a:ext cx="2258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惠誉评级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7656" y="3593592"/>
            <a:ext cx="22585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A-（强劲）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公司事实采用内部 Company Factbook 权威口径。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第三章 方案总览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两张保单不是并排，而是各自承担不同职责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3172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左：妈妈重疾险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3172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年缴 US$4,949
总保费 US$49,490
首十年总保障 US$130,000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35608"/>
            <a:ext cx="31729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右：孩子储蓄险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673352"/>
            <a:ext cx="3172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年缴 US$100,000
总保费 US$500,000
第 6 年开始提领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1546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435608"/>
            <a:ext cx="28986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中间一句话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673352"/>
            <a:ext cx="2898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妈妈负责家庭稳定
孩子负责未来规划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424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爱伴航解决的是大病、收入中断和医疗支出冲击。</a:t>
            </a:r>
          </a:p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环宇盈活解决的是孩子未来 18/21/25 岁阶段的教育金节奏。</a:t>
            </a:r>
          </a:p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先防风险，再做未来，是这套组合的核心结构。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第四章 为什么先做妈妈重疾险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第一层先处理家庭健康与现金流风险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32186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如果妈妈发生重疾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321868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收入减少
照顾能力下降
治疗与康复支出上升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435608"/>
            <a:ext cx="32186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这时候不能做什么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1673352"/>
            <a:ext cx="321868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不能先动孩子教育金
不能把未来准备拿去填当前风险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2926080" cy="150876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1435608"/>
            <a:ext cx="2670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所以爱伴航的角色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1673352"/>
            <a:ext cx="26700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家庭防火墙
先扛风险支出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424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基础保额 US$100,000，前 10 年升级保障 US$30,000，把前期保障抬到 US$130,000。</a:t>
            </a:r>
          </a:p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重疾 100 项、早期危疾 50 项，加上 ICU 和豁免责任，核心是先把家庭底线守住。</a:t>
            </a:r>
          </a:p>
          <a:p>
            <a:pPr algn="l">
              <a:lnSpc>
                <a:spcPct val="150000"/>
              </a:lnSpc>
            </a:pPr>
            <a:r>
              <a:rPr sz="1550">
                <a:solidFill>
                  <a:srgbClr val="262626"/>
                </a:solidFill>
                <a:latin typeface="Microsoft YaHei"/>
              </a:rPr>
              <a:t>• 这张单的任务不是替代储蓄，而是保护储蓄不被提前动用。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第五章 重疾险数据曲线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把保障力度和现金价值拆开看，比纯文字更直观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5943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417320"/>
            <a:ext cx="4663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24" y="1545336"/>
            <a:ext cx="43708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图表解读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0024" y="1837944"/>
            <a:ext cx="4370832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10 年缴总保费 US$49,490，第 10 年重疾赔付约 US$160,000。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20 年重疾赔付约 US$100,000，第 30 年约 US$100,000。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现金价值在第 10/20/30 年约为 US$160,000 / US$100,000 / US$100,000。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这张保单的重点是家庭风险缓冲，而不是长期财富增值。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图表口径：重疾赔付额、退保价值、已交保费均来自官方计划书标准化字段。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第六章 为什么给孩子做储蓄险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第二层解决未来教育金与成长现金流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32186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环宇盈活不解决什么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321868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它不解决家庭健康风险
不承担妈妈重疾后的支出压力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435608"/>
            <a:ext cx="32186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它解决什么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1673352"/>
            <a:ext cx="321868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18 岁累计约 US$455,005
21 岁累计约 US$560,007
25 岁累计约 US$700,009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2926080" cy="150876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1435608"/>
            <a:ext cx="2670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第二层角色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1673352"/>
            <a:ext cx="26700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教育金储备池
为孩子未来预留节奏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20">
                <a:solidFill>
                  <a:srgbClr val="262626"/>
                </a:solidFill>
                <a:latin typeface="Microsoft YaHei"/>
              </a:rPr>
              <a:t>• 总保费约 US$500,000，回本约第 7 年，第 20 年退保价值约 US$1,366,345，第 30 年约 US$2,782,754。</a:t>
            </a:r>
          </a:p>
          <a:p>
            <a:pPr algn="l">
              <a:lnSpc>
                <a:spcPct val="150000"/>
              </a:lnSpc>
            </a:pPr>
            <a:r>
              <a:rPr sz="1520">
                <a:solidFill>
                  <a:srgbClr val="262626"/>
                </a:solidFill>
                <a:latin typeface="Microsoft YaHei"/>
              </a:rPr>
              <a:t>• 如果家庭平稳，这张单就按成长阶段承担教育金、升学金、未来启动资金。</a:t>
            </a:r>
          </a:p>
          <a:p>
            <a:pPr algn="l">
              <a:lnSpc>
                <a:spcPct val="150000"/>
              </a:lnSpc>
            </a:pPr>
            <a:r>
              <a:rPr sz="1520">
                <a:solidFill>
                  <a:srgbClr val="262626"/>
                </a:solidFill>
                <a:latin typeface="Microsoft YaHei"/>
              </a:rPr>
              <a:t>• 所以它是第二层，不是第一层。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第七章 储蓄险不提取曲线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先看长期累积，再看提领取用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5943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417320"/>
            <a:ext cx="4663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24" y="1545336"/>
            <a:ext cx="43708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图表解读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0024" y="1837944"/>
            <a:ext cx="4370832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回本约第 7 年，之后总退保价值开始明显拉开。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20 年总退保价值约 US$1,366,345，约为总保费的 2.73 倍。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30 年总退保价值约 US$2,782,754，约为总保费的 5.57 倍。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这张曲线对应的是“不提取、让教育金继续积累”的路径。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不提取口径：展示保证现金价值、总退保价值与已交保费的长期差距。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第八章 储蓄险提取曲线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提领与剩余价值要一起看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5943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417320"/>
            <a:ext cx="46634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24" y="1545336"/>
            <a:ext cx="437083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图表解读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0024" y="1837944"/>
            <a:ext cx="4370832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6 年开始每年约 US$35,000。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到第 20 年累计领取约 US$455,005，提取后仍保留现价。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到第 30 年累计领取约 US$875,016，经济总值继续抬升。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这一页对应“教育阶段持续提取，但资金池没有被一次性抽空”的路径。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提取口径：同时观察累计领取、提取后现价和累计经济总值。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第九章 协同关系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这页是整套方案的灵魂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874519"/>
          </a:xfrm>
          <a:prstGeom prst="roundRect">
            <a:avLst/>
          </a:prstGeom>
          <a:solidFill>
            <a:srgbClr val="A5CCBD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7274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有重疾险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472744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风险来时，用重疾险扛支出
储蓄险继续留给孩子
教育金目标不被打断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4983480" cy="1874519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7274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没有重疾险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73352"/>
            <a:ext cx="4727448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风险来时，家里可能先动教育金
孩子未来目标被迫让位给当前支出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>
                <a:solidFill>
                  <a:srgbClr val="262626"/>
                </a:solidFill>
                <a:latin typeface="Microsoft YaHei"/>
              </a:rPr>
              <a:t>• 先用爱伴航守住家庭不失速，再用环宇盈活准备孩子未来不落空。</a:t>
            </a:r>
          </a:p>
          <a:p>
            <a:pPr algn="l">
              <a:lnSpc>
                <a:spcPct val="150000"/>
              </a:lnSpc>
            </a:pPr>
            <a:r>
              <a:rPr sz="1700">
                <a:solidFill>
                  <a:srgbClr val="262626"/>
                </a:solidFill>
                <a:latin typeface="Microsoft YaHei"/>
              </a:rPr>
              <a:t>• 这不是两张单相加，而是一个家庭资产与风险分层方案。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第十章 两张保单分别展开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先妈妈，后孩子，不要来回跳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8188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妈妈重疾险：爱伴航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48188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基础保额 US$100,000
年缴 US$4,949，缴费 10 年
首 10 年总保障 US$130,000
重疾 100 项，早期危疾 50 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8188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06060"/>
                </a:solidFill>
                <a:latin typeface="Microsoft YaHei"/>
              </a:rPr>
              <a:t>孩子储蓄险：环宇盈活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73352"/>
            <a:ext cx="481888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262626"/>
                </a:solidFill>
                <a:latin typeface="Microsoft YaHei"/>
              </a:rPr>
              <a:t>年缴 US$100,000，缴费 5 年
第 6 年开始每年提领 US$35,000
第 20 年总退保价值 US$1,366,345
教育金按阶段释放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4241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顺序固定：先讲谁扛风险，再讲谁承接未来目标。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客户听到这里，已经知道两张单各自承担什么角色。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第十一章 储蓄险不提取数据表（每10年）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口径：官方不提取现金价值路径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61872"/>
          <a:ext cx="68122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822960"/>
                <a:gridCol w="1097280"/>
                <a:gridCol w="1143000"/>
                <a:gridCol w="1234440"/>
                <a:gridCol w="914400"/>
                <a:gridCol w="914400"/>
              </a:tblGrid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年龄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保单年度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已交保费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保证现价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总退保价值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单利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复利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2,643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-97.36%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-97.36%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382,518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638,233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27.65%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2.47%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507,693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1,366,345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173.27%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5.15%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514,686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2,782,754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456.55%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5.89%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521,679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5,457,765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991.55%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6.16%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583,916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10,825,076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2065.01%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6.34%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590,909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21,551,989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4210.40%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6.47%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612,588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43,501,080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8600.21%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6.59%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665,035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88,890,671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17678.13%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6.69%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722,378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186,324,188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37164.82%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6.80%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509760" y="1508760"/>
            <a:ext cx="2057400" cy="297180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6064" y="1636776"/>
            <a:ext cx="1764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6064" y="1929384"/>
            <a:ext cx="176479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总保费 US$500,000，回本约第 7 年。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20 年约 2.73 倍，30 年约 5.57 倍。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适合看长期累积效率。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表格口径：关键年度每10年展示，数字直接来自官方计划书标准化结果。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第十二章 储蓄险提取数据表（每10年）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口径：官方提领取用路径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61872"/>
          <a:ext cx="82753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731520"/>
                <a:gridCol w="1051560"/>
                <a:gridCol w="914400"/>
                <a:gridCol w="1097280"/>
                <a:gridCol w="1188720"/>
                <a:gridCol w="1051560"/>
                <a:gridCol w="822960"/>
                <a:gridCol w="822960"/>
              </a:tblGrid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年龄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保单年度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已交保费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年领金额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累计领取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提后现价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经济总值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单利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262626"/>
                          </a:solidFill>
                          <a:latin typeface="Microsoft YaHei"/>
                        </a:rPr>
                        <a:t>复利</a:t>
                      </a:r>
                    </a:p>
                  </a:txBody>
                  <a:tcPr marL="63500" marR="63500" marT="25400" marB="25400">
                    <a:solidFill>
                      <a:srgbClr val="F0E6D0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2,643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2,643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-97.36%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-97.36%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175,001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449,186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624,187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24.84%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2.24%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525,006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609,591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1,134,597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126.92%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4.18%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875,016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866,288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1,741,304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248.26%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4.25%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1,225,045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1,153,800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2,378,845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375.77%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3.98%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35,013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1,575,107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1,693,461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3,268,568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553.71%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3.83%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35,007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1,925,212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2,706,421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4,631,633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826.33%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3.78%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70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35,023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2,275,471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4,607,683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6,883,154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1276.63%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3.82%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35,073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2,625,933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8,176,330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10,802,263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2060.45%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3.92%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500,000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35,072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2,977,227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14,874,098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17,851,325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3470.26%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4.05%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509760" y="1508760"/>
            <a:ext cx="2057400" cy="297180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6064" y="1636776"/>
            <a:ext cx="1764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62626"/>
                </a:solidFill>
                <a:latin typeface="Microsoft YaHei"/>
              </a:rPr>
              <a:t>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6064" y="1929384"/>
            <a:ext cx="176479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第 6 年开始每年约 US$35,000。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25 岁阶段累计领取约 US$700,009。</a:t>
            </a: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262626"/>
                </a:solidFill>
                <a:latin typeface="Microsoft YaHei"/>
              </a:rPr>
              <a:t>• 适合看教育金取用效率与剩余价值。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表格口径：关键年度每10年展示，数字直接来自官方计划书标准化结果。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第十三章 家庭时间轴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把谁在什么阶段发挥作用讲清楚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9875520" cy="45720"/>
          </a:xfrm>
          <a:prstGeom prst="rect">
            <a:avLst/>
          </a:prstGeom>
          <a:solidFill>
            <a:srgbClr val="DFD6C3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现在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妈妈保障生效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孩子储蓄开始累积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孩子 6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开始每年教育金提领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每年约 US$35,000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293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孩子 18/21 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累计约 US$455,005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累计约 US$560,007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0605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孩子 25 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605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累计约 US$700,009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未来升学/创业启动金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514600"/>
            <a:ext cx="1920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2651760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E8A2C"/>
                </a:solidFill>
                <a:latin typeface="Microsoft YaHei"/>
              </a:rPr>
              <a:t>长期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907792"/>
            <a:ext cx="166420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30 年现价约 US$2,782,754</a:t>
            </a:r>
          </a:p>
          <a:p>
            <a:pPr algn="l">
              <a:lnSpc>
                <a:spcPct val="135000"/>
              </a:lnSpc>
            </a:pPr>
            <a:r>
              <a:rPr sz="1100">
                <a:solidFill>
                  <a:srgbClr val="262626"/>
                </a:solidFill>
                <a:latin typeface="Microsoft YaHei"/>
              </a:rPr>
              <a:t>长期财富继续累积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时间轴口径：现在先守住妈妈的风险，再沿孩子成长节奏释放教育金。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一张保家庭不失速，一张保未来不落空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417320"/>
          <a:ext cx="5623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icture 4" descr="clo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25880"/>
            <a:ext cx="4983480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3977639"/>
            <a:ext cx="46634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>
                <a:solidFill>
                  <a:srgbClr val="262626"/>
                </a:solidFill>
                <a:latin typeface="Microsoft YaHei"/>
              </a:rPr>
              <a:t>• 妈妈这张单保家庭不失速：风险来时先由重疾险承担健康冲击。</a:t>
            </a:r>
          </a:p>
          <a:p>
            <a:pPr algn="l">
              <a:lnSpc>
                <a:spcPct val="150000"/>
              </a:lnSpc>
            </a:pPr>
            <a:r>
              <a:rPr sz="1450">
                <a:solidFill>
                  <a:srgbClr val="262626"/>
                </a:solidFill>
                <a:latin typeface="Microsoft YaHei"/>
              </a:rPr>
              <a:t>• 孩子这张单保未来不落空：教育金继续按阶段释放，不被家庭风险提前挪用。</a:t>
            </a:r>
          </a:p>
          <a:p>
            <a:pPr algn="l">
              <a:lnSpc>
                <a:spcPct val="150000"/>
              </a:lnSpc>
            </a:pPr>
            <a:r>
              <a:rPr sz="1450">
                <a:solidFill>
                  <a:srgbClr val="262626"/>
                </a:solidFill>
                <a:latin typeface="Microsoft YaHei"/>
              </a:rPr>
              <a:t>• 这就是家庭防火墙 + 教育金储备池的完整逻辑。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后续继续扩展时，可在此基础上叠加 IUL 形成更完整的家庭资产三层结构。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