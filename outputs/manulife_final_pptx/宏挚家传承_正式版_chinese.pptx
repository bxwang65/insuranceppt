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600" b="1">
                <a:solidFill>
                  <a:srgbClr val="FBF9F6"/>
                </a:solidFill>
              </a:rPr>
              <a:t>VIP 先生 专属方案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000" b="0">
                <a:solidFill>
                  <a:srgbClr val="C8963E"/>
                </a:solidFill>
              </a:rPr>
              <a:t>「匠·传承」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FBF9F6"/>
                </a:solidFill>
              </a:rPr>
              <a:t>USD 100,000 × 5年 = 总保费 500,000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C8963E"/>
                </a:solidFill>
              </a:rPr>
              <a:t>保障年期: 至128岁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FBF9F6"/>
                </a:solidFill>
              </a:rPr>
              <a:t>周大福人寿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公司介绍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8D624F"/>
                </a:solidFill>
              </a:rPr>
              <a:t>周大福人寿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5C3F32"/>
                </a:solidFill>
              </a:rPr>
              <a:t>• 公开资料显示，其分红实现率专题材料覆盖「匠心・传承」同类型产品系列，可用于公司长期分红兑现能力说明。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5C3F32"/>
                </a:solidFill>
              </a:rPr>
              <a:t>• 公开资料显示，公司提供一站式医疗增值服务与康复支持，可作为客户服务能力补充说明。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价值增长曲线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8D624F"/>
                </a:solidFill>
              </a:rPr>
              <a:t>退保总值（保证+非保证）/ 总保费 500,000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60670"/>
            <a:ext cx="1463040" cy="308610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9491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234,795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0.47x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830399"/>
            <a:ext cx="1463040" cy="838881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4464639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638,233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1.28x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4445315"/>
            <a:ext cx="1463040" cy="1223965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079555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931,210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1.86x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873382"/>
            <a:ext cx="1463040" cy="1795898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50762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1,366,345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2.73x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3126477"/>
            <a:ext cx="1463040" cy="2542803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760717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1,934,601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3.87x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2011680"/>
            <a:ext cx="1463040" cy="3657600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16459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2,782,754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5.57x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提领方案数据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年提取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28800"/>
            <a:ext cx="21945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累计提取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21945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剩余价值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1945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总收益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18288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倍数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1247120" cy="50292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28600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860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2860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234,795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234,795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28600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0.47x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8892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78892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35,000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78892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175,001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78892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449,186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8892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624,187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278892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1.25x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29184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29184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35,000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29184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350,002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29184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489,801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29184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839,803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329184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1.68x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94760"/>
            <a:ext cx="11247120" cy="50292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79476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379476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35,000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79476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525,006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379476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553,772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79476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1,078,778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379476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2.16x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29768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429768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35,001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29768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700,008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29768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615,502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29768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1,315,510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429768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2.63x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00600"/>
            <a:ext cx="11247120" cy="50292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0060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0" y="480060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35,003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48006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875,018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48006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716,823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8006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1,591,841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480060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3.18x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关键数字速览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回本年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C8963E"/>
                </a:solidFill>
              </a:rPr>
              <a:t>7 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本息首次超过总保费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2 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C8963E"/>
                </a:solidFill>
              </a:rPr>
              <a:t>17 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本金翻倍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3 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C8963E"/>
                </a:solidFill>
              </a:rPr>
              <a:t>22 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本金三倍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5 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C8963E"/>
                </a:solidFill>
              </a:rPr>
              <a:t>29 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本金五倍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5C3F32"/>
                </a:solidFill>
              </a:rPr>
              <a:t>提领方案: Y6 起每年提取 35,000，至 Y127 累计 4,293,028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600" b="1">
                <a:solidFill>
                  <a:srgbClr val="FBF9F6"/>
                </a:solidFill>
              </a:rPr>
              <a:t>愿这份规划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600" b="1">
                <a:solidFill>
                  <a:srgbClr val="C8963E"/>
                </a:solidFill>
              </a:rPr>
              <a:t>陪伴您的家庭稳健成长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FBF9F6"/>
                </a:solidFill>
              </a:rPr>
              <a:t>—— 致 VIP 先生 与家人  ——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C8963E"/>
                </a:solidFill>
              </a:rPr>
              <a:t>本演示基于周大福人寿官方计划书数据生成 · 实际保单条款以保单文件为准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