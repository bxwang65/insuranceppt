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embeddedFontLst>
    <p:embeddedFont>
      <p:font typeface="Calibri" panose="020F0502020204030204"/>
      <p:regular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572" y="1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2524" y="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42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ableStyles" Target="tableStyles.xml"/><Relationship Id="rId46" Type="http://schemas.openxmlformats.org/officeDocument/2006/relationships/font" Target="fonts/font1.fntdata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73A9D-B022-4F85-9682-B9C32622F96F}" type="datetimeFigureOut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  <p:sp>
        <p:nvSpPr>
          <p:cNvPr id="5" name="稻壳优创意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0F7DC-1472-42C6-A8B7-87FB1C344E56}" type="slidenum">
              <a:rPr lang="zh-CN" altLang="en-US" smtClean="0">
                <a:latin typeface="汉仪正圆-55W" panose="00020600040101010101" pitchFamily="18" charset="-122"/>
                <a:ea typeface="汉仪正圆-55W" panose="00020600040101010101" pitchFamily="18" charset="-122"/>
              </a:rPr>
            </a:fld>
            <a:endParaRPr lang="zh-CN" altLang="en-US">
              <a:latin typeface="汉仪正圆-55W" panose="00020600040101010101" pitchFamily="18" charset="-122"/>
              <a:ea typeface="汉仪正圆-55W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79B988E5-DDC8-4494-B252-ED4FADC769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稻壳优创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正圆-55W" panose="00020600040101010101" pitchFamily="18" charset="-122"/>
                <a:ea typeface="汉仪正圆-55W" panose="00020600040101010101" pitchFamily="18" charset="-122"/>
              </a:defRPr>
            </a:lvl1pPr>
          </a:lstStyle>
          <a:p>
            <a:fld id="{BE88F642-ACA7-4EDF-9A9F-4B24BAB079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正圆-55W" panose="00020600040101010101" pitchFamily="18" charset="-122"/>
        <a:ea typeface="汉仪正圆-55W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075" y="689789"/>
            <a:ext cx="612000" cy="615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储蓄险家庭资产配置方案</a:t>
            </a:r>
          </a:p>
        </p:txBody>
      </p:sp>
      <p:pic>
        <p:nvPicPr>
          <p:cNvPr id="5" name="Picture 4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486400" cy="4480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508760"/>
            <a:ext cx="539496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核心参数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缴费期：5年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年缴保费：US$100,000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第7年价值：US$514,498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第20年价值：US$1,366,345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公司介绍与资质</a:t>
            </a:r>
          </a:p>
        </p:txBody>
      </p:sp>
      <p:pic>
        <p:nvPicPr>
          <p:cNvPr id="5" name="Picture 4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64792"/>
            <a:ext cx="5303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周大福人寿（CTF Life）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Fitch 财务实力评级：A-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Moody's 财务实力评级：A3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香港RBC偿付能力充足率：282%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定位：长期保障+家庭财富传承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教育金阶段（18-21岁）</a:t>
            </a:r>
          </a:p>
        </p:txBody>
      </p:sp>
      <p:pic>
        <p:nvPicPr>
          <p:cNvPr id="5" name="Picture 4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120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89320" y="1600200"/>
            <a:ext cx="56692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64792"/>
            <a:ext cx="5303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资金使用场景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开始提领：保单第6年（约7岁）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18岁累计可提领：US$420,004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21岁累计可提领：US$525,006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适配：学费、住宿、研究支出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价值增长曲线（保单1-80年）</a:t>
            </a:r>
          </a:p>
        </p:txBody>
      </p:sp>
      <p:pic>
        <p:nvPicPr>
          <p:cNvPr id="5" name="Picture 4" descr="growth_8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56232"/>
            <a:ext cx="40233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图表解读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先看回本区间，再看关键节点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不提领20年：约本金2.73倍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不提领30年：约本金5.57倍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提领后仍保留长期资产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保证/非保证构成（保单1-80年）</a:t>
            </a:r>
          </a:p>
        </p:txBody>
      </p:sp>
      <p:pic>
        <p:nvPicPr>
          <p:cNvPr id="5" name="Picture 4" descr="stack_80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58368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389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856232"/>
            <a:ext cx="40233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图表解读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保证部分是底盘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非保证部分提供弹性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时间越长弹性贡献越大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里程碑一：教育与家庭现金流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6岁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保单第5年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US$0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US$0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US$234,795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10岁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US$35,000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US$140,001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US$424,733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5544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20岁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保单第19年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US$35,001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US$490,006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US$531,764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7536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30岁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保单第29年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US$35,003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US$840,015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US$699,318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10789920" cy="73152"/>
          </a:xfrm>
          <a:prstGeom prst="rect">
            <a:avLst/>
          </a:prstGeom>
          <a:solidFill>
            <a:srgbClr val="188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里程碑二：中后期与养老金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45岁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保单第44年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US$35,003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US$1,365,051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US$1,154,504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9232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60岁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保单第59年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US$35,020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US$1,890,177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US$2,463,361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8384" y="1828800"/>
            <a:ext cx="2240280" cy="3566160"/>
          </a:xfrm>
          <a:prstGeom prst="rect">
            <a:avLst/>
          </a:prstGeom>
          <a:solidFill>
            <a:srgbClr val="F8FBFD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95544" y="1965960"/>
            <a:ext cx="1965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A3C5F"/>
                </a:solidFill>
              </a:defRPr>
            </a:pPr>
            <a:r>
              <a:t>80岁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>
                <a:solidFill>
                  <a:srgbClr val="2D3847"/>
                </a:solidFill>
              </a:defRPr>
            </a:pPr>
            <a:r>
              <a:t>保单第79年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年提领: US$35,057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累计提领: US$2,590,891</a:t>
            </a:r>
          </a:p>
          <a:p>
            <a:pPr algn="ctr">
              <a:lnSpc>
                <a:spcPct val="125000"/>
              </a:lnSpc>
              <a:spcAft>
                <a:spcPts val="400"/>
              </a:spcAft>
              <a:defRPr sz="1300" b="1">
                <a:solidFill>
                  <a:srgbClr val="2D3847"/>
                </a:solidFill>
              </a:defRPr>
            </a:pPr>
            <a:r>
              <a:t>退保值: US$7,710,345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669280"/>
            <a:ext cx="10789920" cy="73152"/>
          </a:xfrm>
          <a:prstGeom prst="rect">
            <a:avLst/>
          </a:prstGeom>
          <a:solidFill>
            <a:srgbClr val="1889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003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2,643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175,001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449,186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-1.02%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-1.07%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525,006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553,772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0.54%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0.51%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875,018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716,823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1.45%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1.21%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1,225,045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985,224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2.43%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1.71%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1,575,098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1,526,323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4.11%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2.26%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1,925,185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2,610,075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7.03%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35,013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2,275,414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4,607,809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11.74%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3.22%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2,625,899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8,176,510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19.19%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3.55%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35,061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2,976,915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14,874,836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31.94%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3.84%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35,497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3,329,531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27,446,484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53.89%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4.09%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35,389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3,683,718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51,042,767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91.90%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4.29%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4,040,361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95,333,722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158.06%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4.47%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36,328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4,076,689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101,494,085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166.93%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4.49%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36,133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4,112,822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108,055,068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176.32%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不提领方案数据表（每10年）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28003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已交总保费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领取金额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累计领取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退保现金价值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单利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复利</a:t>
                      </a:r>
                    </a:p>
                  </a:txBody>
                  <a:tcPr>
                    <a:solidFill>
                      <a:srgbClr val="0A3C5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2,643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-97.36%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638,233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2.76%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2.47%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1,366,345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8.66%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5.15%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2,782,754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15.22%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5.89%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5,457,765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24.79%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6.16%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10,315,070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39.26%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6.24%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19,362,805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62.88%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6.28%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36,346,648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102.42%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6.31%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68,227,654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169.32%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6.34%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128,072,686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283.49%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6.36%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240,410,038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479.82%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6.37%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451,282,690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819.60%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847,119,646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1411.03%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902,182,423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1490.38%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F8FBFD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500,000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 b="1">
                          <a:solidFill>
                            <a:srgbClr val="2D3847"/>
                          </a:solidFill>
                        </a:defRPr>
                      </a:pPr>
                      <a:r>
                        <a:t>960,824,280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1574.30%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defRPr sz="1100">
                          <a:solidFill>
                            <a:srgbClr val="2D3847"/>
                          </a:solidFill>
                        </a:defRPr>
                      </a:pPr>
                      <a:r>
                        <a:t>6.39%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114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6677"/>
                </a:solidFill>
              </a:defRPr>
            </a:pPr>
            <a:r>
              <a:t>家庭理财  ·  保险理财  ·  养老保险  ·  理财案例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A3C5F"/>
                </a:solidFill>
              </a:defRPr>
            </a:pPr>
            <a:r>
              <a:t>执行建议与下一步</a:t>
            </a:r>
          </a:p>
        </p:txBody>
      </p:sp>
      <p:pic>
        <p:nvPicPr>
          <p:cNvPr id="5" name="Picture 4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48640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1645920"/>
            <a:ext cx="53949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188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100" b="1">
                <a:solidFill>
                  <a:srgbClr val="0A3C5F"/>
                </a:solidFill>
              </a:defRPr>
            </a:pPr>
            <a:r>
              <a:t>执行框架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阶段1：教育金优先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阶段2：现金流补充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阶段3：养老金落地</a:t>
            </a:r>
          </a:p>
          <a:p>
            <a:pPr>
              <a:lnSpc>
                <a:spcPct val="130000"/>
              </a:lnSpc>
              <a:spcAft>
                <a:spcPts val="700"/>
              </a:spcAft>
              <a:defRPr sz="1500">
                <a:solidFill>
                  <a:srgbClr val="2D3847"/>
                </a:solidFill>
              </a:defRPr>
            </a:pPr>
            <a:r>
              <a:t>• 每3年复盘提领与现价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稻壳优创意   http://chn.docer.com/works?userid=4610637">
  <a:themeElements>
    <a:clrScheme name="自定义 1534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18898D"/>
      </a:accent1>
      <a:accent2>
        <a:srgbClr val="0A3C5F"/>
      </a:accent2>
      <a:accent3>
        <a:srgbClr val="18898D"/>
      </a:accent3>
      <a:accent4>
        <a:srgbClr val="0A3C5F"/>
      </a:accent4>
      <a:accent5>
        <a:srgbClr val="18898D"/>
      </a:accent5>
      <a:accent6>
        <a:srgbClr val="0A3C5F"/>
      </a:accent6>
      <a:hlink>
        <a:srgbClr val="18898D"/>
      </a:hlink>
      <a:folHlink>
        <a:srgbClr val="0A3C5F"/>
      </a:folHlink>
    </a:clrScheme>
    <a:fontScheme name="1212121">
      <a:majorFont>
        <a:latin typeface="汉仪雅酷黑 85W"/>
        <a:ea typeface="汉仪雅酷黑 85W"/>
        <a:cs typeface=""/>
      </a:majorFont>
      <a:minorFont>
        <a:latin typeface="汉仪雅酷黑 85W"/>
        <a:ea typeface="汉仪正圆-55W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稻壳优创意</Template>
  <TotalTime>0</TotalTime>
  <Words>6024</Words>
  <Application>WPS 演示</Application>
  <PresentationFormat>宽屏</PresentationFormat>
  <Paragraphs>664</Paragraphs>
  <Slides>38</Slides>
  <Notes>38</Notes>
  <HiddenSlides>1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71" baseType="lpstr">
      <vt:lpstr>Arial</vt:lpstr>
      <vt:lpstr>宋体</vt:lpstr>
      <vt:lpstr>Wingdings</vt:lpstr>
      <vt:lpstr>汉仪正圆-55W</vt:lpstr>
      <vt:lpstr>苹方-简</vt:lpstr>
      <vt:lpstr>汉仪雅酷黑 85W</vt:lpstr>
      <vt:lpstr>汉仪中黑KW</vt:lpstr>
      <vt:lpstr>汉仪劲楷简</vt:lpstr>
      <vt:lpstr>汉仪雅酷黑 85W</vt:lpstr>
      <vt:lpstr>汉仪正圆-55W</vt:lpstr>
      <vt:lpstr>OPPOSans B</vt:lpstr>
      <vt:lpstr>思源黑体 CN Normal</vt:lpstr>
      <vt:lpstr>Calibri</vt:lpstr>
      <vt:lpstr>Malgun Gothic Semilight</vt:lpstr>
      <vt:lpstr>阿里巴巴普惠体</vt:lpstr>
      <vt:lpstr>微软雅黑</vt:lpstr>
      <vt:lpstr>汉仪旗黑</vt:lpstr>
      <vt:lpstr>汉仪楷体简</vt:lpstr>
      <vt:lpstr>汉仪书宋二KW</vt:lpstr>
      <vt:lpstr>宋体</vt:lpstr>
      <vt:lpstr>Arial Unicode MS</vt:lpstr>
      <vt:lpstr>黑体</vt:lpstr>
      <vt:lpstr>Malgun Gothic Semilight</vt:lpstr>
      <vt:lpstr>OPPOSans B</vt:lpstr>
      <vt:lpstr>Wingdings</vt:lpstr>
      <vt:lpstr>微软雅黑</vt:lpstr>
      <vt:lpstr>思源黑体 CN Normal</vt:lpstr>
      <vt:lpstr>汉仪劲楷简</vt:lpstr>
      <vt:lpstr>汉仪正圆-55W</vt:lpstr>
      <vt:lpstr>汉仪雅酷黑 85W</vt:lpstr>
      <vt:lpstr>阿里巴巴普惠体</vt:lpstr>
      <vt:lpstr>黑体</vt:lpstr>
      <vt:lpstr>稻壳优创意   http://chn.docer.com/works?userid=4610637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胡延龙</cp:lastModifiedBy>
  <cp:revision>1</cp:revision>
  <dcterms:created xsi:type="dcterms:W3CDTF">2026-05-26T02:52:25Z</dcterms:created>
  <dcterms:modified xsi:type="dcterms:W3CDTF">2026-05-26T02:52:25Z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KSOTemplateUUID">
    <vt:lpwstr>v1.0_mb_+/USxiQahQlYlVbjG0zmwQ==</vt:lpwstr>
  </property>
  <property fmtid="{D5CDD505-2E9C-101B-9397-08002B2CF9AE}" pid="4" name="ICV">
    <vt:lpwstr>7B9AA279B7DFDCFE3C0A156A6135D5A0_41</vt:lpwstr>
  </property>
</Properties>
</file>