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保证现金值</c:v>
                </c:pt>
              </c:strCache>
            </c:strRef>
          </c:tx>
          <c:spPr>
            <a:ln w="27940">
              <a:solidFill>
                <a:srgbClr val="E4A229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336969.0</c:v>
                </c:pt>
                <c:pt idx="2">
                  <c:v>838591.0</c:v>
                </c:pt>
                <c:pt idx="3">
                  <c:v>125217.0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当前假设现金值</c:v>
                </c:pt>
              </c:strCache>
            </c:strRef>
          </c:tx>
          <c:spPr>
            <a:ln w="27940">
              <a:solidFill>
                <a:srgbClr val="276C5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417939.0</c:v>
                </c:pt>
                <c:pt idx="2">
                  <c:v>1183098.0</c:v>
                </c:pt>
                <c:pt idx="3">
                  <c:v>1717455.0</c:v>
                </c:pt>
                <c:pt idx="4">
                  <c:v>2471402.0</c:v>
                </c:pt>
                <c:pt idx="5">
                  <c:v>4518624.0</c:v>
                </c:pt>
                <c:pt idx="6">
                  <c:v>8657824.0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当前假设身故赔偿</c:v>
                </c:pt>
              </c:strCache>
            </c:strRef>
          </c:tx>
          <c:spPr>
            <a:ln w="27940">
              <a:solidFill>
                <a:srgbClr val="3A6198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3000000.0</c:v>
                </c:pt>
                <c:pt idx="1">
                  <c:v>3000000.0</c:v>
                </c:pt>
                <c:pt idx="2">
                  <c:v>3000000.0</c:v>
                </c:pt>
                <c:pt idx="3">
                  <c:v>3000000.0</c:v>
                </c:pt>
                <c:pt idx="4">
                  <c:v>3000000.0</c:v>
                </c:pt>
                <c:pt idx="5">
                  <c:v>4518624.0</c:v>
                </c:pt>
                <c:pt idx="6">
                  <c:v>8657824.0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tylin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57150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4892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Client 家庭新加坡 IUL 定制方案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4825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C5C5C"/>
                </a:solidFill>
                <a:latin typeface="Microsoft YaHei"/>
              </a:rPr>
              <a:t>全美人寿 · Genesis III Indexed Universal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2148840" cy="1078992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首年保费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E4A229"/>
                </a:solidFill>
                <a:latin typeface="Microsoft YaHei"/>
              </a:rPr>
              <a:t>US$143,533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第1保单年度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2788920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89864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后续年缴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136392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US$143,533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538728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第2-10保单年度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基础保额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US$3,000,000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身故保障底盘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3977639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408736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325111"/>
            <a:ext cx="18928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22222"/>
                </a:solidFill>
                <a:latin typeface="Microsoft YaHei"/>
              </a:rPr>
              <a:t>20.90x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727447"/>
            <a:ext cx="18928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5C5C"/>
                </a:solidFill>
                <a:latin typeface="Microsoft YaHei"/>
              </a:rPr>
              <a:t>保额 ÷ 首年保费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定位：高杠杆身故保障 + 现金价值增长弹性 + 家族传承工具。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公司与产品定位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先讲公司实力，再讲 IUL 的家庭功能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222222"/>
                </a:solidFill>
                <a:latin typeface="Microsoft YaHei"/>
              </a:rPr>
              <a:t>拥有超过百年历史，现隶属于荷兰全球人寿（Aegon），是全球高净值人寿保险市场的重要参与者。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325880"/>
            <a:ext cx="2468880" cy="15087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5157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157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源自1904年，总部位于美国，现隶属于Aegon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2588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43560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集团实力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165506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全球高净值人寿保险市场的重要开拓者与参与者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5157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业务定位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157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离岸信托、大额寿险及结构化IUL财富传承方案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246120"/>
            <a:ext cx="2468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355848"/>
            <a:ext cx="22128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标普评级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575304"/>
            <a:ext cx="2212848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A+（强劲）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公司事实来自本地 Company Factbook 与内部公司资料库。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保单核心参数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先把客户最关心的姓名、年龄、缴费和保额讲清楚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834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35608"/>
            <a:ext cx="2578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客户信息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257860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姓名：Client
年龄：66 岁
性别：女性
类别：標準，非吸煙者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2277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缴费结构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277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首年：US$143,533
第2-10年：每年 US$143,533
累计计划保费：US$1,435,330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25880"/>
            <a:ext cx="3566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3256" y="1435608"/>
            <a:ext cx="3310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保障与杠杆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6" y="1655064"/>
            <a:ext cx="331012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基础保额：US$3,000,000
首年杠杆：20.90x
按10年总计划保费：2.09x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这份保单不是等额年缴：首年投入较高，后续9年降到 11.88 万美元。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它的核心不是短期收益，而是用 300 万美元身故保障先建立家族传承底盘。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客户 66 岁时投保，适合用来解决晚年流动性和代际传承效率。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指数账户与利率结构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现金价值增长来自账户结构，不是单一路径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4231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標普500指數戶口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配置比例：100%
当前假设利率：7.25%
保底/下限：0.00%
封顶/参与：11.20% /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環球指數戶口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当前假设利率：5.70%
保底/下限：0.00%
封顶/参与：8.20%-10.40% /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481328"/>
            <a:ext cx="3127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VC無上限指數戶口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1700784"/>
            <a:ext cx="3127248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配置比例：0%
当前假设利率：7.50%
保底/下限：0.00%
封顶/参与：無上限 /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本方案 100% 配置在倍数指数账户，当前假设利率 7.00%，下限 0%。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固定收益账户当前派息率 4.20%，第 11 个保单年度起另有 0.50% 保证忠诚红利派息率。</a:t>
            </a:r>
          </a:p>
          <a:p>
            <a:pPr algn="l">
              <a:lnSpc>
                <a:spcPct val="145000"/>
              </a:lnSpc>
            </a:pPr>
            <a:r>
              <a:rPr sz="1450">
                <a:solidFill>
                  <a:srgbClr val="222222"/>
                </a:solidFill>
                <a:latin typeface="Microsoft YaHei"/>
              </a:rPr>
              <a:t>• 这张 IUL 真正要解释的是“保底 + 指数弹性”的组合，而不是单看一个收益数字。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长期利益演示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用官方表格里的当前假设与保证值解释长期路径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12280" y="1417320"/>
            <a:ext cx="470916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0296" y="1527048"/>
            <a:ext cx="4453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关键节点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0296" y="1746504"/>
            <a:ext cx="4453128" cy="3264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第20年当前假设现金值：US$1,717,455
第20年保证现金值：US$125,217
第30年当前假设现金值：US$2,471,402
100岁当前假设身故赔偿：US$3,000,117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关键理解：保证值与当前假设值差异很大，客户沟通必须先讲风险承受，再讲收益区间。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22222"/>
                </a:solidFill>
                <a:latin typeface="Microsoft YaHei"/>
              </a:rPr>
              <a:t>它为家庭起到什么作用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5C5C"/>
                </a:solidFill>
                <a:latin typeface="Microsoft YaHei"/>
              </a:rPr>
              <a:t>IUL 在家庭资产结构里不负责教育金，而负责杠杆与传承</a:t>
            </a:r>
          </a:p>
        </p:txBody>
      </p:sp>
      <p:pic>
        <p:nvPicPr>
          <p:cNvPr id="4" name="Picture 3" descr="senior-lif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417320"/>
            <a:ext cx="5486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第一层：用较高的身故杠杆，给家庭留下确定性的传承底盘。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第二层：随着现金价值累积，未来可作为晚年流动性和应急资金来源。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第三层：如果市场长期表现良好，非保证现金值和身故赔偿都会继续抬升。</a:t>
            </a:r>
          </a:p>
          <a:p>
            <a:pPr algn="l">
              <a:lnSpc>
                <a:spcPct val="145000"/>
              </a:lnSpc>
            </a:pPr>
            <a:r>
              <a:rPr sz="1520">
                <a:solidFill>
                  <a:srgbClr val="222222"/>
                </a:solidFill>
                <a:latin typeface="Microsoft YaHei"/>
              </a:rPr>
              <a:t>• 对这位客户而言，它更像“家族财富传承工具”，重点解决晚年流动性和代际传承效率。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00600"/>
            <a:ext cx="2560320" cy="1051560"/>
          </a:xfrm>
          <a:prstGeom prst="roundRect">
            <a:avLst/>
          </a:prstGeom>
          <a:solidFill>
            <a:srgbClr val="F8ECC9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首年杠杆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20.90x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80060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4910328"/>
            <a:ext cx="23042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5C5C5C"/>
                </a:solidFill>
                <a:latin typeface="Microsoft YaHei"/>
              </a:rPr>
              <a:t>10年总缴杠杆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5129784"/>
            <a:ext cx="230428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22222"/>
                </a:solidFill>
                <a:latin typeface="Microsoft YaHei"/>
              </a:rPr>
              <a:t>2.09x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5C5C"/>
                </a:solidFill>
                <a:latin typeface="Microsoft YaHei"/>
              </a:rPr>
              <a:t>后续若与储蓄险、重疾险叠加，IUL 适合作为第三层：高杠杆定向传承层。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