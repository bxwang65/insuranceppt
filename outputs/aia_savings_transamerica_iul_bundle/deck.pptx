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总退保价值</c:v>
                </c:pt>
              </c:strCache>
            </c:strRef>
          </c:tx>
          <c:spPr>
            <a:ln w="27940">
              <a:solidFill>
                <a:srgbClr val="D19726"/>
              </a:solidFill>
            </a:ln>
          </c:spP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103.0</c:v>
                </c:pt>
                <c:pt idx="1">
                  <c:v>235632.0</c:v>
                </c:pt>
                <c:pt idx="2">
                  <c:v>659765.0</c:v>
                </c:pt>
                <c:pt idx="3">
                  <c:v>1357738.0</c:v>
                </c:pt>
                <c:pt idx="4">
                  <c:v>2927387.0</c:v>
                </c:pt>
                <c:pt idx="5">
                  <c:v>5495108.0</c:v>
                </c:pt>
                <c:pt idx="6">
                  <c:v>10315074.0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保证现金价值</c:v>
                </c:pt>
              </c:strCache>
            </c:strRef>
          </c:tx>
          <c:spPr>
            <a:ln w="27940">
              <a:solidFill>
                <a:srgbClr val="246F56"/>
              </a:solidFill>
            </a:ln>
          </c:spP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103.0</c:v>
                </c:pt>
                <c:pt idx="1">
                  <c:v>141830.0</c:v>
                </c:pt>
                <c:pt idx="2">
                  <c:v>315519.0</c:v>
                </c:pt>
                <c:pt idx="3">
                  <c:v>507709.0</c:v>
                </c:pt>
                <c:pt idx="4">
                  <c:v>517986.0</c:v>
                </c:pt>
                <c:pt idx="5">
                  <c:v>546557.0</c:v>
                </c:pt>
                <c:pt idx="6">
                  <c:v>561152.0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已交总保费</c:v>
                </c:pt>
              </c:strCache>
            </c:strRef>
          </c:tx>
          <c:spPr>
            <a:ln w="27940">
              <a:solidFill>
                <a:srgbClr val="3D5F94"/>
              </a:solidFill>
            </a:ln>
          </c:spP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100000.08</c:v>
                </c:pt>
                <c:pt idx="1">
                  <c:v>500000.4</c:v>
                </c:pt>
                <c:pt idx="2">
                  <c:v>500000.4</c:v>
                </c:pt>
                <c:pt idx="3">
                  <c:v>500000.4</c:v>
                </c:pt>
                <c:pt idx="4">
                  <c:v>500000.4</c:v>
                </c:pt>
                <c:pt idx="5">
                  <c:v>500000.4</c:v>
                </c:pt>
                <c:pt idx="6">
                  <c:v>500000.4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累计领取金额</c:v>
                </c:pt>
              </c:strCache>
            </c:strRef>
          </c:tx>
          <c:spPr>
            <a:ln w="27940">
              <a:solidFill>
                <a:srgbClr val="D19726"/>
              </a:solidFill>
            </a:ln>
          </c:spP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6</c:v>
                </c:pt>
                <c:pt idx="2">
                  <c:v>10</c:v>
                </c:pt>
                <c:pt idx="3">
                  <c:v>18</c:v>
                </c:pt>
                <c:pt idx="4">
                  <c:v>21</c:v>
                </c:pt>
                <c:pt idx="5">
                  <c:v>25</c:v>
                </c:pt>
                <c:pt idx="6">
                  <c:v>30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</c:v>
                </c:pt>
                <c:pt idx="1">
                  <c:v>35000.0</c:v>
                </c:pt>
                <c:pt idx="2">
                  <c:v>175000.0</c:v>
                </c:pt>
                <c:pt idx="3">
                  <c:v>455000.0</c:v>
                </c:pt>
                <c:pt idx="4">
                  <c:v>560000.0</c:v>
                </c:pt>
                <c:pt idx="5">
                  <c:v>700000.0</c:v>
                </c:pt>
                <c:pt idx="6">
                  <c:v>875000.0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提后现价</c:v>
                </c:pt>
              </c:strCache>
            </c:strRef>
          </c:tx>
          <c:spPr>
            <a:ln w="27940">
              <a:solidFill>
                <a:srgbClr val="246F56"/>
              </a:solidFill>
            </a:ln>
          </c:spP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6</c:v>
                </c:pt>
                <c:pt idx="2">
                  <c:v>10</c:v>
                </c:pt>
                <c:pt idx="3">
                  <c:v>18</c:v>
                </c:pt>
                <c:pt idx="4">
                  <c:v>21</c:v>
                </c:pt>
                <c:pt idx="5">
                  <c:v>25</c:v>
                </c:pt>
                <c:pt idx="6">
                  <c:v>30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103.0</c:v>
                </c:pt>
                <c:pt idx="1">
                  <c:v>405900.0</c:v>
                </c:pt>
                <c:pt idx="2">
                  <c:v>467019.0</c:v>
                </c:pt>
                <c:pt idx="3">
                  <c:v>476560.0</c:v>
                </c:pt>
                <c:pt idx="4">
                  <c:v>489688.0</c:v>
                </c:pt>
                <c:pt idx="5">
                  <c:v>521382.0</c:v>
                </c:pt>
                <c:pt idx="6">
                  <c:v>544522.0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累计经济总值</c:v>
                </c:pt>
              </c:strCache>
            </c:strRef>
          </c:tx>
          <c:spPr>
            <a:ln w="27940">
              <a:solidFill>
                <a:srgbClr val="3D5F94"/>
              </a:solidFill>
            </a:ln>
          </c:spP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6</c:v>
                </c:pt>
                <c:pt idx="2">
                  <c:v>10</c:v>
                </c:pt>
                <c:pt idx="3">
                  <c:v>18</c:v>
                </c:pt>
                <c:pt idx="4">
                  <c:v>21</c:v>
                </c:pt>
                <c:pt idx="5">
                  <c:v>25</c:v>
                </c:pt>
                <c:pt idx="6">
                  <c:v>30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103.0</c:v>
                </c:pt>
                <c:pt idx="1">
                  <c:v>440900.0</c:v>
                </c:pt>
                <c:pt idx="2">
                  <c:v>642019.0</c:v>
                </c:pt>
                <c:pt idx="3">
                  <c:v>931560.0</c:v>
                </c:pt>
                <c:pt idx="4">
                  <c:v>1049688.0</c:v>
                </c:pt>
                <c:pt idx="5">
                  <c:v>1221382.0</c:v>
                </c:pt>
                <c:pt idx="6">
                  <c:v>1419522.0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保证现金值</c:v>
                </c:pt>
              </c:strCache>
            </c:strRef>
          </c:tx>
          <c:spPr>
            <a:ln w="27940">
              <a:solidFill>
                <a:srgbClr val="D19726"/>
              </a:solidFill>
            </a:ln>
          </c:spP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2536.0</c:v>
                </c:pt>
                <c:pt idx="1">
                  <c:v>226834.0</c:v>
                </c:pt>
                <c:pt idx="2">
                  <c:v>194815.0</c:v>
                </c:pt>
                <c:pt idx="3">
                  <c:v>114079.0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当前假设现金值</c:v>
                </c:pt>
              </c:strCache>
            </c:strRef>
          </c:tx>
          <c:spPr>
            <a:ln w="27940">
              <a:solidFill>
                <a:srgbClr val="246F56"/>
              </a:solidFill>
            </a:ln>
          </c:spP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5360.0</c:v>
                </c:pt>
                <c:pt idx="1">
                  <c:v>271408.0</c:v>
                </c:pt>
                <c:pt idx="2">
                  <c:v>326890.0</c:v>
                </c:pt>
                <c:pt idx="3">
                  <c:v>490561.0</c:v>
                </c:pt>
                <c:pt idx="4">
                  <c:v>804423.0</c:v>
                </c:pt>
                <c:pt idx="5">
                  <c:v>1201620.0</c:v>
                </c:pt>
                <c:pt idx="6">
                  <c:v>1668413.0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当前假设身故赔偿</c:v>
                </c:pt>
              </c:strCache>
            </c:strRef>
          </c:tx>
          <c:spPr>
            <a:ln w="27940">
              <a:solidFill>
                <a:srgbClr val="3D5F94"/>
              </a:solidFill>
            </a:ln>
          </c:spP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2000000.0</c:v>
                </c:pt>
                <c:pt idx="1">
                  <c:v>2000000.0</c:v>
                </c:pt>
                <c:pt idx="2">
                  <c:v>2000000.0</c:v>
                </c:pt>
                <c:pt idx="3">
                  <c:v>2000000.0</c:v>
                </c:pt>
                <c:pt idx="4">
                  <c:v>2000000.0</c:v>
                </c:pt>
                <c:pt idx="5">
                  <c:v>2000000.0</c:v>
                </c:pt>
                <c:pt idx="6">
                  <c:v>2000000.0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mily-evening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0"/>
            <a:ext cx="5605272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566928"/>
            <a:ext cx="557784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教育金储备池与传承杠杆定制方案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572768"/>
            <a:ext cx="4846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5F5F5F"/>
                </a:solidFill>
                <a:latin typeface="Microsoft YaHei"/>
              </a:rPr>
              <a:t>友邦保险 储蓄险 + 全美人寿 IUL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23160"/>
            <a:ext cx="2103120" cy="1078992"/>
          </a:xfrm>
          <a:prstGeom prst="roundRect">
            <a:avLst/>
          </a:prstGeom>
          <a:solidFill>
            <a:srgbClr val="F5EACC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2532888"/>
            <a:ext cx="18470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1">
                <a:solidFill>
                  <a:srgbClr val="5F5F5F"/>
                </a:solidFill>
                <a:latin typeface="Microsoft YaHei"/>
              </a:rPr>
              <a:t>孩子储蓄险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2770632"/>
            <a:ext cx="18470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D19726"/>
                </a:solidFill>
                <a:latin typeface="Microsoft YaHei"/>
              </a:rPr>
              <a:t>US$500,000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3172968"/>
            <a:ext cx="18470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0">
                <a:solidFill>
                  <a:srgbClr val="5F5F5F"/>
                </a:solidFill>
                <a:latin typeface="Microsoft YaHei"/>
              </a:rPr>
              <a:t>教育金储备池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2423160"/>
            <a:ext cx="21031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74136" y="2532888"/>
            <a:ext cx="18470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1">
                <a:solidFill>
                  <a:srgbClr val="5F5F5F"/>
                </a:solidFill>
                <a:latin typeface="Microsoft YaHei"/>
              </a:rPr>
              <a:t>IUL 保额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4136" y="2770632"/>
            <a:ext cx="18470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222222"/>
                </a:solidFill>
                <a:latin typeface="Microsoft YaHei"/>
              </a:rPr>
              <a:t>US$2,000,000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4136" y="3172968"/>
            <a:ext cx="18470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0">
                <a:solidFill>
                  <a:srgbClr val="5F5F5F"/>
                </a:solidFill>
                <a:latin typeface="Microsoft YaHei"/>
              </a:rPr>
              <a:t>家族传承底盘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11880"/>
            <a:ext cx="21031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3721608"/>
            <a:ext cx="18470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1">
                <a:solidFill>
                  <a:srgbClr val="5F5F5F"/>
                </a:solidFill>
                <a:latin typeface="Microsoft YaHei"/>
              </a:rPr>
              <a:t>教育金起领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" y="3959352"/>
            <a:ext cx="18470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222222"/>
                </a:solidFill>
                <a:latin typeface="Microsoft YaHei"/>
              </a:rPr>
              <a:t>第6年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" y="4361688"/>
            <a:ext cx="18470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0">
                <a:solidFill>
                  <a:srgbClr val="5F5F5F"/>
                </a:solidFill>
                <a:latin typeface="Microsoft YaHei"/>
              </a:rPr>
              <a:t>每年 US$35,000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120" y="3611880"/>
            <a:ext cx="21031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74136" y="3721608"/>
            <a:ext cx="18470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1">
                <a:solidFill>
                  <a:srgbClr val="5F5F5F"/>
                </a:solidFill>
                <a:latin typeface="Microsoft YaHei"/>
              </a:rPr>
              <a:t>IUL 首年杠杆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4136" y="3959352"/>
            <a:ext cx="18470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222222"/>
                </a:solidFill>
                <a:latin typeface="Microsoft YaHei"/>
              </a:rPr>
              <a:t>30.14x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74136" y="4361688"/>
            <a:ext cx="18470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0">
                <a:solidFill>
                  <a:srgbClr val="5F5F5F"/>
                </a:solidFill>
                <a:latin typeface="Microsoft YaHei"/>
              </a:rPr>
              <a:t>保额 ÷ 首年保费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00800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F5F5F"/>
                </a:solidFill>
                <a:latin typeface="Microsoft YaHei"/>
              </a:rPr>
              <a:t>一张为孩子准备未来现金流，一张为家庭建立长期传承杠杆。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家庭目标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F5F5F"/>
                </a:solidFill>
                <a:latin typeface="Microsoft YaHei"/>
              </a:rPr>
              <a:t>储蓄险讲时间节奏，IUL 讲传承杠杆</a:t>
            </a:r>
          </a:p>
        </p:txBody>
      </p:sp>
      <p:pic>
        <p:nvPicPr>
          <p:cNvPr id="4" name="Picture 3" descr="father-child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234440"/>
            <a:ext cx="4754880" cy="3840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325880"/>
            <a:ext cx="20116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435608"/>
            <a:ext cx="17556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F5F5F"/>
                </a:solidFill>
                <a:latin typeface="Microsoft YaHei"/>
              </a:rPr>
              <a:t>孩子 · 1 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655064"/>
            <a:ext cx="1755648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80" b="0">
                <a:solidFill>
                  <a:srgbClr val="222222"/>
                </a:solidFill>
                <a:latin typeface="Microsoft YaHei"/>
              </a:rPr>
              <a:t>未来教育金准备对象
需要按年龄阶段释放现金流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325880"/>
            <a:ext cx="20116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99816" y="1435608"/>
            <a:ext cx="17556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F5F5F"/>
                </a:solidFill>
                <a:latin typeface="Microsoft YaHei"/>
              </a:rPr>
              <a:t>家庭持有人 · 46 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9816" y="1655064"/>
            <a:ext cx="1755648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80" b="0">
                <a:solidFill>
                  <a:srgbClr val="222222"/>
                </a:solidFill>
                <a:latin typeface="Microsoft YaHei"/>
              </a:rPr>
              <a:t>长期家族资产安排对象
需要更高身故杠杆和传承效率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1325880"/>
            <a:ext cx="12344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0096" y="1435608"/>
            <a:ext cx="9784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F5F5F"/>
                </a:solidFill>
                <a:latin typeface="Microsoft YaHei"/>
              </a:rPr>
              <a:t>主线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0096" y="1655064"/>
            <a:ext cx="978408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80" b="0">
                <a:solidFill>
                  <a:srgbClr val="222222"/>
                </a:solidFill>
                <a:latin typeface="Microsoft YaHei"/>
              </a:rPr>
              <a:t>未来
+传承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246120"/>
            <a:ext cx="55321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>
                <a:solidFill>
                  <a:srgbClr val="222222"/>
                </a:solidFill>
                <a:latin typeface="Microsoft YaHei"/>
              </a:rPr>
              <a:t>• 孩子储蓄险负责 18/21/25 岁的教育金和成长现金流节奏。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222222"/>
                </a:solidFill>
                <a:latin typeface="Microsoft YaHei"/>
              </a:rPr>
              <a:t>• IUL 负责更高的身故杠杆与中长期现金价值弹性。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222222"/>
                </a:solidFill>
                <a:latin typeface="Microsoft YaHei"/>
              </a:rPr>
              <a:t>• 两者不是重复配置，而是功能分层。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双层结构总览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F5F5F"/>
                </a:solidFill>
                <a:latin typeface="Microsoft YaHei"/>
              </a:rPr>
              <a:t>先看现金流层，再看杠杆层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4983480" cy="1828800"/>
          </a:xfrm>
          <a:prstGeom prst="roundRect">
            <a:avLst/>
          </a:prstGeom>
          <a:solidFill>
            <a:srgbClr val="F5EACC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435608"/>
            <a:ext cx="47274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F5F5F"/>
                </a:solidFill>
                <a:latin typeface="Microsoft YaHei"/>
              </a:rPr>
              <a:t>第一层：孩子教育金储备池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1655064"/>
            <a:ext cx="4727448" cy="1389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80" b="0">
                <a:solidFill>
                  <a:srgbClr val="222222"/>
                </a:solidFill>
                <a:latin typeface="Microsoft YaHei"/>
              </a:rPr>
              <a:t>年缴 US$100,000 × 5 年
第 6 年开始每年领约 US$35,000
18/21/25 岁累计约 US$455,000 / US$560,000 / US$700,000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325880"/>
            <a:ext cx="4983480" cy="1828800"/>
          </a:xfrm>
          <a:prstGeom prst="roundRect">
            <a:avLst/>
          </a:prstGeom>
          <a:solidFill>
            <a:srgbClr val="BBDBCE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3096" y="1435608"/>
            <a:ext cx="47274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F5F5F"/>
                </a:solidFill>
                <a:latin typeface="Microsoft YaHei"/>
              </a:rPr>
              <a:t>第二层：家族传承杠杆层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1655064"/>
            <a:ext cx="4727448" cy="1389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80" b="0">
                <a:solidFill>
                  <a:srgbClr val="222222"/>
                </a:solidFill>
                <a:latin typeface="Microsoft YaHei"/>
              </a:rPr>
              <a:t>首年保费 US$66,355
基础保额 US$2,000,000
首年杠杆 30.14x，按5年总保费杠杆 6.03x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657600"/>
            <a:ext cx="1042416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>
                <a:solidFill>
                  <a:srgbClr val="222222"/>
                </a:solidFill>
                <a:latin typeface="Microsoft YaHei"/>
              </a:rPr>
              <a:t>• 储蓄险解决的是孩子未来教育与成长现金流。</a:t>
            </a:r>
          </a:p>
          <a:p>
            <a:pPr algn="l">
              <a:lnSpc>
                <a:spcPct val="145000"/>
              </a:lnSpc>
            </a:pPr>
            <a:r>
              <a:rPr sz="1600">
                <a:solidFill>
                  <a:srgbClr val="222222"/>
                </a:solidFill>
                <a:latin typeface="Microsoft YaHei"/>
              </a:rPr>
              <a:t>• IUL 解决的是长期身故保障底盘与代际传承效率。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为什么先配孩子储蓄险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F5F5F"/>
                </a:solidFill>
                <a:latin typeface="Microsoft YaHei"/>
              </a:rPr>
              <a:t>教育金是时间确定、节点清晰的刚性目标</a:t>
            </a:r>
          </a:p>
        </p:txBody>
      </p:sp>
      <p:pic>
        <p:nvPicPr>
          <p:cNvPr id="4" name="Picture 3" descr="father-child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188720"/>
            <a:ext cx="4572000" cy="3886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" y="1325880"/>
            <a:ext cx="55321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80">
                <a:solidFill>
                  <a:srgbClr val="222222"/>
                </a:solidFill>
                <a:latin typeface="Microsoft YaHei"/>
              </a:rPr>
              <a:t>• 总保费约 US$500,000，回本较早，长期退保价值可持续抬升。</a:t>
            </a:r>
          </a:p>
          <a:p>
            <a:pPr algn="l">
              <a:lnSpc>
                <a:spcPct val="145000"/>
              </a:lnSpc>
            </a:pPr>
            <a:r>
              <a:rPr sz="1480">
                <a:solidFill>
                  <a:srgbClr val="222222"/>
                </a:solidFill>
                <a:latin typeface="Microsoft YaHei"/>
              </a:rPr>
              <a:t>• 第 20 年不提取现价约 US$1,357,738，第 30 年约 US$2,927,387。</a:t>
            </a:r>
          </a:p>
          <a:p>
            <a:pPr algn="l">
              <a:lnSpc>
                <a:spcPct val="145000"/>
              </a:lnSpc>
            </a:pPr>
            <a:r>
              <a:rPr sz="1480">
                <a:solidFill>
                  <a:srgbClr val="222222"/>
                </a:solidFill>
                <a:latin typeface="Microsoft YaHei"/>
              </a:rPr>
              <a:t>• 第 6 年开始每年约 US$35,000，可顺着孩子成长阶段释放教育金。</a:t>
            </a:r>
          </a:p>
          <a:p>
            <a:pPr algn="l">
              <a:lnSpc>
                <a:spcPct val="145000"/>
              </a:lnSpc>
            </a:pPr>
            <a:r>
              <a:rPr sz="1480">
                <a:solidFill>
                  <a:srgbClr val="222222"/>
                </a:solidFill>
                <a:latin typeface="Microsoft YaHei"/>
              </a:rPr>
              <a:t>• 它负责未来的确定节奏，不负责家庭传承杠杆。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储蓄险不提取曲线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F5F5F"/>
                </a:solidFill>
                <a:latin typeface="Microsoft YaHei"/>
              </a:rPr>
              <a:t>先看长期累积能力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325880"/>
          <a:ext cx="576072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5" name="Picture 4" descr="long-term-growth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325880"/>
            <a:ext cx="4617720" cy="2103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720840" y="3611880"/>
            <a:ext cx="4617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48856" y="3721608"/>
            <a:ext cx="43616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F5F5F"/>
                </a:solidFill>
                <a:latin typeface="Microsoft YaHei"/>
              </a:rPr>
              <a:t>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8856" y="3941064"/>
            <a:ext cx="4361688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80" b="0">
                <a:solidFill>
                  <a:srgbClr val="222222"/>
                </a:solidFill>
                <a:latin typeface="Microsoft YaHei"/>
              </a:rPr>
              <a:t>第20年总退保价值约 US$1,357,738
第30年总退保价值约 US$2,927,387
这是教育金不提前动用时的长期资金池。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储蓄险提取曲线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F5F5F"/>
                </a:solidFill>
                <a:latin typeface="Microsoft YaHei"/>
              </a:rPr>
              <a:t>再看教育金如何按节点释放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325880"/>
          <a:ext cx="576072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5" name="Picture 4" descr="graduation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325880"/>
            <a:ext cx="4617720" cy="2103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720840" y="3611880"/>
            <a:ext cx="4617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48856" y="3721608"/>
            <a:ext cx="43616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F5F5F"/>
                </a:solidFill>
                <a:latin typeface="Microsoft YaHei"/>
              </a:rPr>
              <a:t>教育金节点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8856" y="3941064"/>
            <a:ext cx="4361688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80" b="0">
                <a:solidFill>
                  <a:srgbClr val="222222"/>
                </a:solidFill>
                <a:latin typeface="Microsoft YaHei"/>
              </a:rPr>
              <a:t>18岁累计约 US$455,000
21岁累计约 US$560,000
25岁累计约 US$700,000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为什么再配 IUL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F5F5F"/>
                </a:solidFill>
                <a:latin typeface="Microsoft YaHei"/>
              </a:rPr>
              <a:t>IUL 解决的是教育金之外的长期杠杆层</a:t>
            </a:r>
          </a:p>
        </p:txBody>
      </p:sp>
      <p:pic>
        <p:nvPicPr>
          <p:cNvPr id="4" name="Picture 3" descr="citylin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234440"/>
            <a:ext cx="4754880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" y="1353312"/>
            <a:ext cx="55778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80">
                <a:solidFill>
                  <a:srgbClr val="222222"/>
                </a:solidFill>
                <a:latin typeface="Microsoft YaHei"/>
              </a:rPr>
              <a:t>• 基础保额 US$2,000,000，用相对有限的计划保费建立更高身故保障。</a:t>
            </a:r>
          </a:p>
          <a:p>
            <a:pPr algn="l">
              <a:lnSpc>
                <a:spcPct val="145000"/>
              </a:lnSpc>
            </a:pPr>
            <a:r>
              <a:rPr sz="1480">
                <a:solidFill>
                  <a:srgbClr val="222222"/>
                </a:solidFill>
                <a:latin typeface="Microsoft YaHei"/>
              </a:rPr>
              <a:t>• 首年杠杆约 30.14x，按总计划保费杠杆约 6.03x。</a:t>
            </a:r>
          </a:p>
          <a:p>
            <a:pPr algn="l">
              <a:lnSpc>
                <a:spcPct val="145000"/>
              </a:lnSpc>
            </a:pPr>
            <a:r>
              <a:rPr sz="1480">
                <a:solidFill>
                  <a:srgbClr val="222222"/>
                </a:solidFill>
                <a:latin typeface="Microsoft YaHei"/>
              </a:rPr>
              <a:t>• 第20年当前假设现金值约 US$490,561，第30年约 US$804,423。</a:t>
            </a:r>
          </a:p>
          <a:p>
            <a:pPr algn="l">
              <a:lnSpc>
                <a:spcPct val="145000"/>
              </a:lnSpc>
            </a:pPr>
            <a:r>
              <a:rPr sz="1480">
                <a:solidFill>
                  <a:srgbClr val="222222"/>
                </a:solidFill>
                <a:latin typeface="Microsoft YaHei"/>
              </a:rPr>
              <a:t>• 它不是给孩子领教育金，而是给家庭做长期传承和现金价值缓冲。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IUL 长期利益曲线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F5F5F"/>
                </a:solidFill>
                <a:latin typeface="Microsoft YaHei"/>
              </a:rPr>
              <a:t>把现金值和身故赔偿一起看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325880"/>
          <a:ext cx="576072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720840" y="1463040"/>
            <a:ext cx="457200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8856" y="1572768"/>
            <a:ext cx="43159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F5F5F"/>
                </a:solidFill>
                <a:latin typeface="Microsoft YaHei"/>
              </a:rPr>
              <a:t>关键数字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8856" y="1792224"/>
            <a:ext cx="4315968" cy="3218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80" b="0">
                <a:solidFill>
                  <a:srgbClr val="222222"/>
                </a:solidFill>
                <a:latin typeface="Microsoft YaHei"/>
              </a:rPr>
              <a:t>第20年当前假设现金值：US$490,561
第30年当前假设现金值：US$804,423
100岁当前假设身故赔偿：US$2,001,077
客户定位：46岁，男性，標準，非吸煙者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公司与服务分工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F5F5F"/>
                </a:solidFill>
                <a:latin typeface="Microsoft YaHei"/>
              </a:rPr>
              <a:t>储蓄险与 IUL 分别承担不同金融功能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4983480" cy="3200400"/>
          </a:xfrm>
          <a:prstGeom prst="roundRect">
            <a:avLst/>
          </a:prstGeom>
          <a:solidFill>
            <a:srgbClr val="F5EACC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435608"/>
            <a:ext cx="47274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F5F5F"/>
                </a:solidFill>
                <a:latin typeface="Microsoft YaHei"/>
              </a:rPr>
              <a:t>友邦保险 · 储蓄险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1655064"/>
            <a:ext cx="4727448" cy="2761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80" b="0">
                <a:solidFill>
                  <a:srgbClr val="222222"/>
                </a:solidFill>
                <a:latin typeface="Microsoft YaHei"/>
              </a:rPr>
              <a:t>根源可追溯至1919年的上海，2010年于香港联交所独立上市，是亚太地区最大的独立上市人寿保险集团之一，业务覆盖亚洲18个市场。
定位：以孩子未来教育金、成长现金流和长期累积为核心。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325880"/>
            <a:ext cx="4983480" cy="3200400"/>
          </a:xfrm>
          <a:prstGeom prst="roundRect">
            <a:avLst/>
          </a:prstGeom>
          <a:solidFill>
            <a:srgbClr val="BBDBCE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3096" y="1435608"/>
            <a:ext cx="47274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F5F5F"/>
                </a:solidFill>
                <a:latin typeface="Microsoft YaHei"/>
              </a:rPr>
              <a:t>全美人寿 · IUL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1655064"/>
            <a:ext cx="4727448" cy="2761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80" b="0">
                <a:solidFill>
                  <a:srgbClr val="222222"/>
                </a:solidFill>
                <a:latin typeface="Microsoft YaHei"/>
              </a:rPr>
              <a:t>拥有超过百年历史，现隶属于荷兰全球人寿（Aegon），是全球高净值人寿保险市场的重要参与者。
定位：以高杠杆身故保障、长期现金价值和家族传承为核心。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00800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F5F5F"/>
                </a:solidFill>
                <a:latin typeface="Microsoft YaHei"/>
              </a:rPr>
              <a:t>组合的价值不是叠加产品数量，而是把功能拆到最清楚。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协同关系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F5F5F"/>
                </a:solidFill>
                <a:latin typeface="Microsoft YaHei"/>
              </a:rPr>
              <a:t>教育金层与传承杠杆层不抢职责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4983480" cy="1874519"/>
          </a:xfrm>
          <a:prstGeom prst="roundRect">
            <a:avLst/>
          </a:prstGeom>
          <a:solidFill>
            <a:srgbClr val="F5EACC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435608"/>
            <a:ext cx="47274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F5F5F"/>
                </a:solidFill>
                <a:latin typeface="Microsoft YaHei"/>
              </a:rPr>
              <a:t>孩子储蓄险负责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1655064"/>
            <a:ext cx="4727448" cy="1435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80" b="0">
                <a:solidFill>
                  <a:srgbClr val="222222"/>
                </a:solidFill>
                <a:latin typeface="Microsoft YaHei"/>
              </a:rPr>
              <a:t>未来 18/21/25 岁教育金节奏
成长阶段现金流
未来启动资金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325880"/>
            <a:ext cx="4983480" cy="1874519"/>
          </a:xfrm>
          <a:prstGeom prst="roundRect">
            <a:avLst/>
          </a:prstGeom>
          <a:solidFill>
            <a:srgbClr val="BBDBCE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3096" y="1435608"/>
            <a:ext cx="47274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F5F5F"/>
                </a:solidFill>
                <a:latin typeface="Microsoft YaHei"/>
              </a:rPr>
              <a:t>IUL 负责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1655064"/>
            <a:ext cx="4727448" cy="1435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80" b="0">
                <a:solidFill>
                  <a:srgbClr val="222222"/>
                </a:solidFill>
                <a:latin typeface="Microsoft YaHei"/>
              </a:rPr>
              <a:t>更高身故保障底盘
家族传承效率
晚年流动性与应急缓冲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657600"/>
            <a:ext cx="103784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50">
                <a:solidFill>
                  <a:srgbClr val="222222"/>
                </a:solidFill>
                <a:latin typeface="Microsoft YaHei"/>
              </a:rPr>
              <a:t>• 孩子储蓄险从第 6 年开始每年约领取 US$35,000，到 18/21/25 岁已累计约 US$455,000 / US$560,000 / US$700,000，为教育阶段提供长期稳健现金流。</a:t>
            </a:r>
          </a:p>
          <a:p>
            <a:pPr algn="l">
              <a:lnSpc>
                <a:spcPct val="145000"/>
              </a:lnSpc>
            </a:pPr>
            <a:r>
              <a:rPr sz="1550">
                <a:solidFill>
                  <a:srgbClr val="222222"/>
                </a:solidFill>
                <a:latin typeface="Microsoft YaHei"/>
              </a:rPr>
              <a:t>• IUL 自首年开始就建立约 US$2,000,000 的高基本保额，以更高杠杆为家庭筑起长期保障与财富传承底盘。</a:t>
            </a:r>
          </a:p>
          <a:p>
            <a:pPr algn="l">
              <a:lnSpc>
                <a:spcPct val="145000"/>
              </a:lnSpc>
            </a:pPr>
            <a:r>
              <a:rPr sz="1550">
                <a:solidFill>
                  <a:srgbClr val="222222"/>
                </a:solidFill>
                <a:latin typeface="Microsoft YaHei"/>
              </a:rPr>
              <a:t>• 两张保单一张管未来现金流，一张管家族资产护城河，功能清楚、互不冲突。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家庭时间轴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F5F5F"/>
                </a:solidFill>
                <a:latin typeface="Microsoft YaHei"/>
              </a:rPr>
              <a:t>一个看孩子年龄，一个看家族资产层级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103120"/>
            <a:ext cx="9875520" cy="45720"/>
          </a:xfrm>
          <a:prstGeom prst="rect">
            <a:avLst/>
          </a:prstGeom>
          <a:solidFill>
            <a:srgbClr val="E0D8CA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2468880"/>
            <a:ext cx="1828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596896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D19726"/>
                </a:solidFill>
                <a:latin typeface="Microsoft YaHei"/>
              </a:rPr>
              <a:t>现在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816352"/>
            <a:ext cx="16002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80">
                <a:solidFill>
                  <a:srgbClr val="222222"/>
                </a:solidFill>
                <a:latin typeface="Microsoft YaHei"/>
              </a:rPr>
              <a:t>孩子储蓄开始累积</a:t>
            </a:r>
          </a:p>
          <a:p>
            <a:pPr algn="l">
              <a:lnSpc>
                <a:spcPct val="130000"/>
              </a:lnSpc>
            </a:pPr>
            <a:r>
              <a:rPr sz="1080">
                <a:solidFill>
                  <a:srgbClr val="222222"/>
                </a:solidFill>
                <a:latin typeface="Microsoft YaHei"/>
              </a:rPr>
              <a:t>IUL 杠杆结构就位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2468880"/>
            <a:ext cx="1828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35808" y="2596896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D19726"/>
                </a:solidFill>
                <a:latin typeface="Microsoft YaHei"/>
              </a:rPr>
              <a:t>孩子 6 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35808" y="2816352"/>
            <a:ext cx="16002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80">
                <a:solidFill>
                  <a:srgbClr val="222222"/>
                </a:solidFill>
                <a:latin typeface="Microsoft YaHei"/>
              </a:rPr>
              <a:t>每年约 US$35,000</a:t>
            </a:r>
          </a:p>
          <a:p>
            <a:pPr algn="l">
              <a:lnSpc>
                <a:spcPct val="130000"/>
              </a:lnSpc>
            </a:pPr>
            <a:r>
              <a:rPr sz="1080">
                <a:solidFill>
                  <a:srgbClr val="222222"/>
                </a:solidFill>
                <a:latin typeface="Microsoft YaHei"/>
              </a:rPr>
              <a:t>教育金开始释放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2468880"/>
            <a:ext cx="1828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93208" y="2596896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D19726"/>
                </a:solidFill>
                <a:latin typeface="Microsoft YaHei"/>
              </a:rPr>
              <a:t>孩子 18/21 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3208" y="2816352"/>
            <a:ext cx="16002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80">
                <a:solidFill>
                  <a:srgbClr val="222222"/>
                </a:solidFill>
                <a:latin typeface="Microsoft YaHei"/>
              </a:rPr>
              <a:t>累计约 US$455,000</a:t>
            </a:r>
          </a:p>
          <a:p>
            <a:pPr algn="l">
              <a:lnSpc>
                <a:spcPct val="130000"/>
              </a:lnSpc>
            </a:pPr>
            <a:r>
              <a:rPr sz="1080">
                <a:solidFill>
                  <a:srgbClr val="222222"/>
                </a:solidFill>
                <a:latin typeface="Microsoft YaHei"/>
              </a:rPr>
              <a:t>累计约 US$560,000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68880"/>
            <a:ext cx="1828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50608" y="2596896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D19726"/>
                </a:solidFill>
                <a:latin typeface="Microsoft YaHei"/>
              </a:rPr>
              <a:t>IUL 第20年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0608" y="2816352"/>
            <a:ext cx="16002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80">
                <a:solidFill>
                  <a:srgbClr val="222222"/>
                </a:solidFill>
                <a:latin typeface="Microsoft YaHei"/>
              </a:rPr>
              <a:t>现值约 US$490,561</a:t>
            </a:r>
          </a:p>
          <a:p>
            <a:pPr algn="l">
              <a:lnSpc>
                <a:spcPct val="130000"/>
              </a:lnSpc>
            </a:pPr>
            <a:r>
              <a:rPr sz="1080">
                <a:solidFill>
                  <a:srgbClr val="222222"/>
                </a:solidFill>
                <a:latin typeface="Microsoft YaHei"/>
              </a:rPr>
              <a:t>传承底盘持续在位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2468880"/>
            <a:ext cx="1828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08008" y="2596896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D19726"/>
                </a:solidFill>
                <a:latin typeface="Microsoft YaHei"/>
              </a:rPr>
              <a:t>IUL 第30年+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8008" y="2816352"/>
            <a:ext cx="16002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80">
                <a:solidFill>
                  <a:srgbClr val="222222"/>
                </a:solidFill>
                <a:latin typeface="Microsoft YaHei"/>
              </a:rPr>
              <a:t>现值约 US$804,423</a:t>
            </a:r>
          </a:p>
          <a:p>
            <a:pPr algn="l">
              <a:lnSpc>
                <a:spcPct val="130000"/>
              </a:lnSpc>
            </a:pPr>
            <a:r>
              <a:rPr sz="1080">
                <a:solidFill>
                  <a:srgbClr val="222222"/>
                </a:solidFill>
                <a:latin typeface="Microsoft YaHei"/>
              </a:rPr>
              <a:t>身故保障继续服务家族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00800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F5F5F"/>
                </a:solidFill>
                <a:latin typeface="Microsoft YaHei"/>
              </a:rPr>
              <a:t>孩子的未来现金流与家庭长期传承底盘，分别沿两条时间轴发挥作用。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F5F5F"/>
                </a:solidFill>
                <a:latin typeface="Microsoft YaHei"/>
              </a:rPr>
              <a:t>一张负责未来现金流，一张负责长期传承杠杆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325880"/>
            <a:ext cx="54864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20">
                <a:solidFill>
                  <a:srgbClr val="222222"/>
                </a:solidFill>
                <a:latin typeface="Microsoft YaHei"/>
              </a:rPr>
              <a:t>• 孩子储蓄险保证未来教育金节奏明确，不需要临时为升学资金找现金流。</a:t>
            </a:r>
          </a:p>
          <a:p>
            <a:pPr algn="l">
              <a:lnSpc>
                <a:spcPct val="145000"/>
              </a:lnSpc>
            </a:pPr>
            <a:r>
              <a:rPr sz="1520">
                <a:solidFill>
                  <a:srgbClr val="222222"/>
                </a:solidFill>
                <a:latin typeface="Microsoft YaHei"/>
              </a:rPr>
              <a:t>• IUL 用更高杠杆把家族长期保障和传承底盘提前锁定下来。</a:t>
            </a:r>
          </a:p>
          <a:p>
            <a:pPr algn="l">
              <a:lnSpc>
                <a:spcPct val="145000"/>
              </a:lnSpc>
            </a:pPr>
            <a:r>
              <a:rPr sz="1520">
                <a:solidFill>
                  <a:srgbClr val="222222"/>
                </a:solidFill>
                <a:latin typeface="Microsoft YaHei"/>
              </a:rPr>
              <a:t>• 这套组合不是重复配置，而是把家庭资产目标拆成两个不同的功能层。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526280"/>
            <a:ext cx="2331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4636008"/>
            <a:ext cx="20756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1">
                <a:solidFill>
                  <a:srgbClr val="5F5F5F"/>
                </a:solidFill>
                <a:latin typeface="Microsoft YaHei"/>
              </a:rPr>
              <a:t>教育金池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4873752"/>
            <a:ext cx="20756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2222"/>
                </a:solidFill>
                <a:latin typeface="Microsoft YaHei"/>
              </a:rPr>
              <a:t>US$500,000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5276088"/>
            <a:ext cx="20756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0">
                <a:solidFill>
                  <a:srgbClr val="5F5F5F"/>
                </a:solidFill>
                <a:latin typeface="Microsoft YaHei"/>
              </a:rPr>
              <a:t>孩子未来现金流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4526280"/>
            <a:ext cx="2331720" cy="1051560"/>
          </a:xfrm>
          <a:prstGeom prst="roundRect">
            <a:avLst/>
          </a:prstGeom>
          <a:solidFill>
            <a:srgbClr val="F5EACC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7016" y="4636008"/>
            <a:ext cx="20756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1">
                <a:solidFill>
                  <a:srgbClr val="5F5F5F"/>
                </a:solidFill>
                <a:latin typeface="Microsoft YaHei"/>
              </a:rPr>
              <a:t>IUL 杠杆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7016" y="4873752"/>
            <a:ext cx="20756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D19726"/>
                </a:solidFill>
                <a:latin typeface="Microsoft YaHei"/>
              </a:rPr>
              <a:t>30.14x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7016" y="5276088"/>
            <a:ext cx="20756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0">
                <a:solidFill>
                  <a:srgbClr val="5F5F5F"/>
                </a:solidFill>
                <a:latin typeface="Microsoft YaHei"/>
              </a:rPr>
              <a:t>首年保额杠杆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4526280"/>
            <a:ext cx="2331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63056" y="4636008"/>
            <a:ext cx="20756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1">
                <a:solidFill>
                  <a:srgbClr val="5F5F5F"/>
                </a:solidFill>
                <a:latin typeface="Microsoft YaHei"/>
              </a:rPr>
              <a:t>IUL 首年保额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3056" y="4873752"/>
            <a:ext cx="20756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2222"/>
                </a:solidFill>
                <a:latin typeface="Microsoft YaHei"/>
              </a:rPr>
              <a:t>US$2,000,000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3056" y="5276088"/>
            <a:ext cx="20756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0">
                <a:solidFill>
                  <a:srgbClr val="5F5F5F"/>
                </a:solidFill>
                <a:latin typeface="Microsoft YaHei"/>
              </a:rPr>
              <a:t>财富护城河</a:t>
            </a:r>
          </a:p>
        </p:txBody>
      </p:sp>
      <p:pic>
        <p:nvPicPr>
          <p:cNvPr id="17" name="Picture 16" descr="cashflow-futur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1417320"/>
            <a:ext cx="3017520" cy="43891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66928" y="6400800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F5F5F"/>
                </a:solidFill>
                <a:latin typeface="Microsoft YaHei"/>
              </a:rPr>
              <a:t>后续若再叠加重疾险，就会形成：教育金层 + 传承杠杆层 + 家庭风险防火墙。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