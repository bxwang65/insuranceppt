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保证现金值</c:v>
                </c:pt>
              </c:strCache>
            </c:strRef>
          </c:tx>
          <c:spPr>
            <a:ln w="27940">
              <a:solidFill>
                <a:srgbClr val="E4A229"/>
              </a:solidFill>
            </a:ln>
          </c:spP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40</c:v>
                </c:pt>
                <c:pt idx="6">
                  <c:v>50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2536.0</c:v>
                </c:pt>
                <c:pt idx="1">
                  <c:v>226834.0</c:v>
                </c:pt>
                <c:pt idx="2">
                  <c:v>194815.0</c:v>
                </c:pt>
                <c:pt idx="3">
                  <c:v>114079.0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当前假设现金值</c:v>
                </c:pt>
              </c:strCache>
            </c:strRef>
          </c:tx>
          <c:spPr>
            <a:ln w="27940">
              <a:solidFill>
                <a:srgbClr val="276C54"/>
              </a:solidFill>
            </a:ln>
          </c:spP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40</c:v>
                </c:pt>
                <c:pt idx="6">
                  <c:v>50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5360.0</c:v>
                </c:pt>
                <c:pt idx="1">
                  <c:v>271408.0</c:v>
                </c:pt>
                <c:pt idx="2">
                  <c:v>326890.0</c:v>
                </c:pt>
                <c:pt idx="3">
                  <c:v>490561.0</c:v>
                </c:pt>
                <c:pt idx="4">
                  <c:v>804423.0</c:v>
                </c:pt>
                <c:pt idx="5">
                  <c:v>1201620.0</c:v>
                </c:pt>
                <c:pt idx="6">
                  <c:v>1668413.0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当前假设身故赔偿</c:v>
                </c:pt>
              </c:strCache>
            </c:strRef>
          </c:tx>
          <c:spPr>
            <a:ln w="27940">
              <a:solidFill>
                <a:srgbClr val="3A6198"/>
              </a:solidFill>
            </a:ln>
          </c:spP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40</c:v>
                </c:pt>
                <c:pt idx="6">
                  <c:v>50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2000000.0</c:v>
                </c:pt>
                <c:pt idx="1">
                  <c:v>2000000.0</c:v>
                </c:pt>
                <c:pt idx="2">
                  <c:v>2000000.0</c:v>
                </c:pt>
                <c:pt idx="3">
                  <c:v>2000000.0</c:v>
                </c:pt>
                <c:pt idx="4">
                  <c:v>2000000.0</c:v>
                </c:pt>
                <c:pt idx="5">
                  <c:v>2000000.0</c:v>
                </c:pt>
                <c:pt idx="6">
                  <c:v>2000000.0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itylin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5376672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566928"/>
            <a:ext cx="571500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4892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Client 家庭新加坡 IUL 定制方案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48256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5C5C5C"/>
                </a:solidFill>
                <a:latin typeface="Microsoft YaHei"/>
              </a:rPr>
              <a:t>全美人寿 · GIUL III Indexed Universal Life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788920"/>
            <a:ext cx="2148840" cy="1078992"/>
          </a:xfrm>
          <a:prstGeom prst="roundRect">
            <a:avLst/>
          </a:prstGeom>
          <a:solidFill>
            <a:srgbClr val="F8ECC9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2898648"/>
            <a:ext cx="18928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5C5C5C"/>
                </a:solidFill>
                <a:latin typeface="Microsoft YaHei"/>
              </a:rPr>
              <a:t>首年保费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3136392"/>
            <a:ext cx="189280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E4A229"/>
                </a:solidFill>
                <a:latin typeface="Microsoft YaHei"/>
              </a:rPr>
              <a:t>US$66,355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" y="3538728"/>
            <a:ext cx="18928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5C5C"/>
                </a:solidFill>
                <a:latin typeface="Microsoft YaHei"/>
              </a:rPr>
              <a:t>第1保单年度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82112" y="2788920"/>
            <a:ext cx="21488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0128" y="2898648"/>
            <a:ext cx="18928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5C5C5C"/>
                </a:solidFill>
                <a:latin typeface="Microsoft YaHei"/>
              </a:rPr>
              <a:t>后续年缴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0128" y="3136392"/>
            <a:ext cx="189280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222222"/>
                </a:solidFill>
                <a:latin typeface="Microsoft YaHei"/>
              </a:rPr>
              <a:t>US$66,355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3538728"/>
            <a:ext cx="18928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5C5C"/>
                </a:solidFill>
                <a:latin typeface="Microsoft YaHei"/>
              </a:rPr>
              <a:t>第2-10保单年度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977639"/>
            <a:ext cx="21488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087367"/>
            <a:ext cx="18928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5C5C5C"/>
                </a:solidFill>
                <a:latin typeface="Microsoft YaHei"/>
              </a:rPr>
              <a:t>基础保额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325111"/>
            <a:ext cx="189280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222222"/>
                </a:solidFill>
                <a:latin typeface="Microsoft YaHei"/>
              </a:rPr>
              <a:t>US$2,000,000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" y="4727447"/>
            <a:ext cx="18928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5C5C"/>
                </a:solidFill>
                <a:latin typeface="Microsoft YaHei"/>
              </a:rPr>
              <a:t>身故保障底盘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82112" y="3977639"/>
            <a:ext cx="21488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10128" y="4087367"/>
            <a:ext cx="18928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5C5C5C"/>
                </a:solidFill>
                <a:latin typeface="Microsoft YaHei"/>
              </a:rPr>
              <a:t>首年杠杆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4325111"/>
            <a:ext cx="189280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222222"/>
                </a:solidFill>
                <a:latin typeface="Microsoft YaHei"/>
              </a:rPr>
              <a:t>30.14x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8" y="4727447"/>
            <a:ext cx="18928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5C5C"/>
                </a:solidFill>
                <a:latin typeface="Microsoft YaHei"/>
              </a:rPr>
              <a:t>保额 ÷ 首年保费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00800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C5C5C"/>
                </a:solidFill>
                <a:latin typeface="Microsoft YaHei"/>
              </a:rPr>
              <a:t>定位：高杠杆身故保障 + 现金价值增长弹性 + 家族传承工具。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公司与产品定位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C5C5C"/>
                </a:solidFill>
                <a:latin typeface="Microsoft YaHei"/>
              </a:rPr>
              <a:t>先讲公司实力，再讲 IUL 的家庭功能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24028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拥有超过百年历史，现隶属于荷兰全球人寿（Aegon），是全球高净值人寿保险市场的重要参与者。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3560" y="1325880"/>
            <a:ext cx="2468880" cy="1508760"/>
          </a:xfrm>
          <a:prstGeom prst="roundRect">
            <a:avLst/>
          </a:prstGeom>
          <a:solidFill>
            <a:srgbClr val="F8ECC9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51576" y="1435608"/>
            <a:ext cx="22128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C5C5C"/>
                </a:solidFill>
                <a:latin typeface="Microsoft YaHei"/>
              </a:rPr>
              <a:t>成立/上市背景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51576" y="1655064"/>
            <a:ext cx="2212848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222222"/>
                </a:solidFill>
                <a:latin typeface="Microsoft YaHei"/>
              </a:rPr>
              <a:t>源自1904年，总部位于美国，现隶属于Aegon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325880"/>
            <a:ext cx="24688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0496" y="1435608"/>
            <a:ext cx="22128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C5C5C"/>
                </a:solidFill>
                <a:latin typeface="Microsoft YaHei"/>
              </a:rPr>
              <a:t>集团实力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0496" y="1655064"/>
            <a:ext cx="2212848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222222"/>
                </a:solidFill>
                <a:latin typeface="Microsoft YaHei"/>
              </a:rPr>
              <a:t>全球高净值人寿保险市场的重要开拓者与参与者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3246120"/>
            <a:ext cx="24688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51576" y="3355848"/>
            <a:ext cx="22128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C5C5C"/>
                </a:solidFill>
                <a:latin typeface="Microsoft YaHei"/>
              </a:rPr>
              <a:t>业务定位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51576" y="3575304"/>
            <a:ext cx="2212848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222222"/>
                </a:solidFill>
                <a:latin typeface="Microsoft YaHei"/>
              </a:rPr>
              <a:t>离岸信托、大额寿险及结构化IUL财富传承方案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3246120"/>
            <a:ext cx="24688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0496" y="3355848"/>
            <a:ext cx="22128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C5C5C"/>
                </a:solidFill>
                <a:latin typeface="Microsoft YaHei"/>
              </a:rPr>
              <a:t>标普评级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0496" y="3575304"/>
            <a:ext cx="2212848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222222"/>
                </a:solidFill>
                <a:latin typeface="Microsoft YaHei"/>
              </a:rPr>
              <a:t>A+（强劲）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00800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C5C5C"/>
                </a:solidFill>
                <a:latin typeface="Microsoft YaHei"/>
              </a:rPr>
              <a:t>公司事实来自本地 Company Factbook 与内部公司资料库。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保单核心参数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C5C5C"/>
                </a:solidFill>
                <a:latin typeface="Microsoft YaHei"/>
              </a:rPr>
              <a:t>先把客户最关心的姓名、年龄、缴费和保额讲清楚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28346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435608"/>
            <a:ext cx="25786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C5C5C"/>
                </a:solidFill>
                <a:latin typeface="Microsoft YaHei"/>
              </a:rPr>
              <a:t>客户信息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1655064"/>
            <a:ext cx="2578608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222222"/>
                </a:solidFill>
                <a:latin typeface="Microsoft YaHei"/>
              </a:rPr>
              <a:t>姓名：Client
年龄：46 岁
性别：男性
类别：標準，非吸煙者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94760" y="1325880"/>
            <a:ext cx="35661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22776" y="1435608"/>
            <a:ext cx="33101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C5C5C"/>
                </a:solidFill>
                <a:latin typeface="Microsoft YaHei"/>
              </a:rPr>
              <a:t>缴费结构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22776" y="1655064"/>
            <a:ext cx="3310128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222222"/>
                </a:solidFill>
                <a:latin typeface="Microsoft YaHei"/>
              </a:rPr>
              <a:t>首年：US$66,355
第2-10年：每年 US$66,355
累计计划保费：US$331,775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325880"/>
            <a:ext cx="35661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63256" y="1435608"/>
            <a:ext cx="33101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C5C5C"/>
                </a:solidFill>
                <a:latin typeface="Microsoft YaHei"/>
              </a:rPr>
              <a:t>保障与杠杆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63256" y="1655064"/>
            <a:ext cx="3310128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222222"/>
                </a:solidFill>
                <a:latin typeface="Microsoft YaHei"/>
              </a:rPr>
              <a:t>基础保额：US$2,000,000
首年杠杆：30.14x
按10年总计划保费：6.03x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37560"/>
            <a:ext cx="104241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20">
                <a:solidFill>
                  <a:srgbClr val="222222"/>
                </a:solidFill>
                <a:latin typeface="Microsoft YaHei"/>
              </a:rPr>
              <a:t>• 这份保单不是等额年缴：首年投入较高，后续9年降到 11.88 万美元。</a:t>
            </a:r>
          </a:p>
          <a:p>
            <a:pPr algn="l">
              <a:lnSpc>
                <a:spcPct val="145000"/>
              </a:lnSpc>
            </a:pPr>
            <a:r>
              <a:rPr sz="1520">
                <a:solidFill>
                  <a:srgbClr val="222222"/>
                </a:solidFill>
                <a:latin typeface="Microsoft YaHei"/>
              </a:rPr>
              <a:t>• 它的核心不是短期收益，而是用 300 万美元身故保障先建立家族传承底盘。</a:t>
            </a:r>
          </a:p>
          <a:p>
            <a:pPr algn="l">
              <a:lnSpc>
                <a:spcPct val="145000"/>
              </a:lnSpc>
            </a:pPr>
            <a:r>
              <a:rPr sz="1520">
                <a:solidFill>
                  <a:srgbClr val="222222"/>
                </a:solidFill>
                <a:latin typeface="Microsoft YaHei"/>
              </a:rPr>
              <a:t>• 客户 66 岁时投保，适合用来解决晚年流动性和代际传承效率。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指数账户与利率结构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C5C5C"/>
                </a:solidFill>
                <a:latin typeface="Microsoft YaHei"/>
              </a:rPr>
              <a:t>现金价值增长来自账户结构，不是单一路径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2423160"/>
          </a:xfrm>
          <a:prstGeom prst="roundRect">
            <a:avLst/>
          </a:prstGeom>
          <a:solidFill>
            <a:srgbClr val="F8ECC9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481328"/>
            <a:ext cx="3127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C5C5C"/>
                </a:solidFill>
                <a:latin typeface="Microsoft YaHei"/>
              </a:rPr>
              <a:t>標普500指數戶口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1700784"/>
            <a:ext cx="3127248" cy="1984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222222"/>
                </a:solidFill>
                <a:latin typeface="Microsoft YaHei"/>
              </a:rPr>
              <a:t>配置比例：100%
当前假设利率：7.25%
保底/下限：0.00%
封顶/参与：11.20% / 100%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371600"/>
            <a:ext cx="338328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54296" y="1481328"/>
            <a:ext cx="3127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C5C5C"/>
                </a:solidFill>
                <a:latin typeface="Microsoft YaHei"/>
              </a:rPr>
              <a:t>環球指數戶口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4296" y="1700784"/>
            <a:ext cx="3127248" cy="1984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222222"/>
                </a:solidFill>
                <a:latin typeface="Microsoft YaHei"/>
              </a:rPr>
              <a:t>配置比例：0%
当前假设利率：5.70%
保底/下限：0.00%
封顶/参与：8.20%-10.40% / 100%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371600"/>
            <a:ext cx="338328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49056" y="1481328"/>
            <a:ext cx="3127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C5C5C"/>
                </a:solidFill>
                <a:latin typeface="Microsoft YaHei"/>
              </a:rPr>
              <a:t>VC無上限指數戶口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49056" y="1700784"/>
            <a:ext cx="3127248" cy="1984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222222"/>
                </a:solidFill>
                <a:latin typeface="Microsoft YaHei"/>
              </a:rPr>
              <a:t>配置比例：0%
当前假设利率：7.50%
保底/下限：0.00%
封顶/参与：無上限 / 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160520"/>
            <a:ext cx="104241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50">
                <a:solidFill>
                  <a:srgbClr val="222222"/>
                </a:solidFill>
                <a:latin typeface="Microsoft YaHei"/>
              </a:rPr>
              <a:t>• 本方案 100% 配置在倍数指数账户，当前假设利率 7.00%，下限 0%。</a:t>
            </a:r>
          </a:p>
          <a:p>
            <a:pPr algn="l">
              <a:lnSpc>
                <a:spcPct val="145000"/>
              </a:lnSpc>
            </a:pPr>
            <a:r>
              <a:rPr sz="1450">
                <a:solidFill>
                  <a:srgbClr val="222222"/>
                </a:solidFill>
                <a:latin typeface="Microsoft YaHei"/>
              </a:rPr>
              <a:t>• 固定收益账户当前派息率 4.20%，第 11 个保单年度起另有 0.50% 保证忠诚红利派息率。</a:t>
            </a:r>
          </a:p>
          <a:p>
            <a:pPr algn="l">
              <a:lnSpc>
                <a:spcPct val="145000"/>
              </a:lnSpc>
            </a:pPr>
            <a:r>
              <a:rPr sz="1450">
                <a:solidFill>
                  <a:srgbClr val="222222"/>
                </a:solidFill>
                <a:latin typeface="Microsoft YaHei"/>
              </a:rPr>
              <a:t>• 这张 IUL 真正要解释的是“保底 + 指数弹性”的组合，而不是单看一个收益数字。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长期利益演示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C5C5C"/>
                </a:solidFill>
                <a:latin typeface="Microsoft YaHei"/>
              </a:rPr>
              <a:t>用官方表格里的当前假设与保证值解释长期路径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325880"/>
          <a:ext cx="585216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812280" y="1417320"/>
            <a:ext cx="4709160" cy="3703320"/>
          </a:xfrm>
          <a:prstGeom prst="roundRect">
            <a:avLst/>
          </a:prstGeom>
          <a:solidFill>
            <a:srgbClr val="FFFFFF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0296" y="1527048"/>
            <a:ext cx="44531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C5C5C"/>
                </a:solidFill>
                <a:latin typeface="Microsoft YaHei"/>
              </a:rPr>
              <a:t>关键节点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0296" y="1746504"/>
            <a:ext cx="4453128" cy="3264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222222"/>
                </a:solidFill>
                <a:latin typeface="Microsoft YaHei"/>
              </a:rPr>
              <a:t>第20年当前假设现金值：US$490,561
第20年保证现金值：US$114,079
第30年当前假设现金值：US$804,423
100岁当前假设身故赔偿：US$2,001,077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00800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C5C5C"/>
                </a:solidFill>
                <a:latin typeface="Microsoft YaHei"/>
              </a:rPr>
              <a:t>关键理解：保证值与当前假设值差异很大，客户沟通必须先讲风险承受，再讲收益区间。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它为家庭起到什么作用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C5C5C"/>
                </a:solidFill>
                <a:latin typeface="Microsoft YaHei"/>
              </a:rPr>
              <a:t>IUL 在家庭资产结构里不负责教育金，而负责杠杆与传承</a:t>
            </a:r>
          </a:p>
        </p:txBody>
      </p:sp>
      <p:pic>
        <p:nvPicPr>
          <p:cNvPr id="4" name="Picture 3" descr="senior-lif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325880"/>
            <a:ext cx="45720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417320"/>
            <a:ext cx="54864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20">
                <a:solidFill>
                  <a:srgbClr val="222222"/>
                </a:solidFill>
                <a:latin typeface="Microsoft YaHei"/>
              </a:rPr>
              <a:t>• 第一层：用较高的身故杠杆，给家庭留下确定性的传承底盘。</a:t>
            </a:r>
          </a:p>
          <a:p>
            <a:pPr algn="l">
              <a:lnSpc>
                <a:spcPct val="145000"/>
              </a:lnSpc>
            </a:pPr>
            <a:r>
              <a:rPr sz="1520">
                <a:solidFill>
                  <a:srgbClr val="222222"/>
                </a:solidFill>
                <a:latin typeface="Microsoft YaHei"/>
              </a:rPr>
              <a:t>• 第二层：随着现金价值累积，未来可作为晚年流动性和应急资金来源。</a:t>
            </a:r>
          </a:p>
          <a:p>
            <a:pPr algn="l">
              <a:lnSpc>
                <a:spcPct val="145000"/>
              </a:lnSpc>
            </a:pPr>
            <a:r>
              <a:rPr sz="1520">
                <a:solidFill>
                  <a:srgbClr val="222222"/>
                </a:solidFill>
                <a:latin typeface="Microsoft YaHei"/>
              </a:rPr>
              <a:t>• 第三层：如果市场长期表现良好，非保证现金值和身故赔偿都会继续抬升。</a:t>
            </a:r>
          </a:p>
          <a:p>
            <a:pPr algn="l">
              <a:lnSpc>
                <a:spcPct val="145000"/>
              </a:lnSpc>
            </a:pPr>
            <a:r>
              <a:rPr sz="1520">
                <a:solidFill>
                  <a:srgbClr val="222222"/>
                </a:solidFill>
                <a:latin typeface="Microsoft YaHei"/>
              </a:rPr>
              <a:t>• 对这位客户而言，它更像“家族长期杠杆资产”，重点解决早期高杠杆保障和中长期传承积累。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800600"/>
            <a:ext cx="2560320" cy="1051560"/>
          </a:xfrm>
          <a:prstGeom prst="roundRect">
            <a:avLst/>
          </a:prstGeom>
          <a:solidFill>
            <a:srgbClr val="F8ECC9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4910328"/>
            <a:ext cx="23042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C5C5C"/>
                </a:solidFill>
                <a:latin typeface="Microsoft YaHei"/>
              </a:rPr>
              <a:t>首年杠杆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5129784"/>
            <a:ext cx="2304288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222222"/>
                </a:solidFill>
                <a:latin typeface="Microsoft YaHei"/>
              </a:rPr>
              <a:t>30.14x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4800600"/>
            <a:ext cx="25603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4910328"/>
            <a:ext cx="23042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C5C5C"/>
                </a:solidFill>
                <a:latin typeface="Microsoft YaHei"/>
              </a:rPr>
              <a:t>10年总缴杠杆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8456" y="5129784"/>
            <a:ext cx="2304288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222222"/>
                </a:solidFill>
                <a:latin typeface="Microsoft YaHei"/>
              </a:rPr>
              <a:t>6.03x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00800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C5C5C"/>
                </a:solidFill>
                <a:latin typeface="Microsoft YaHei"/>
              </a:rPr>
              <a:t>后续若与储蓄险、重疾险叠加，IUL 适合作为第三层：高杠杆定向传承层。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