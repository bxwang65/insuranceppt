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42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embeddedFontLst>
    <p:embeddedFont>
      <p:font typeface="Calibri" panose="020F0502020204030204"/>
      <p:regular r:id="rId4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572" y="1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2524" y="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42" Type="http://schemas.openxmlformats.org/officeDocument/2006/relationships/handoutMaster" Target="handoutMasters/handout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ableStyles" Target="tableStyles.xml"/><Relationship Id="rId46" Type="http://schemas.openxmlformats.org/officeDocument/2006/relationships/font" Target="fonts/font1.fntdata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正圆-55W" panose="00020600040101010101" pitchFamily="18" charset="-122"/>
              <a:ea typeface="汉仪正圆-55W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73A9D-B022-4F85-9682-B9C32622F96F}" type="datetimeFigureOut">
              <a:rPr lang="zh-CN" altLang="en-US" smtClean="0">
                <a:latin typeface="汉仪正圆-55W" panose="00020600040101010101" pitchFamily="18" charset="-122"/>
                <a:ea typeface="汉仪正圆-55W" panose="00020600040101010101" pitchFamily="18" charset="-122"/>
              </a:rPr>
            </a:fld>
            <a:endParaRPr lang="zh-CN" altLang="en-US">
              <a:latin typeface="汉仪正圆-55W" panose="00020600040101010101" pitchFamily="18" charset="-122"/>
              <a:ea typeface="汉仪正圆-55W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正圆-55W" panose="00020600040101010101" pitchFamily="18" charset="-122"/>
              <a:ea typeface="汉仪正圆-55W" panose="00020600040101010101" pitchFamily="18" charset="-122"/>
            </a:endParaRPr>
          </a:p>
        </p:txBody>
      </p:sp>
      <p:sp>
        <p:nvSpPr>
          <p:cNvPr id="5" name="稻壳优创意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60F7DC-1472-42C6-A8B7-87FB1C344E56}" type="slidenum">
              <a:rPr lang="zh-CN" altLang="en-US" smtClean="0">
                <a:latin typeface="汉仪正圆-55W" panose="00020600040101010101" pitchFamily="18" charset="-122"/>
                <a:ea typeface="汉仪正圆-55W" panose="00020600040101010101" pitchFamily="18" charset="-122"/>
              </a:rPr>
            </a:fld>
            <a:endParaRPr lang="zh-CN" altLang="en-US">
              <a:latin typeface="汉仪正圆-55W" panose="00020600040101010101" pitchFamily="18" charset="-122"/>
              <a:ea typeface="汉仪正圆-55W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正圆-55W" panose="00020600040101010101" pitchFamily="18" charset="-122"/>
                <a:ea typeface="汉仪正圆-55W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正圆-55W" panose="00020600040101010101" pitchFamily="18" charset="-122"/>
                <a:ea typeface="汉仪正圆-55W" panose="00020600040101010101" pitchFamily="18" charset="-122"/>
              </a:defRPr>
            </a:lvl1pPr>
          </a:lstStyle>
          <a:p>
            <a:fld id="{79B988E5-DDC8-4494-B252-ED4FADC769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稻壳优创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正圆-55W" panose="00020600040101010101" pitchFamily="18" charset="-122"/>
                <a:ea typeface="汉仪正圆-55W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正圆-55W" panose="00020600040101010101" pitchFamily="18" charset="-122"/>
                <a:ea typeface="汉仪正圆-55W" panose="00020600040101010101" pitchFamily="18" charset="-122"/>
              </a:defRPr>
            </a:lvl1pPr>
          </a:lstStyle>
          <a:p>
            <a:fld id="{BE88F642-ACA7-4EDF-9A9F-4B24BAB0793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正圆-55W" panose="00020600040101010101" pitchFamily="18" charset="-122"/>
        <a:ea typeface="汉仪正圆-55W" panose="00020600040101010101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正圆-55W" panose="00020600040101010101" pitchFamily="18" charset="-122"/>
        <a:ea typeface="汉仪正圆-55W" panose="00020600040101010101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正圆-55W" panose="00020600040101010101" pitchFamily="18" charset="-122"/>
        <a:ea typeface="汉仪正圆-55W" panose="00020600040101010101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正圆-55W" panose="00020600040101010101" pitchFamily="18" charset="-122"/>
        <a:ea typeface="汉仪正圆-55W" panose="00020600040101010101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正圆-55W" panose="00020600040101010101" pitchFamily="18" charset="-122"/>
        <a:ea typeface="汉仪正圆-55W" panose="00020600040101010101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20" name="图形 1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075" y="689789"/>
            <a:ext cx="612000" cy="6155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环宇盈活储蓄险方案（试跑）</a:t>
            </a:r>
          </a:p>
        </p:txBody>
      </p:sp>
      <p:pic>
        <p:nvPicPr>
          <p:cNvPr id="5" name="Picture 4" descr="s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486400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508760"/>
            <a:ext cx="539496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73352"/>
            <a:ext cx="502920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/>
            </a:pPr>
            <a:r>
              <a:t>核心参数</a:t>
            </a:r>
          </a:p>
          <a:p>
            <a:pPr>
              <a:lnSpc>
                <a:spcPct val="130000"/>
              </a:lnSpc>
              <a:defRPr sz="1500"/>
            </a:pPr>
            <a:r>
              <a:t>• 缴费期：5年</a:t>
            </a:r>
          </a:p>
          <a:p>
            <a:pPr>
              <a:lnSpc>
                <a:spcPct val="130000"/>
              </a:lnSpc>
              <a:defRPr sz="1500"/>
            </a:pPr>
            <a:r>
              <a:t>• 年缴保费：US$100,000</a:t>
            </a:r>
          </a:p>
          <a:p>
            <a:pPr>
              <a:lnSpc>
                <a:spcPct val="130000"/>
              </a:lnSpc>
              <a:defRPr sz="1500"/>
            </a:pPr>
            <a:r>
              <a:t>• 观察区间：保单1-80年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公司介绍与资质</a:t>
            </a:r>
          </a:p>
        </p:txBody>
      </p:sp>
      <p:pic>
        <p:nvPicPr>
          <p:cNvPr id="5" name="Picture 4" descr="s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21208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89320" y="1600200"/>
            <a:ext cx="566928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764792"/>
            <a:ext cx="5303520" cy="3977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/>
            </a:pPr>
            <a:r>
              <a:t>机构信息</a:t>
            </a:r>
          </a:p>
          <a:p>
            <a:pPr>
              <a:lnSpc>
                <a:spcPct val="130000"/>
              </a:lnSpc>
              <a:defRPr sz="1500"/>
            </a:pPr>
            <a:r>
              <a:t>• 可接入你指定公司资料</a:t>
            </a:r>
          </a:p>
          <a:p>
            <a:pPr>
              <a:lnSpc>
                <a:spcPct val="130000"/>
              </a:lnSpc>
              <a:defRPr sz="1500"/>
            </a:pPr>
            <a:r>
              <a:t>• 可加入评级与偿付率</a:t>
            </a:r>
          </a:p>
          <a:p>
            <a:pPr>
              <a:lnSpc>
                <a:spcPct val="130000"/>
              </a:lnSpc>
              <a:defRPr sz="1500"/>
            </a:pPr>
            <a:r>
              <a:t>• 当前为模板试跑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教育金阶段（示例）</a:t>
            </a:r>
          </a:p>
        </p:txBody>
      </p:sp>
      <p:pic>
        <p:nvPicPr>
          <p:cNvPr id="5" name="Picture 4" descr="s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21208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89320" y="1600200"/>
            <a:ext cx="566928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764792"/>
            <a:ext cx="5303520" cy="3977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/>
            </a:pPr>
            <a:r>
              <a:t>说明</a:t>
            </a:r>
          </a:p>
          <a:p>
            <a:pPr>
              <a:lnSpc>
                <a:spcPct val="130000"/>
              </a:lnSpc>
              <a:defRPr sz="1500"/>
            </a:pPr>
            <a:r>
              <a:t>• 该产品当前提领明细未在缓存中</a:t>
            </a:r>
          </a:p>
          <a:p>
            <a:pPr>
              <a:lnSpc>
                <a:spcPct val="130000"/>
              </a:lnSpc>
              <a:defRPr sz="1500"/>
            </a:pPr>
            <a:r>
              <a:t>• 先展示无提领价值路径</a:t>
            </a:r>
          </a:p>
          <a:p>
            <a:pPr>
              <a:lnSpc>
                <a:spcPct val="130000"/>
              </a:lnSpc>
              <a:defRPr sz="1500"/>
            </a:pPr>
            <a:r>
              <a:t>• 后续可补提领版计划书做细化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价值增长曲线（保单1-80年）</a:t>
            </a:r>
          </a:p>
        </p:txBody>
      </p:sp>
      <p:pic>
        <p:nvPicPr>
          <p:cNvPr id="5" name="Picture 4" descr="growth_80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58368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60920" y="1691640"/>
            <a:ext cx="438912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856232"/>
            <a:ext cx="40233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/>
            </a:pPr>
            <a:r>
              <a:t>图表解读</a:t>
            </a:r>
          </a:p>
          <a:p>
            <a:pPr>
              <a:lnSpc>
                <a:spcPct val="130000"/>
              </a:lnSpc>
              <a:defRPr sz="1500"/>
            </a:pPr>
            <a:r>
              <a:t>• 20年约本金2.72倍</a:t>
            </a:r>
          </a:p>
          <a:p>
            <a:pPr>
              <a:lnSpc>
                <a:spcPct val="130000"/>
              </a:lnSpc>
              <a:defRPr sz="1500"/>
            </a:pPr>
            <a:r>
              <a:t>• 30年约本金5.85倍</a:t>
            </a:r>
          </a:p>
          <a:p>
            <a:pPr>
              <a:lnSpc>
                <a:spcPct val="130000"/>
              </a:lnSpc>
              <a:defRPr sz="1500"/>
            </a:pPr>
            <a:r>
              <a:t>• 观察长期增值效率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保证/非保证构成（保单1-80年）</a:t>
            </a:r>
          </a:p>
        </p:txBody>
      </p:sp>
      <p:pic>
        <p:nvPicPr>
          <p:cNvPr id="5" name="Picture 4" descr="stack_80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58368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60920" y="1691640"/>
            <a:ext cx="438912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856232"/>
            <a:ext cx="40233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/>
            </a:pPr>
            <a:r>
              <a:t>图表解读</a:t>
            </a:r>
          </a:p>
          <a:p>
            <a:pPr>
              <a:lnSpc>
                <a:spcPct val="130000"/>
              </a:lnSpc>
              <a:defRPr sz="1500"/>
            </a:pPr>
            <a:r>
              <a:t>• 保证价值为底盘</a:t>
            </a:r>
          </a:p>
          <a:p>
            <a:pPr>
              <a:lnSpc>
                <a:spcPct val="130000"/>
              </a:lnSpc>
              <a:defRPr sz="1500"/>
            </a:pPr>
            <a:r>
              <a:t>• 非保证贡献长期弹性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里程碑一：教育与家庭现金流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240280" cy="356616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965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10岁</a:t>
            </a:r>
          </a:p>
          <a:p>
            <a:pPr>
              <a:defRPr sz="1300"/>
            </a:pPr>
            <a:r>
              <a:t>保单第9年</a:t>
            </a:r>
          </a:p>
          <a:p>
            <a:pPr>
              <a:defRPr sz="1300"/>
            </a:pPr>
            <a:r>
              <a:t>退保值: US$624,107</a:t>
            </a:r>
          </a:p>
        </p:txBody>
      </p:sp>
      <p:sp>
        <p:nvSpPr>
          <p:cNvPr id="7" name="Rectangle 6"/>
          <p:cNvSpPr/>
          <p:nvPr/>
        </p:nvSpPr>
        <p:spPr>
          <a:xfrm>
            <a:off x="2999232" y="1828800"/>
            <a:ext cx="2240280" cy="356616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36392" y="1965960"/>
            <a:ext cx="1965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20岁</a:t>
            </a:r>
          </a:p>
          <a:p>
            <a:pPr>
              <a:defRPr sz="1300"/>
            </a:pPr>
            <a:r>
              <a:t>保单第19年</a:t>
            </a:r>
          </a:p>
          <a:p>
            <a:pPr>
              <a:defRPr sz="1300"/>
            </a:pPr>
            <a:r>
              <a:t>退保值: US$1,263,814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358384" y="1828800"/>
            <a:ext cx="2240280" cy="356616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95544" y="1965960"/>
            <a:ext cx="1965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30岁</a:t>
            </a:r>
          </a:p>
          <a:p>
            <a:pPr>
              <a:defRPr sz="1300"/>
            </a:pPr>
            <a:r>
              <a:t>保单第29年</a:t>
            </a:r>
          </a:p>
          <a:p>
            <a:pPr>
              <a:defRPr sz="1300"/>
            </a:pPr>
            <a:r>
              <a:t>退保值: US$2,739,104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17536" y="1828800"/>
            <a:ext cx="2240280" cy="356616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54696" y="1965960"/>
            <a:ext cx="1965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60岁</a:t>
            </a:r>
          </a:p>
          <a:p>
            <a:pPr>
              <a:defRPr sz="1300"/>
            </a:pPr>
            <a:r>
              <a:t>保单第59年</a:t>
            </a:r>
          </a:p>
          <a:p>
            <a:pPr>
              <a:defRPr sz="1300"/>
            </a:pPr>
            <a:r>
              <a:t>退保值: US$18,181,045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里程碑二：中后期与养老金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240280" cy="356616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965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10岁</a:t>
            </a:r>
          </a:p>
          <a:p>
            <a:pPr>
              <a:defRPr sz="1300"/>
            </a:pPr>
            <a:r>
              <a:t>保单第9年</a:t>
            </a:r>
          </a:p>
          <a:p>
            <a:pPr>
              <a:defRPr sz="1300"/>
            </a:pPr>
            <a:r>
              <a:t>退保值: US$624,107</a:t>
            </a:r>
          </a:p>
        </p:txBody>
      </p:sp>
      <p:sp>
        <p:nvSpPr>
          <p:cNvPr id="7" name="Rectangle 6"/>
          <p:cNvSpPr/>
          <p:nvPr/>
        </p:nvSpPr>
        <p:spPr>
          <a:xfrm>
            <a:off x="2999232" y="1828800"/>
            <a:ext cx="2240280" cy="356616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36392" y="1965960"/>
            <a:ext cx="1965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20岁</a:t>
            </a:r>
          </a:p>
          <a:p>
            <a:pPr>
              <a:defRPr sz="1300"/>
            </a:pPr>
            <a:r>
              <a:t>保单第19年</a:t>
            </a:r>
          </a:p>
          <a:p>
            <a:pPr>
              <a:defRPr sz="1300"/>
            </a:pPr>
            <a:r>
              <a:t>退保值: US$1,263,814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358384" y="1828800"/>
            <a:ext cx="2240280" cy="356616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95544" y="1965960"/>
            <a:ext cx="1965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30岁</a:t>
            </a:r>
          </a:p>
          <a:p>
            <a:pPr>
              <a:defRPr sz="1300"/>
            </a:pPr>
            <a:r>
              <a:t>保单第29年</a:t>
            </a:r>
          </a:p>
          <a:p>
            <a:pPr>
              <a:defRPr sz="1300"/>
            </a:pPr>
            <a:r>
              <a:t>退保值: US$2,739,104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17536" y="1828800"/>
            <a:ext cx="2240280" cy="356616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54696" y="1965960"/>
            <a:ext cx="1965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60岁</a:t>
            </a:r>
          </a:p>
          <a:p>
            <a:pPr>
              <a:defRPr sz="1300"/>
            </a:pPr>
            <a:r>
              <a:t>保单第59年</a:t>
            </a:r>
          </a:p>
          <a:p>
            <a:pPr>
              <a:defRPr sz="1300"/>
            </a:pPr>
            <a:r>
              <a:t>退保值: US$18,181,045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提领方案数据表（每10年）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3733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年龄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保单年度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已交总保费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领取金额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累计领取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退保现金价值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单利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复利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-99.90%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-99.90%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659,765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2.81%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1,357,738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5.12%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2,927,387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16.18%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6.07%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5,495,108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24.98%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6.18%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10,315,074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39.26%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6.24%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19,362,813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62.88%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6.28%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36,346,662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102.42%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6.31%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68,227,682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169.32%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6.34%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128,072,738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283.49%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6.36%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225,737,215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450.47%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6.30%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不提领方案数据表（每10年）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3733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年龄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保单年度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已交总保费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领取金额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累计领取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退保现金价值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单利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复利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-99.90%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-99.90%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659,765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2.81%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1,357,738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5.12%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2,927,387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16.18%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6.07%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5,495,108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24.98%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6.18%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10,315,074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39.26%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6.24%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19,362,813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62.88%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6.28%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36,346,662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102.42%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6.31%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68,227,682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169.32%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6.34%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128,072,738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283.49%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6.36%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225,737,215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450.47%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6.30%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执行建议与下一步</a:t>
            </a:r>
          </a:p>
        </p:txBody>
      </p:sp>
      <p:pic>
        <p:nvPicPr>
          <p:cNvPr id="5" name="Picture 4" descr="s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48640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645920"/>
            <a:ext cx="53949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502920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/>
            </a:pPr>
            <a:r>
              <a:t>执行框架</a:t>
            </a:r>
          </a:p>
          <a:p>
            <a:pPr>
              <a:lnSpc>
                <a:spcPct val="130000"/>
              </a:lnSpc>
              <a:defRPr sz="1500"/>
            </a:pPr>
            <a:r>
              <a:t>• 确认目标用途</a:t>
            </a:r>
          </a:p>
          <a:p>
            <a:pPr>
              <a:lnSpc>
                <a:spcPct val="130000"/>
              </a:lnSpc>
              <a:defRPr sz="1500"/>
            </a:pPr>
            <a:r>
              <a:t>• 确定复盘周期</a:t>
            </a:r>
          </a:p>
          <a:p>
            <a:pPr>
              <a:lnSpc>
                <a:spcPct val="130000"/>
              </a:lnSpc>
              <a:defRPr sz="1500"/>
            </a:pPr>
            <a:r>
              <a:t>• 按年度跟踪资产表现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稻壳优创意   http://chn.docer.com/works?userid=4610637">
  <a:themeElements>
    <a:clrScheme name="自定义 1534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18898D"/>
      </a:accent1>
      <a:accent2>
        <a:srgbClr val="0A3C5F"/>
      </a:accent2>
      <a:accent3>
        <a:srgbClr val="18898D"/>
      </a:accent3>
      <a:accent4>
        <a:srgbClr val="0A3C5F"/>
      </a:accent4>
      <a:accent5>
        <a:srgbClr val="18898D"/>
      </a:accent5>
      <a:accent6>
        <a:srgbClr val="0A3C5F"/>
      </a:accent6>
      <a:hlink>
        <a:srgbClr val="18898D"/>
      </a:hlink>
      <a:folHlink>
        <a:srgbClr val="0A3C5F"/>
      </a:folHlink>
    </a:clrScheme>
    <a:fontScheme name="1212121">
      <a:majorFont>
        <a:latin typeface="汉仪雅酷黑 85W"/>
        <a:ea typeface="汉仪雅酷黑 85W"/>
        <a:cs typeface=""/>
      </a:majorFont>
      <a:minorFont>
        <a:latin typeface="汉仪雅酷黑 85W"/>
        <a:ea typeface="汉仪正圆-55W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稻壳优创意</Template>
  <TotalTime>0</TotalTime>
  <Words>6024</Words>
  <Application>WPS 演示</Application>
  <PresentationFormat>宽屏</PresentationFormat>
  <Paragraphs>664</Paragraphs>
  <Slides>38</Slides>
  <Notes>38</Notes>
  <HiddenSlides>1</HiddenSlides>
  <MMClips>0</MMClips>
  <ScaleCrop>false</ScaleCrop>
  <HeadingPairs>
    <vt:vector size="6" baseType="variant">
      <vt:variant>
        <vt:lpstr>已用的字体</vt:lpstr>
      </vt:variant>
      <vt:variant>
        <vt:i4>32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71" baseType="lpstr">
      <vt:lpstr>Arial</vt:lpstr>
      <vt:lpstr>宋体</vt:lpstr>
      <vt:lpstr>Wingdings</vt:lpstr>
      <vt:lpstr>汉仪正圆-55W</vt:lpstr>
      <vt:lpstr>苹方-简</vt:lpstr>
      <vt:lpstr>汉仪雅酷黑 85W</vt:lpstr>
      <vt:lpstr>汉仪中黑KW</vt:lpstr>
      <vt:lpstr>汉仪劲楷简</vt:lpstr>
      <vt:lpstr>汉仪雅酷黑 85W</vt:lpstr>
      <vt:lpstr>汉仪正圆-55W</vt:lpstr>
      <vt:lpstr>OPPOSans B</vt:lpstr>
      <vt:lpstr>思源黑体 CN Normal</vt:lpstr>
      <vt:lpstr>Calibri</vt:lpstr>
      <vt:lpstr>Malgun Gothic Semilight</vt:lpstr>
      <vt:lpstr>阿里巴巴普惠体</vt:lpstr>
      <vt:lpstr>微软雅黑</vt:lpstr>
      <vt:lpstr>汉仪旗黑</vt:lpstr>
      <vt:lpstr>汉仪楷体简</vt:lpstr>
      <vt:lpstr>汉仪书宋二KW</vt:lpstr>
      <vt:lpstr>宋体</vt:lpstr>
      <vt:lpstr>Arial Unicode MS</vt:lpstr>
      <vt:lpstr>黑体</vt:lpstr>
      <vt:lpstr>Malgun Gothic Semilight</vt:lpstr>
      <vt:lpstr>OPPOSans B</vt:lpstr>
      <vt:lpstr>Wingdings</vt:lpstr>
      <vt:lpstr>微软雅黑</vt:lpstr>
      <vt:lpstr>思源黑体 CN Normal</vt:lpstr>
      <vt:lpstr>汉仪劲楷简</vt:lpstr>
      <vt:lpstr>汉仪正圆-55W</vt:lpstr>
      <vt:lpstr>汉仪雅酷黑 85W</vt:lpstr>
      <vt:lpstr>阿里巴巴普惠体</vt:lpstr>
      <vt:lpstr>黑体</vt:lpstr>
      <vt:lpstr>稻壳优创意   http://chn.docer.com/works?userid=4610637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胡延龙</cp:lastModifiedBy>
  <cp:revision>1</cp:revision>
  <dcterms:created xsi:type="dcterms:W3CDTF">2026-05-26T02:52:25Z</dcterms:created>
  <dcterms:modified xsi:type="dcterms:W3CDTF">2026-05-26T02:52:25Z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KSOTemplateUUID">
    <vt:lpwstr>v1.0_mb_+/USxiQahQlYlVbjG0zmwQ==</vt:lpwstr>
  </property>
  <property fmtid="{D5CDD505-2E9C-101B-9397-08002B2CF9AE}" pid="4" name="ICV">
    <vt:lpwstr>7B9AA279B7DFDCFE3C0A156A6135D5A0_41</vt:lpwstr>
  </property>
</Properties>
</file>