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media/image6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package/2006/relationships/metadata/thumbnail" Target="docProps/thumbnail.jpeg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4"/>
  </p:notesMasterIdLst>
  <p:handoutMasterIdLst>
    <p:handoutMasterId r:id="rId42"/>
  </p:handout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</p:sldIdLst>
  <p:sldSz cx="12192000" cy="6858000"/>
  <p:notesSz cx="6858000" cy="9144000"/>
  <p:embeddedFontLst>
    <p:embeddedFont>
      <p:font typeface="Calibri" panose="020F0502020204030204"/>
      <p:regular r:id="rId46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CFCF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>
        <p:scale>
          <a:sx n="50" d="100"/>
          <a:sy n="50" d="100"/>
        </p:scale>
        <p:origin x="1572" y="12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50" d="100"/>
        <a:sy n="50" d="100"/>
      </p:scale>
      <p:origin x="0" y="0"/>
    </p:cViewPr>
  </p:sorterViewPr>
  <p:notesViewPr>
    <p:cSldViewPr snapToGrid="0">
      <p:cViewPr varScale="1">
        <p:scale>
          <a:sx n="80" d="100"/>
          <a:sy n="80" d="100"/>
        </p:scale>
        <p:origin x="2524" y="68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1.xml"/><Relationship Id="rId10" Type="http://schemas.openxmlformats.org/officeDocument/2006/relationships/slide" Target="slides/slide2.xml"/><Relationship Id="rId11" Type="http://schemas.openxmlformats.org/officeDocument/2006/relationships/slide" Target="slides/slide3.xml"/><Relationship Id="rId12" Type="http://schemas.openxmlformats.org/officeDocument/2006/relationships/slide" Target="slides/slide4.xml"/><Relationship Id="rId13" Type="http://schemas.openxmlformats.org/officeDocument/2006/relationships/slide" Target="slides/slide5.xml"/><Relationship Id="rId14" Type="http://schemas.openxmlformats.org/officeDocument/2006/relationships/slide" Target="slides/slide6.xml"/><Relationship Id="rId15" Type="http://schemas.openxmlformats.org/officeDocument/2006/relationships/slide" Target="slides/slide7.xml"/><Relationship Id="rId16" Type="http://schemas.openxmlformats.org/officeDocument/2006/relationships/slide" Target="slides/slide8.xml"/><Relationship Id="rId17" Type="http://schemas.openxmlformats.org/officeDocument/2006/relationships/slide" Target="slides/slide9.xml"/><Relationship Id="rId18" Type="http://schemas.openxmlformats.org/officeDocument/2006/relationships/slide" Target="slides/slide10.xml"/><Relationship Id="rId42" Type="http://schemas.openxmlformats.org/officeDocument/2006/relationships/handoutMaster" Target="handoutMasters/handoutMaster1.xml"/><Relationship Id="rId43" Type="http://schemas.openxmlformats.org/officeDocument/2006/relationships/presProps" Target="presProps.xml"/><Relationship Id="rId44" Type="http://schemas.openxmlformats.org/officeDocument/2006/relationships/viewProps" Target="viewProps.xml"/><Relationship Id="rId45" Type="http://schemas.openxmlformats.org/officeDocument/2006/relationships/tableStyles" Target="tableStyles.xml"/><Relationship Id="rId46" Type="http://schemas.openxmlformats.org/officeDocument/2006/relationships/font" Target="fonts/font1.fntdata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>
              <a:latin typeface="汉仪正圆-55W" panose="00020600040101010101" pitchFamily="18" charset="-122"/>
              <a:ea typeface="汉仪正圆-55W" panose="00020600040101010101" pitchFamily="18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0D73A9D-B022-4F85-9682-B9C32622F96F}" type="datetimeFigureOut">
              <a:rPr lang="zh-CN" altLang="en-US" smtClean="0">
                <a:latin typeface="汉仪正圆-55W" panose="00020600040101010101" pitchFamily="18" charset="-122"/>
                <a:ea typeface="汉仪正圆-55W" panose="00020600040101010101" pitchFamily="18" charset="-122"/>
              </a:rPr>
            </a:fld>
            <a:endParaRPr lang="zh-CN" altLang="en-US">
              <a:latin typeface="汉仪正圆-55W" panose="00020600040101010101" pitchFamily="18" charset="-122"/>
              <a:ea typeface="汉仪正圆-55W" panose="00020600040101010101" pitchFamily="18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>
              <a:latin typeface="汉仪正圆-55W" panose="00020600040101010101" pitchFamily="18" charset="-122"/>
              <a:ea typeface="汉仪正圆-55W" panose="00020600040101010101" pitchFamily="18" charset="-122"/>
            </a:endParaRPr>
          </a:p>
        </p:txBody>
      </p:sp>
      <p:sp>
        <p:nvSpPr>
          <p:cNvPr id="5" name="稻壳优创意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160F7DC-1472-42C6-A8B7-87FB1C344E56}" type="slidenum">
              <a:rPr lang="zh-CN" altLang="en-US" smtClean="0">
                <a:latin typeface="汉仪正圆-55W" panose="00020600040101010101" pitchFamily="18" charset="-122"/>
                <a:ea typeface="汉仪正圆-55W" panose="00020600040101010101" pitchFamily="18" charset="-122"/>
              </a:rPr>
            </a:fld>
            <a:endParaRPr lang="zh-CN" altLang="en-US">
              <a:latin typeface="汉仪正圆-55W" panose="00020600040101010101" pitchFamily="18" charset="-122"/>
              <a:ea typeface="汉仪正圆-55W" panose="00020600040101010101" pitchFamily="18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汉仪正圆-55W" panose="00020600040101010101" pitchFamily="18" charset="-122"/>
                <a:ea typeface="汉仪正圆-55W" panose="00020600040101010101" pitchFamily="18" charset="-122"/>
              </a:defRPr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汉仪正圆-55W" panose="00020600040101010101" pitchFamily="18" charset="-122"/>
                <a:ea typeface="汉仪正圆-55W" panose="00020600040101010101" pitchFamily="18" charset="-122"/>
              </a:defRPr>
            </a:lvl1pPr>
          </a:lstStyle>
          <a:p>
            <a:fld id="{79B988E5-DDC8-4494-B252-ED4FADC769D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稻壳优创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汉仪正圆-55W" panose="00020600040101010101" pitchFamily="18" charset="-122"/>
                <a:ea typeface="汉仪正圆-55W" panose="00020600040101010101" pitchFamily="18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汉仪正圆-55W" panose="00020600040101010101" pitchFamily="18" charset="-122"/>
                <a:ea typeface="汉仪正圆-55W" panose="00020600040101010101" pitchFamily="18" charset="-122"/>
              </a:defRPr>
            </a:lvl1pPr>
          </a:lstStyle>
          <a:p>
            <a:fld id="{BE88F642-ACA7-4EDF-9A9F-4B24BAB0793C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汉仪正圆-55W" panose="00020600040101010101" pitchFamily="18" charset="-122"/>
        <a:ea typeface="汉仪正圆-55W" panose="00020600040101010101" pitchFamily="18" charset="-122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汉仪正圆-55W" panose="00020600040101010101" pitchFamily="18" charset="-122"/>
        <a:ea typeface="汉仪正圆-55W" panose="00020600040101010101" pitchFamily="18" charset="-122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汉仪正圆-55W" panose="00020600040101010101" pitchFamily="18" charset="-122"/>
        <a:ea typeface="汉仪正圆-55W" panose="00020600040101010101" pitchFamily="18" charset="-122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汉仪正圆-55W" panose="00020600040101010101" pitchFamily="18" charset="-122"/>
        <a:ea typeface="汉仪正圆-55W" panose="00020600040101010101" pitchFamily="18" charset="-122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汉仪正圆-55W" panose="00020600040101010101" pitchFamily="18" charset="-122"/>
        <a:ea typeface="汉仪正圆-55W" panose="00020600040101010101" pitchFamily="18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sv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2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1"/>
            <a:ext cx="12192000" cy="685799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3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1"/>
            <a:ext cx="12192000" cy="685799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4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1"/>
            <a:ext cx="12192000" cy="6857999"/>
          </a:xfrm>
          <a:prstGeom prst="rect">
            <a:avLst/>
          </a:prstGeom>
        </p:spPr>
      </p:pic>
      <p:pic>
        <p:nvPicPr>
          <p:cNvPr id="20" name="图形 19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39075" y="689789"/>
            <a:ext cx="612000" cy="61556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8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9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0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2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41148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9144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56677"/>
                </a:solidFill>
                <a:latin typeface="Heiti SC"/>
              </a:defRPr>
            </a:pPr>
            <a:r>
              <a:rPr a:ea="Heiti SC">
                <a:latin typeface="Heiti SC"/>
              </a:rPr>
              <a:t>储蓄险定制方案  ·  教育金规划  ·  现金价值分析  ·  客户正式版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300" b="1">
                <a:solidFill>
                  <a:srgbClr val="0A3C5F"/>
                </a:solidFill>
                <a:latin typeface="Heiti SC"/>
              </a:defRPr>
            </a:pPr>
            <a:r>
              <a:rPr a:ea="Heiti SC">
                <a:latin typeface="Heiti SC"/>
              </a:rPr>
              <a:t>环宇盈活储蓄保险计划（正式版）</a:t>
            </a:r>
          </a:p>
        </p:txBody>
      </p:sp>
      <p:pic>
        <p:nvPicPr>
          <p:cNvPr id="5" name="Picture 4" descr="s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417320"/>
            <a:ext cx="5486400" cy="448056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48640" y="1508760"/>
            <a:ext cx="5394960" cy="1874519"/>
          </a:xfrm>
          <a:prstGeom prst="rect">
            <a:avLst/>
          </a:prstGeom>
          <a:solidFill>
            <a:srgbClr val="FFFFFF"/>
          </a:solidFill>
          <a:ln>
            <a:solidFill>
              <a:srgbClr val="1889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655064"/>
            <a:ext cx="5029200" cy="15819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800"/>
              </a:spcAft>
              <a:defRPr sz="1500" b="0">
                <a:solidFill>
                  <a:srgbClr val="2D3847"/>
                </a:solidFill>
                <a:latin typeface="Heiti SC"/>
              </a:defRPr>
            </a:pPr>
            <a:r>
              <a:rPr a:ea="Heiti SC">
                <a:latin typeface="Heiti SC"/>
              </a:rPr>
              <a:t>核心参数</a:t>
            </a:r>
          </a:p>
          <a:p>
            <a:pPr>
              <a:lnSpc>
                <a:spcPct val="130000"/>
              </a:lnSpc>
              <a:spcAft>
                <a:spcPts val="700"/>
              </a:spcAft>
              <a:defRPr sz="1500" b="0">
                <a:solidFill>
                  <a:srgbClr val="2D3847"/>
                </a:solidFill>
                <a:latin typeface="Heiti SC"/>
              </a:defRPr>
            </a:pPr>
            <a:r>
              <a:rPr a:ea="Heiti SC">
                <a:latin typeface="Heiti SC"/>
              </a:rPr>
              <a:t>• 被保人：VIP 先生（1岁）</a:t>
            </a:r>
          </a:p>
          <a:p>
            <a:pPr>
              <a:lnSpc>
                <a:spcPct val="130000"/>
              </a:lnSpc>
              <a:spcAft>
                <a:spcPts val="700"/>
              </a:spcAft>
              <a:defRPr sz="1500" b="0">
                <a:solidFill>
                  <a:srgbClr val="2D3847"/>
                </a:solidFill>
                <a:latin typeface="Heiti SC"/>
              </a:defRPr>
            </a:pPr>
            <a:r>
              <a:rPr a:ea="Heiti SC">
                <a:latin typeface="Heiti SC"/>
              </a:rPr>
              <a:t>• 缴费期：5年</a:t>
            </a:r>
          </a:p>
          <a:p>
            <a:pPr>
              <a:lnSpc>
                <a:spcPct val="130000"/>
              </a:lnSpc>
              <a:spcAft>
                <a:spcPts val="700"/>
              </a:spcAft>
              <a:defRPr sz="1500" b="0">
                <a:solidFill>
                  <a:srgbClr val="2D3847"/>
                </a:solidFill>
                <a:latin typeface="Heiti SC"/>
              </a:defRPr>
            </a:pPr>
            <a:r>
              <a:rPr a:ea="Heiti SC">
                <a:latin typeface="Heiti SC"/>
              </a:rPr>
              <a:t>• 年缴保费：US$100,000</a:t>
            </a:r>
          </a:p>
          <a:p>
            <a:pPr>
              <a:lnSpc>
                <a:spcPct val="130000"/>
              </a:lnSpc>
              <a:spcAft>
                <a:spcPts val="700"/>
              </a:spcAft>
              <a:defRPr sz="1500" b="0">
                <a:solidFill>
                  <a:srgbClr val="2D3847"/>
                </a:solidFill>
                <a:latin typeface="Heiti SC"/>
              </a:defRPr>
            </a:pPr>
            <a:r>
              <a:rPr a:ea="Heiti SC">
                <a:latin typeface="Heiti SC"/>
              </a:rPr>
              <a:t>• 保障期：终身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41148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9144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56677"/>
                </a:solidFill>
                <a:latin typeface="Heiti SC"/>
              </a:defRPr>
            </a:pPr>
            <a:r>
              <a:rPr a:ea="Heiti SC">
                <a:latin typeface="Heiti SC"/>
              </a:rPr>
              <a:t>储蓄险定制方案  ·  教育金规划  ·  现金价值分析  ·  客户正式版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300" b="1">
                <a:solidFill>
                  <a:srgbClr val="0A3C5F"/>
                </a:solidFill>
                <a:latin typeface="Heiti SC"/>
              </a:defRPr>
            </a:pPr>
            <a:r>
              <a:rPr a:ea="Heiti SC">
                <a:latin typeface="Heiti SC"/>
              </a:rPr>
              <a:t>公司介绍与资质</a:t>
            </a:r>
          </a:p>
        </p:txBody>
      </p:sp>
      <p:pic>
        <p:nvPicPr>
          <p:cNvPr id="5" name="Picture 4" descr="s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00200"/>
            <a:ext cx="5212080" cy="429768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989320" y="1600200"/>
            <a:ext cx="5669280" cy="4297680"/>
          </a:xfrm>
          <a:prstGeom prst="rect">
            <a:avLst/>
          </a:prstGeom>
          <a:solidFill>
            <a:srgbClr val="FFFFFF"/>
          </a:solidFill>
          <a:ln>
            <a:solidFill>
              <a:srgbClr val="1889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172200" y="1746504"/>
            <a:ext cx="5303520" cy="4005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800"/>
              </a:spcAft>
              <a:defRPr sz="1500" b="0">
                <a:solidFill>
                  <a:srgbClr val="2D3847"/>
                </a:solidFill>
                <a:latin typeface="Heiti SC"/>
              </a:defRPr>
            </a:pPr>
            <a:r>
              <a:rPr a:ea="Heiti SC">
                <a:latin typeface="Heiti SC"/>
              </a:rPr>
              <a:t>承保公司与公开财务信息</a:t>
            </a:r>
          </a:p>
          <a:p>
            <a:pPr>
              <a:lnSpc>
                <a:spcPct val="130000"/>
              </a:lnSpc>
              <a:spcAft>
                <a:spcPts val="700"/>
              </a:spcAft>
              <a:defRPr sz="1500" b="0">
                <a:solidFill>
                  <a:srgbClr val="2D3847"/>
                </a:solidFill>
                <a:latin typeface="Heiti SC"/>
              </a:defRPr>
            </a:pPr>
            <a:r>
              <a:rPr a:ea="Heiti SC">
                <a:latin typeface="Heiti SC"/>
              </a:rPr>
              <a:t>• 承保方：友邦保险（国际）有限公司（产品专页公开披露）</a:t>
            </a:r>
          </a:p>
          <a:p>
            <a:pPr>
              <a:lnSpc>
                <a:spcPct val="130000"/>
              </a:lnSpc>
              <a:spcAft>
                <a:spcPts val="700"/>
              </a:spcAft>
              <a:defRPr sz="1500" b="0">
                <a:solidFill>
                  <a:srgbClr val="2D3847"/>
                </a:solidFill>
                <a:latin typeface="Heiti SC"/>
              </a:defRPr>
            </a:pPr>
            <a:r>
              <a:rPr a:ea="Heiti SC">
                <a:latin typeface="Heiti SC"/>
              </a:rPr>
              <a:t>• AIA International评级：S&amp;P AA / Moody’s Aa2 / Fitch AA（截至2025-12-04）</a:t>
            </a:r>
          </a:p>
          <a:p>
            <a:pPr>
              <a:lnSpc>
                <a:spcPct val="130000"/>
              </a:lnSpc>
              <a:spcAft>
                <a:spcPts val="700"/>
              </a:spcAft>
              <a:defRPr sz="1500" b="0">
                <a:solidFill>
                  <a:srgbClr val="2D3847"/>
                </a:solidFill>
                <a:latin typeface="Heiti SC"/>
              </a:defRPr>
            </a:pPr>
            <a:r>
              <a:rPr a:ea="Heiti SC">
                <a:latin typeface="Heiti SC"/>
              </a:rPr>
              <a:t>• AIA Co.财务实力：AA、AA-、Aa2（2025中期报告口径）</a:t>
            </a:r>
          </a:p>
          <a:p>
            <a:pPr>
              <a:lnSpc>
                <a:spcPct val="130000"/>
              </a:lnSpc>
              <a:spcAft>
                <a:spcPts val="700"/>
              </a:spcAft>
              <a:defRPr sz="1500" b="0">
                <a:solidFill>
                  <a:srgbClr val="2D3847"/>
                </a:solidFill>
                <a:latin typeface="Heiti SC"/>
              </a:defRPr>
            </a:pPr>
            <a:r>
              <a:rPr a:ea="Heiti SC">
                <a:latin typeface="Heiti SC"/>
              </a:rPr>
              <a:t>• AIA集团总资产：US$328,430百万（截至2025-06-30）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41148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9144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56677"/>
                </a:solidFill>
                <a:latin typeface="Heiti SC"/>
              </a:defRPr>
            </a:pPr>
            <a:r>
              <a:rPr a:ea="Heiti SC">
                <a:latin typeface="Heiti SC"/>
              </a:rPr>
              <a:t>储蓄险定制方案  ·  教育金规划  ·  现金价值分析  ·  客户正式版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300" b="1">
                <a:solidFill>
                  <a:srgbClr val="0A3C5F"/>
                </a:solidFill>
                <a:latin typeface="Heiti SC"/>
              </a:defRPr>
            </a:pPr>
            <a:r>
              <a:rPr a:ea="Heiti SC">
                <a:latin typeface="Heiti SC"/>
              </a:rPr>
              <a:t>教育金方案（按年龄自动分流）</a:t>
            </a:r>
          </a:p>
        </p:txBody>
      </p:sp>
      <p:pic>
        <p:nvPicPr>
          <p:cNvPr id="5" name="Picture 4" descr="s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00200"/>
            <a:ext cx="5212080" cy="429768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989320" y="1600200"/>
            <a:ext cx="5669280" cy="4297680"/>
          </a:xfrm>
          <a:prstGeom prst="rect">
            <a:avLst/>
          </a:prstGeom>
          <a:solidFill>
            <a:srgbClr val="FFFFFF"/>
          </a:solidFill>
          <a:ln>
            <a:solidFill>
              <a:srgbClr val="1889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172200" y="1746504"/>
            <a:ext cx="5303520" cy="4005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800"/>
              </a:spcAft>
              <a:defRPr sz="1500" b="0">
                <a:solidFill>
                  <a:srgbClr val="2D3847"/>
                </a:solidFill>
                <a:latin typeface="Heiti SC"/>
              </a:defRPr>
            </a:pPr>
            <a:r>
              <a:rPr a:ea="Heiti SC">
                <a:latin typeface="Heiti SC"/>
              </a:rPr>
              <a:t>资金使用说明</a:t>
            </a:r>
          </a:p>
          <a:p>
            <a:pPr>
              <a:lnSpc>
                <a:spcPct val="130000"/>
              </a:lnSpc>
              <a:spcAft>
                <a:spcPts val="700"/>
              </a:spcAft>
              <a:defRPr sz="1500" b="0">
                <a:solidFill>
                  <a:srgbClr val="2D3847"/>
                </a:solidFill>
                <a:latin typeface="Heiti SC"/>
              </a:defRPr>
            </a:pPr>
            <a:r>
              <a:rPr a:ea="Heiti SC">
                <a:latin typeface="Heiti SC"/>
              </a:rPr>
              <a:t>• 官方计划书未提供提领明细年表</a:t>
            </a:r>
          </a:p>
          <a:p>
            <a:pPr>
              <a:lnSpc>
                <a:spcPct val="130000"/>
              </a:lnSpc>
              <a:spcAft>
                <a:spcPts val="700"/>
              </a:spcAft>
              <a:defRPr sz="1500" b="0">
                <a:solidFill>
                  <a:srgbClr val="2D3847"/>
                </a:solidFill>
                <a:latin typeface="Heiti SC"/>
              </a:defRPr>
            </a:pPr>
            <a:r>
              <a:rPr a:ea="Heiti SC">
                <a:latin typeface="Heiti SC"/>
              </a:rPr>
              <a:t>• 本页展示不提领主路径与可配置提领机制</a:t>
            </a:r>
          </a:p>
          <a:p>
            <a:pPr>
              <a:lnSpc>
                <a:spcPct val="130000"/>
              </a:lnSpc>
              <a:spcAft>
                <a:spcPts val="700"/>
              </a:spcAft>
              <a:defRPr sz="1500" b="0">
                <a:solidFill>
                  <a:srgbClr val="2D3847"/>
                </a:solidFill>
                <a:latin typeface="Heiti SC"/>
              </a:defRPr>
            </a:pPr>
            <a:r>
              <a:rPr a:ea="Heiti SC">
                <a:latin typeface="Heiti SC"/>
              </a:rPr>
              <a:t>• 可在二次规划中补充提领节奏与累计提领</a:t>
            </a:r>
          </a:p>
          <a:p>
            <a:pPr>
              <a:lnSpc>
                <a:spcPct val="130000"/>
              </a:lnSpc>
              <a:spcAft>
                <a:spcPts val="700"/>
              </a:spcAft>
              <a:defRPr sz="1500" b="0">
                <a:solidFill>
                  <a:srgbClr val="2D3847"/>
                </a:solidFill>
                <a:latin typeface="Heiti SC"/>
              </a:defRPr>
            </a:pPr>
            <a:r>
              <a:rPr a:ea="Heiti SC">
                <a:latin typeface="Heiti SC"/>
              </a:rPr>
              <a:t>• 教育/养老用途将按年龄自动匹配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41148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9144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56677"/>
                </a:solidFill>
                <a:latin typeface="Heiti SC"/>
              </a:defRPr>
            </a:pPr>
            <a:r>
              <a:rPr a:ea="Heiti SC">
                <a:latin typeface="Heiti SC"/>
              </a:rPr>
              <a:t>储蓄险定制方案  ·  教育金规划  ·  现金价值分析  ·  客户正式版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300" b="1">
                <a:solidFill>
                  <a:srgbClr val="0A3C5F"/>
                </a:solidFill>
                <a:latin typeface="Heiti SC"/>
              </a:defRPr>
            </a:pPr>
            <a:r>
              <a:rPr a:ea="Heiti SC">
                <a:latin typeface="Heiti SC"/>
              </a:rPr>
              <a:t>价值增长曲线（保单1-80年）</a:t>
            </a:r>
          </a:p>
        </p:txBody>
      </p:sp>
      <p:pic>
        <p:nvPicPr>
          <p:cNvPr id="5" name="Picture 4" descr="growth_8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00200"/>
            <a:ext cx="6583680" cy="438912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360920" y="1691640"/>
            <a:ext cx="4389120" cy="4206240"/>
          </a:xfrm>
          <a:prstGeom prst="rect">
            <a:avLst/>
          </a:prstGeom>
          <a:solidFill>
            <a:srgbClr val="FFFFFF"/>
          </a:solidFill>
          <a:ln>
            <a:solidFill>
              <a:srgbClr val="1889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543800" y="1837944"/>
            <a:ext cx="4023360" cy="3913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800"/>
              </a:spcAft>
              <a:defRPr sz="1500" b="0">
                <a:solidFill>
                  <a:srgbClr val="2D3847"/>
                </a:solidFill>
                <a:latin typeface="Heiti SC"/>
              </a:defRPr>
            </a:pPr>
            <a:r>
              <a:rPr a:ea="Heiti SC">
                <a:latin typeface="Heiti SC"/>
              </a:rPr>
              <a:t>图表解读</a:t>
            </a:r>
          </a:p>
          <a:p>
            <a:pPr>
              <a:lnSpc>
                <a:spcPct val="130000"/>
              </a:lnSpc>
              <a:spcAft>
                <a:spcPts val="700"/>
              </a:spcAft>
              <a:defRPr sz="1500" b="0">
                <a:solidFill>
                  <a:srgbClr val="2D3847"/>
                </a:solidFill>
                <a:latin typeface="Heiti SC"/>
              </a:defRPr>
            </a:pPr>
            <a:r>
              <a:rPr a:ea="Heiti SC">
                <a:latin typeface="Heiti SC"/>
              </a:rPr>
              <a:t>• 不提领20年：约本金2.72倍</a:t>
            </a:r>
          </a:p>
          <a:p>
            <a:pPr>
              <a:lnSpc>
                <a:spcPct val="130000"/>
              </a:lnSpc>
              <a:spcAft>
                <a:spcPts val="700"/>
              </a:spcAft>
              <a:defRPr sz="1500" b="0">
                <a:solidFill>
                  <a:srgbClr val="2D3847"/>
                </a:solidFill>
                <a:latin typeface="Heiti SC"/>
              </a:defRPr>
            </a:pPr>
            <a:r>
              <a:rPr a:ea="Heiti SC">
                <a:latin typeface="Heiti SC"/>
              </a:rPr>
              <a:t>• 不提领30年：约本金5.85倍</a:t>
            </a:r>
          </a:p>
          <a:p>
            <a:pPr>
              <a:lnSpc>
                <a:spcPct val="130000"/>
              </a:lnSpc>
              <a:spcAft>
                <a:spcPts val="700"/>
              </a:spcAft>
              <a:defRPr sz="1500" b="0">
                <a:solidFill>
                  <a:srgbClr val="2D3847"/>
                </a:solidFill>
                <a:latin typeface="Heiti SC"/>
              </a:defRPr>
            </a:pPr>
            <a:r>
              <a:rPr a:ea="Heiti SC">
                <a:latin typeface="Heiti SC"/>
              </a:rPr>
              <a:t>• 展示区间默认至80年，便于客户沟通</a:t>
            </a:r>
          </a:p>
          <a:p>
            <a:pPr>
              <a:lnSpc>
                <a:spcPct val="130000"/>
              </a:lnSpc>
              <a:spcAft>
                <a:spcPts val="700"/>
              </a:spcAft>
              <a:defRPr sz="1500" b="0">
                <a:solidFill>
                  <a:srgbClr val="2D3847"/>
                </a:solidFill>
                <a:latin typeface="Heiti SC"/>
              </a:defRPr>
            </a:pPr>
            <a:r>
              <a:rPr a:ea="Heiti SC">
                <a:latin typeface="Heiti SC"/>
              </a:rPr>
              <a:t>• 用于衡量长期资金效率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41148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9144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56677"/>
                </a:solidFill>
                <a:latin typeface="Heiti SC"/>
              </a:defRPr>
            </a:pPr>
            <a:r>
              <a:rPr a:ea="Heiti SC">
                <a:latin typeface="Heiti SC"/>
              </a:rPr>
              <a:t>储蓄险定制方案  ·  教育金规划  ·  现金价值分析  ·  客户正式版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300" b="1">
                <a:solidFill>
                  <a:srgbClr val="0A3C5F"/>
                </a:solidFill>
                <a:latin typeface="Heiti SC"/>
              </a:defRPr>
            </a:pPr>
            <a:r>
              <a:rPr a:ea="Heiti SC">
                <a:latin typeface="Heiti SC"/>
              </a:rPr>
              <a:t>保证/非保证构成（保单1-80年）</a:t>
            </a:r>
          </a:p>
        </p:txBody>
      </p:sp>
      <p:pic>
        <p:nvPicPr>
          <p:cNvPr id="5" name="Picture 4" descr="stack_8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00200"/>
            <a:ext cx="6583680" cy="438912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360920" y="1691640"/>
            <a:ext cx="4389120" cy="4206240"/>
          </a:xfrm>
          <a:prstGeom prst="rect">
            <a:avLst/>
          </a:prstGeom>
          <a:solidFill>
            <a:srgbClr val="FFFFFF"/>
          </a:solidFill>
          <a:ln>
            <a:solidFill>
              <a:srgbClr val="1889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543800" y="1837944"/>
            <a:ext cx="4023360" cy="3913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800"/>
              </a:spcAft>
              <a:defRPr sz="1500" b="0">
                <a:solidFill>
                  <a:srgbClr val="2D3847"/>
                </a:solidFill>
                <a:latin typeface="Heiti SC"/>
              </a:defRPr>
            </a:pPr>
            <a:r>
              <a:rPr a:ea="Heiti SC">
                <a:latin typeface="Heiti SC"/>
              </a:rPr>
              <a:t>图表解读</a:t>
            </a:r>
          </a:p>
          <a:p>
            <a:pPr>
              <a:lnSpc>
                <a:spcPct val="130000"/>
              </a:lnSpc>
              <a:spcAft>
                <a:spcPts val="700"/>
              </a:spcAft>
              <a:defRPr sz="1500" b="0">
                <a:solidFill>
                  <a:srgbClr val="2D3847"/>
                </a:solidFill>
                <a:latin typeface="Heiti SC"/>
              </a:defRPr>
            </a:pPr>
            <a:r>
              <a:rPr a:ea="Heiti SC">
                <a:latin typeface="Heiti SC"/>
              </a:rPr>
              <a:t>• 保证价值构成稳健底盘</a:t>
            </a:r>
          </a:p>
          <a:p>
            <a:pPr>
              <a:lnSpc>
                <a:spcPct val="130000"/>
              </a:lnSpc>
              <a:spcAft>
                <a:spcPts val="700"/>
              </a:spcAft>
              <a:defRPr sz="1500" b="0">
                <a:solidFill>
                  <a:srgbClr val="2D3847"/>
                </a:solidFill>
                <a:latin typeface="Heiti SC"/>
              </a:defRPr>
            </a:pPr>
            <a:r>
              <a:rPr a:ea="Heiti SC">
                <a:latin typeface="Heiti SC"/>
              </a:rPr>
              <a:t>• 非保证价值决定长期弹性</a:t>
            </a:r>
          </a:p>
          <a:p>
            <a:pPr>
              <a:lnSpc>
                <a:spcPct val="130000"/>
              </a:lnSpc>
              <a:spcAft>
                <a:spcPts val="700"/>
              </a:spcAft>
              <a:defRPr sz="1500" b="0">
                <a:solidFill>
                  <a:srgbClr val="2D3847"/>
                </a:solidFill>
                <a:latin typeface="Heiti SC"/>
              </a:defRPr>
            </a:pPr>
            <a:r>
              <a:rPr a:ea="Heiti SC">
                <a:latin typeface="Heiti SC"/>
              </a:rPr>
              <a:t>• 时间越长，非保证贡献越明显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41148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9144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56677"/>
                </a:solidFill>
                <a:latin typeface="Heiti SC"/>
              </a:defRPr>
            </a:pPr>
            <a:r>
              <a:rPr a:ea="Heiti SC">
                <a:latin typeface="Heiti SC"/>
              </a:rPr>
              <a:t>储蓄险定制方案  ·  教育金规划  ·  现金价值分析  ·  客户正式版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300" b="1">
                <a:solidFill>
                  <a:srgbClr val="0A3C5F"/>
                </a:solidFill>
                <a:latin typeface="Heiti SC"/>
              </a:defRPr>
            </a:pPr>
            <a:r>
              <a:rPr a:ea="Heiti SC">
                <a:latin typeface="Heiti SC"/>
              </a:rPr>
              <a:t>里程碑一：前中期规划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828800"/>
            <a:ext cx="3566160" cy="3611880"/>
          </a:xfrm>
          <a:prstGeom prst="rect">
            <a:avLst/>
          </a:prstGeom>
          <a:solidFill>
            <a:srgbClr val="F8FBFD"/>
          </a:solidFill>
          <a:ln>
            <a:solidFill>
              <a:srgbClr val="1889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2011680"/>
            <a:ext cx="3246120" cy="3154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ct val="125000"/>
              </a:lnSpc>
              <a:defRPr sz="1300" b="1">
                <a:solidFill>
                  <a:srgbClr val="2D3847"/>
                </a:solidFill>
                <a:latin typeface="Heiti SC"/>
              </a:defRPr>
            </a:pPr>
            <a:r>
              <a:rPr a:ea="Heiti SC">
                <a:latin typeface="Heiti SC"/>
              </a:rPr>
              <a:t>10岁</a:t>
            </a:r>
          </a:p>
          <a:p>
            <a:pPr algn="ctr">
              <a:lnSpc>
                <a:spcPct val="125000"/>
              </a:lnSpc>
              <a:defRPr sz="1300">
                <a:solidFill>
                  <a:srgbClr val="2D3847"/>
                </a:solidFill>
                <a:latin typeface="Heiti SC"/>
              </a:defRPr>
            </a:pPr>
            <a:r>
              <a:rPr a:ea="Heiti SC">
                <a:latin typeface="Heiti SC"/>
              </a:rPr>
              <a:t>保单第9年</a:t>
            </a:r>
          </a:p>
          <a:p>
            <a:pPr algn="ctr">
              <a:lnSpc>
                <a:spcPct val="125000"/>
              </a:lnSpc>
              <a:defRPr sz="1300">
                <a:solidFill>
                  <a:srgbClr val="2D3847"/>
                </a:solidFill>
                <a:latin typeface="Heiti SC"/>
              </a:defRPr>
            </a:pPr>
            <a:r>
              <a:rPr a:ea="Heiti SC">
                <a:latin typeface="Heiti SC"/>
              </a:rPr>
              <a:t>退保现金价值: US$624,107</a:t>
            </a:r>
          </a:p>
          <a:p>
            <a:pPr algn="ctr">
              <a:lnSpc>
                <a:spcPct val="125000"/>
              </a:lnSpc>
              <a:defRPr sz="1300">
                <a:solidFill>
                  <a:srgbClr val="2D3847"/>
                </a:solidFill>
                <a:latin typeface="Heiti SC"/>
              </a:defRPr>
            </a:pPr>
            <a:r>
              <a:rPr a:ea="Heiti SC">
                <a:latin typeface="Heiti SC"/>
              </a:rPr>
              <a:t>相对本金: 1.25x</a:t>
            </a:r>
          </a:p>
        </p:txBody>
      </p:sp>
      <p:sp>
        <p:nvSpPr>
          <p:cNvPr id="7" name="Rectangle 6"/>
          <p:cNvSpPr/>
          <p:nvPr/>
        </p:nvSpPr>
        <p:spPr>
          <a:xfrm>
            <a:off x="4434840" y="1828800"/>
            <a:ext cx="3566160" cy="3611880"/>
          </a:xfrm>
          <a:prstGeom prst="rect">
            <a:avLst/>
          </a:prstGeom>
          <a:solidFill>
            <a:srgbClr val="F8FBFD"/>
          </a:solidFill>
          <a:ln>
            <a:solidFill>
              <a:srgbClr val="1889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99431" y="2011680"/>
            <a:ext cx="3246120" cy="3154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ct val="125000"/>
              </a:lnSpc>
              <a:defRPr sz="1300" b="1">
                <a:solidFill>
                  <a:srgbClr val="2D3847"/>
                </a:solidFill>
                <a:latin typeface="Heiti SC"/>
              </a:defRPr>
            </a:pPr>
            <a:r>
              <a:rPr a:ea="Heiti SC">
                <a:latin typeface="Heiti SC"/>
              </a:rPr>
              <a:t>20岁</a:t>
            </a:r>
          </a:p>
          <a:p>
            <a:pPr algn="ctr">
              <a:lnSpc>
                <a:spcPct val="125000"/>
              </a:lnSpc>
              <a:defRPr sz="1300">
                <a:solidFill>
                  <a:srgbClr val="2D3847"/>
                </a:solidFill>
                <a:latin typeface="Heiti SC"/>
              </a:defRPr>
            </a:pPr>
            <a:r>
              <a:rPr a:ea="Heiti SC">
                <a:latin typeface="Heiti SC"/>
              </a:rPr>
              <a:t>保单第19年</a:t>
            </a:r>
          </a:p>
          <a:p>
            <a:pPr algn="ctr">
              <a:lnSpc>
                <a:spcPct val="125000"/>
              </a:lnSpc>
              <a:defRPr sz="1300">
                <a:solidFill>
                  <a:srgbClr val="2D3847"/>
                </a:solidFill>
                <a:latin typeface="Heiti SC"/>
              </a:defRPr>
            </a:pPr>
            <a:r>
              <a:rPr a:ea="Heiti SC">
                <a:latin typeface="Heiti SC"/>
              </a:rPr>
              <a:t>退保现金价值: US$1,263,814</a:t>
            </a:r>
          </a:p>
          <a:p>
            <a:pPr algn="ctr">
              <a:lnSpc>
                <a:spcPct val="125000"/>
              </a:lnSpc>
              <a:defRPr sz="1300">
                <a:solidFill>
                  <a:srgbClr val="2D3847"/>
                </a:solidFill>
                <a:latin typeface="Heiti SC"/>
              </a:defRPr>
            </a:pPr>
            <a:r>
              <a:rPr a:ea="Heiti SC">
                <a:latin typeface="Heiti SC"/>
              </a:rPr>
              <a:t>相对本金: 2.53x</a:t>
            </a:r>
          </a:p>
        </p:txBody>
      </p:sp>
      <p:sp>
        <p:nvSpPr>
          <p:cNvPr id="9" name="Rectangle 8"/>
          <p:cNvSpPr/>
          <p:nvPr/>
        </p:nvSpPr>
        <p:spPr>
          <a:xfrm>
            <a:off x="8138159" y="1828800"/>
            <a:ext cx="3566160" cy="3611880"/>
          </a:xfrm>
          <a:prstGeom prst="rect">
            <a:avLst/>
          </a:prstGeom>
          <a:solidFill>
            <a:srgbClr val="F8FBFD"/>
          </a:solidFill>
          <a:ln>
            <a:solidFill>
              <a:srgbClr val="1889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02751" y="2011680"/>
            <a:ext cx="3246120" cy="3154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ct val="125000"/>
              </a:lnSpc>
              <a:defRPr sz="1300" b="1">
                <a:solidFill>
                  <a:srgbClr val="2D3847"/>
                </a:solidFill>
                <a:latin typeface="Heiti SC"/>
              </a:defRPr>
            </a:pPr>
            <a:r>
              <a:rPr a:ea="Heiti SC">
                <a:latin typeface="Heiti SC"/>
              </a:rPr>
              <a:t>30岁</a:t>
            </a:r>
          </a:p>
          <a:p>
            <a:pPr algn="ctr">
              <a:lnSpc>
                <a:spcPct val="125000"/>
              </a:lnSpc>
              <a:defRPr sz="1300">
                <a:solidFill>
                  <a:srgbClr val="2D3847"/>
                </a:solidFill>
                <a:latin typeface="Heiti SC"/>
              </a:defRPr>
            </a:pPr>
            <a:r>
              <a:rPr a:ea="Heiti SC">
                <a:latin typeface="Heiti SC"/>
              </a:rPr>
              <a:t>保单第29年</a:t>
            </a:r>
          </a:p>
          <a:p>
            <a:pPr algn="ctr">
              <a:lnSpc>
                <a:spcPct val="125000"/>
              </a:lnSpc>
              <a:defRPr sz="1300">
                <a:solidFill>
                  <a:srgbClr val="2D3847"/>
                </a:solidFill>
                <a:latin typeface="Heiti SC"/>
              </a:defRPr>
            </a:pPr>
            <a:r>
              <a:rPr a:ea="Heiti SC">
                <a:latin typeface="Heiti SC"/>
              </a:rPr>
              <a:t>退保现金价值: US$2,739,104</a:t>
            </a:r>
          </a:p>
          <a:p>
            <a:pPr algn="ctr">
              <a:lnSpc>
                <a:spcPct val="125000"/>
              </a:lnSpc>
              <a:defRPr sz="1300">
                <a:solidFill>
                  <a:srgbClr val="2D3847"/>
                </a:solidFill>
                <a:latin typeface="Heiti SC"/>
              </a:defRPr>
            </a:pPr>
            <a:r>
              <a:rPr a:ea="Heiti SC">
                <a:latin typeface="Heiti SC"/>
              </a:rPr>
              <a:t>相对本金: 5.48x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41148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9144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56677"/>
                </a:solidFill>
                <a:latin typeface="Heiti SC"/>
              </a:defRPr>
            </a:pPr>
            <a:r>
              <a:rPr a:ea="Heiti SC">
                <a:latin typeface="Heiti SC"/>
              </a:rPr>
              <a:t>储蓄险定制方案  ·  教育金规划  ·  现金价值分析  ·  客户正式版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300" b="1">
                <a:solidFill>
                  <a:srgbClr val="0A3C5F"/>
                </a:solidFill>
                <a:latin typeface="Heiti SC"/>
              </a:defRPr>
            </a:pPr>
            <a:r>
              <a:rPr a:ea="Heiti SC">
                <a:latin typeface="Heiti SC"/>
              </a:rPr>
              <a:t>里程碑二：中后期规划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828800"/>
            <a:ext cx="3566160" cy="3611880"/>
          </a:xfrm>
          <a:prstGeom prst="rect">
            <a:avLst/>
          </a:prstGeom>
          <a:solidFill>
            <a:srgbClr val="F8FBFD"/>
          </a:solidFill>
          <a:ln>
            <a:solidFill>
              <a:srgbClr val="1889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2011680"/>
            <a:ext cx="3246120" cy="3154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ct val="125000"/>
              </a:lnSpc>
              <a:defRPr sz="1300" b="1">
                <a:solidFill>
                  <a:srgbClr val="2D3847"/>
                </a:solidFill>
                <a:latin typeface="Heiti SC"/>
              </a:defRPr>
            </a:pPr>
            <a:r>
              <a:rPr a:ea="Heiti SC">
                <a:latin typeface="Heiti SC"/>
              </a:rPr>
              <a:t>45岁</a:t>
            </a:r>
          </a:p>
          <a:p>
            <a:pPr algn="ctr">
              <a:lnSpc>
                <a:spcPct val="125000"/>
              </a:lnSpc>
              <a:defRPr sz="1300">
                <a:solidFill>
                  <a:srgbClr val="2D3847"/>
                </a:solidFill>
                <a:latin typeface="Heiti SC"/>
              </a:defRPr>
            </a:pPr>
            <a:r>
              <a:rPr a:ea="Heiti SC">
                <a:latin typeface="Heiti SC"/>
              </a:rPr>
              <a:t>保单第44年</a:t>
            </a:r>
          </a:p>
          <a:p>
            <a:pPr algn="ctr">
              <a:lnSpc>
                <a:spcPct val="125000"/>
              </a:lnSpc>
              <a:defRPr sz="1300">
                <a:solidFill>
                  <a:srgbClr val="2D3847"/>
                </a:solidFill>
                <a:latin typeface="Heiti SC"/>
              </a:defRPr>
            </a:pPr>
            <a:r>
              <a:rPr a:ea="Heiti SC">
                <a:latin typeface="Heiti SC"/>
              </a:rPr>
              <a:t>退保现金价值: US$7,069,272</a:t>
            </a:r>
          </a:p>
          <a:p>
            <a:pPr algn="ctr">
              <a:lnSpc>
                <a:spcPct val="125000"/>
              </a:lnSpc>
              <a:defRPr sz="1300">
                <a:solidFill>
                  <a:srgbClr val="2D3847"/>
                </a:solidFill>
                <a:latin typeface="Heiti SC"/>
              </a:defRPr>
            </a:pPr>
            <a:r>
              <a:rPr a:ea="Heiti SC">
                <a:latin typeface="Heiti SC"/>
              </a:rPr>
              <a:t>相对本金: 14.14x</a:t>
            </a:r>
          </a:p>
        </p:txBody>
      </p:sp>
      <p:sp>
        <p:nvSpPr>
          <p:cNvPr id="7" name="Rectangle 6"/>
          <p:cNvSpPr/>
          <p:nvPr/>
        </p:nvSpPr>
        <p:spPr>
          <a:xfrm>
            <a:off x="4434840" y="1828800"/>
            <a:ext cx="3566160" cy="3611880"/>
          </a:xfrm>
          <a:prstGeom prst="rect">
            <a:avLst/>
          </a:prstGeom>
          <a:solidFill>
            <a:srgbClr val="F8FBFD"/>
          </a:solidFill>
          <a:ln>
            <a:solidFill>
              <a:srgbClr val="1889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99431" y="2011680"/>
            <a:ext cx="3246120" cy="3154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ct val="125000"/>
              </a:lnSpc>
              <a:defRPr sz="1300" b="1">
                <a:solidFill>
                  <a:srgbClr val="2D3847"/>
                </a:solidFill>
                <a:latin typeface="Heiti SC"/>
              </a:defRPr>
            </a:pPr>
            <a:r>
              <a:rPr a:ea="Heiti SC">
                <a:latin typeface="Heiti SC"/>
              </a:rPr>
              <a:t>60岁</a:t>
            </a:r>
          </a:p>
          <a:p>
            <a:pPr algn="ctr">
              <a:lnSpc>
                <a:spcPct val="125000"/>
              </a:lnSpc>
              <a:defRPr sz="1300">
                <a:solidFill>
                  <a:srgbClr val="2D3847"/>
                </a:solidFill>
                <a:latin typeface="Heiti SC"/>
              </a:defRPr>
            </a:pPr>
            <a:r>
              <a:rPr a:ea="Heiti SC">
                <a:latin typeface="Heiti SC"/>
              </a:rPr>
              <a:t>保单第59年</a:t>
            </a:r>
          </a:p>
          <a:p>
            <a:pPr algn="ctr">
              <a:lnSpc>
                <a:spcPct val="125000"/>
              </a:lnSpc>
              <a:defRPr sz="1300">
                <a:solidFill>
                  <a:srgbClr val="2D3847"/>
                </a:solidFill>
                <a:latin typeface="Heiti SC"/>
              </a:defRPr>
            </a:pPr>
            <a:r>
              <a:rPr a:ea="Heiti SC">
                <a:latin typeface="Heiti SC"/>
              </a:rPr>
              <a:t>退保现金价值: US$18,181,045</a:t>
            </a:r>
          </a:p>
          <a:p>
            <a:pPr algn="ctr">
              <a:lnSpc>
                <a:spcPct val="125000"/>
              </a:lnSpc>
              <a:defRPr sz="1300">
                <a:solidFill>
                  <a:srgbClr val="2D3847"/>
                </a:solidFill>
                <a:latin typeface="Heiti SC"/>
              </a:defRPr>
            </a:pPr>
            <a:r>
              <a:rPr a:ea="Heiti SC">
                <a:latin typeface="Heiti SC"/>
              </a:rPr>
              <a:t>相对本金: 36.36x</a:t>
            </a:r>
          </a:p>
        </p:txBody>
      </p:sp>
      <p:sp>
        <p:nvSpPr>
          <p:cNvPr id="9" name="Rectangle 8"/>
          <p:cNvSpPr/>
          <p:nvPr/>
        </p:nvSpPr>
        <p:spPr>
          <a:xfrm>
            <a:off x="8138159" y="1828800"/>
            <a:ext cx="3566160" cy="3611880"/>
          </a:xfrm>
          <a:prstGeom prst="rect">
            <a:avLst/>
          </a:prstGeom>
          <a:solidFill>
            <a:srgbClr val="F8FBFD"/>
          </a:solidFill>
          <a:ln>
            <a:solidFill>
              <a:srgbClr val="1889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02751" y="2011680"/>
            <a:ext cx="3246120" cy="3154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ct val="125000"/>
              </a:lnSpc>
              <a:defRPr sz="1300" b="1">
                <a:solidFill>
                  <a:srgbClr val="2D3847"/>
                </a:solidFill>
                <a:latin typeface="Heiti SC"/>
              </a:defRPr>
            </a:pPr>
            <a:r>
              <a:rPr a:ea="Heiti SC">
                <a:latin typeface="Heiti SC"/>
              </a:rPr>
              <a:t>80岁</a:t>
            </a:r>
          </a:p>
          <a:p>
            <a:pPr algn="ctr">
              <a:lnSpc>
                <a:spcPct val="125000"/>
              </a:lnSpc>
              <a:defRPr sz="1300">
                <a:solidFill>
                  <a:srgbClr val="2D3847"/>
                </a:solidFill>
                <a:latin typeface="Heiti SC"/>
              </a:defRPr>
            </a:pPr>
            <a:r>
              <a:rPr a:ea="Heiti SC">
                <a:latin typeface="Heiti SC"/>
              </a:rPr>
              <a:t>保单第79年</a:t>
            </a:r>
          </a:p>
          <a:p>
            <a:pPr algn="ctr">
              <a:lnSpc>
                <a:spcPct val="125000"/>
              </a:lnSpc>
              <a:defRPr sz="1300">
                <a:solidFill>
                  <a:srgbClr val="2D3847"/>
                </a:solidFill>
                <a:latin typeface="Heiti SC"/>
              </a:defRPr>
            </a:pPr>
            <a:r>
              <a:rPr a:ea="Heiti SC">
                <a:latin typeface="Heiti SC"/>
              </a:rPr>
              <a:t>退保现金价值: US$64,063,551</a:t>
            </a:r>
          </a:p>
          <a:p>
            <a:pPr algn="ctr">
              <a:lnSpc>
                <a:spcPct val="125000"/>
              </a:lnSpc>
              <a:defRPr sz="1300">
                <a:solidFill>
                  <a:srgbClr val="2D3847"/>
                </a:solidFill>
                <a:latin typeface="Heiti SC"/>
              </a:defRPr>
            </a:pPr>
            <a:r>
              <a:rPr a:ea="Heiti SC">
                <a:latin typeface="Heiti SC"/>
              </a:rPr>
              <a:t>相对本金: 128.13x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41148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9144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56677"/>
                </a:solidFill>
                <a:latin typeface="Heiti SC"/>
              </a:defRPr>
            </a:pPr>
            <a:r>
              <a:rPr a:ea="Heiti SC">
                <a:latin typeface="Heiti SC"/>
              </a:rPr>
              <a:t>储蓄险定制方案  ·  教育金规划  ·  现金价值分析  ·  客户正式版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300" b="1">
                <a:solidFill>
                  <a:srgbClr val="0A3C5F"/>
                </a:solidFill>
                <a:latin typeface="Heiti SC"/>
              </a:defRPr>
            </a:pPr>
            <a:r>
              <a:rPr a:ea="Heiti SC">
                <a:latin typeface="Heiti SC"/>
              </a:rPr>
              <a:t>不提领方案数据表（每10年）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554480"/>
          <a:ext cx="1124712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05890"/>
                <a:gridCol w="1405890"/>
                <a:gridCol w="1405890"/>
                <a:gridCol w="1405890"/>
                <a:gridCol w="1405890"/>
                <a:gridCol w="1405890"/>
                <a:gridCol w="1405890"/>
                <a:gridCol w="1405890"/>
              </a:tblGrid>
              <a:tr h="37338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200" b="1">
                          <a:solidFill>
                            <a:srgbClr val="FFFFFF"/>
                          </a:solidFill>
                          <a:latin typeface="Heiti SC"/>
                        </a:defRPr>
                      </a:pPr>
                      <a:r>
                        <a:rPr a:ea="Heiti SC">
                          <a:latin typeface="Heiti SC"/>
                        </a:rPr>
                        <a:t>年龄</a:t>
                      </a:r>
                    </a:p>
                  </a:txBody>
                  <a:tcPr>
                    <a:solidFill>
                      <a:srgbClr val="0A3C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200" b="1">
                          <a:solidFill>
                            <a:srgbClr val="FFFFFF"/>
                          </a:solidFill>
                          <a:latin typeface="Heiti SC"/>
                        </a:defRPr>
                      </a:pPr>
                      <a:r>
                        <a:rPr a:ea="Heiti SC">
                          <a:latin typeface="Heiti SC"/>
                        </a:rPr>
                        <a:t>保单年度</a:t>
                      </a:r>
                    </a:p>
                  </a:txBody>
                  <a:tcPr>
                    <a:solidFill>
                      <a:srgbClr val="0A3C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200" b="1">
                          <a:solidFill>
                            <a:srgbClr val="FFFFFF"/>
                          </a:solidFill>
                          <a:latin typeface="Heiti SC"/>
                        </a:defRPr>
                      </a:pPr>
                      <a:r>
                        <a:rPr a:ea="Heiti SC">
                          <a:latin typeface="Heiti SC"/>
                        </a:rPr>
                        <a:t>已交总保费</a:t>
                      </a:r>
                    </a:p>
                  </a:txBody>
                  <a:tcPr>
                    <a:solidFill>
                      <a:srgbClr val="0A3C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200" b="1">
                          <a:solidFill>
                            <a:srgbClr val="FFFFFF"/>
                          </a:solidFill>
                          <a:latin typeface="Heiti SC"/>
                        </a:defRPr>
                      </a:pPr>
                      <a:r>
                        <a:rPr a:ea="Heiti SC">
                          <a:latin typeface="Heiti SC"/>
                        </a:rPr>
                        <a:t>领取金额</a:t>
                      </a:r>
                    </a:p>
                  </a:txBody>
                  <a:tcPr>
                    <a:solidFill>
                      <a:srgbClr val="0A3C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200" b="1">
                          <a:solidFill>
                            <a:srgbClr val="FFFFFF"/>
                          </a:solidFill>
                          <a:latin typeface="Heiti SC"/>
                        </a:defRPr>
                      </a:pPr>
                      <a:r>
                        <a:rPr a:ea="Heiti SC">
                          <a:latin typeface="Heiti SC"/>
                        </a:rPr>
                        <a:t>累计领取</a:t>
                      </a:r>
                    </a:p>
                  </a:txBody>
                  <a:tcPr>
                    <a:solidFill>
                      <a:srgbClr val="0A3C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200" b="1">
                          <a:solidFill>
                            <a:srgbClr val="FFFFFF"/>
                          </a:solidFill>
                          <a:latin typeface="Heiti SC"/>
                        </a:defRPr>
                      </a:pPr>
                      <a:r>
                        <a:rPr a:ea="Heiti SC">
                          <a:latin typeface="Heiti SC"/>
                        </a:rPr>
                        <a:t>退保现金价值</a:t>
                      </a:r>
                    </a:p>
                  </a:txBody>
                  <a:tcPr>
                    <a:solidFill>
                      <a:srgbClr val="0A3C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200" b="1">
                          <a:solidFill>
                            <a:srgbClr val="FFFFFF"/>
                          </a:solidFill>
                          <a:latin typeface="Heiti SC"/>
                        </a:defRPr>
                      </a:pPr>
                      <a:r>
                        <a:rPr a:ea="Heiti SC">
                          <a:latin typeface="Heiti SC"/>
                        </a:rPr>
                        <a:t>单利</a:t>
                      </a:r>
                    </a:p>
                  </a:txBody>
                  <a:tcPr>
                    <a:solidFill>
                      <a:srgbClr val="0A3C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200" b="1">
                          <a:solidFill>
                            <a:srgbClr val="FFFFFF"/>
                          </a:solidFill>
                          <a:latin typeface="Heiti SC"/>
                        </a:defRPr>
                      </a:pPr>
                      <a:r>
                        <a:rPr a:ea="Heiti SC">
                          <a:latin typeface="Heiti SC"/>
                        </a:rPr>
                        <a:t>复利</a:t>
                      </a:r>
                    </a:p>
                  </a:txBody>
                  <a:tcPr>
                    <a:solidFill>
                      <a:srgbClr val="0A3C5F"/>
                    </a:solidFill>
                  </a:tcPr>
                </a:tc>
              </a:tr>
              <a:tr h="37338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 b="1">
                          <a:solidFill>
                            <a:srgbClr val="2D3847"/>
                          </a:solidFill>
                          <a:latin typeface="Heiti SC"/>
                        </a:defRPr>
                      </a:pPr>
                      <a:r>
                        <a:rPr a:ea="Heiti SC">
                          <a:latin typeface="Heiti SC"/>
                        </a:rPr>
                        <a:t>2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 b="1">
                          <a:solidFill>
                            <a:srgbClr val="2D3847"/>
                          </a:solidFill>
                          <a:latin typeface="Heiti SC"/>
                        </a:defRPr>
                      </a:pPr>
                      <a:r>
                        <a:rPr a:ea="Heiti SC">
                          <a:latin typeface="Heiti SC"/>
                        </a:rPr>
                        <a:t>1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 b="0">
                          <a:solidFill>
                            <a:srgbClr val="2D3847"/>
                          </a:solidFill>
                          <a:latin typeface="Heiti SC"/>
                        </a:defRPr>
                      </a:pPr>
                      <a:r>
                        <a:rPr a:ea="Heiti SC">
                          <a:latin typeface="Heiti SC"/>
                        </a:rPr>
                        <a:t>100,000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 b="0">
                          <a:solidFill>
                            <a:srgbClr val="2D3847"/>
                          </a:solidFill>
                          <a:latin typeface="Heiti SC"/>
                        </a:defRPr>
                      </a:pPr>
                      <a:r>
                        <a:rPr a:ea="Heiti SC">
                          <a:latin typeface="Heiti SC"/>
                        </a:rPr>
                        <a:t>0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 b="0">
                          <a:solidFill>
                            <a:srgbClr val="2D3847"/>
                          </a:solidFill>
                          <a:latin typeface="Heiti SC"/>
                        </a:defRPr>
                      </a:pPr>
                      <a:r>
                        <a:rPr a:ea="Heiti SC">
                          <a:latin typeface="Heiti SC"/>
                        </a:rPr>
                        <a:t>0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 b="1">
                          <a:solidFill>
                            <a:srgbClr val="2D3847"/>
                          </a:solidFill>
                          <a:latin typeface="Heiti SC"/>
                        </a:defRPr>
                      </a:pPr>
                      <a:r>
                        <a:rPr a:ea="Heiti SC">
                          <a:latin typeface="Heiti SC"/>
                        </a:rPr>
                        <a:t>103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 b="0">
                          <a:solidFill>
                            <a:srgbClr val="2D3847"/>
                          </a:solidFill>
                          <a:latin typeface="Heiti SC"/>
                        </a:defRPr>
                      </a:pPr>
                      <a:r>
                        <a:rPr a:ea="Heiti SC">
                          <a:latin typeface="Heiti SC"/>
                        </a:rPr>
                        <a:t>-99.90%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 b="0">
                          <a:solidFill>
                            <a:srgbClr val="2D3847"/>
                          </a:solidFill>
                          <a:latin typeface="Heiti SC"/>
                        </a:defRPr>
                      </a:pPr>
                      <a:r>
                        <a:rPr a:ea="Heiti SC">
                          <a:latin typeface="Heiti SC"/>
                        </a:rPr>
                        <a:t>-99.90%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</a:tr>
              <a:tr h="37338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 b="1">
                          <a:solidFill>
                            <a:srgbClr val="2D3847"/>
                          </a:solidFill>
                          <a:latin typeface="Heiti SC"/>
                        </a:defRPr>
                      </a:pPr>
                      <a:r>
                        <a:rPr a:ea="Heiti SC">
                          <a:latin typeface="Heiti SC"/>
                        </a:rPr>
                        <a:t>11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 b="1">
                          <a:solidFill>
                            <a:srgbClr val="2D3847"/>
                          </a:solidFill>
                          <a:latin typeface="Heiti SC"/>
                        </a:defRPr>
                      </a:pPr>
                      <a:r>
                        <a:rPr a:ea="Heiti SC">
                          <a:latin typeface="Heiti SC"/>
                        </a:rPr>
                        <a:t>10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 b="0">
                          <a:solidFill>
                            <a:srgbClr val="2D3847"/>
                          </a:solidFill>
                          <a:latin typeface="Heiti SC"/>
                        </a:defRPr>
                      </a:pPr>
                      <a:r>
                        <a:rPr a:ea="Heiti SC">
                          <a:latin typeface="Heiti SC"/>
                        </a:rPr>
                        <a:t>500,000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 b="0">
                          <a:solidFill>
                            <a:srgbClr val="2D3847"/>
                          </a:solidFill>
                          <a:latin typeface="Heiti SC"/>
                        </a:defRPr>
                      </a:pPr>
                      <a:r>
                        <a:rPr a:ea="Heiti SC">
                          <a:latin typeface="Heiti SC"/>
                        </a:rPr>
                        <a:t>0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 b="0">
                          <a:solidFill>
                            <a:srgbClr val="2D3847"/>
                          </a:solidFill>
                          <a:latin typeface="Heiti SC"/>
                        </a:defRPr>
                      </a:pPr>
                      <a:r>
                        <a:rPr a:ea="Heiti SC">
                          <a:latin typeface="Heiti SC"/>
                        </a:rPr>
                        <a:t>0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 b="1">
                          <a:solidFill>
                            <a:srgbClr val="2D3847"/>
                          </a:solidFill>
                          <a:latin typeface="Heiti SC"/>
                        </a:defRPr>
                      </a:pPr>
                      <a:r>
                        <a:rPr a:ea="Heiti SC">
                          <a:latin typeface="Heiti SC"/>
                        </a:rPr>
                        <a:t>659,765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 b="0">
                          <a:solidFill>
                            <a:srgbClr val="2D3847"/>
                          </a:solidFill>
                          <a:latin typeface="Heiti SC"/>
                        </a:defRPr>
                      </a:pPr>
                      <a:r>
                        <a:rPr a:ea="Heiti SC">
                          <a:latin typeface="Heiti SC"/>
                        </a:rPr>
                        <a:t>3.20%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 b="0">
                          <a:solidFill>
                            <a:srgbClr val="2D3847"/>
                          </a:solidFill>
                          <a:latin typeface="Heiti SC"/>
                        </a:defRPr>
                      </a:pPr>
                      <a:r>
                        <a:rPr a:ea="Heiti SC">
                          <a:latin typeface="Heiti SC"/>
                        </a:rPr>
                        <a:t>2.81%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</a:tr>
              <a:tr h="37338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 b="1">
                          <a:solidFill>
                            <a:srgbClr val="2D3847"/>
                          </a:solidFill>
                          <a:latin typeface="Heiti SC"/>
                        </a:defRPr>
                      </a:pPr>
                      <a:r>
                        <a:rPr a:ea="Heiti SC">
                          <a:latin typeface="Heiti SC"/>
                        </a:rPr>
                        <a:t>21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 b="1">
                          <a:solidFill>
                            <a:srgbClr val="2D3847"/>
                          </a:solidFill>
                          <a:latin typeface="Heiti SC"/>
                        </a:defRPr>
                      </a:pPr>
                      <a:r>
                        <a:rPr a:ea="Heiti SC">
                          <a:latin typeface="Heiti SC"/>
                        </a:rPr>
                        <a:t>20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 b="0">
                          <a:solidFill>
                            <a:srgbClr val="2D3847"/>
                          </a:solidFill>
                          <a:latin typeface="Heiti SC"/>
                        </a:defRPr>
                      </a:pPr>
                      <a:r>
                        <a:rPr a:ea="Heiti SC">
                          <a:latin typeface="Heiti SC"/>
                        </a:rPr>
                        <a:t>500,000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 b="0">
                          <a:solidFill>
                            <a:srgbClr val="2D3847"/>
                          </a:solidFill>
                          <a:latin typeface="Heiti SC"/>
                        </a:defRPr>
                      </a:pPr>
                      <a:r>
                        <a:rPr a:ea="Heiti SC">
                          <a:latin typeface="Heiti SC"/>
                        </a:rPr>
                        <a:t>0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 b="0">
                          <a:solidFill>
                            <a:srgbClr val="2D3847"/>
                          </a:solidFill>
                          <a:latin typeface="Heiti SC"/>
                        </a:defRPr>
                      </a:pPr>
                      <a:r>
                        <a:rPr a:ea="Heiti SC">
                          <a:latin typeface="Heiti SC"/>
                        </a:rPr>
                        <a:t>0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 b="1">
                          <a:solidFill>
                            <a:srgbClr val="2D3847"/>
                          </a:solidFill>
                          <a:latin typeface="Heiti SC"/>
                        </a:defRPr>
                      </a:pPr>
                      <a:r>
                        <a:rPr a:ea="Heiti SC">
                          <a:latin typeface="Heiti SC"/>
                        </a:rPr>
                        <a:t>1,357,738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 b="0">
                          <a:solidFill>
                            <a:srgbClr val="2D3847"/>
                          </a:solidFill>
                          <a:latin typeface="Heiti SC"/>
                        </a:defRPr>
                      </a:pPr>
                      <a:r>
                        <a:rPr a:ea="Heiti SC">
                          <a:latin typeface="Heiti SC"/>
                        </a:rPr>
                        <a:t>8.58%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 b="0">
                          <a:solidFill>
                            <a:srgbClr val="2D3847"/>
                          </a:solidFill>
                          <a:latin typeface="Heiti SC"/>
                        </a:defRPr>
                      </a:pPr>
                      <a:r>
                        <a:rPr a:ea="Heiti SC">
                          <a:latin typeface="Heiti SC"/>
                        </a:rPr>
                        <a:t>5.12%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</a:tr>
              <a:tr h="37338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 b="1">
                          <a:solidFill>
                            <a:srgbClr val="2D3847"/>
                          </a:solidFill>
                          <a:latin typeface="Heiti SC"/>
                        </a:defRPr>
                      </a:pPr>
                      <a:r>
                        <a:rPr a:ea="Heiti SC">
                          <a:latin typeface="Heiti SC"/>
                        </a:rPr>
                        <a:t>31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 b="1">
                          <a:solidFill>
                            <a:srgbClr val="2D3847"/>
                          </a:solidFill>
                          <a:latin typeface="Heiti SC"/>
                        </a:defRPr>
                      </a:pPr>
                      <a:r>
                        <a:rPr a:ea="Heiti SC">
                          <a:latin typeface="Heiti SC"/>
                        </a:rPr>
                        <a:t>30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 b="0">
                          <a:solidFill>
                            <a:srgbClr val="2D3847"/>
                          </a:solidFill>
                          <a:latin typeface="Heiti SC"/>
                        </a:defRPr>
                      </a:pPr>
                      <a:r>
                        <a:rPr a:ea="Heiti SC">
                          <a:latin typeface="Heiti SC"/>
                        </a:rPr>
                        <a:t>500,000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 b="0">
                          <a:solidFill>
                            <a:srgbClr val="2D3847"/>
                          </a:solidFill>
                          <a:latin typeface="Heiti SC"/>
                        </a:defRPr>
                      </a:pPr>
                      <a:r>
                        <a:rPr a:ea="Heiti SC">
                          <a:latin typeface="Heiti SC"/>
                        </a:rPr>
                        <a:t>0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 b="0">
                          <a:solidFill>
                            <a:srgbClr val="2D3847"/>
                          </a:solidFill>
                          <a:latin typeface="Heiti SC"/>
                        </a:defRPr>
                      </a:pPr>
                      <a:r>
                        <a:rPr a:ea="Heiti SC">
                          <a:latin typeface="Heiti SC"/>
                        </a:rPr>
                        <a:t>0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 b="1">
                          <a:solidFill>
                            <a:srgbClr val="2D3847"/>
                          </a:solidFill>
                          <a:latin typeface="Heiti SC"/>
                        </a:defRPr>
                      </a:pPr>
                      <a:r>
                        <a:rPr a:ea="Heiti SC">
                          <a:latin typeface="Heiti SC"/>
                        </a:rPr>
                        <a:t>2,927,387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 b="0">
                          <a:solidFill>
                            <a:srgbClr val="2D3847"/>
                          </a:solidFill>
                          <a:latin typeface="Heiti SC"/>
                        </a:defRPr>
                      </a:pPr>
                      <a:r>
                        <a:rPr a:ea="Heiti SC">
                          <a:latin typeface="Heiti SC"/>
                        </a:rPr>
                        <a:t>16.18%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 b="0">
                          <a:solidFill>
                            <a:srgbClr val="2D3847"/>
                          </a:solidFill>
                          <a:latin typeface="Heiti SC"/>
                        </a:defRPr>
                      </a:pPr>
                      <a:r>
                        <a:rPr a:ea="Heiti SC">
                          <a:latin typeface="Heiti SC"/>
                        </a:rPr>
                        <a:t>6.07%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</a:tr>
              <a:tr h="37338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 b="1">
                          <a:solidFill>
                            <a:srgbClr val="2D3847"/>
                          </a:solidFill>
                          <a:latin typeface="Heiti SC"/>
                        </a:defRPr>
                      </a:pPr>
                      <a:r>
                        <a:rPr a:ea="Heiti SC">
                          <a:latin typeface="Heiti SC"/>
                        </a:rPr>
                        <a:t>41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 b="1">
                          <a:solidFill>
                            <a:srgbClr val="2D3847"/>
                          </a:solidFill>
                          <a:latin typeface="Heiti SC"/>
                        </a:defRPr>
                      </a:pPr>
                      <a:r>
                        <a:rPr a:ea="Heiti SC">
                          <a:latin typeface="Heiti SC"/>
                        </a:rPr>
                        <a:t>40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 b="0">
                          <a:solidFill>
                            <a:srgbClr val="2D3847"/>
                          </a:solidFill>
                          <a:latin typeface="Heiti SC"/>
                        </a:defRPr>
                      </a:pPr>
                      <a:r>
                        <a:rPr a:ea="Heiti SC">
                          <a:latin typeface="Heiti SC"/>
                        </a:rPr>
                        <a:t>500,000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 b="0">
                          <a:solidFill>
                            <a:srgbClr val="2D3847"/>
                          </a:solidFill>
                          <a:latin typeface="Heiti SC"/>
                        </a:defRPr>
                      </a:pPr>
                      <a:r>
                        <a:rPr a:ea="Heiti SC">
                          <a:latin typeface="Heiti SC"/>
                        </a:rPr>
                        <a:t>0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 b="0">
                          <a:solidFill>
                            <a:srgbClr val="2D3847"/>
                          </a:solidFill>
                          <a:latin typeface="Heiti SC"/>
                        </a:defRPr>
                      </a:pPr>
                      <a:r>
                        <a:rPr a:ea="Heiti SC">
                          <a:latin typeface="Heiti SC"/>
                        </a:rPr>
                        <a:t>0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 b="1">
                          <a:solidFill>
                            <a:srgbClr val="2D3847"/>
                          </a:solidFill>
                          <a:latin typeface="Heiti SC"/>
                        </a:defRPr>
                      </a:pPr>
                      <a:r>
                        <a:rPr a:ea="Heiti SC">
                          <a:latin typeface="Heiti SC"/>
                        </a:rPr>
                        <a:t>5,495,108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 b="0">
                          <a:solidFill>
                            <a:srgbClr val="2D3847"/>
                          </a:solidFill>
                          <a:latin typeface="Heiti SC"/>
                        </a:defRPr>
                      </a:pPr>
                      <a:r>
                        <a:rPr a:ea="Heiti SC">
                          <a:latin typeface="Heiti SC"/>
                        </a:rPr>
                        <a:t>24.98%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 b="0">
                          <a:solidFill>
                            <a:srgbClr val="2D3847"/>
                          </a:solidFill>
                          <a:latin typeface="Heiti SC"/>
                        </a:defRPr>
                      </a:pPr>
                      <a:r>
                        <a:rPr a:ea="Heiti SC">
                          <a:latin typeface="Heiti SC"/>
                        </a:rPr>
                        <a:t>6.18%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</a:tr>
              <a:tr h="37338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 b="1">
                          <a:solidFill>
                            <a:srgbClr val="2D3847"/>
                          </a:solidFill>
                          <a:latin typeface="Heiti SC"/>
                        </a:defRPr>
                      </a:pPr>
                      <a:r>
                        <a:rPr a:ea="Heiti SC">
                          <a:latin typeface="Heiti SC"/>
                        </a:rPr>
                        <a:t>51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 b="1">
                          <a:solidFill>
                            <a:srgbClr val="2D3847"/>
                          </a:solidFill>
                          <a:latin typeface="Heiti SC"/>
                        </a:defRPr>
                      </a:pPr>
                      <a:r>
                        <a:rPr a:ea="Heiti SC">
                          <a:latin typeface="Heiti SC"/>
                        </a:rPr>
                        <a:t>50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 b="0">
                          <a:solidFill>
                            <a:srgbClr val="2D3847"/>
                          </a:solidFill>
                          <a:latin typeface="Heiti SC"/>
                        </a:defRPr>
                      </a:pPr>
                      <a:r>
                        <a:rPr a:ea="Heiti SC">
                          <a:latin typeface="Heiti SC"/>
                        </a:rPr>
                        <a:t>500,000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 b="0">
                          <a:solidFill>
                            <a:srgbClr val="2D3847"/>
                          </a:solidFill>
                          <a:latin typeface="Heiti SC"/>
                        </a:defRPr>
                      </a:pPr>
                      <a:r>
                        <a:rPr a:ea="Heiti SC">
                          <a:latin typeface="Heiti SC"/>
                        </a:rPr>
                        <a:t>0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 b="0">
                          <a:solidFill>
                            <a:srgbClr val="2D3847"/>
                          </a:solidFill>
                          <a:latin typeface="Heiti SC"/>
                        </a:defRPr>
                      </a:pPr>
                      <a:r>
                        <a:rPr a:ea="Heiti SC">
                          <a:latin typeface="Heiti SC"/>
                        </a:rPr>
                        <a:t>0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 b="1">
                          <a:solidFill>
                            <a:srgbClr val="2D3847"/>
                          </a:solidFill>
                          <a:latin typeface="Heiti SC"/>
                        </a:defRPr>
                      </a:pPr>
                      <a:r>
                        <a:rPr a:ea="Heiti SC">
                          <a:latin typeface="Heiti SC"/>
                        </a:rPr>
                        <a:t>10,315,074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 b="0">
                          <a:solidFill>
                            <a:srgbClr val="2D3847"/>
                          </a:solidFill>
                          <a:latin typeface="Heiti SC"/>
                        </a:defRPr>
                      </a:pPr>
                      <a:r>
                        <a:rPr a:ea="Heiti SC">
                          <a:latin typeface="Heiti SC"/>
                        </a:rPr>
                        <a:t>39.26%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 b="0">
                          <a:solidFill>
                            <a:srgbClr val="2D3847"/>
                          </a:solidFill>
                          <a:latin typeface="Heiti SC"/>
                        </a:defRPr>
                      </a:pPr>
                      <a:r>
                        <a:rPr a:ea="Heiti SC">
                          <a:latin typeface="Heiti SC"/>
                        </a:rPr>
                        <a:t>6.24%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</a:tr>
              <a:tr h="37338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 b="1">
                          <a:solidFill>
                            <a:srgbClr val="2D3847"/>
                          </a:solidFill>
                          <a:latin typeface="Heiti SC"/>
                        </a:defRPr>
                      </a:pPr>
                      <a:r>
                        <a:rPr a:ea="Heiti SC">
                          <a:latin typeface="Heiti SC"/>
                        </a:rPr>
                        <a:t>61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 b="1">
                          <a:solidFill>
                            <a:srgbClr val="2D3847"/>
                          </a:solidFill>
                          <a:latin typeface="Heiti SC"/>
                        </a:defRPr>
                      </a:pPr>
                      <a:r>
                        <a:rPr a:ea="Heiti SC">
                          <a:latin typeface="Heiti SC"/>
                        </a:rPr>
                        <a:t>60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 b="0">
                          <a:solidFill>
                            <a:srgbClr val="2D3847"/>
                          </a:solidFill>
                          <a:latin typeface="Heiti SC"/>
                        </a:defRPr>
                      </a:pPr>
                      <a:r>
                        <a:rPr a:ea="Heiti SC">
                          <a:latin typeface="Heiti SC"/>
                        </a:rPr>
                        <a:t>500,000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 b="0">
                          <a:solidFill>
                            <a:srgbClr val="2D3847"/>
                          </a:solidFill>
                          <a:latin typeface="Heiti SC"/>
                        </a:defRPr>
                      </a:pPr>
                      <a:r>
                        <a:rPr a:ea="Heiti SC">
                          <a:latin typeface="Heiti SC"/>
                        </a:rPr>
                        <a:t>0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 b="0">
                          <a:solidFill>
                            <a:srgbClr val="2D3847"/>
                          </a:solidFill>
                          <a:latin typeface="Heiti SC"/>
                        </a:defRPr>
                      </a:pPr>
                      <a:r>
                        <a:rPr a:ea="Heiti SC">
                          <a:latin typeface="Heiti SC"/>
                        </a:rPr>
                        <a:t>0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 b="1">
                          <a:solidFill>
                            <a:srgbClr val="2D3847"/>
                          </a:solidFill>
                          <a:latin typeface="Heiti SC"/>
                        </a:defRPr>
                      </a:pPr>
                      <a:r>
                        <a:rPr a:ea="Heiti SC">
                          <a:latin typeface="Heiti SC"/>
                        </a:rPr>
                        <a:t>19,362,813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 b="0">
                          <a:solidFill>
                            <a:srgbClr val="2D3847"/>
                          </a:solidFill>
                          <a:latin typeface="Heiti SC"/>
                        </a:defRPr>
                      </a:pPr>
                      <a:r>
                        <a:rPr a:ea="Heiti SC">
                          <a:latin typeface="Heiti SC"/>
                        </a:rPr>
                        <a:t>62.88%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 b="0">
                          <a:solidFill>
                            <a:srgbClr val="2D3847"/>
                          </a:solidFill>
                          <a:latin typeface="Heiti SC"/>
                        </a:defRPr>
                      </a:pPr>
                      <a:r>
                        <a:rPr a:ea="Heiti SC">
                          <a:latin typeface="Heiti SC"/>
                        </a:rPr>
                        <a:t>6.28%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</a:tr>
              <a:tr h="37338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 b="1">
                          <a:solidFill>
                            <a:srgbClr val="2D3847"/>
                          </a:solidFill>
                          <a:latin typeface="Heiti SC"/>
                        </a:defRPr>
                      </a:pPr>
                      <a:r>
                        <a:rPr a:ea="Heiti SC">
                          <a:latin typeface="Heiti SC"/>
                        </a:rPr>
                        <a:t>71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 b="1">
                          <a:solidFill>
                            <a:srgbClr val="2D3847"/>
                          </a:solidFill>
                          <a:latin typeface="Heiti SC"/>
                        </a:defRPr>
                      </a:pPr>
                      <a:r>
                        <a:rPr a:ea="Heiti SC">
                          <a:latin typeface="Heiti SC"/>
                        </a:rPr>
                        <a:t>70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 b="0">
                          <a:solidFill>
                            <a:srgbClr val="2D3847"/>
                          </a:solidFill>
                          <a:latin typeface="Heiti SC"/>
                        </a:defRPr>
                      </a:pPr>
                      <a:r>
                        <a:rPr a:ea="Heiti SC">
                          <a:latin typeface="Heiti SC"/>
                        </a:rPr>
                        <a:t>500,000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 b="0">
                          <a:solidFill>
                            <a:srgbClr val="2D3847"/>
                          </a:solidFill>
                          <a:latin typeface="Heiti SC"/>
                        </a:defRPr>
                      </a:pPr>
                      <a:r>
                        <a:rPr a:ea="Heiti SC">
                          <a:latin typeface="Heiti SC"/>
                        </a:rPr>
                        <a:t>0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 b="0">
                          <a:solidFill>
                            <a:srgbClr val="2D3847"/>
                          </a:solidFill>
                          <a:latin typeface="Heiti SC"/>
                        </a:defRPr>
                      </a:pPr>
                      <a:r>
                        <a:rPr a:ea="Heiti SC">
                          <a:latin typeface="Heiti SC"/>
                        </a:rPr>
                        <a:t>0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 b="1">
                          <a:solidFill>
                            <a:srgbClr val="2D3847"/>
                          </a:solidFill>
                          <a:latin typeface="Heiti SC"/>
                        </a:defRPr>
                      </a:pPr>
                      <a:r>
                        <a:rPr a:ea="Heiti SC">
                          <a:latin typeface="Heiti SC"/>
                        </a:rPr>
                        <a:t>36,346,662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 b="0">
                          <a:solidFill>
                            <a:srgbClr val="2D3847"/>
                          </a:solidFill>
                          <a:latin typeface="Heiti SC"/>
                        </a:defRPr>
                      </a:pPr>
                      <a:r>
                        <a:rPr a:ea="Heiti SC">
                          <a:latin typeface="Heiti SC"/>
                        </a:rPr>
                        <a:t>102.42%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 b="0">
                          <a:solidFill>
                            <a:srgbClr val="2D3847"/>
                          </a:solidFill>
                          <a:latin typeface="Heiti SC"/>
                        </a:defRPr>
                      </a:pPr>
                      <a:r>
                        <a:rPr a:ea="Heiti SC">
                          <a:latin typeface="Heiti SC"/>
                        </a:rPr>
                        <a:t>6.31%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</a:tr>
              <a:tr h="37338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 b="1">
                          <a:solidFill>
                            <a:srgbClr val="2D3847"/>
                          </a:solidFill>
                          <a:latin typeface="Heiti SC"/>
                        </a:defRPr>
                      </a:pPr>
                      <a:r>
                        <a:rPr a:ea="Heiti SC">
                          <a:latin typeface="Heiti SC"/>
                        </a:rPr>
                        <a:t>81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 b="1">
                          <a:solidFill>
                            <a:srgbClr val="2D3847"/>
                          </a:solidFill>
                          <a:latin typeface="Heiti SC"/>
                        </a:defRPr>
                      </a:pPr>
                      <a:r>
                        <a:rPr a:ea="Heiti SC">
                          <a:latin typeface="Heiti SC"/>
                        </a:rPr>
                        <a:t>80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 b="0">
                          <a:solidFill>
                            <a:srgbClr val="2D3847"/>
                          </a:solidFill>
                          <a:latin typeface="Heiti SC"/>
                        </a:defRPr>
                      </a:pPr>
                      <a:r>
                        <a:rPr a:ea="Heiti SC">
                          <a:latin typeface="Heiti SC"/>
                        </a:rPr>
                        <a:t>500,000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 b="0">
                          <a:solidFill>
                            <a:srgbClr val="2D3847"/>
                          </a:solidFill>
                          <a:latin typeface="Heiti SC"/>
                        </a:defRPr>
                      </a:pPr>
                      <a:r>
                        <a:rPr a:ea="Heiti SC">
                          <a:latin typeface="Heiti SC"/>
                        </a:rPr>
                        <a:t>0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 b="0">
                          <a:solidFill>
                            <a:srgbClr val="2D3847"/>
                          </a:solidFill>
                          <a:latin typeface="Heiti SC"/>
                        </a:defRPr>
                      </a:pPr>
                      <a:r>
                        <a:rPr a:ea="Heiti SC">
                          <a:latin typeface="Heiti SC"/>
                        </a:rPr>
                        <a:t>0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 b="1">
                          <a:solidFill>
                            <a:srgbClr val="2D3847"/>
                          </a:solidFill>
                          <a:latin typeface="Heiti SC"/>
                        </a:defRPr>
                      </a:pPr>
                      <a:r>
                        <a:rPr a:ea="Heiti SC">
                          <a:latin typeface="Heiti SC"/>
                        </a:rPr>
                        <a:t>68,227,682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 b="0">
                          <a:solidFill>
                            <a:srgbClr val="2D3847"/>
                          </a:solidFill>
                          <a:latin typeface="Heiti SC"/>
                        </a:defRPr>
                      </a:pPr>
                      <a:r>
                        <a:rPr a:ea="Heiti SC">
                          <a:latin typeface="Heiti SC"/>
                        </a:rPr>
                        <a:t>169.32%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 b="0">
                          <a:solidFill>
                            <a:srgbClr val="2D3847"/>
                          </a:solidFill>
                          <a:latin typeface="Heiti SC"/>
                        </a:defRPr>
                      </a:pPr>
                      <a:r>
                        <a:rPr a:ea="Heiti SC">
                          <a:latin typeface="Heiti SC"/>
                        </a:rPr>
                        <a:t>6.34%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</a:tr>
              <a:tr h="37338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 b="1">
                          <a:solidFill>
                            <a:srgbClr val="2D3847"/>
                          </a:solidFill>
                          <a:latin typeface="Heiti SC"/>
                        </a:defRPr>
                      </a:pPr>
                      <a:r>
                        <a:rPr a:ea="Heiti SC">
                          <a:latin typeface="Heiti SC"/>
                        </a:rPr>
                        <a:t>91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 b="1">
                          <a:solidFill>
                            <a:srgbClr val="2D3847"/>
                          </a:solidFill>
                          <a:latin typeface="Heiti SC"/>
                        </a:defRPr>
                      </a:pPr>
                      <a:r>
                        <a:rPr a:ea="Heiti SC">
                          <a:latin typeface="Heiti SC"/>
                        </a:rPr>
                        <a:t>90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 b="0">
                          <a:solidFill>
                            <a:srgbClr val="2D3847"/>
                          </a:solidFill>
                          <a:latin typeface="Heiti SC"/>
                        </a:defRPr>
                      </a:pPr>
                      <a:r>
                        <a:rPr a:ea="Heiti SC">
                          <a:latin typeface="Heiti SC"/>
                        </a:rPr>
                        <a:t>500,000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 b="0">
                          <a:solidFill>
                            <a:srgbClr val="2D3847"/>
                          </a:solidFill>
                          <a:latin typeface="Heiti SC"/>
                        </a:defRPr>
                      </a:pPr>
                      <a:r>
                        <a:rPr a:ea="Heiti SC">
                          <a:latin typeface="Heiti SC"/>
                        </a:rPr>
                        <a:t>0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 b="0">
                          <a:solidFill>
                            <a:srgbClr val="2D3847"/>
                          </a:solidFill>
                          <a:latin typeface="Heiti SC"/>
                        </a:defRPr>
                      </a:pPr>
                      <a:r>
                        <a:rPr a:ea="Heiti SC">
                          <a:latin typeface="Heiti SC"/>
                        </a:rPr>
                        <a:t>0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 b="1">
                          <a:solidFill>
                            <a:srgbClr val="2D3847"/>
                          </a:solidFill>
                          <a:latin typeface="Heiti SC"/>
                        </a:defRPr>
                      </a:pPr>
                      <a:r>
                        <a:rPr a:ea="Heiti SC">
                          <a:latin typeface="Heiti SC"/>
                        </a:rPr>
                        <a:t>128,072,738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 b="0">
                          <a:solidFill>
                            <a:srgbClr val="2D3847"/>
                          </a:solidFill>
                          <a:latin typeface="Heiti SC"/>
                        </a:defRPr>
                      </a:pPr>
                      <a:r>
                        <a:rPr a:ea="Heiti SC">
                          <a:latin typeface="Heiti SC"/>
                        </a:rPr>
                        <a:t>283.49%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 b="0">
                          <a:solidFill>
                            <a:srgbClr val="2D3847"/>
                          </a:solidFill>
                          <a:latin typeface="Heiti SC"/>
                        </a:defRPr>
                      </a:pPr>
                      <a:r>
                        <a:rPr a:ea="Heiti SC">
                          <a:latin typeface="Heiti SC"/>
                        </a:rPr>
                        <a:t>6.36%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</a:tr>
              <a:tr h="37338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 b="1">
                          <a:solidFill>
                            <a:srgbClr val="2D3847"/>
                          </a:solidFill>
                          <a:latin typeface="Heiti SC"/>
                        </a:defRPr>
                      </a:pPr>
                      <a:r>
                        <a:rPr a:ea="Heiti SC">
                          <a:latin typeface="Heiti SC"/>
                        </a:rPr>
                        <a:t>101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 b="1">
                          <a:solidFill>
                            <a:srgbClr val="2D3847"/>
                          </a:solidFill>
                          <a:latin typeface="Heiti SC"/>
                        </a:defRPr>
                      </a:pPr>
                      <a:r>
                        <a:rPr a:ea="Heiti SC">
                          <a:latin typeface="Heiti SC"/>
                        </a:rPr>
                        <a:t>100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 b="0">
                          <a:solidFill>
                            <a:srgbClr val="2D3847"/>
                          </a:solidFill>
                          <a:latin typeface="Heiti SC"/>
                        </a:defRPr>
                      </a:pPr>
                      <a:r>
                        <a:rPr a:ea="Heiti SC">
                          <a:latin typeface="Heiti SC"/>
                        </a:rPr>
                        <a:t>500,000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 b="0">
                          <a:solidFill>
                            <a:srgbClr val="2D3847"/>
                          </a:solidFill>
                          <a:latin typeface="Heiti SC"/>
                        </a:defRPr>
                      </a:pPr>
                      <a:r>
                        <a:rPr a:ea="Heiti SC">
                          <a:latin typeface="Heiti SC"/>
                        </a:rPr>
                        <a:t>0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 b="0">
                          <a:solidFill>
                            <a:srgbClr val="2D3847"/>
                          </a:solidFill>
                          <a:latin typeface="Heiti SC"/>
                        </a:defRPr>
                      </a:pPr>
                      <a:r>
                        <a:rPr a:ea="Heiti SC">
                          <a:latin typeface="Heiti SC"/>
                        </a:rPr>
                        <a:t>0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 b="1">
                          <a:solidFill>
                            <a:srgbClr val="2D3847"/>
                          </a:solidFill>
                          <a:latin typeface="Heiti SC"/>
                        </a:defRPr>
                      </a:pPr>
                      <a:r>
                        <a:rPr a:ea="Heiti SC">
                          <a:latin typeface="Heiti SC"/>
                        </a:rPr>
                        <a:t>225,737,215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 b="0">
                          <a:solidFill>
                            <a:srgbClr val="2D3847"/>
                          </a:solidFill>
                          <a:latin typeface="Heiti SC"/>
                        </a:defRPr>
                      </a:pPr>
                      <a:r>
                        <a:rPr a:ea="Heiti SC">
                          <a:latin typeface="Heiti SC"/>
                        </a:rPr>
                        <a:t>450.47%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 b="0">
                          <a:solidFill>
                            <a:srgbClr val="2D3847"/>
                          </a:solidFill>
                          <a:latin typeface="Heiti SC"/>
                        </a:defRPr>
                      </a:pPr>
                      <a:r>
                        <a:rPr a:ea="Heiti SC">
                          <a:latin typeface="Heiti SC"/>
                        </a:rPr>
                        <a:t>6.30%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457200" y="6172200"/>
            <a:ext cx="11247120" cy="502920"/>
          </a:xfrm>
          <a:prstGeom prst="rect">
            <a:avLst/>
          </a:prstGeom>
          <a:solidFill>
            <a:srgbClr val="F2F8FB"/>
          </a:solidFill>
          <a:ln>
            <a:solidFill>
              <a:srgbClr val="1889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272784"/>
            <a:ext cx="109728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2D3847"/>
                </a:solidFill>
                <a:latin typeface="Heiti SC"/>
              </a:defRPr>
            </a:pPr>
            <a:r>
              <a:rPr a:ea="Heiti SC">
                <a:latin typeface="Heiti SC"/>
              </a:rPr>
              <a:t>缴费方式：10万美金 × 5年 ｜ 口径：官方不提领现金价值 ｜ 含单利/复利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41148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9144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56677"/>
                </a:solidFill>
                <a:latin typeface="Heiti SC"/>
              </a:defRPr>
            </a:pPr>
            <a:r>
              <a:rPr a:ea="Heiti SC">
                <a:latin typeface="Heiti SC"/>
              </a:rPr>
              <a:t>储蓄险定制方案  ·  教育金规划  ·  现金价值分析  ·  客户正式版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300" b="1">
                <a:solidFill>
                  <a:srgbClr val="0A3C5F"/>
                </a:solidFill>
                <a:latin typeface="Heiti SC"/>
              </a:defRPr>
            </a:pPr>
            <a:r>
              <a:rPr a:ea="Heiti SC">
                <a:latin typeface="Heiti SC"/>
              </a:rPr>
              <a:t>提领方案数据表（每10年）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554480"/>
          <a:ext cx="1124712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05890"/>
                <a:gridCol w="1405890"/>
                <a:gridCol w="1405890"/>
                <a:gridCol w="1405890"/>
                <a:gridCol w="1405890"/>
                <a:gridCol w="1405890"/>
                <a:gridCol w="1405890"/>
                <a:gridCol w="1405890"/>
              </a:tblGrid>
              <a:tr h="37338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200" b="1">
                          <a:solidFill>
                            <a:srgbClr val="FFFFFF"/>
                          </a:solidFill>
                          <a:latin typeface="Heiti SC"/>
                        </a:defRPr>
                      </a:pPr>
                      <a:r>
                        <a:rPr a:ea="Heiti SC">
                          <a:latin typeface="Heiti SC"/>
                        </a:rPr>
                        <a:t>年龄</a:t>
                      </a:r>
                    </a:p>
                  </a:txBody>
                  <a:tcPr>
                    <a:solidFill>
                      <a:srgbClr val="0A3C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200" b="1">
                          <a:solidFill>
                            <a:srgbClr val="FFFFFF"/>
                          </a:solidFill>
                          <a:latin typeface="Heiti SC"/>
                        </a:defRPr>
                      </a:pPr>
                      <a:r>
                        <a:rPr a:ea="Heiti SC">
                          <a:latin typeface="Heiti SC"/>
                        </a:rPr>
                        <a:t>保单年度</a:t>
                      </a:r>
                    </a:p>
                  </a:txBody>
                  <a:tcPr>
                    <a:solidFill>
                      <a:srgbClr val="0A3C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200" b="1">
                          <a:solidFill>
                            <a:srgbClr val="FFFFFF"/>
                          </a:solidFill>
                          <a:latin typeface="Heiti SC"/>
                        </a:defRPr>
                      </a:pPr>
                      <a:r>
                        <a:rPr a:ea="Heiti SC">
                          <a:latin typeface="Heiti SC"/>
                        </a:rPr>
                        <a:t>已交总保费</a:t>
                      </a:r>
                    </a:p>
                  </a:txBody>
                  <a:tcPr>
                    <a:solidFill>
                      <a:srgbClr val="0A3C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200" b="1">
                          <a:solidFill>
                            <a:srgbClr val="FFFFFF"/>
                          </a:solidFill>
                          <a:latin typeface="Heiti SC"/>
                        </a:defRPr>
                      </a:pPr>
                      <a:r>
                        <a:rPr a:ea="Heiti SC">
                          <a:latin typeface="Heiti SC"/>
                        </a:rPr>
                        <a:t>领取金额</a:t>
                      </a:r>
                    </a:p>
                  </a:txBody>
                  <a:tcPr>
                    <a:solidFill>
                      <a:srgbClr val="0A3C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200" b="1">
                          <a:solidFill>
                            <a:srgbClr val="FFFFFF"/>
                          </a:solidFill>
                          <a:latin typeface="Heiti SC"/>
                        </a:defRPr>
                      </a:pPr>
                      <a:r>
                        <a:rPr a:ea="Heiti SC">
                          <a:latin typeface="Heiti SC"/>
                        </a:rPr>
                        <a:t>累计领取</a:t>
                      </a:r>
                    </a:p>
                  </a:txBody>
                  <a:tcPr>
                    <a:solidFill>
                      <a:srgbClr val="0A3C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200" b="1">
                          <a:solidFill>
                            <a:srgbClr val="FFFFFF"/>
                          </a:solidFill>
                          <a:latin typeface="Heiti SC"/>
                        </a:defRPr>
                      </a:pPr>
                      <a:r>
                        <a:rPr a:ea="Heiti SC">
                          <a:latin typeface="Heiti SC"/>
                        </a:rPr>
                        <a:t>退保现金价值</a:t>
                      </a:r>
                    </a:p>
                  </a:txBody>
                  <a:tcPr>
                    <a:solidFill>
                      <a:srgbClr val="0A3C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200" b="1">
                          <a:solidFill>
                            <a:srgbClr val="FFFFFF"/>
                          </a:solidFill>
                          <a:latin typeface="Heiti SC"/>
                        </a:defRPr>
                      </a:pPr>
                      <a:r>
                        <a:rPr a:ea="Heiti SC">
                          <a:latin typeface="Heiti SC"/>
                        </a:rPr>
                        <a:t>单利</a:t>
                      </a:r>
                    </a:p>
                  </a:txBody>
                  <a:tcPr>
                    <a:solidFill>
                      <a:srgbClr val="0A3C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200" b="1">
                          <a:solidFill>
                            <a:srgbClr val="FFFFFF"/>
                          </a:solidFill>
                          <a:latin typeface="Heiti SC"/>
                        </a:defRPr>
                      </a:pPr>
                      <a:r>
                        <a:rPr a:ea="Heiti SC">
                          <a:latin typeface="Heiti SC"/>
                        </a:rPr>
                        <a:t>复利</a:t>
                      </a:r>
                    </a:p>
                  </a:txBody>
                  <a:tcPr>
                    <a:solidFill>
                      <a:srgbClr val="0A3C5F"/>
                    </a:solidFill>
                  </a:tcPr>
                </a:tc>
              </a:tr>
              <a:tr h="37338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 b="1">
                          <a:solidFill>
                            <a:srgbClr val="2D3847"/>
                          </a:solidFill>
                          <a:latin typeface="Heiti SC"/>
                        </a:defRPr>
                      </a:pPr>
                      <a:r>
                        <a:rPr a:ea="Heiti SC">
                          <a:latin typeface="Heiti SC"/>
                        </a:rPr>
                        <a:t>2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 b="1">
                          <a:solidFill>
                            <a:srgbClr val="2D3847"/>
                          </a:solidFill>
                          <a:latin typeface="Heiti SC"/>
                        </a:defRPr>
                      </a:pPr>
                      <a:r>
                        <a:rPr a:ea="Heiti SC">
                          <a:latin typeface="Heiti SC"/>
                        </a:rPr>
                        <a:t>1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 b="0">
                          <a:solidFill>
                            <a:srgbClr val="2D3847"/>
                          </a:solidFill>
                          <a:latin typeface="Heiti SC"/>
                        </a:defRPr>
                      </a:pPr>
                      <a:r>
                        <a:rPr a:ea="Heiti SC">
                          <a:latin typeface="Heiti SC"/>
                        </a:rPr>
                        <a:t>100,000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 b="0">
                          <a:solidFill>
                            <a:srgbClr val="2D3847"/>
                          </a:solidFill>
                          <a:latin typeface="Heiti SC"/>
                        </a:defRPr>
                      </a:pPr>
                      <a:r>
                        <a:rPr a:ea="Heiti SC">
                          <a:latin typeface="Heiti SC"/>
                        </a:rPr>
                        <a:t>0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 b="0">
                          <a:solidFill>
                            <a:srgbClr val="2D3847"/>
                          </a:solidFill>
                          <a:latin typeface="Heiti SC"/>
                        </a:defRPr>
                      </a:pPr>
                      <a:r>
                        <a:rPr a:ea="Heiti SC">
                          <a:latin typeface="Heiti SC"/>
                        </a:rPr>
                        <a:t>0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 b="1">
                          <a:solidFill>
                            <a:srgbClr val="2D3847"/>
                          </a:solidFill>
                          <a:latin typeface="Heiti SC"/>
                        </a:defRPr>
                      </a:pPr>
                      <a:r>
                        <a:rPr a:ea="Heiti SC">
                          <a:latin typeface="Heiti SC"/>
                        </a:rPr>
                        <a:t>103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 b="0">
                          <a:solidFill>
                            <a:srgbClr val="2D3847"/>
                          </a:solidFill>
                          <a:latin typeface="Heiti SC"/>
                        </a:defRPr>
                      </a:pPr>
                      <a:r>
                        <a:rPr a:ea="Heiti SC">
                          <a:latin typeface="Heiti SC"/>
                        </a:rPr>
                        <a:t>-99.90%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 b="0">
                          <a:solidFill>
                            <a:srgbClr val="2D3847"/>
                          </a:solidFill>
                          <a:latin typeface="Heiti SC"/>
                        </a:defRPr>
                      </a:pPr>
                      <a:r>
                        <a:rPr a:ea="Heiti SC">
                          <a:latin typeface="Heiti SC"/>
                        </a:rPr>
                        <a:t>-99.90%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</a:tr>
              <a:tr h="37338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 b="1">
                          <a:solidFill>
                            <a:srgbClr val="2D3847"/>
                          </a:solidFill>
                          <a:latin typeface="Heiti SC"/>
                        </a:defRPr>
                      </a:pPr>
                      <a:r>
                        <a:rPr a:ea="Heiti SC">
                          <a:latin typeface="Heiti SC"/>
                        </a:rPr>
                        <a:t>11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 b="1">
                          <a:solidFill>
                            <a:srgbClr val="2D3847"/>
                          </a:solidFill>
                          <a:latin typeface="Heiti SC"/>
                        </a:defRPr>
                      </a:pPr>
                      <a:r>
                        <a:rPr a:ea="Heiti SC">
                          <a:latin typeface="Heiti SC"/>
                        </a:rPr>
                        <a:t>10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 b="0">
                          <a:solidFill>
                            <a:srgbClr val="2D3847"/>
                          </a:solidFill>
                          <a:latin typeface="Heiti SC"/>
                        </a:defRPr>
                      </a:pPr>
                      <a:r>
                        <a:rPr a:ea="Heiti SC">
                          <a:latin typeface="Heiti SC"/>
                        </a:rPr>
                        <a:t>500,000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 b="0">
                          <a:solidFill>
                            <a:srgbClr val="2D3847"/>
                          </a:solidFill>
                          <a:latin typeface="Heiti SC"/>
                        </a:defRPr>
                      </a:pPr>
                      <a:r>
                        <a:rPr a:ea="Heiti SC">
                          <a:latin typeface="Heiti SC"/>
                        </a:rPr>
                        <a:t>0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 b="0">
                          <a:solidFill>
                            <a:srgbClr val="2D3847"/>
                          </a:solidFill>
                          <a:latin typeface="Heiti SC"/>
                        </a:defRPr>
                      </a:pPr>
                      <a:r>
                        <a:rPr a:ea="Heiti SC">
                          <a:latin typeface="Heiti SC"/>
                        </a:rPr>
                        <a:t>0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 b="1">
                          <a:solidFill>
                            <a:srgbClr val="2D3847"/>
                          </a:solidFill>
                          <a:latin typeface="Heiti SC"/>
                        </a:defRPr>
                      </a:pPr>
                      <a:r>
                        <a:rPr a:ea="Heiti SC">
                          <a:latin typeface="Heiti SC"/>
                        </a:rPr>
                        <a:t>659,765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 b="0">
                          <a:solidFill>
                            <a:srgbClr val="2D3847"/>
                          </a:solidFill>
                          <a:latin typeface="Heiti SC"/>
                        </a:defRPr>
                      </a:pPr>
                      <a:r>
                        <a:rPr a:ea="Heiti SC">
                          <a:latin typeface="Heiti SC"/>
                        </a:rPr>
                        <a:t>3.20%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 b="0">
                          <a:solidFill>
                            <a:srgbClr val="2D3847"/>
                          </a:solidFill>
                          <a:latin typeface="Heiti SC"/>
                        </a:defRPr>
                      </a:pPr>
                      <a:r>
                        <a:rPr a:ea="Heiti SC">
                          <a:latin typeface="Heiti SC"/>
                        </a:rPr>
                        <a:t>2.81%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</a:tr>
              <a:tr h="37338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 b="1">
                          <a:solidFill>
                            <a:srgbClr val="2D3847"/>
                          </a:solidFill>
                          <a:latin typeface="Heiti SC"/>
                        </a:defRPr>
                      </a:pPr>
                      <a:r>
                        <a:rPr a:ea="Heiti SC">
                          <a:latin typeface="Heiti SC"/>
                        </a:rPr>
                        <a:t>21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 b="1">
                          <a:solidFill>
                            <a:srgbClr val="2D3847"/>
                          </a:solidFill>
                          <a:latin typeface="Heiti SC"/>
                        </a:defRPr>
                      </a:pPr>
                      <a:r>
                        <a:rPr a:ea="Heiti SC">
                          <a:latin typeface="Heiti SC"/>
                        </a:rPr>
                        <a:t>20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 b="0">
                          <a:solidFill>
                            <a:srgbClr val="2D3847"/>
                          </a:solidFill>
                          <a:latin typeface="Heiti SC"/>
                        </a:defRPr>
                      </a:pPr>
                      <a:r>
                        <a:rPr a:ea="Heiti SC">
                          <a:latin typeface="Heiti SC"/>
                        </a:rPr>
                        <a:t>500,000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 b="0">
                          <a:solidFill>
                            <a:srgbClr val="2D3847"/>
                          </a:solidFill>
                          <a:latin typeface="Heiti SC"/>
                        </a:defRPr>
                      </a:pPr>
                      <a:r>
                        <a:rPr a:ea="Heiti SC">
                          <a:latin typeface="Heiti SC"/>
                        </a:rPr>
                        <a:t>35,000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 b="0">
                          <a:solidFill>
                            <a:srgbClr val="2D3847"/>
                          </a:solidFill>
                          <a:latin typeface="Heiti SC"/>
                        </a:defRPr>
                      </a:pPr>
                      <a:r>
                        <a:rPr a:ea="Heiti SC">
                          <a:latin typeface="Heiti SC"/>
                        </a:rPr>
                        <a:t>140,000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 b="1">
                          <a:solidFill>
                            <a:srgbClr val="2D3847"/>
                          </a:solidFill>
                          <a:latin typeface="Heiti SC"/>
                        </a:defRPr>
                      </a:pPr>
                      <a:r>
                        <a:rPr a:ea="Heiti SC">
                          <a:latin typeface="Heiti SC"/>
                        </a:rPr>
                        <a:t>1,217,738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 b="0">
                          <a:solidFill>
                            <a:srgbClr val="2D3847"/>
                          </a:solidFill>
                          <a:latin typeface="Heiti SC"/>
                        </a:defRPr>
                      </a:pPr>
                      <a:r>
                        <a:rPr a:ea="Heiti SC">
                          <a:latin typeface="Heiti SC"/>
                        </a:rPr>
                        <a:t>7.18%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 b="0">
                          <a:solidFill>
                            <a:srgbClr val="2D3847"/>
                          </a:solidFill>
                          <a:latin typeface="Heiti SC"/>
                        </a:defRPr>
                      </a:pPr>
                      <a:r>
                        <a:rPr a:ea="Heiti SC">
                          <a:latin typeface="Heiti SC"/>
                        </a:rPr>
                        <a:t>4.55%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</a:tr>
              <a:tr h="37338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 b="1">
                          <a:solidFill>
                            <a:srgbClr val="2D3847"/>
                          </a:solidFill>
                          <a:latin typeface="Heiti SC"/>
                        </a:defRPr>
                      </a:pPr>
                      <a:r>
                        <a:rPr a:ea="Heiti SC">
                          <a:latin typeface="Heiti SC"/>
                        </a:rPr>
                        <a:t>31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 b="1">
                          <a:solidFill>
                            <a:srgbClr val="2D3847"/>
                          </a:solidFill>
                          <a:latin typeface="Heiti SC"/>
                        </a:defRPr>
                      </a:pPr>
                      <a:r>
                        <a:rPr a:ea="Heiti SC">
                          <a:latin typeface="Heiti SC"/>
                        </a:rPr>
                        <a:t>30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 b="0">
                          <a:solidFill>
                            <a:srgbClr val="2D3847"/>
                          </a:solidFill>
                          <a:latin typeface="Heiti SC"/>
                        </a:defRPr>
                      </a:pPr>
                      <a:r>
                        <a:rPr a:ea="Heiti SC">
                          <a:latin typeface="Heiti SC"/>
                        </a:rPr>
                        <a:t>500,000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 b="0">
                          <a:solidFill>
                            <a:srgbClr val="2D3847"/>
                          </a:solidFill>
                          <a:latin typeface="Heiti SC"/>
                        </a:defRPr>
                      </a:pPr>
                      <a:r>
                        <a:rPr a:ea="Heiti SC">
                          <a:latin typeface="Heiti SC"/>
                        </a:rPr>
                        <a:t>35,000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 b="0">
                          <a:solidFill>
                            <a:srgbClr val="2D3847"/>
                          </a:solidFill>
                          <a:latin typeface="Heiti SC"/>
                        </a:defRPr>
                      </a:pPr>
                      <a:r>
                        <a:rPr a:ea="Heiti SC">
                          <a:latin typeface="Heiti SC"/>
                        </a:rPr>
                        <a:t>490,000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 b="1">
                          <a:solidFill>
                            <a:srgbClr val="2D3847"/>
                          </a:solidFill>
                          <a:latin typeface="Heiti SC"/>
                        </a:defRPr>
                      </a:pPr>
                      <a:r>
                        <a:rPr a:ea="Heiti SC">
                          <a:latin typeface="Heiti SC"/>
                        </a:rPr>
                        <a:t>2,437,387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 b="0">
                          <a:solidFill>
                            <a:srgbClr val="2D3847"/>
                          </a:solidFill>
                          <a:latin typeface="Heiti SC"/>
                        </a:defRPr>
                      </a:pPr>
                      <a:r>
                        <a:rPr a:ea="Heiti SC">
                          <a:latin typeface="Heiti SC"/>
                        </a:rPr>
                        <a:t>12.92%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 b="0">
                          <a:solidFill>
                            <a:srgbClr val="2D3847"/>
                          </a:solidFill>
                          <a:latin typeface="Heiti SC"/>
                        </a:defRPr>
                      </a:pPr>
                      <a:r>
                        <a:rPr a:ea="Heiti SC">
                          <a:latin typeface="Heiti SC"/>
                        </a:rPr>
                        <a:t>5.42%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</a:tr>
              <a:tr h="37338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 b="1">
                          <a:solidFill>
                            <a:srgbClr val="2D3847"/>
                          </a:solidFill>
                          <a:latin typeface="Heiti SC"/>
                        </a:defRPr>
                      </a:pPr>
                      <a:r>
                        <a:rPr a:ea="Heiti SC">
                          <a:latin typeface="Heiti SC"/>
                        </a:rPr>
                        <a:t>41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 b="1">
                          <a:solidFill>
                            <a:srgbClr val="2D3847"/>
                          </a:solidFill>
                          <a:latin typeface="Heiti SC"/>
                        </a:defRPr>
                      </a:pPr>
                      <a:r>
                        <a:rPr a:ea="Heiti SC">
                          <a:latin typeface="Heiti SC"/>
                        </a:rPr>
                        <a:t>40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 b="0">
                          <a:solidFill>
                            <a:srgbClr val="2D3847"/>
                          </a:solidFill>
                          <a:latin typeface="Heiti SC"/>
                        </a:defRPr>
                      </a:pPr>
                      <a:r>
                        <a:rPr a:ea="Heiti SC">
                          <a:latin typeface="Heiti SC"/>
                        </a:rPr>
                        <a:t>500,000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 b="0">
                          <a:solidFill>
                            <a:srgbClr val="2D3847"/>
                          </a:solidFill>
                          <a:latin typeface="Heiti SC"/>
                        </a:defRPr>
                      </a:pPr>
                      <a:r>
                        <a:rPr a:ea="Heiti SC">
                          <a:latin typeface="Heiti SC"/>
                        </a:rPr>
                        <a:t>35,000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 b="0">
                          <a:solidFill>
                            <a:srgbClr val="2D3847"/>
                          </a:solidFill>
                          <a:latin typeface="Heiti SC"/>
                        </a:defRPr>
                      </a:pPr>
                      <a:r>
                        <a:rPr a:ea="Heiti SC">
                          <a:latin typeface="Heiti SC"/>
                        </a:rPr>
                        <a:t>840,000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 b="1">
                          <a:solidFill>
                            <a:srgbClr val="2D3847"/>
                          </a:solidFill>
                          <a:latin typeface="Heiti SC"/>
                        </a:defRPr>
                      </a:pPr>
                      <a:r>
                        <a:rPr a:ea="Heiti SC">
                          <a:latin typeface="Heiti SC"/>
                        </a:rPr>
                        <a:t>4,655,108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 b="0">
                          <a:solidFill>
                            <a:srgbClr val="2D3847"/>
                          </a:solidFill>
                          <a:latin typeface="Heiti SC"/>
                        </a:defRPr>
                      </a:pPr>
                      <a:r>
                        <a:rPr a:ea="Heiti SC">
                          <a:latin typeface="Heiti SC"/>
                        </a:rPr>
                        <a:t>20.78%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 b="0">
                          <a:solidFill>
                            <a:srgbClr val="2D3847"/>
                          </a:solidFill>
                          <a:latin typeface="Heiti SC"/>
                        </a:defRPr>
                      </a:pPr>
                      <a:r>
                        <a:rPr a:ea="Heiti SC">
                          <a:latin typeface="Heiti SC"/>
                        </a:rPr>
                        <a:t>5.74%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</a:tr>
              <a:tr h="37338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 b="1">
                          <a:solidFill>
                            <a:srgbClr val="2D3847"/>
                          </a:solidFill>
                          <a:latin typeface="Heiti SC"/>
                        </a:defRPr>
                      </a:pPr>
                      <a:r>
                        <a:rPr a:ea="Heiti SC">
                          <a:latin typeface="Heiti SC"/>
                        </a:rPr>
                        <a:t>51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 b="1">
                          <a:solidFill>
                            <a:srgbClr val="2D3847"/>
                          </a:solidFill>
                          <a:latin typeface="Heiti SC"/>
                        </a:defRPr>
                      </a:pPr>
                      <a:r>
                        <a:rPr a:ea="Heiti SC">
                          <a:latin typeface="Heiti SC"/>
                        </a:rPr>
                        <a:t>50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 b="0">
                          <a:solidFill>
                            <a:srgbClr val="2D3847"/>
                          </a:solidFill>
                          <a:latin typeface="Heiti SC"/>
                        </a:defRPr>
                      </a:pPr>
                      <a:r>
                        <a:rPr a:ea="Heiti SC">
                          <a:latin typeface="Heiti SC"/>
                        </a:rPr>
                        <a:t>500,000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 b="0">
                          <a:solidFill>
                            <a:srgbClr val="2D3847"/>
                          </a:solidFill>
                          <a:latin typeface="Heiti SC"/>
                        </a:defRPr>
                      </a:pPr>
                      <a:r>
                        <a:rPr a:ea="Heiti SC">
                          <a:latin typeface="Heiti SC"/>
                        </a:rPr>
                        <a:t>35,000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 b="0">
                          <a:solidFill>
                            <a:srgbClr val="2D3847"/>
                          </a:solidFill>
                          <a:latin typeface="Heiti SC"/>
                        </a:defRPr>
                      </a:pPr>
                      <a:r>
                        <a:rPr a:ea="Heiti SC">
                          <a:latin typeface="Heiti SC"/>
                        </a:rPr>
                        <a:t>1,190,000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 b="1">
                          <a:solidFill>
                            <a:srgbClr val="2D3847"/>
                          </a:solidFill>
                          <a:latin typeface="Heiti SC"/>
                        </a:defRPr>
                      </a:pPr>
                      <a:r>
                        <a:rPr a:ea="Heiti SC">
                          <a:latin typeface="Heiti SC"/>
                        </a:rPr>
                        <a:t>9,125,074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 b="0">
                          <a:solidFill>
                            <a:srgbClr val="2D3847"/>
                          </a:solidFill>
                          <a:latin typeface="Heiti SC"/>
                        </a:defRPr>
                      </a:pPr>
                      <a:r>
                        <a:rPr a:ea="Heiti SC">
                          <a:latin typeface="Heiti SC"/>
                        </a:rPr>
                        <a:t>34.50%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 b="0">
                          <a:solidFill>
                            <a:srgbClr val="2D3847"/>
                          </a:solidFill>
                          <a:latin typeface="Heiti SC"/>
                        </a:defRPr>
                      </a:pPr>
                      <a:r>
                        <a:rPr a:ea="Heiti SC">
                          <a:latin typeface="Heiti SC"/>
                        </a:rPr>
                        <a:t>5.98%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</a:tr>
              <a:tr h="37338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 b="1">
                          <a:solidFill>
                            <a:srgbClr val="2D3847"/>
                          </a:solidFill>
                          <a:latin typeface="Heiti SC"/>
                        </a:defRPr>
                      </a:pPr>
                      <a:r>
                        <a:rPr a:ea="Heiti SC">
                          <a:latin typeface="Heiti SC"/>
                        </a:rPr>
                        <a:t>61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 b="1">
                          <a:solidFill>
                            <a:srgbClr val="2D3847"/>
                          </a:solidFill>
                          <a:latin typeface="Heiti SC"/>
                        </a:defRPr>
                      </a:pPr>
                      <a:r>
                        <a:rPr a:ea="Heiti SC">
                          <a:latin typeface="Heiti SC"/>
                        </a:rPr>
                        <a:t>60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 b="0">
                          <a:solidFill>
                            <a:srgbClr val="2D3847"/>
                          </a:solidFill>
                          <a:latin typeface="Heiti SC"/>
                        </a:defRPr>
                      </a:pPr>
                      <a:r>
                        <a:rPr a:ea="Heiti SC">
                          <a:latin typeface="Heiti SC"/>
                        </a:rPr>
                        <a:t>500,000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 b="0">
                          <a:solidFill>
                            <a:srgbClr val="2D3847"/>
                          </a:solidFill>
                          <a:latin typeface="Heiti SC"/>
                        </a:defRPr>
                      </a:pPr>
                      <a:r>
                        <a:rPr a:ea="Heiti SC">
                          <a:latin typeface="Heiti SC"/>
                        </a:rPr>
                        <a:t>35,000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 b="0">
                          <a:solidFill>
                            <a:srgbClr val="2D3847"/>
                          </a:solidFill>
                          <a:latin typeface="Heiti SC"/>
                        </a:defRPr>
                      </a:pPr>
                      <a:r>
                        <a:rPr a:ea="Heiti SC">
                          <a:latin typeface="Heiti SC"/>
                        </a:rPr>
                        <a:t>1,540,000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 b="1">
                          <a:solidFill>
                            <a:srgbClr val="2D3847"/>
                          </a:solidFill>
                          <a:latin typeface="Heiti SC"/>
                        </a:defRPr>
                      </a:pPr>
                      <a:r>
                        <a:rPr a:ea="Heiti SC">
                          <a:latin typeface="Heiti SC"/>
                        </a:rPr>
                        <a:t>17,822,813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 b="0">
                          <a:solidFill>
                            <a:srgbClr val="2D3847"/>
                          </a:solidFill>
                          <a:latin typeface="Heiti SC"/>
                        </a:defRPr>
                      </a:pPr>
                      <a:r>
                        <a:rPr a:ea="Heiti SC">
                          <a:latin typeface="Heiti SC"/>
                        </a:rPr>
                        <a:t>57.74%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 b="0">
                          <a:solidFill>
                            <a:srgbClr val="2D3847"/>
                          </a:solidFill>
                          <a:latin typeface="Heiti SC"/>
                        </a:defRPr>
                      </a:pPr>
                      <a:r>
                        <a:rPr a:ea="Heiti SC">
                          <a:latin typeface="Heiti SC"/>
                        </a:rPr>
                        <a:t>6.14%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</a:tr>
              <a:tr h="37338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 b="1">
                          <a:solidFill>
                            <a:srgbClr val="2D3847"/>
                          </a:solidFill>
                          <a:latin typeface="Heiti SC"/>
                        </a:defRPr>
                      </a:pPr>
                      <a:r>
                        <a:rPr a:ea="Heiti SC">
                          <a:latin typeface="Heiti SC"/>
                        </a:rPr>
                        <a:t>71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 b="1">
                          <a:solidFill>
                            <a:srgbClr val="2D3847"/>
                          </a:solidFill>
                          <a:latin typeface="Heiti SC"/>
                        </a:defRPr>
                      </a:pPr>
                      <a:r>
                        <a:rPr a:ea="Heiti SC">
                          <a:latin typeface="Heiti SC"/>
                        </a:rPr>
                        <a:t>70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 b="0">
                          <a:solidFill>
                            <a:srgbClr val="2D3847"/>
                          </a:solidFill>
                          <a:latin typeface="Heiti SC"/>
                        </a:defRPr>
                      </a:pPr>
                      <a:r>
                        <a:rPr a:ea="Heiti SC">
                          <a:latin typeface="Heiti SC"/>
                        </a:rPr>
                        <a:t>500,000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 b="0">
                          <a:solidFill>
                            <a:srgbClr val="2D3847"/>
                          </a:solidFill>
                          <a:latin typeface="Heiti SC"/>
                        </a:defRPr>
                      </a:pPr>
                      <a:r>
                        <a:rPr a:ea="Heiti SC">
                          <a:latin typeface="Heiti SC"/>
                        </a:rPr>
                        <a:t>35,000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 b="0">
                          <a:solidFill>
                            <a:srgbClr val="2D3847"/>
                          </a:solidFill>
                          <a:latin typeface="Heiti SC"/>
                        </a:defRPr>
                      </a:pPr>
                      <a:r>
                        <a:rPr a:ea="Heiti SC">
                          <a:latin typeface="Heiti SC"/>
                        </a:rPr>
                        <a:t>1,890,000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 b="1">
                          <a:solidFill>
                            <a:srgbClr val="2D3847"/>
                          </a:solidFill>
                          <a:latin typeface="Heiti SC"/>
                        </a:defRPr>
                      </a:pPr>
                      <a:r>
                        <a:rPr a:ea="Heiti SC">
                          <a:latin typeface="Heiti SC"/>
                        </a:rPr>
                        <a:t>34,456,662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 b="0">
                          <a:solidFill>
                            <a:srgbClr val="2D3847"/>
                          </a:solidFill>
                          <a:latin typeface="Heiti SC"/>
                        </a:defRPr>
                      </a:pPr>
                      <a:r>
                        <a:rPr a:ea="Heiti SC">
                          <a:latin typeface="Heiti SC"/>
                        </a:rPr>
                        <a:t>97.02%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 b="0">
                          <a:solidFill>
                            <a:srgbClr val="2D3847"/>
                          </a:solidFill>
                          <a:latin typeface="Heiti SC"/>
                        </a:defRPr>
                      </a:pPr>
                      <a:r>
                        <a:rPr a:ea="Heiti SC">
                          <a:latin typeface="Heiti SC"/>
                        </a:rPr>
                        <a:t>6.23%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</a:tr>
              <a:tr h="37338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 b="1">
                          <a:solidFill>
                            <a:srgbClr val="2D3847"/>
                          </a:solidFill>
                          <a:latin typeface="Heiti SC"/>
                        </a:defRPr>
                      </a:pPr>
                      <a:r>
                        <a:rPr a:ea="Heiti SC">
                          <a:latin typeface="Heiti SC"/>
                        </a:rPr>
                        <a:t>81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 b="1">
                          <a:solidFill>
                            <a:srgbClr val="2D3847"/>
                          </a:solidFill>
                          <a:latin typeface="Heiti SC"/>
                        </a:defRPr>
                      </a:pPr>
                      <a:r>
                        <a:rPr a:ea="Heiti SC">
                          <a:latin typeface="Heiti SC"/>
                        </a:rPr>
                        <a:t>80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 b="0">
                          <a:solidFill>
                            <a:srgbClr val="2D3847"/>
                          </a:solidFill>
                          <a:latin typeface="Heiti SC"/>
                        </a:defRPr>
                      </a:pPr>
                      <a:r>
                        <a:rPr a:ea="Heiti SC">
                          <a:latin typeface="Heiti SC"/>
                        </a:rPr>
                        <a:t>500,000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 b="0">
                          <a:solidFill>
                            <a:srgbClr val="2D3847"/>
                          </a:solidFill>
                          <a:latin typeface="Heiti SC"/>
                        </a:defRPr>
                      </a:pPr>
                      <a:r>
                        <a:rPr a:ea="Heiti SC">
                          <a:latin typeface="Heiti SC"/>
                        </a:rPr>
                        <a:t>35,000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 b="0">
                          <a:solidFill>
                            <a:srgbClr val="2D3847"/>
                          </a:solidFill>
                          <a:latin typeface="Heiti SC"/>
                        </a:defRPr>
                      </a:pPr>
                      <a:r>
                        <a:rPr a:ea="Heiti SC">
                          <a:latin typeface="Heiti SC"/>
                        </a:rPr>
                        <a:t>2,240,000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 b="1">
                          <a:solidFill>
                            <a:srgbClr val="2D3847"/>
                          </a:solidFill>
                          <a:latin typeface="Heiti SC"/>
                        </a:defRPr>
                      </a:pPr>
                      <a:r>
                        <a:rPr a:ea="Heiti SC">
                          <a:latin typeface="Heiti SC"/>
                        </a:rPr>
                        <a:t>65,987,682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 b="0">
                          <a:solidFill>
                            <a:srgbClr val="2D3847"/>
                          </a:solidFill>
                          <a:latin typeface="Heiti SC"/>
                        </a:defRPr>
                      </a:pPr>
                      <a:r>
                        <a:rPr a:ea="Heiti SC">
                          <a:latin typeface="Heiti SC"/>
                        </a:rPr>
                        <a:t>163.72%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 b="0">
                          <a:solidFill>
                            <a:srgbClr val="2D3847"/>
                          </a:solidFill>
                          <a:latin typeface="Heiti SC"/>
                        </a:defRPr>
                      </a:pPr>
                      <a:r>
                        <a:rPr a:ea="Heiti SC">
                          <a:latin typeface="Heiti SC"/>
                        </a:rPr>
                        <a:t>6.29%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</a:tr>
              <a:tr h="37338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 b="1">
                          <a:solidFill>
                            <a:srgbClr val="2D3847"/>
                          </a:solidFill>
                          <a:latin typeface="Heiti SC"/>
                        </a:defRPr>
                      </a:pPr>
                      <a:r>
                        <a:rPr a:ea="Heiti SC">
                          <a:latin typeface="Heiti SC"/>
                        </a:rPr>
                        <a:t>91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 b="1">
                          <a:solidFill>
                            <a:srgbClr val="2D3847"/>
                          </a:solidFill>
                          <a:latin typeface="Heiti SC"/>
                        </a:defRPr>
                      </a:pPr>
                      <a:r>
                        <a:rPr a:ea="Heiti SC">
                          <a:latin typeface="Heiti SC"/>
                        </a:rPr>
                        <a:t>90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 b="0">
                          <a:solidFill>
                            <a:srgbClr val="2D3847"/>
                          </a:solidFill>
                          <a:latin typeface="Heiti SC"/>
                        </a:defRPr>
                      </a:pPr>
                      <a:r>
                        <a:rPr a:ea="Heiti SC">
                          <a:latin typeface="Heiti SC"/>
                        </a:rPr>
                        <a:t>500,000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 b="0">
                          <a:solidFill>
                            <a:srgbClr val="2D3847"/>
                          </a:solidFill>
                          <a:latin typeface="Heiti SC"/>
                        </a:defRPr>
                      </a:pPr>
                      <a:r>
                        <a:rPr a:ea="Heiti SC">
                          <a:latin typeface="Heiti SC"/>
                        </a:rPr>
                        <a:t>35,000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 b="0">
                          <a:solidFill>
                            <a:srgbClr val="2D3847"/>
                          </a:solidFill>
                          <a:latin typeface="Heiti SC"/>
                        </a:defRPr>
                      </a:pPr>
                      <a:r>
                        <a:rPr a:ea="Heiti SC">
                          <a:latin typeface="Heiti SC"/>
                        </a:rPr>
                        <a:t>2,590,000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 b="1">
                          <a:solidFill>
                            <a:srgbClr val="2D3847"/>
                          </a:solidFill>
                          <a:latin typeface="Heiti SC"/>
                        </a:defRPr>
                      </a:pPr>
                      <a:r>
                        <a:rPr a:ea="Heiti SC">
                          <a:latin typeface="Heiti SC"/>
                        </a:rPr>
                        <a:t>125,482,738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 b="0">
                          <a:solidFill>
                            <a:srgbClr val="2D3847"/>
                          </a:solidFill>
                          <a:latin typeface="Heiti SC"/>
                        </a:defRPr>
                      </a:pPr>
                      <a:r>
                        <a:rPr a:ea="Heiti SC">
                          <a:latin typeface="Heiti SC"/>
                        </a:rPr>
                        <a:t>277.74%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 b="0">
                          <a:solidFill>
                            <a:srgbClr val="2D3847"/>
                          </a:solidFill>
                          <a:latin typeface="Heiti SC"/>
                        </a:defRPr>
                      </a:pPr>
                      <a:r>
                        <a:rPr a:ea="Heiti SC">
                          <a:latin typeface="Heiti SC"/>
                        </a:rPr>
                        <a:t>6.33%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</a:tr>
              <a:tr h="37338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 b="1">
                          <a:solidFill>
                            <a:srgbClr val="2D3847"/>
                          </a:solidFill>
                          <a:latin typeface="Heiti SC"/>
                        </a:defRPr>
                      </a:pPr>
                      <a:r>
                        <a:rPr a:ea="Heiti SC">
                          <a:latin typeface="Heiti SC"/>
                        </a:rPr>
                        <a:t>101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 b="1">
                          <a:solidFill>
                            <a:srgbClr val="2D3847"/>
                          </a:solidFill>
                          <a:latin typeface="Heiti SC"/>
                        </a:defRPr>
                      </a:pPr>
                      <a:r>
                        <a:rPr a:ea="Heiti SC">
                          <a:latin typeface="Heiti SC"/>
                        </a:rPr>
                        <a:t>100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 b="0">
                          <a:solidFill>
                            <a:srgbClr val="2D3847"/>
                          </a:solidFill>
                          <a:latin typeface="Heiti SC"/>
                        </a:defRPr>
                      </a:pPr>
                      <a:r>
                        <a:rPr a:ea="Heiti SC">
                          <a:latin typeface="Heiti SC"/>
                        </a:rPr>
                        <a:t>500,000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 b="0">
                          <a:solidFill>
                            <a:srgbClr val="2D3847"/>
                          </a:solidFill>
                          <a:latin typeface="Heiti SC"/>
                        </a:defRPr>
                      </a:pPr>
                      <a:r>
                        <a:rPr a:ea="Heiti SC">
                          <a:latin typeface="Heiti SC"/>
                        </a:rPr>
                        <a:t>35,000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 b="0">
                          <a:solidFill>
                            <a:srgbClr val="2D3847"/>
                          </a:solidFill>
                          <a:latin typeface="Heiti SC"/>
                        </a:defRPr>
                      </a:pPr>
                      <a:r>
                        <a:rPr a:ea="Heiti SC">
                          <a:latin typeface="Heiti SC"/>
                        </a:rPr>
                        <a:t>2,940,000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 b="1">
                          <a:solidFill>
                            <a:srgbClr val="2D3847"/>
                          </a:solidFill>
                          <a:latin typeface="Heiti SC"/>
                        </a:defRPr>
                      </a:pPr>
                      <a:r>
                        <a:rPr a:ea="Heiti SC">
                          <a:latin typeface="Heiti SC"/>
                        </a:rPr>
                        <a:t>222,797,215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 b="0">
                          <a:solidFill>
                            <a:srgbClr val="2D3847"/>
                          </a:solidFill>
                          <a:latin typeface="Heiti SC"/>
                        </a:defRPr>
                      </a:pPr>
                      <a:r>
                        <a:rPr a:ea="Heiti SC">
                          <a:latin typeface="Heiti SC"/>
                        </a:rPr>
                        <a:t>444.59%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 b="0">
                          <a:solidFill>
                            <a:srgbClr val="2D3847"/>
                          </a:solidFill>
                          <a:latin typeface="Heiti SC"/>
                        </a:defRPr>
                      </a:pPr>
                      <a:r>
                        <a:rPr a:ea="Heiti SC">
                          <a:latin typeface="Heiti SC"/>
                        </a:rPr>
                        <a:t>6.29%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457200" y="6172200"/>
            <a:ext cx="11247120" cy="502920"/>
          </a:xfrm>
          <a:prstGeom prst="rect">
            <a:avLst/>
          </a:prstGeom>
          <a:solidFill>
            <a:srgbClr val="F2F8FB"/>
          </a:solidFill>
          <a:ln>
            <a:solidFill>
              <a:srgbClr val="1889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272784"/>
            <a:ext cx="109728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2D3847"/>
                </a:solidFill>
                <a:latin typeface="Heiti SC"/>
              </a:defRPr>
            </a:pPr>
            <a:r>
              <a:rPr a:ea="Heiti SC">
                <a:latin typeface="Heiti SC"/>
              </a:rPr>
              <a:t>自动提领口径：教育金方案｜18岁起每年提领US$35,000｜并展示提领后剩余现金价值及单利/复利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41148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9144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56677"/>
                </a:solidFill>
                <a:latin typeface="Heiti SC"/>
              </a:defRPr>
            </a:pPr>
            <a:r>
              <a:rPr a:ea="Heiti SC">
                <a:latin typeface="Heiti SC"/>
              </a:rPr>
              <a:t>储蓄险定制方案  ·  教育金规划  ·  现金价值分析  ·  客户正式版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300" b="1">
                <a:solidFill>
                  <a:srgbClr val="0A3C5F"/>
                </a:solidFill>
                <a:latin typeface="Heiti SC"/>
              </a:defRPr>
            </a:pPr>
            <a:r>
              <a:rPr a:ea="Heiti SC">
                <a:latin typeface="Heiti SC"/>
              </a:rPr>
              <a:t>结束语与祝愿</a:t>
            </a:r>
          </a:p>
        </p:txBody>
      </p:sp>
      <p:pic>
        <p:nvPicPr>
          <p:cNvPr id="5" name="Picture 4" descr="s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554480"/>
            <a:ext cx="5486400" cy="438912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48640" y="1645920"/>
            <a:ext cx="5394960" cy="4206240"/>
          </a:xfrm>
          <a:prstGeom prst="rect">
            <a:avLst/>
          </a:prstGeom>
          <a:solidFill>
            <a:srgbClr val="FFFFFF"/>
          </a:solidFill>
          <a:ln>
            <a:solidFill>
              <a:srgbClr val="1889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792224"/>
            <a:ext cx="5029200" cy="3913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800"/>
              </a:spcAft>
              <a:defRPr sz="1500" b="0">
                <a:solidFill>
                  <a:srgbClr val="2D3847"/>
                </a:solidFill>
                <a:latin typeface="Heiti SC"/>
              </a:defRPr>
            </a:pPr>
            <a:r>
              <a:rPr a:ea="Heiti SC">
                <a:latin typeface="Heiti SC"/>
              </a:rPr>
              <a:t>祝愿与下一步</a:t>
            </a:r>
          </a:p>
          <a:p>
            <a:pPr>
              <a:lnSpc>
                <a:spcPct val="130000"/>
              </a:lnSpc>
              <a:spcAft>
                <a:spcPts val="700"/>
              </a:spcAft>
              <a:defRPr sz="1500" b="0">
                <a:solidFill>
                  <a:srgbClr val="2D3847"/>
                </a:solidFill>
                <a:latin typeface="Heiti SC"/>
              </a:defRPr>
            </a:pPr>
            <a:r>
              <a:rPr a:ea="Heiti SC">
                <a:latin typeface="Heiti SC"/>
              </a:rPr>
              <a:t>• 祝愿您的家庭资产稳健增长，目标按期达成</a:t>
            </a:r>
          </a:p>
          <a:p>
            <a:pPr>
              <a:lnSpc>
                <a:spcPct val="130000"/>
              </a:lnSpc>
              <a:spcAft>
                <a:spcPts val="700"/>
              </a:spcAft>
              <a:defRPr sz="1500" b="0">
                <a:solidFill>
                  <a:srgbClr val="2D3847"/>
                </a:solidFill>
                <a:latin typeface="Heiti SC"/>
              </a:defRPr>
            </a:pPr>
            <a:r>
              <a:rPr a:ea="Heiti SC">
                <a:latin typeface="Heiti SC"/>
              </a:rPr>
              <a:t>• 下一步：确认教育金/养老金优先级</a:t>
            </a:r>
          </a:p>
          <a:p>
            <a:pPr>
              <a:lnSpc>
                <a:spcPct val="130000"/>
              </a:lnSpc>
              <a:spcAft>
                <a:spcPts val="700"/>
              </a:spcAft>
              <a:defRPr sz="1500" b="0">
                <a:solidFill>
                  <a:srgbClr val="2D3847"/>
                </a:solidFill>
                <a:latin typeface="Heiti SC"/>
              </a:defRPr>
            </a:pPr>
            <a:r>
              <a:rPr a:ea="Heiti SC">
                <a:latin typeface="Heiti SC"/>
              </a:rPr>
              <a:t>• 可继续输出提领参数版与执行清单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稻壳优创意   http://chn.docer.com/works?userid=4610637">
  <a:themeElements>
    <a:clrScheme name="自定义 1534">
      <a:dk1>
        <a:srgbClr val="000000"/>
      </a:dk1>
      <a:lt1>
        <a:srgbClr val="FFFFFF"/>
      </a:lt1>
      <a:dk2>
        <a:srgbClr val="2D3847"/>
      </a:dk2>
      <a:lt2>
        <a:srgbClr val="E7E6E6"/>
      </a:lt2>
      <a:accent1>
        <a:srgbClr val="18898D"/>
      </a:accent1>
      <a:accent2>
        <a:srgbClr val="0A3C5F"/>
      </a:accent2>
      <a:accent3>
        <a:srgbClr val="18898D"/>
      </a:accent3>
      <a:accent4>
        <a:srgbClr val="0A3C5F"/>
      </a:accent4>
      <a:accent5>
        <a:srgbClr val="18898D"/>
      </a:accent5>
      <a:accent6>
        <a:srgbClr val="0A3C5F"/>
      </a:accent6>
      <a:hlink>
        <a:srgbClr val="18898D"/>
      </a:hlink>
      <a:folHlink>
        <a:srgbClr val="0A3C5F"/>
      </a:folHlink>
    </a:clrScheme>
    <a:fontScheme name="1212121">
      <a:majorFont>
        <a:latin typeface="汉仪雅酷黑 85W"/>
        <a:ea typeface="汉仪雅酷黑 85W"/>
        <a:cs typeface=""/>
      </a:majorFont>
      <a:minorFont>
        <a:latin typeface="汉仪雅酷黑 85W"/>
        <a:ea typeface="汉仪正圆-55W"/>
        <a:cs typeface="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稻壳优创意</Template>
  <TotalTime>0</TotalTime>
  <Words>6024</Words>
  <Application>WPS 演示</Application>
  <PresentationFormat>宽屏</PresentationFormat>
  <Paragraphs>664</Paragraphs>
  <Slides>38</Slides>
  <Notes>38</Notes>
  <HiddenSlides>1</HiddenSlides>
  <MMClips>0</MMClips>
  <ScaleCrop>false</ScaleCrop>
  <HeadingPairs>
    <vt:vector size="6" baseType="variant">
      <vt:variant>
        <vt:lpstr>已用的字体</vt:lpstr>
      </vt:variant>
      <vt:variant>
        <vt:i4>32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38</vt:i4>
      </vt:variant>
    </vt:vector>
  </HeadingPairs>
  <TitlesOfParts>
    <vt:vector size="71" baseType="lpstr">
      <vt:lpstr>Arial</vt:lpstr>
      <vt:lpstr>宋体</vt:lpstr>
      <vt:lpstr>Wingdings</vt:lpstr>
      <vt:lpstr>汉仪正圆-55W</vt:lpstr>
      <vt:lpstr>苹方-简</vt:lpstr>
      <vt:lpstr>汉仪雅酷黑 85W</vt:lpstr>
      <vt:lpstr>汉仪中黑KW</vt:lpstr>
      <vt:lpstr>汉仪劲楷简</vt:lpstr>
      <vt:lpstr>汉仪雅酷黑 85W</vt:lpstr>
      <vt:lpstr>汉仪正圆-55W</vt:lpstr>
      <vt:lpstr>OPPOSans B</vt:lpstr>
      <vt:lpstr>思源黑体 CN Normal</vt:lpstr>
      <vt:lpstr>Calibri</vt:lpstr>
      <vt:lpstr>Malgun Gothic Semilight</vt:lpstr>
      <vt:lpstr>阿里巴巴普惠体</vt:lpstr>
      <vt:lpstr>微软雅黑</vt:lpstr>
      <vt:lpstr>汉仪旗黑</vt:lpstr>
      <vt:lpstr>汉仪楷体简</vt:lpstr>
      <vt:lpstr>汉仪书宋二KW</vt:lpstr>
      <vt:lpstr>宋体</vt:lpstr>
      <vt:lpstr>Arial Unicode MS</vt:lpstr>
      <vt:lpstr>黑体</vt:lpstr>
      <vt:lpstr>Malgun Gothic Semilight</vt:lpstr>
      <vt:lpstr>OPPOSans B</vt:lpstr>
      <vt:lpstr>Wingdings</vt:lpstr>
      <vt:lpstr>微软雅黑</vt:lpstr>
      <vt:lpstr>思源黑体 CN Normal</vt:lpstr>
      <vt:lpstr>汉仪劲楷简</vt:lpstr>
      <vt:lpstr>汉仪正圆-55W</vt:lpstr>
      <vt:lpstr>汉仪雅酷黑 85W</vt:lpstr>
      <vt:lpstr>阿里巴巴普惠体</vt:lpstr>
      <vt:lpstr>黑体</vt:lpstr>
      <vt:lpstr>稻壳优创意   http://chn.docer.com/works?userid=4610637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胡延龙</cp:lastModifiedBy>
  <cp:revision>1</cp:revision>
  <dcterms:created xsi:type="dcterms:W3CDTF">2026-05-26T02:52:25Z</dcterms:created>
  <dcterms:modified xsi:type="dcterms:W3CDTF">2026-05-26T02:52:25Z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2052-12.1.25895.25895</vt:lpwstr>
  </property>
  <property fmtid="{D5CDD505-2E9C-101B-9397-08002B2CF9AE}" pid="3" name="KSOTemplateUUID">
    <vt:lpwstr>v1.0_mb_+/USxiQahQlYlVbjG0zmwQ==</vt:lpwstr>
  </property>
  <property fmtid="{D5CDD505-2E9C-101B-9397-08002B2CF9AE}" pid="4" name="ICV">
    <vt:lpwstr>7B9AA279B7DFDCFE3C0A156A6135D5A0_41</vt:lpwstr>
  </property>
</Properties>
</file>