
<file path=[Content_Types].xml><?xml version="1.0" encoding="utf-8"?>
<Types xmlns="http://schemas.openxmlformats.org/package/2006/content-types">
  <Default Extension="jpeg" ContentType="image/jpeg"/>
  <Default Extension="JPG" ContentType="image/.jpg"/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保证现价 (USD)</c:v>
                </c:pt>
              </c:strCache>
            </c:strRef>
          </c:tx>
          <c:spPr>
            <a:solidFill>
              <a:srgbClr val="0D1B2A"/>
            </a:solidFill>
          </c:spPr>
          <c:invertIfNegative val="0"/>
          <c:dLbls>
            <c:delete val="1"/>
          </c:dLbls>
          <c:cat>
            <c:strRef>
              <c:f>Sheet1!$A$2:$A$36</c:f>
              <c:strCache>
                <c:ptCount val="35"/>
                <c:pt idx="0">
                  <c:v>Y1
(1岁)</c:v>
                </c:pt>
                <c:pt idx="1">
                  <c:v>Y2
(2岁)</c:v>
                </c:pt>
                <c:pt idx="2">
                  <c:v>Y3
(3岁)</c:v>
                </c:pt>
                <c:pt idx="3">
                  <c:v>Y4
(4岁)</c:v>
                </c:pt>
                <c:pt idx="4">
                  <c:v>Y5
(5岁)</c:v>
                </c:pt>
                <c:pt idx="5">
                  <c:v>Y6
(6岁)</c:v>
                </c:pt>
                <c:pt idx="6">
                  <c:v>Y7
(7岁)</c:v>
                </c:pt>
                <c:pt idx="7">
                  <c:v>Y8
(8岁)</c:v>
                </c:pt>
                <c:pt idx="8">
                  <c:v>Y9
(9岁)</c:v>
                </c:pt>
                <c:pt idx="9">
                  <c:v>Y10
(10岁)</c:v>
                </c:pt>
                <c:pt idx="10">
                  <c:v>Y11
(11岁)</c:v>
                </c:pt>
                <c:pt idx="11">
                  <c:v>Y12
(12岁)</c:v>
                </c:pt>
                <c:pt idx="12">
                  <c:v>Y13
(13岁)</c:v>
                </c:pt>
                <c:pt idx="13">
                  <c:v>Y14
(14岁)</c:v>
                </c:pt>
                <c:pt idx="14">
                  <c:v>Y15
(15岁)</c:v>
                </c:pt>
                <c:pt idx="15">
                  <c:v>Y16
(16岁)</c:v>
                </c:pt>
                <c:pt idx="16">
                  <c:v>Y17
(17岁)</c:v>
                </c:pt>
                <c:pt idx="17">
                  <c:v>Y18
(18岁)</c:v>
                </c:pt>
                <c:pt idx="18">
                  <c:v>Y19
(19岁)</c:v>
                </c:pt>
                <c:pt idx="19">
                  <c:v>Y20
(20岁)</c:v>
                </c:pt>
                <c:pt idx="20">
                  <c:v>Y21
(21岁)</c:v>
                </c:pt>
                <c:pt idx="21">
                  <c:v>Y22
(22岁)</c:v>
                </c:pt>
                <c:pt idx="22">
                  <c:v>Y23
(23岁)</c:v>
                </c:pt>
                <c:pt idx="23">
                  <c:v>Y24
(24岁)</c:v>
                </c:pt>
                <c:pt idx="24">
                  <c:v>Y25
(25岁)</c:v>
                </c:pt>
                <c:pt idx="25">
                  <c:v>Y26
(26岁)</c:v>
                </c:pt>
                <c:pt idx="26">
                  <c:v>Y27
(27岁)</c:v>
                </c:pt>
                <c:pt idx="27">
                  <c:v>Y28
(28岁)</c:v>
                </c:pt>
                <c:pt idx="28">
                  <c:v>Y29
(29岁)</c:v>
                </c:pt>
                <c:pt idx="29">
                  <c:v>Y30
(30岁)</c:v>
                </c:pt>
                <c:pt idx="30">
                  <c:v>Y40
(40岁)</c:v>
                </c:pt>
                <c:pt idx="31">
                  <c:v>Y50
(50岁)</c:v>
                </c:pt>
                <c:pt idx="32">
                  <c:v>Y60
(60岁)</c:v>
                </c:pt>
                <c:pt idx="33">
                  <c:v>Y70
(70岁)</c:v>
                </c:pt>
                <c:pt idx="34">
                  <c:v>Y80
(80岁)</c:v>
                </c:pt>
              </c:strCache>
            </c:strRef>
          </c:cat>
          <c:val>
            <c:numRef>
              <c:f>Sheet1!$B$2:$B$36</c:f>
              <c:numCache>
                <c:formatCode>General</c:formatCode>
                <c:ptCount val="35"/>
                <c:pt idx="0">
                  <c:v>103</c:v>
                </c:pt>
                <c:pt idx="1">
                  <c:v>103</c:v>
                </c:pt>
                <c:pt idx="2">
                  <c:v>26722</c:v>
                </c:pt>
                <c:pt idx="3">
                  <c:v>75026</c:v>
                </c:pt>
                <c:pt idx="4">
                  <c:v>141830</c:v>
                </c:pt>
                <c:pt idx="5">
                  <c:v>187051</c:v>
                </c:pt>
                <c:pt idx="6">
                  <c:v>231244</c:v>
                </c:pt>
                <c:pt idx="7">
                  <c:v>298048</c:v>
                </c:pt>
                <c:pt idx="8">
                  <c:v>307297</c:v>
                </c:pt>
                <c:pt idx="9">
                  <c:v>315519</c:v>
                </c:pt>
                <c:pt idx="10">
                  <c:v>325797</c:v>
                </c:pt>
                <c:pt idx="11">
                  <c:v>335047</c:v>
                </c:pt>
                <c:pt idx="12">
                  <c:v>345324</c:v>
                </c:pt>
                <c:pt idx="13">
                  <c:v>355602</c:v>
                </c:pt>
                <c:pt idx="14">
                  <c:v>365879</c:v>
                </c:pt>
                <c:pt idx="15">
                  <c:v>390545</c:v>
                </c:pt>
                <c:pt idx="16">
                  <c:v>416239</c:v>
                </c:pt>
                <c:pt idx="17">
                  <c:v>502570</c:v>
                </c:pt>
                <c:pt idx="18">
                  <c:v>506681</c:v>
                </c:pt>
                <c:pt idx="19">
                  <c:v>507709</c:v>
                </c:pt>
                <c:pt idx="20">
                  <c:v>508736</c:v>
                </c:pt>
                <c:pt idx="21">
                  <c:v>509764</c:v>
                </c:pt>
                <c:pt idx="22">
                  <c:v>510792</c:v>
                </c:pt>
                <c:pt idx="23">
                  <c:v>511820</c:v>
                </c:pt>
                <c:pt idx="24">
                  <c:v>512847</c:v>
                </c:pt>
                <c:pt idx="25">
                  <c:v>513875</c:v>
                </c:pt>
                <c:pt idx="26">
                  <c:v>514903</c:v>
                </c:pt>
                <c:pt idx="27">
                  <c:v>515931</c:v>
                </c:pt>
                <c:pt idx="28">
                  <c:v>516958</c:v>
                </c:pt>
                <c:pt idx="29">
                  <c:v>517986</c:v>
                </c:pt>
                <c:pt idx="30">
                  <c:v>546557</c:v>
                </c:pt>
                <c:pt idx="31">
                  <c:v>561152</c:v>
                </c:pt>
                <c:pt idx="32">
                  <c:v>577596</c:v>
                </c:pt>
                <c:pt idx="33">
                  <c:v>598151</c:v>
                </c:pt>
                <c:pt idx="34">
                  <c:v>623844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非保证红利/分红 (USD)</c:v>
                </c:pt>
              </c:strCache>
            </c:strRef>
          </c:tx>
          <c:spPr>
            <a:solidFill>
              <a:srgbClr val="C8963E"/>
            </a:solidFill>
          </c:spPr>
          <c:invertIfNegative val="0"/>
          <c:dLbls>
            <c:delete val="1"/>
          </c:dLbls>
          <c:cat>
            <c:strRef>
              <c:f>Sheet1!$A$2:$A$36</c:f>
              <c:strCache>
                <c:ptCount val="35"/>
                <c:pt idx="0">
                  <c:v>Y1
(1岁)</c:v>
                </c:pt>
                <c:pt idx="1">
                  <c:v>Y2
(2岁)</c:v>
                </c:pt>
                <c:pt idx="2">
                  <c:v>Y3
(3岁)</c:v>
                </c:pt>
                <c:pt idx="3">
                  <c:v>Y4
(4岁)</c:v>
                </c:pt>
                <c:pt idx="4">
                  <c:v>Y5
(5岁)</c:v>
                </c:pt>
                <c:pt idx="5">
                  <c:v>Y6
(6岁)</c:v>
                </c:pt>
                <c:pt idx="6">
                  <c:v>Y7
(7岁)</c:v>
                </c:pt>
                <c:pt idx="7">
                  <c:v>Y8
(8岁)</c:v>
                </c:pt>
                <c:pt idx="8">
                  <c:v>Y9
(9岁)</c:v>
                </c:pt>
                <c:pt idx="9">
                  <c:v>Y10
(10岁)</c:v>
                </c:pt>
                <c:pt idx="10">
                  <c:v>Y11
(11岁)</c:v>
                </c:pt>
                <c:pt idx="11">
                  <c:v>Y12
(12岁)</c:v>
                </c:pt>
                <c:pt idx="12">
                  <c:v>Y13
(13岁)</c:v>
                </c:pt>
                <c:pt idx="13">
                  <c:v>Y14
(14岁)</c:v>
                </c:pt>
                <c:pt idx="14">
                  <c:v>Y15
(15岁)</c:v>
                </c:pt>
                <c:pt idx="15">
                  <c:v>Y16
(16岁)</c:v>
                </c:pt>
                <c:pt idx="16">
                  <c:v>Y17
(17岁)</c:v>
                </c:pt>
                <c:pt idx="17">
                  <c:v>Y18
(18岁)</c:v>
                </c:pt>
                <c:pt idx="18">
                  <c:v>Y19
(19岁)</c:v>
                </c:pt>
                <c:pt idx="19">
                  <c:v>Y20
(20岁)</c:v>
                </c:pt>
                <c:pt idx="20">
                  <c:v>Y21
(21岁)</c:v>
                </c:pt>
                <c:pt idx="21">
                  <c:v>Y22
(22岁)</c:v>
                </c:pt>
                <c:pt idx="22">
                  <c:v>Y23
(23岁)</c:v>
                </c:pt>
                <c:pt idx="23">
                  <c:v>Y24
(24岁)</c:v>
                </c:pt>
                <c:pt idx="24">
                  <c:v>Y25
(25岁)</c:v>
                </c:pt>
                <c:pt idx="25">
                  <c:v>Y26
(26岁)</c:v>
                </c:pt>
                <c:pt idx="26">
                  <c:v>Y27
(27岁)</c:v>
                </c:pt>
                <c:pt idx="27">
                  <c:v>Y28
(28岁)</c:v>
                </c:pt>
                <c:pt idx="28">
                  <c:v>Y29
(29岁)</c:v>
                </c:pt>
                <c:pt idx="29">
                  <c:v>Y30
(30岁)</c:v>
                </c:pt>
                <c:pt idx="30">
                  <c:v>Y40
(40岁)</c:v>
                </c:pt>
                <c:pt idx="31">
                  <c:v>Y50
(50岁)</c:v>
                </c:pt>
                <c:pt idx="32">
                  <c:v>Y60
(60岁)</c:v>
                </c:pt>
                <c:pt idx="33">
                  <c:v>Y70
(70岁)</c:v>
                </c:pt>
                <c:pt idx="34">
                  <c:v>Y80
(80岁)</c:v>
                </c:pt>
              </c:strCache>
            </c:strRef>
          </c:cat>
          <c:val>
            <c:numRef>
              <c:f>Sheet1!$C$2:$C$36</c:f>
              <c:numCache>
                <c:formatCode>General</c:formatCode>
                <c:ptCount val="35"/>
                <c:pt idx="0">
                  <c:v>0</c:v>
                </c:pt>
                <c:pt idx="1">
                  <c:v>0</c:v>
                </c:pt>
                <c:pt idx="2">
                  <c:v>23865</c:v>
                </c:pt>
                <c:pt idx="3">
                  <c:v>51243</c:v>
                </c:pt>
                <c:pt idx="4">
                  <c:v>93802</c:v>
                </c:pt>
                <c:pt idx="5">
                  <c:v>253849</c:v>
                </c:pt>
                <c:pt idx="6">
                  <c:v>275220</c:v>
                </c:pt>
                <c:pt idx="7">
                  <c:v>286134</c:v>
                </c:pt>
                <c:pt idx="8">
                  <c:v>316810</c:v>
                </c:pt>
                <c:pt idx="9">
                  <c:v>344246</c:v>
                </c:pt>
                <c:pt idx="10">
                  <c:v>381663</c:v>
                </c:pt>
                <c:pt idx="11">
                  <c:v>422551</c:v>
                </c:pt>
                <c:pt idx="12">
                  <c:v>465840</c:v>
                </c:pt>
                <c:pt idx="13">
                  <c:v>514844</c:v>
                </c:pt>
                <c:pt idx="14">
                  <c:v>567401</c:v>
                </c:pt>
                <c:pt idx="15">
                  <c:v>613612</c:v>
                </c:pt>
                <c:pt idx="16">
                  <c:v>664498</c:v>
                </c:pt>
                <c:pt idx="17">
                  <c:v>669145</c:v>
                </c:pt>
                <c:pt idx="18">
                  <c:v>757133</c:v>
                </c:pt>
                <c:pt idx="19">
                  <c:v>850029</c:v>
                </c:pt>
                <c:pt idx="20">
                  <c:v>975751</c:v>
                </c:pt>
                <c:pt idx="21">
                  <c:v>1108835</c:v>
                </c:pt>
                <c:pt idx="22">
                  <c:v>1257192</c:v>
                </c:pt>
                <c:pt idx="23">
                  <c:v>1397374</c:v>
                </c:pt>
                <c:pt idx="24">
                  <c:v>1549602</c:v>
                </c:pt>
                <c:pt idx="25">
                  <c:v>1712858</c:v>
                </c:pt>
                <c:pt idx="26">
                  <c:v>1886120</c:v>
                </c:pt>
                <c:pt idx="27">
                  <c:v>2051346</c:v>
                </c:pt>
                <c:pt idx="28">
                  <c:v>2222146</c:v>
                </c:pt>
                <c:pt idx="29">
                  <c:v>2409401</c:v>
                </c:pt>
                <c:pt idx="30">
                  <c:v>4948551</c:v>
                </c:pt>
                <c:pt idx="31">
                  <c:v>9753922</c:v>
                </c:pt>
                <c:pt idx="32">
                  <c:v>18785217</c:v>
                </c:pt>
                <c:pt idx="33">
                  <c:v>35748511</c:v>
                </c:pt>
                <c:pt idx="34">
                  <c:v>67603838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rgbClr val="4A5A6A"/>
                </a:solidFill>
                <a:latin typeface="STHeiti Medium"/>
                <a:ea typeface="+mn-ea"/>
                <a:cs typeface="+mn-c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#,##0,," sourceLinked="0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rgbClr val="4A5A6A"/>
                </a:solidFill>
                <a:latin typeface="+mn-lt"/>
                <a:ea typeface="+mn-ea"/>
                <a:cs typeface="+mn-cs"/>
              </a:defRPr>
            </a:pPr>
          </a:p>
        </c:txPr>
        <c:crossAx val="-2068027336"/>
        <c:crosses val="autoZero"/>
        <c:crossBetween val="between"/>
      </c:valAx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rgbClr val="1A2A3A"/>
              </a:solidFill>
              <a:latin typeface="STHeiti Medium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9131c0df-704d-4e56-8e3e-af4c37521b32}"/>
      </c:ext>
    </c:extLst>
  </c:chart>
  <c:txPr>
    <a:bodyPr/>
    <a:lstStyle/>
    <a:p>
      <a:pPr>
        <a:defRPr lang="zh-CN" sz="1800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退保发还总额 (USD)</c:v>
                </c:pt>
              </c:strCache>
            </c:strRef>
          </c:tx>
          <c:spPr>
            <a:ln w="31750" cap="rnd" cmpd="sng" algn="ctr">
              <a:solidFill>
                <a:srgbClr val="8A6A2A"/>
              </a:solidFill>
              <a:prstDash val="solid"/>
              <a:round/>
            </a:ln>
          </c:spPr>
          <c:marker>
            <c:symbol val="circle"/>
            <c:size val="6"/>
          </c:marker>
          <c:dLbls>
            <c:delete val="1"/>
          </c:dLbls>
          <c:cat>
            <c:strRef>
              <c:f>Sheet1!$A$2:$A$36</c:f>
              <c:strCache>
                <c:ptCount val="35"/>
                <c:pt idx="0">
                  <c:v>Y1
(1岁)</c:v>
                </c:pt>
                <c:pt idx="1">
                  <c:v>Y2
(2岁)</c:v>
                </c:pt>
                <c:pt idx="2">
                  <c:v>Y3
(3岁)</c:v>
                </c:pt>
                <c:pt idx="3">
                  <c:v>Y4
(4岁)</c:v>
                </c:pt>
                <c:pt idx="4">
                  <c:v>Y5
(5岁)</c:v>
                </c:pt>
                <c:pt idx="5">
                  <c:v>Y6
(6岁)</c:v>
                </c:pt>
                <c:pt idx="6">
                  <c:v>Y7
(7岁)</c:v>
                </c:pt>
                <c:pt idx="7">
                  <c:v>Y8
(8岁)</c:v>
                </c:pt>
                <c:pt idx="8">
                  <c:v>Y9
(9岁)</c:v>
                </c:pt>
                <c:pt idx="9">
                  <c:v>Y10
(10岁)</c:v>
                </c:pt>
                <c:pt idx="10">
                  <c:v>Y11
(11岁)</c:v>
                </c:pt>
                <c:pt idx="11">
                  <c:v>Y12
(12岁)</c:v>
                </c:pt>
                <c:pt idx="12">
                  <c:v>Y13
(13岁)</c:v>
                </c:pt>
                <c:pt idx="13">
                  <c:v>Y14
(14岁)</c:v>
                </c:pt>
                <c:pt idx="14">
                  <c:v>Y15
(15岁)</c:v>
                </c:pt>
                <c:pt idx="15">
                  <c:v>Y16
(16岁)</c:v>
                </c:pt>
                <c:pt idx="16">
                  <c:v>Y17
(17岁)</c:v>
                </c:pt>
                <c:pt idx="17">
                  <c:v>Y18
(18岁)</c:v>
                </c:pt>
                <c:pt idx="18">
                  <c:v>Y19
(19岁)</c:v>
                </c:pt>
                <c:pt idx="19">
                  <c:v>Y20
(20岁)</c:v>
                </c:pt>
                <c:pt idx="20">
                  <c:v>Y21
(21岁)</c:v>
                </c:pt>
                <c:pt idx="21">
                  <c:v>Y22
(22岁)</c:v>
                </c:pt>
                <c:pt idx="22">
                  <c:v>Y23
(23岁)</c:v>
                </c:pt>
                <c:pt idx="23">
                  <c:v>Y24
(24岁)</c:v>
                </c:pt>
                <c:pt idx="24">
                  <c:v>Y25
(25岁)</c:v>
                </c:pt>
                <c:pt idx="25">
                  <c:v>Y26
(26岁)</c:v>
                </c:pt>
                <c:pt idx="26">
                  <c:v>Y27
(27岁)</c:v>
                </c:pt>
                <c:pt idx="27">
                  <c:v>Y28
(28岁)</c:v>
                </c:pt>
                <c:pt idx="28">
                  <c:v>Y29
(29岁)</c:v>
                </c:pt>
                <c:pt idx="29">
                  <c:v>Y30
(30岁)</c:v>
                </c:pt>
                <c:pt idx="30">
                  <c:v>Y40
(40岁)</c:v>
                </c:pt>
                <c:pt idx="31">
                  <c:v>Y50
(50岁)</c:v>
                </c:pt>
                <c:pt idx="32">
                  <c:v>Y60
(60岁)</c:v>
                </c:pt>
                <c:pt idx="33">
                  <c:v>Y70
(70岁)</c:v>
                </c:pt>
                <c:pt idx="34">
                  <c:v>Y80
(80岁)</c:v>
                </c:pt>
              </c:strCache>
            </c:strRef>
          </c:cat>
          <c:val>
            <c:numRef>
              <c:f>Sheet1!$B$2:$B$36</c:f>
              <c:numCache>
                <c:formatCode>General</c:formatCode>
                <c:ptCount val="35"/>
                <c:pt idx="0">
                  <c:v>103</c:v>
                </c:pt>
                <c:pt idx="1">
                  <c:v>103</c:v>
                </c:pt>
                <c:pt idx="2">
                  <c:v>50587</c:v>
                </c:pt>
                <c:pt idx="3">
                  <c:v>126269</c:v>
                </c:pt>
                <c:pt idx="4">
                  <c:v>235632</c:v>
                </c:pt>
                <c:pt idx="5">
                  <c:v>440900</c:v>
                </c:pt>
                <c:pt idx="6">
                  <c:v>506464</c:v>
                </c:pt>
                <c:pt idx="7">
                  <c:v>584182</c:v>
                </c:pt>
                <c:pt idx="8">
                  <c:v>624107</c:v>
                </c:pt>
                <c:pt idx="9">
                  <c:v>659765</c:v>
                </c:pt>
                <c:pt idx="10">
                  <c:v>707460</c:v>
                </c:pt>
                <c:pt idx="11">
                  <c:v>757598</c:v>
                </c:pt>
                <c:pt idx="12">
                  <c:v>811164</c:v>
                </c:pt>
                <c:pt idx="13">
                  <c:v>870446</c:v>
                </c:pt>
                <c:pt idx="14">
                  <c:v>933280</c:v>
                </c:pt>
                <c:pt idx="15">
                  <c:v>1004157</c:v>
                </c:pt>
                <c:pt idx="16">
                  <c:v>1080737</c:v>
                </c:pt>
                <c:pt idx="17">
                  <c:v>1171715</c:v>
                </c:pt>
                <c:pt idx="18">
                  <c:v>1263814</c:v>
                </c:pt>
                <c:pt idx="19">
                  <c:v>1357738</c:v>
                </c:pt>
                <c:pt idx="20">
                  <c:v>1484487</c:v>
                </c:pt>
                <c:pt idx="21">
                  <c:v>1618599</c:v>
                </c:pt>
                <c:pt idx="22">
                  <c:v>1767984</c:v>
                </c:pt>
                <c:pt idx="23">
                  <c:v>1909194</c:v>
                </c:pt>
                <c:pt idx="24">
                  <c:v>2062449</c:v>
                </c:pt>
                <c:pt idx="25">
                  <c:v>2226733</c:v>
                </c:pt>
                <c:pt idx="26">
                  <c:v>2401023</c:v>
                </c:pt>
                <c:pt idx="27">
                  <c:v>2567277</c:v>
                </c:pt>
                <c:pt idx="28">
                  <c:v>2739104</c:v>
                </c:pt>
                <c:pt idx="29">
                  <c:v>2927387</c:v>
                </c:pt>
                <c:pt idx="30">
                  <c:v>5495108</c:v>
                </c:pt>
                <c:pt idx="31">
                  <c:v>10315074</c:v>
                </c:pt>
                <c:pt idx="32">
                  <c:v>19362813</c:v>
                </c:pt>
                <c:pt idx="33">
                  <c:v>36346662</c:v>
                </c:pt>
                <c:pt idx="34">
                  <c:v>68227682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rgbClr val="4A5A6A"/>
                </a:solidFill>
                <a:latin typeface="STHeiti Medium"/>
                <a:ea typeface="+mn-ea"/>
                <a:cs typeface="+mn-cs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#,##0,," sourceLinked="0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rgbClr val="4A5A6A"/>
                </a:solidFill>
                <a:latin typeface="+mn-lt"/>
                <a:ea typeface="+mn-ea"/>
                <a:cs typeface="+mn-cs"/>
              </a:defRPr>
            </a:pPr>
          </a:p>
        </c:txPr>
        <c:crossAx val="2118791784"/>
        <c:crosses val="autoZero"/>
        <c:crossBetween val="between"/>
      </c:valAx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rgbClr val="1A2A3A"/>
              </a:solidFill>
              <a:latin typeface="STHeiti Medium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8c84397f-ee6a-4bb6-9acd-0b19428f5178}"/>
      </c:ext>
    </c:extLst>
  </c:chart>
  <c:txPr>
    <a:bodyPr/>
    <a:lstStyle/>
    <a:p>
      <a:pPr>
        <a:defRPr lang="zh-CN" sz="1800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不提领 · 退保现价 (USD)</c:v>
                </c:pt>
              </c:strCache>
            </c:strRef>
          </c:tx>
          <c:spPr>
            <a:solidFill>
              <a:srgbClr val="0D1B2A"/>
            </a:solidFill>
          </c:spPr>
          <c:invertIfNegative val="0"/>
          <c:dLbls>
            <c:delete val="1"/>
          </c:dLbls>
          <c:cat>
            <c:strRef>
              <c:f>Sheet1!$A$2:$A$14</c:f>
              <c:strCache>
                <c:ptCount val="13"/>
                <c:pt idx="0">
                  <c:v>Y1
(1岁)</c:v>
                </c:pt>
                <c:pt idx="1">
                  <c:v>Y2
(2岁)</c:v>
                </c:pt>
                <c:pt idx="2">
                  <c:v>Y3
(3岁)</c:v>
                </c:pt>
                <c:pt idx="3">
                  <c:v>Y4
(4岁)</c:v>
                </c:pt>
                <c:pt idx="4">
                  <c:v>Y5
(5岁)</c:v>
                </c:pt>
                <c:pt idx="5">
                  <c:v>Y10
(10岁)</c:v>
                </c:pt>
                <c:pt idx="6">
                  <c:v>Y15
(15岁)</c:v>
                </c:pt>
                <c:pt idx="7">
                  <c:v>Y20
(20岁)</c:v>
                </c:pt>
                <c:pt idx="8">
                  <c:v>Y25
(25岁)</c:v>
                </c:pt>
                <c:pt idx="9">
                  <c:v>Y30
(30岁)</c:v>
                </c:pt>
                <c:pt idx="10">
                  <c:v>Y31
(31岁)</c:v>
                </c:pt>
                <c:pt idx="11">
                  <c:v>Y41
(41岁)</c:v>
                </c:pt>
                <c:pt idx="12">
                  <c:v>Y51
(51岁)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103</c:v>
                </c:pt>
                <c:pt idx="1">
                  <c:v>103</c:v>
                </c:pt>
                <c:pt idx="2">
                  <c:v>50587</c:v>
                </c:pt>
                <c:pt idx="3">
                  <c:v>126269</c:v>
                </c:pt>
                <c:pt idx="4">
                  <c:v>235632</c:v>
                </c:pt>
                <c:pt idx="5">
                  <c:v>659765</c:v>
                </c:pt>
                <c:pt idx="6">
                  <c:v>933280</c:v>
                </c:pt>
                <c:pt idx="7">
                  <c:v>1357738</c:v>
                </c:pt>
                <c:pt idx="8">
                  <c:v>2062449</c:v>
                </c:pt>
                <c:pt idx="9">
                  <c:v>2927387</c:v>
                </c:pt>
                <c:pt idx="10">
                  <c:v>3117667</c:v>
                </c:pt>
                <c:pt idx="11">
                  <c:v>5852291</c:v>
                </c:pt>
                <c:pt idx="12">
                  <c:v>10985554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提领 · 累计+退保现价 (USD)</c:v>
                </c:pt>
              </c:strCache>
            </c:strRef>
          </c:tx>
          <c:spPr>
            <a:solidFill>
              <a:srgbClr val="C8963E"/>
            </a:solidFill>
          </c:spPr>
          <c:invertIfNegative val="0"/>
          <c:dLbls>
            <c:delete val="1"/>
          </c:dLbls>
          <c:cat>
            <c:strRef>
              <c:f>Sheet1!$A$2:$A$14</c:f>
              <c:strCache>
                <c:ptCount val="13"/>
                <c:pt idx="0">
                  <c:v>Y1
(1岁)</c:v>
                </c:pt>
                <c:pt idx="1">
                  <c:v>Y2
(2岁)</c:v>
                </c:pt>
                <c:pt idx="2">
                  <c:v>Y3
(3岁)</c:v>
                </c:pt>
                <c:pt idx="3">
                  <c:v>Y4
(4岁)</c:v>
                </c:pt>
                <c:pt idx="4">
                  <c:v>Y5
(5岁)</c:v>
                </c:pt>
                <c:pt idx="5">
                  <c:v>Y10
(10岁)</c:v>
                </c:pt>
                <c:pt idx="6">
                  <c:v>Y15
(15岁)</c:v>
                </c:pt>
                <c:pt idx="7">
                  <c:v>Y20
(20岁)</c:v>
                </c:pt>
                <c:pt idx="8">
                  <c:v>Y25
(25岁)</c:v>
                </c:pt>
                <c:pt idx="9">
                  <c:v>Y30
(30岁)</c:v>
                </c:pt>
                <c:pt idx="10">
                  <c:v>Y31
(31岁)</c:v>
                </c:pt>
                <c:pt idx="11">
                  <c:v>Y41
(41岁)</c:v>
                </c:pt>
                <c:pt idx="12">
                  <c:v>Y51
(51岁)</c:v>
                </c:pt>
              </c:strCache>
            </c: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103</c:v>
                </c:pt>
                <c:pt idx="1">
                  <c:v>103</c:v>
                </c:pt>
                <c:pt idx="2">
                  <c:v>50587</c:v>
                </c:pt>
                <c:pt idx="3">
                  <c:v>126269</c:v>
                </c:pt>
                <c:pt idx="4">
                  <c:v>235632</c:v>
                </c:pt>
                <c:pt idx="5">
                  <c:v>642019</c:v>
                </c:pt>
                <c:pt idx="6">
                  <c:v>815053</c:v>
                </c:pt>
                <c:pt idx="7">
                  <c:v>1004749</c:v>
                </c:pt>
                <c:pt idx="8">
                  <c:v>1221382</c:v>
                </c:pt>
                <c:pt idx="9">
                  <c:v>1419522</c:v>
                </c:pt>
                <c:pt idx="10">
                  <c:v>1454054</c:v>
                </c:pt>
                <c:pt idx="11">
                  <c:v>1800773</c:v>
                </c:pt>
                <c:pt idx="12">
                  <c:v>2163492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4A5A6A"/>
                </a:solidFill>
                <a:latin typeface="STHeiti Medium"/>
                <a:ea typeface="+mn-ea"/>
                <a:cs typeface="+mn-c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21971108"/>
          <c:min val="0"/>
        </c:scaling>
        <c:delete val="0"/>
        <c:axPos val="l"/>
        <c:majorGridlines/>
        <c:numFmt formatCode="&quot;$&quot;#,##0,,\ &quot;M&quot;" sourceLinked="0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rgbClr val="4A5A6A"/>
                </a:solidFill>
                <a:latin typeface="+mn-lt"/>
                <a:ea typeface="+mn-ea"/>
                <a:cs typeface="+mn-cs"/>
              </a:defRPr>
            </a:pPr>
          </a:p>
        </c:txPr>
        <c:crossAx val="-2068027336"/>
        <c:crosses val="autoZero"/>
        <c:crossBetween val="between"/>
      </c:valAx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rgbClr val="1A2A3A"/>
              </a:solidFill>
              <a:latin typeface="STHeiti Medium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b88e5924-05e0-4970-8f62-b45c4ebf7535}"/>
      </c:ext>
    </c:extLst>
  </c:chart>
  <c:txPr>
    <a:bodyPr/>
    <a:lstStyle/>
    <a:p>
      <a:pPr>
        <a:defRPr lang="zh-CN" sz="1800"/>
      </a:pPr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chart" Target="../charts/chart2.xml"/><Relationship Id="rId1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chart" Target="../charts/chart3.xml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0.jpeg"/><Relationship Id="rId4" Type="http://schemas.openxmlformats.org/officeDocument/2006/relationships/image" Target="../media/image9.jpeg"/><Relationship Id="rId3" Type="http://schemas.openxmlformats.org/officeDocument/2006/relationships/image" Target="../media/image8.jpe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mpany-hero-01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0"/>
            <a:ext cx="57908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5486400" cy="292608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AIA  |  友邦保险</a:t>
            </a:r>
            <a:endParaRPr sz="1100" b="1">
              <a:solidFill>
                <a:srgbClr val="0D1B2A"/>
              </a:solidFill>
              <a:latin typeface="Calibri"/>
              <a:ea typeface="STHeiti Medium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548640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PRIVATE CLIENT BRIEFING</a:t>
            </a:r>
            <a:endParaRPr sz="800" b="0">
              <a:solidFill>
                <a:srgbClr val="4A5A6A"/>
              </a:solidFill>
              <a:latin typeface="Calibri"/>
              <a:ea typeface="STHeiti Medium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57200" y="960120"/>
            <a:ext cx="45720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594360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00" b="1">
                <a:solidFill>
                  <a:srgbClr val="0D1B2A"/>
                </a:solidFill>
                <a:latin typeface="Calibri"/>
                <a:ea typeface="STHeiti Medium"/>
              </a:rPr>
              <a:t>「环宇盈活」储蓄保险计划（5年缴费）</a:t>
            </a:r>
            <a:endParaRPr sz="1000" b="1">
              <a:solidFill>
                <a:srgbClr val="0D1B2A"/>
              </a:solidFill>
              <a:latin typeface="Calibri"/>
              <a:ea typeface="STHeiti Medium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351915" y="2660650"/>
            <a:ext cx="5943600" cy="71247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4400" b="1">
                <a:solidFill>
                  <a:srgbClr val="0D1B2A"/>
                </a:solidFill>
                <a:latin typeface="Calibri"/>
                <a:ea typeface="STHeiti Medium"/>
              </a:rPr>
              <a:t>VIP 先生</a:t>
            </a:r>
            <a:endParaRPr sz="4400" b="1">
              <a:solidFill>
                <a:srgbClr val="0D1B2A"/>
              </a:solidFill>
              <a:latin typeface="Calibri"/>
              <a:ea typeface="STHeiti Medium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7200" y="2926080"/>
            <a:ext cx="59436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200" b="0">
                <a:solidFill>
                  <a:srgbClr val="4A5A6A"/>
                </a:solidFill>
                <a:latin typeface="Calibri"/>
                <a:ea typeface="STHeiti Medium"/>
              </a:rPr>
              <a:t>MR.</a:t>
            </a:r>
            <a:endParaRPr sz="2200" b="0">
              <a:solidFill>
                <a:srgbClr val="4A5A6A"/>
              </a:solidFill>
              <a:latin typeface="Calibri"/>
              <a:ea typeface="STHeiti Medium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7200" y="3291840"/>
            <a:ext cx="594360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00" b="0">
                <a:solidFill>
                  <a:srgbClr val="4A5A6A"/>
                </a:solidFill>
                <a:latin typeface="Calibri"/>
                <a:ea typeface="STHeiti Medium"/>
              </a:rPr>
              <a:t>PRIVATE CLIENT</a:t>
            </a:r>
            <a:endParaRPr sz="1000" b="0">
              <a:solidFill>
                <a:srgbClr val="4A5A6A"/>
              </a:solidFill>
              <a:latin typeface="Calibri"/>
              <a:ea typeface="STHeiti Medium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57200" y="3657600"/>
            <a:ext cx="731520" cy="27432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840480"/>
            <a:ext cx="594360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1">
                <a:solidFill>
                  <a:srgbClr val="0D1B2A"/>
                </a:solidFill>
                <a:latin typeface="Calibri"/>
                <a:ea typeface="STHeiti Medium"/>
              </a:rPr>
              <a:t>5年缴 · USD 100,000</a:t>
            </a:r>
            <a:endParaRPr sz="1300" b="1">
              <a:solidFill>
                <a:srgbClr val="0D1B2A"/>
              </a:solidFill>
              <a:latin typeface="Calibri"/>
              <a:ea typeface="STHeiti Medium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7200" y="4114800"/>
            <a:ext cx="594360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00" b="0">
                <a:solidFill>
                  <a:srgbClr val="4A5A6A"/>
                </a:solidFill>
                <a:latin typeface="Calibri"/>
                <a:ea typeface="STHeiti Medium"/>
              </a:rPr>
              <a:t>终身</a:t>
            </a:r>
            <a:endParaRPr sz="1000" b="0">
              <a:solidFill>
                <a:srgbClr val="4A5A6A"/>
              </a:solidFill>
              <a:latin typeface="Calibri"/>
              <a:ea typeface="STHeiti Medium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7200" y="4754880"/>
            <a:ext cx="5943600" cy="4572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400" b="1">
                <a:solidFill>
                  <a:srgbClr val="0D1B2A"/>
                </a:solidFill>
                <a:latin typeface="Calibri"/>
                <a:ea typeface="STHeiti Medium"/>
              </a:rPr>
              <a:t>受保人：VIP 先生（1岁）</a:t>
            </a:r>
            <a:endParaRPr sz="2400" b="1">
              <a:solidFill>
                <a:srgbClr val="0D1B2A"/>
              </a:solidFill>
              <a:latin typeface="Calibri"/>
              <a:ea typeface="STHeiti Medium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7200" y="5943600"/>
            <a:ext cx="1828800" cy="292608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00" b="1">
                <a:solidFill>
                  <a:srgbClr val="0D1B2A"/>
                </a:solidFill>
                <a:latin typeface="Calibri"/>
                <a:ea typeface="STHeiti Medium"/>
              </a:rPr>
              <a:t>2026 / 06</a:t>
            </a:r>
            <a:endParaRPr sz="1000" b="1">
              <a:solidFill>
                <a:srgbClr val="0D1B2A"/>
              </a:solidFill>
              <a:latin typeface="Calibri"/>
              <a:ea typeface="STHeiti Medium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57200" y="6263640"/>
            <a:ext cx="457200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汇报人：友邦保险 · 财富管理团队</a:t>
            </a:r>
            <a:endParaRPr sz="900" b="0">
              <a:solidFill>
                <a:srgbClr val="4A5A6A"/>
              </a:solidFill>
              <a:latin typeface="Calibri"/>
              <a:ea typeface="STHeiti Medium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400800" y="2286000"/>
            <a:ext cx="5790895" cy="12801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7200" b="1">
                <a:solidFill>
                  <a:srgbClr val="C8963E"/>
                </a:solidFill>
                <a:latin typeface="Calibri"/>
                <a:ea typeface="STHeiti Medium"/>
              </a:rPr>
              <a:t>VIP</a:t>
            </a:r>
            <a:endParaRPr sz="7200" b="1">
              <a:solidFill>
                <a:srgbClr val="C8963E"/>
              </a:solidFill>
              <a:latin typeface="Calibri"/>
              <a:ea typeface="STHeiti Medium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00800" y="3520440"/>
            <a:ext cx="5790895" cy="4572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2200" b="0">
                <a:solidFill>
                  <a:srgbClr val="F8F9FB"/>
                </a:solidFill>
                <a:latin typeface="Calibri"/>
                <a:ea typeface="STHeiti Medium"/>
              </a:rPr>
              <a:t>M R .</a:t>
            </a:r>
            <a:endParaRPr sz="2200" b="0">
              <a:solidFill>
                <a:srgbClr val="F8F9FB"/>
              </a:solidFill>
              <a:latin typeface="Calibri"/>
              <a:ea typeface="STHeiti Medium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8869680" y="4069080"/>
            <a:ext cx="548640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4160520"/>
            <a:ext cx="5790895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000" b="0">
                <a:solidFill>
                  <a:srgbClr val="C8963E"/>
                </a:solidFill>
                <a:latin typeface="Calibri"/>
                <a:ea typeface="STHeiti Medium"/>
              </a:rPr>
              <a:t>PRIVATE CLIENT</a:t>
            </a:r>
            <a:endParaRPr sz="1000" b="0">
              <a:solidFill>
                <a:srgbClr val="C8963E"/>
              </a:solidFill>
              <a:latin typeface="Calibri"/>
              <a:ea typeface="STHeiti Medium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400800" y="5029200"/>
            <a:ext cx="5790895" cy="4572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300" b="1">
                <a:solidFill>
                  <a:srgbClr val="F8F9FB"/>
                </a:solidFill>
                <a:latin typeface="Calibri"/>
                <a:ea typeface="STHeiti Medium"/>
              </a:rPr>
              <a:t>5年缴 · USD 100K</a:t>
            </a:r>
            <a:endParaRPr sz="1300" b="1">
              <a:solidFill>
                <a:srgbClr val="F8F9FB"/>
              </a:solidFill>
              <a:latin typeface="Calibri"/>
              <a:ea typeface="STHeiti Medium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400800" y="5394960"/>
            <a:ext cx="5790895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000" b="0">
                <a:solidFill>
                  <a:srgbClr val="D4B078"/>
                </a:solidFill>
                <a:latin typeface="Calibri"/>
                <a:ea typeface="STHeiti Medium"/>
              </a:rPr>
              <a:t>终身</a:t>
            </a:r>
            <a:endParaRPr sz="1000" b="0">
              <a:solidFill>
                <a:srgbClr val="D4B078"/>
              </a:solidFill>
              <a:latin typeface="Calibri"/>
              <a:ea typeface="STHeiti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rand-corner-lef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31520" cy="457200"/>
          </a:xfrm>
          <a:prstGeom prst="rect">
            <a:avLst/>
          </a:prstGeom>
        </p:spPr>
      </p:pic>
      <p:pic>
        <p:nvPicPr>
          <p:cNvPr id="5" name="Picture 4" descr="brand-corner-r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0" y="0"/>
            <a:ext cx="73152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AIA  |  友邦保险</a:t>
            </a:r>
            <a:endParaRPr sz="2000" b="1">
              <a:solidFill>
                <a:srgbClr val="0D1B2A"/>
              </a:solidFill>
              <a:latin typeface="Calibri"/>
              <a:ea typeface="STHeiti Medium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02 / 12</a:t>
            </a:r>
            <a:endParaRPr sz="900" b="0">
              <a:solidFill>
                <a:srgbClr val="4A5A6A"/>
              </a:solidFill>
              <a:latin typeface="Calibri"/>
              <a:ea typeface="STHeiti Medium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  <a:ea typeface="STHeiti Medium"/>
              </a:rPr>
              <a:t>关于我们</a:t>
            </a:r>
            <a:endParaRPr sz="2800" b="1">
              <a:solidFill>
                <a:srgbClr val="0D1B2A"/>
              </a:solidFill>
              <a:latin typeface="Calibri"/>
              <a:ea typeface="STHeiti Medium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100" b="0">
                <a:solidFill>
                  <a:srgbClr val="4A5A6A"/>
                </a:solidFill>
                <a:latin typeface="Calibri"/>
                <a:ea typeface="STHeiti Medium"/>
              </a:rPr>
              <a:t>About Us  ·  友邦保险</a:t>
            </a:r>
            <a:endParaRPr sz="1100" b="0">
              <a:solidFill>
                <a:srgbClr val="4A5A6A"/>
              </a:solidFill>
              <a:latin typeface="Calibri"/>
              <a:ea typeface="STHeiti Medium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8800"/>
            <a:ext cx="1097280" cy="1097280"/>
          </a:xfrm>
          <a:prstGeom prst="rect">
            <a:avLst/>
          </a:prstGeom>
        </p:spPr>
      </p:pic>
      <p:pic>
        <p:nvPicPr>
          <p:cNvPr id="12" name="Picture 11" descr="brand-0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1828800"/>
            <a:ext cx="2011680" cy="1280160"/>
          </a:xfrm>
          <a:prstGeom prst="rect">
            <a:avLst/>
          </a:prstGeom>
        </p:spPr>
      </p:pic>
      <p:pic>
        <p:nvPicPr>
          <p:cNvPr id="13" name="Picture 12" descr="brand-0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9040" y="1828800"/>
            <a:ext cx="2011680" cy="1280160"/>
          </a:xfrm>
          <a:prstGeom prst="rect">
            <a:avLst/>
          </a:prstGeom>
        </p:spPr>
      </p:pic>
      <p:pic>
        <p:nvPicPr>
          <p:cNvPr id="14" name="Picture 13" descr="office-01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0" y="1828800"/>
            <a:ext cx="2011680" cy="128016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457200" y="3291840"/>
            <a:ext cx="36576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4590288"/>
            <a:ext cx="3657600" cy="7315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429000"/>
            <a:ext cx="3291840" cy="64008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600" b="1">
                <a:solidFill>
                  <a:srgbClr val="0D1B2A"/>
                </a:solidFill>
                <a:latin typeface="Calibri"/>
                <a:ea typeface="STHeiti Medium"/>
              </a:rPr>
              <a:t>1931</a:t>
            </a:r>
            <a:endParaRPr sz="2600" b="1">
              <a:solidFill>
                <a:srgbClr val="0D1B2A"/>
              </a:solidFill>
              <a:latin typeface="Calibri"/>
              <a:ea typeface="STHeiti Medium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40080" y="4297680"/>
            <a:ext cx="329184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200" b="1">
                <a:solidFill>
                  <a:srgbClr val="1A2A3A"/>
                </a:solidFill>
                <a:latin typeface="Calibri"/>
                <a:ea typeface="STHeiti Medium"/>
              </a:rPr>
              <a:t>成立年份</a:t>
            </a:r>
            <a:endParaRPr sz="1200" b="1">
              <a:solidFill>
                <a:srgbClr val="1A2A3A"/>
              </a:solidFill>
              <a:latin typeface="Calibri"/>
              <a:ea typeface="STHeiti Medium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0080" y="4434840"/>
            <a:ext cx="3291840" cy="18288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endParaRPr sz="800" b="0">
              <a:solidFill>
                <a:srgbClr val="4A5A6A"/>
              </a:solidFill>
              <a:latin typeface="Calibri"/>
              <a:ea typeface="STHeiti Medium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343400" y="3291840"/>
            <a:ext cx="36576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43400" y="4590288"/>
            <a:ext cx="3657600" cy="7315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6280" y="3429000"/>
            <a:ext cx="3291840" cy="64008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600" b="1">
                <a:solidFill>
                  <a:srgbClr val="0D1B2A"/>
                </a:solidFill>
                <a:latin typeface="Calibri"/>
                <a:ea typeface="STHeiti Medium"/>
              </a:rPr>
              <a:t>AA-</a:t>
            </a:r>
            <a:endParaRPr sz="2600" b="1">
              <a:solidFill>
                <a:srgbClr val="0D1B2A"/>
              </a:solidFill>
              <a:latin typeface="Calibri"/>
              <a:ea typeface="STHeiti Medium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526280" y="4297680"/>
            <a:ext cx="329184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200" b="1">
                <a:solidFill>
                  <a:srgbClr val="1A2A3A"/>
                </a:solidFill>
                <a:latin typeface="Calibri"/>
                <a:ea typeface="STHeiti Medium"/>
              </a:rPr>
              <a:t>财务实力评级</a:t>
            </a:r>
            <a:endParaRPr sz="1200" b="1">
              <a:solidFill>
                <a:srgbClr val="1A2A3A"/>
              </a:solidFill>
              <a:latin typeface="Calibri"/>
              <a:ea typeface="STHeiti Medium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526280" y="4434840"/>
            <a:ext cx="3291840" cy="18288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endParaRPr sz="800" b="0">
              <a:solidFill>
                <a:srgbClr val="4A5A6A"/>
              </a:solidFill>
              <a:latin typeface="Calibri"/>
              <a:ea typeface="STHeiti Medium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8229600" y="3291840"/>
            <a:ext cx="36576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0" y="4590288"/>
            <a:ext cx="3657600" cy="7315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0" y="3429000"/>
            <a:ext cx="3291840" cy="64008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600" b="1">
                <a:solidFill>
                  <a:srgbClr val="0D1B2A"/>
                </a:solidFill>
                <a:latin typeface="Calibri"/>
                <a:ea typeface="STHeiti Medium"/>
              </a:rPr>
              <a:t>环宇盈活</a:t>
            </a:r>
            <a:endParaRPr sz="2600" b="1">
              <a:solidFill>
                <a:srgbClr val="0D1B2A"/>
              </a:solidFill>
              <a:latin typeface="Calibri"/>
              <a:ea typeface="STHeiti Medium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412480" y="4297680"/>
            <a:ext cx="329184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200" b="1">
                <a:solidFill>
                  <a:srgbClr val="1A2A3A"/>
                </a:solidFill>
                <a:latin typeface="Calibri"/>
                <a:ea typeface="STHeiti Medium"/>
              </a:rPr>
              <a:t>环球财富管理专家</a:t>
            </a:r>
            <a:endParaRPr sz="1200" b="1">
              <a:solidFill>
                <a:srgbClr val="1A2A3A"/>
              </a:solidFill>
              <a:latin typeface="Calibri"/>
              <a:ea typeface="STHeiti Medium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412480" y="4434840"/>
            <a:ext cx="3291840" cy="18288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endParaRPr sz="800" b="0">
              <a:solidFill>
                <a:srgbClr val="4A5A6A"/>
              </a:solidFill>
              <a:latin typeface="Calibri"/>
              <a:ea typeface="STHeiti Medium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457200" y="4937760"/>
            <a:ext cx="27432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4846320"/>
            <a:ext cx="45720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  <a:latin typeface="Calibri"/>
                <a:ea typeface="STHeiti Medium"/>
              </a:rPr>
              <a:t>业务范围</a:t>
            </a:r>
            <a:endParaRPr sz="1400" b="1">
              <a:solidFill>
                <a:srgbClr val="0D1B2A"/>
              </a:solidFill>
              <a:latin typeface="Calibri"/>
              <a:ea typeface="STHeiti Medium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77240" y="5212080"/>
            <a:ext cx="502920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人寿保险 — 储蓄/保障</a:t>
            </a:r>
            <a:endParaRPr sz="1100" b="0">
              <a:solidFill>
                <a:srgbClr val="1A2A3A"/>
              </a:solidFill>
              <a:latin typeface="Calibri"/>
              <a:ea typeface="STHeiti Medium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77240" y="5486400"/>
            <a:ext cx="502920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健康保险 — 重疾/医疗</a:t>
            </a:r>
            <a:endParaRPr sz="1100" b="0">
              <a:solidFill>
                <a:srgbClr val="1A2A3A"/>
              </a:solidFill>
              <a:latin typeface="Calibri"/>
              <a:ea typeface="STHeiti Medium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77240" y="5760720"/>
            <a:ext cx="502920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财富传承 — 万用寿险</a:t>
            </a:r>
            <a:endParaRPr sz="1100" b="0">
              <a:solidFill>
                <a:srgbClr val="1A2A3A"/>
              </a:solidFill>
              <a:latin typeface="Calibri"/>
              <a:ea typeface="STHeiti Medium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77240" y="6035040"/>
            <a:ext cx="502920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强积金 — 企业保障</a:t>
            </a:r>
            <a:endParaRPr sz="1100" b="0">
              <a:solidFill>
                <a:srgbClr val="1A2A3A"/>
              </a:solidFill>
              <a:latin typeface="Calibri"/>
              <a:ea typeface="STHeiti Medium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6400800" y="4937760"/>
            <a:ext cx="27432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20840" y="4846320"/>
            <a:ext cx="45720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  <a:latin typeface="Calibri"/>
                <a:ea typeface="STHeiti Medium"/>
              </a:rPr>
              <a:t>品牌背景</a:t>
            </a:r>
            <a:endParaRPr sz="1400" b="1">
              <a:solidFill>
                <a:srgbClr val="0D1B2A"/>
              </a:solidFill>
              <a:latin typeface="Calibri"/>
              <a:ea typeface="STHeiti Medium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720840" y="5212080"/>
            <a:ext cx="502920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亚洲最大独立上市人寿集团</a:t>
            </a:r>
            <a:endParaRPr sz="1100" b="0">
              <a:solidFill>
                <a:srgbClr val="1A2A3A"/>
              </a:solidFill>
              <a:latin typeface="Calibri"/>
              <a:ea typeface="STHeiti Medium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720840" y="5486400"/>
            <a:ext cx="502920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业务覆盖亚太区18个市场</a:t>
            </a:r>
            <a:endParaRPr sz="1100" b="0">
              <a:solidFill>
                <a:srgbClr val="1A2A3A"/>
              </a:solidFill>
              <a:latin typeface="Calibri"/>
              <a:ea typeface="STHeiti Medium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720840" y="5760720"/>
            <a:ext cx="502920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服务超3800万客户</a:t>
            </a:r>
            <a:endParaRPr sz="1100" b="0">
              <a:solidFill>
                <a:srgbClr val="1A2A3A"/>
              </a:solidFill>
              <a:latin typeface="Calibri"/>
              <a:ea typeface="STHeiti Medium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457200" y="6537960"/>
            <a:ext cx="1143000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数据来源：保险公司官方资料</a:t>
            </a:r>
            <a:endParaRPr sz="800" b="0">
              <a:solidFill>
                <a:srgbClr val="4A5A6A"/>
              </a:solidFill>
              <a:latin typeface="Calibri"/>
              <a:ea typeface="STHeiti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rand-corner-lef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31520" cy="457200"/>
          </a:xfrm>
          <a:prstGeom prst="rect">
            <a:avLst/>
          </a:prstGeom>
        </p:spPr>
      </p:pic>
      <p:pic>
        <p:nvPicPr>
          <p:cNvPr id="5" name="Picture 4" descr="brand-corner-r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0" y="0"/>
            <a:ext cx="73152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AIA  |  友邦保险</a:t>
            </a:r>
            <a:endParaRPr sz="2000" b="1">
              <a:solidFill>
                <a:srgbClr val="0D1B2A"/>
              </a:solidFill>
              <a:latin typeface="Calibri"/>
              <a:ea typeface="STHeiti Medium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03 / 12</a:t>
            </a:r>
            <a:endParaRPr sz="900" b="0">
              <a:solidFill>
                <a:srgbClr val="4A5A6A"/>
              </a:solidFill>
              <a:latin typeface="Calibri"/>
              <a:ea typeface="STHeiti Medium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  <a:ea typeface="STHeiti Medium"/>
              </a:rPr>
              <a:t>产品亮点</a:t>
            </a:r>
            <a:endParaRPr sz="2800" b="1">
              <a:solidFill>
                <a:srgbClr val="0D1B2A"/>
              </a:solidFill>
              <a:latin typeface="Calibri"/>
              <a:ea typeface="STHeiti Medium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100" b="0">
                <a:solidFill>
                  <a:srgbClr val="4A5A6A"/>
                </a:solidFill>
                <a:latin typeface="Calibri"/>
                <a:ea typeface="STHeiti Medium"/>
              </a:rPr>
              <a:t>5 年缴 · 短期供款完成 · 终身财富复利</a:t>
            </a:r>
            <a:endParaRPr sz="1100" b="0">
              <a:solidFill>
                <a:srgbClr val="4A5A6A"/>
              </a:solidFill>
              <a:latin typeface="Calibri"/>
              <a:ea typeface="STHeiti Medium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194560"/>
            <a:ext cx="557784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194560"/>
            <a:ext cx="91440" cy="20116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377440"/>
            <a:ext cx="1097280" cy="64008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  <a:ea typeface="STHeiti Medium"/>
              </a:rPr>
              <a:t>01</a:t>
            </a:r>
            <a:endParaRPr sz="2800" b="1">
              <a:solidFill>
                <a:srgbClr val="0D1B2A"/>
              </a:solidFill>
              <a:latin typeface="Calibri"/>
              <a:ea typeface="STHeiti Medium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737360" y="2468880"/>
            <a:ext cx="4023360" cy="4572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500" b="1">
                <a:solidFill>
                  <a:srgbClr val="0D1B2A"/>
                </a:solidFill>
                <a:latin typeface="Calibri"/>
                <a:ea typeface="STHeiti Medium"/>
              </a:rPr>
              <a:t>5 年短期缴付</a:t>
            </a:r>
            <a:endParaRPr sz="1500" b="1">
              <a:solidFill>
                <a:srgbClr val="0D1B2A"/>
              </a:solidFill>
              <a:latin typeface="Calibri"/>
              <a:ea typeface="STHeiti Medium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31520" y="3063240"/>
            <a:ext cx="5120640" cy="10058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只需 5 年完成缴费，</a:t>
            </a:r>
            <a:endParaRPr sz="1000" b="0">
              <a:solidFill>
                <a:srgbClr val="1A2A3A"/>
              </a:solidFill>
              <a:latin typeface="Calibri"/>
              <a:ea typeface="STHeiti Medium"/>
            </a:endParaRP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后续无需再缴；缓解供款压力</a:t>
            </a:r>
            <a:endParaRPr sz="1000" b="0">
              <a:solidFill>
                <a:srgbClr val="1A2A3A"/>
              </a:solidFill>
              <a:latin typeface="Calibri"/>
              <a:ea typeface="STHeiti Medium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31520" y="3703320"/>
            <a:ext cx="512064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2200" b="1">
                <a:solidFill>
                  <a:srgbClr val="0D1B2A"/>
                </a:solidFill>
                <a:latin typeface="Calibri"/>
                <a:ea typeface="STHeiti Medium"/>
              </a:rPr>
              <a:t>5</a:t>
            </a:r>
            <a:endParaRPr sz="2200" b="1">
              <a:solidFill>
                <a:srgbClr val="0D1B2A"/>
              </a:solidFill>
              <a:latin typeface="Calibri"/>
              <a:ea typeface="STHeiti Medium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31520" y="3977640"/>
            <a:ext cx="5120640" cy="18288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年缴清</a:t>
            </a:r>
            <a:endParaRPr sz="900" b="0">
              <a:solidFill>
                <a:srgbClr val="4A5A6A"/>
              </a:solidFill>
              <a:latin typeface="Calibri"/>
              <a:ea typeface="STHeiti Medium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263640" y="2194560"/>
            <a:ext cx="557784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2194560"/>
            <a:ext cx="91440" cy="20116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2377440"/>
            <a:ext cx="1097280" cy="64008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  <a:ea typeface="STHeiti Medium"/>
              </a:rPr>
              <a:t>03</a:t>
            </a:r>
            <a:endParaRPr sz="2800" b="1">
              <a:solidFill>
                <a:srgbClr val="0D1B2A"/>
              </a:solidFill>
              <a:latin typeface="Calibri"/>
              <a:ea typeface="STHeiti Medium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543800" y="2468880"/>
            <a:ext cx="4023360" cy="4572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500" b="1">
                <a:solidFill>
                  <a:srgbClr val="0D1B2A"/>
                </a:solidFill>
                <a:latin typeface="Calibri"/>
                <a:ea typeface="STHeiti Medium"/>
              </a:rPr>
              <a:t>20 年财富复利</a:t>
            </a:r>
            <a:endParaRPr sz="1500" b="1">
              <a:solidFill>
                <a:srgbClr val="0D1B2A"/>
              </a:solidFill>
              <a:latin typeface="Calibri"/>
              <a:ea typeface="STHeiti Medium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537960" y="3063240"/>
            <a:ext cx="5120640" cy="10058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保证 + 非保证现金价值</a:t>
            </a:r>
            <a:endParaRPr sz="1000" b="0">
              <a:solidFill>
                <a:srgbClr val="1A2A3A"/>
              </a:solidFill>
              <a:latin typeface="Calibri"/>
              <a:ea typeface="STHeiti Medium"/>
            </a:endParaRP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长期复利，稳健增长</a:t>
            </a:r>
            <a:endParaRPr sz="1000" b="0">
              <a:solidFill>
                <a:srgbClr val="1A2A3A"/>
              </a:solidFill>
              <a:latin typeface="Calibri"/>
              <a:ea typeface="STHeiti Medium"/>
            </a:endParaRP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Y20 约 USD 1,357,738</a:t>
            </a:r>
            <a:endParaRPr sz="1000" b="0">
              <a:solidFill>
                <a:srgbClr val="1A2A3A"/>
              </a:solidFill>
              <a:latin typeface="Calibri"/>
              <a:ea typeface="STHeiti Medium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537960" y="3703320"/>
            <a:ext cx="512064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2200" b="1">
                <a:solidFill>
                  <a:srgbClr val="0D1B2A"/>
                </a:solidFill>
                <a:latin typeface="Calibri"/>
                <a:ea typeface="STHeiti Medium"/>
              </a:rPr>
              <a:t>2.72x</a:t>
            </a:r>
            <a:endParaRPr sz="2200" b="1">
              <a:solidFill>
                <a:srgbClr val="0D1B2A"/>
              </a:solidFill>
              <a:latin typeface="Calibri"/>
              <a:ea typeface="STHeiti Medium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537960" y="3977640"/>
            <a:ext cx="5120640" cy="18288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20 年倍数</a:t>
            </a:r>
            <a:endParaRPr sz="900" b="0">
              <a:solidFill>
                <a:srgbClr val="4A5A6A"/>
              </a:solidFill>
              <a:latin typeface="Calibri"/>
              <a:ea typeface="STHeiti Medium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457200" y="4389120"/>
            <a:ext cx="557784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4389120"/>
            <a:ext cx="91440" cy="20116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572000"/>
            <a:ext cx="1097280" cy="64008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  <a:ea typeface="STHeiti Medium"/>
              </a:rPr>
              <a:t>04</a:t>
            </a:r>
            <a:endParaRPr sz="2800" b="1">
              <a:solidFill>
                <a:srgbClr val="0D1B2A"/>
              </a:solidFill>
              <a:latin typeface="Calibri"/>
              <a:ea typeface="STHeiti Medium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737360" y="4663440"/>
            <a:ext cx="4023360" cy="4572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500" b="1">
                <a:solidFill>
                  <a:srgbClr val="0D1B2A"/>
                </a:solidFill>
                <a:latin typeface="Calibri"/>
                <a:ea typeface="STHeiti Medium"/>
              </a:rPr>
              <a:t>30 年财富复利</a:t>
            </a:r>
            <a:endParaRPr sz="1500" b="1">
              <a:solidFill>
                <a:srgbClr val="0D1B2A"/>
              </a:solidFill>
              <a:latin typeface="Calibri"/>
              <a:ea typeface="STHeiti Medium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31520" y="5257800"/>
            <a:ext cx="5120640" cy="10058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持续滚存跨越复利临界点</a:t>
            </a:r>
            <a:endParaRPr sz="1000" b="0">
              <a:solidFill>
                <a:srgbClr val="1A2A3A"/>
              </a:solidFill>
              <a:latin typeface="Calibri"/>
              <a:ea typeface="STHeiti Medium"/>
            </a:endParaRP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增值潜力可观</a:t>
            </a:r>
            <a:endParaRPr sz="1000" b="0">
              <a:solidFill>
                <a:srgbClr val="1A2A3A"/>
              </a:solidFill>
              <a:latin typeface="Calibri"/>
              <a:ea typeface="STHeiti Medium"/>
            </a:endParaRP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Y30 约 USD 2,927,387</a:t>
            </a:r>
            <a:endParaRPr sz="1000" b="0">
              <a:solidFill>
                <a:srgbClr val="1A2A3A"/>
              </a:solidFill>
              <a:latin typeface="Calibri"/>
              <a:ea typeface="STHeiti Medium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31520" y="5897880"/>
            <a:ext cx="512064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2200" b="1">
                <a:solidFill>
                  <a:srgbClr val="0D1B2A"/>
                </a:solidFill>
                <a:latin typeface="Calibri"/>
                <a:ea typeface="STHeiti Medium"/>
              </a:rPr>
              <a:t>5.85x</a:t>
            </a:r>
            <a:endParaRPr sz="2200" b="1">
              <a:solidFill>
                <a:srgbClr val="0D1B2A"/>
              </a:solidFill>
              <a:latin typeface="Calibri"/>
              <a:ea typeface="STHeiti Medium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31520" y="6172200"/>
            <a:ext cx="5120640" cy="18288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30 年倍数</a:t>
            </a:r>
            <a:endParaRPr sz="900" b="0">
              <a:solidFill>
                <a:srgbClr val="4A5A6A"/>
              </a:solidFill>
              <a:latin typeface="Calibri"/>
              <a:ea typeface="STHeiti Medium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57200" y="6446520"/>
            <a:ext cx="1143000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注：倍数基于不退保情形下「退保发还金额总额」÷「已缴保费总额」计算</a:t>
            </a:r>
            <a:endParaRPr sz="800" b="0">
              <a:solidFill>
                <a:srgbClr val="4A5A6A"/>
              </a:solidFill>
              <a:latin typeface="Calibri"/>
              <a:ea typeface="STHeiti Medium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57200" y="6675120"/>
            <a:ext cx="11430000" cy="18288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数据来源：保险公司官方计划书 第3部分</a:t>
            </a:r>
            <a:endParaRPr sz="800" b="0">
              <a:solidFill>
                <a:srgbClr val="4A5A6A"/>
              </a:solidFill>
              <a:latin typeface="Calibri"/>
              <a:ea typeface="STHeiti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rand-corner-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31520" cy="457200"/>
          </a:xfrm>
          <a:prstGeom prst="rect">
            <a:avLst/>
          </a:prstGeom>
        </p:spPr>
      </p:pic>
      <p:pic>
        <p:nvPicPr>
          <p:cNvPr id="5" name="Picture 4" descr="brand-corner-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0"/>
            <a:ext cx="73152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AIA  |  友邦保险</a:t>
            </a:r>
            <a:endParaRPr sz="2000" b="1">
              <a:solidFill>
                <a:srgbClr val="0D1B2A"/>
              </a:solidFill>
              <a:latin typeface="Calibri"/>
              <a:ea typeface="STHeiti Medium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04 / 12</a:t>
            </a:r>
            <a:endParaRPr sz="900" b="0">
              <a:solidFill>
                <a:srgbClr val="4A5A6A"/>
              </a:solidFill>
              <a:latin typeface="Calibri"/>
              <a:ea typeface="STHeiti Medium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现金价值长期复利增长（不提领）</a:t>
            </a:r>
            <a:endParaRPr sz="3600" b="1">
              <a:solidFill>
                <a:srgbClr val="0D1B2A"/>
              </a:solidFill>
              <a:latin typeface="Calibri"/>
              <a:ea typeface="STHeiti Medium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保证 + 非保证现金价值 · 演示至保单年度 80 年（受保人 80 岁）</a:t>
            </a:r>
            <a:endParaRPr sz="1400" b="0">
              <a:solidFill>
                <a:srgbClr val="4A5A6A"/>
              </a:solidFill>
              <a:latin typeface="Calibri"/>
              <a:ea typeface="STHeiti Medium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274320" y="1691640"/>
          <a:ext cx="548640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6035040" y="1691640"/>
          <a:ext cx="548640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3" name="Rectangle 12"/>
          <p:cNvSpPr/>
          <p:nvPr/>
        </p:nvSpPr>
        <p:spPr>
          <a:xfrm>
            <a:off x="274320" y="6172200"/>
            <a:ext cx="27432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6172200"/>
            <a:ext cx="54864" cy="502920"/>
          </a:xfrm>
          <a:prstGeom prst="rect">
            <a:avLst/>
          </a:prstGeom>
          <a:solidFill>
            <a:srgbClr val="07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6199632"/>
            <a:ext cx="731520" cy="2286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900" b="1">
                <a:solidFill>
                  <a:srgbClr val="0D1B2A"/>
                </a:solidFill>
                <a:latin typeface="Calibri"/>
                <a:ea typeface="STHeiti Medium"/>
              </a:rPr>
              <a:t>20年</a:t>
            </a:r>
            <a:endParaRPr sz="900" b="1">
              <a:solidFill>
                <a:srgbClr val="0D1B2A"/>
              </a:solidFill>
              <a:latin typeface="Calibri"/>
              <a:ea typeface="STHeiti Medium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51560" y="6199632"/>
            <a:ext cx="914400" cy="2286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200" b="1">
                <a:solidFill>
                  <a:srgbClr val="070F1A"/>
                </a:solidFill>
                <a:latin typeface="Calibri"/>
                <a:ea typeface="STHeiti Medium"/>
              </a:rPr>
              <a:t>x2.72</a:t>
            </a:r>
            <a:endParaRPr sz="1200" b="1">
              <a:solidFill>
                <a:srgbClr val="070F1A"/>
              </a:solidFill>
              <a:latin typeface="Calibri"/>
              <a:ea typeface="STHeiti Medium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65760" y="6382512"/>
            <a:ext cx="2606040" cy="18288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USD 1,357,738</a:t>
            </a:r>
            <a:endParaRPr sz="700" b="0">
              <a:solidFill>
                <a:srgbClr val="4A5A6A"/>
              </a:solidFill>
              <a:latin typeface="Calibri"/>
              <a:ea typeface="STHeiti Medium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200400" y="6172200"/>
            <a:ext cx="27432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0" y="6172200"/>
            <a:ext cx="54864" cy="502920"/>
          </a:xfrm>
          <a:prstGeom prst="rect">
            <a:avLst/>
          </a:prstGeom>
          <a:solidFill>
            <a:srgbClr val="07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91840" y="6199632"/>
            <a:ext cx="731520" cy="2286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900" b="1">
                <a:solidFill>
                  <a:srgbClr val="0D1B2A"/>
                </a:solidFill>
                <a:latin typeface="Calibri"/>
                <a:ea typeface="STHeiti Medium"/>
              </a:rPr>
              <a:t>30年</a:t>
            </a:r>
            <a:endParaRPr sz="900" b="1">
              <a:solidFill>
                <a:srgbClr val="0D1B2A"/>
              </a:solidFill>
              <a:latin typeface="Calibri"/>
              <a:ea typeface="STHeiti Medium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977640" y="6199632"/>
            <a:ext cx="914400" cy="2286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200" b="1">
                <a:solidFill>
                  <a:srgbClr val="070F1A"/>
                </a:solidFill>
                <a:latin typeface="Calibri"/>
                <a:ea typeface="STHeiti Medium"/>
              </a:rPr>
              <a:t>x5.85</a:t>
            </a:r>
            <a:endParaRPr sz="1200" b="1">
              <a:solidFill>
                <a:srgbClr val="070F1A"/>
              </a:solidFill>
              <a:latin typeface="Calibri"/>
              <a:ea typeface="STHeiti Medium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291840" y="6382512"/>
            <a:ext cx="2606040" cy="18288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USD 2,927,387</a:t>
            </a:r>
            <a:endParaRPr sz="700" b="0">
              <a:solidFill>
                <a:srgbClr val="4A5A6A"/>
              </a:solidFill>
              <a:latin typeface="Calibri"/>
              <a:ea typeface="STHeiti Medium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126480" y="6172200"/>
            <a:ext cx="27432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26480" y="6172200"/>
            <a:ext cx="54864" cy="502920"/>
          </a:xfrm>
          <a:prstGeom prst="rect">
            <a:avLst/>
          </a:prstGeom>
          <a:solidFill>
            <a:srgbClr val="8A6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0" y="6199632"/>
            <a:ext cx="731520" cy="2286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900" b="1">
                <a:solidFill>
                  <a:srgbClr val="0D1B2A"/>
                </a:solidFill>
                <a:latin typeface="Calibri"/>
                <a:ea typeface="STHeiti Medium"/>
              </a:rPr>
              <a:t>70年</a:t>
            </a:r>
            <a:endParaRPr sz="900" b="1">
              <a:solidFill>
                <a:srgbClr val="0D1B2A"/>
              </a:solidFill>
              <a:latin typeface="Calibri"/>
              <a:ea typeface="STHeiti Medium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903720" y="6199632"/>
            <a:ext cx="914400" cy="2286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200" b="1">
                <a:solidFill>
                  <a:srgbClr val="8A6A2A"/>
                </a:solidFill>
                <a:latin typeface="Calibri"/>
                <a:ea typeface="STHeiti Medium"/>
              </a:rPr>
              <a:t>x73</a:t>
            </a:r>
            <a:endParaRPr sz="1200" b="1">
              <a:solidFill>
                <a:srgbClr val="8A6A2A"/>
              </a:solidFill>
              <a:latin typeface="Calibri"/>
              <a:ea typeface="STHeiti Medium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217920" y="6382512"/>
            <a:ext cx="2606040" cy="18288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USD 36,346,662</a:t>
            </a:r>
            <a:endParaRPr sz="700" b="0">
              <a:solidFill>
                <a:srgbClr val="4A5A6A"/>
              </a:solidFill>
              <a:latin typeface="Calibri"/>
              <a:ea typeface="STHeiti Medium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74320" y="6720840"/>
            <a:ext cx="11430000" cy="18288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数据来源：友邦保险官方计划书 第3部分</a:t>
            </a:r>
            <a:endParaRPr sz="700" b="0">
              <a:solidFill>
                <a:srgbClr val="4A5A6A"/>
              </a:solidFill>
              <a:latin typeface="Calibri"/>
              <a:ea typeface="STHeiti Medi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rand-corner-lef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31520" cy="457200"/>
          </a:xfrm>
          <a:prstGeom prst="rect">
            <a:avLst/>
          </a:prstGeom>
        </p:spPr>
      </p:pic>
      <p:pic>
        <p:nvPicPr>
          <p:cNvPr id="5" name="Picture 4" descr="brand-corner-r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0" y="0"/>
            <a:ext cx="73152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AIA  |  友邦保险</a:t>
            </a:r>
            <a:endParaRPr sz="2000" b="1">
              <a:solidFill>
                <a:srgbClr val="0D1B2A"/>
              </a:solidFill>
              <a:latin typeface="Calibri"/>
              <a:ea typeface="STHeiti Medium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05 / 12</a:t>
            </a:r>
            <a:endParaRPr sz="900" b="0">
              <a:solidFill>
                <a:srgbClr val="4A5A6A"/>
              </a:solidFill>
              <a:latin typeface="Calibri"/>
              <a:ea typeface="STHeiti Medium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不提领情形 · 退保发还金额明细</a:t>
            </a:r>
            <a:endParaRPr sz="3600" b="1">
              <a:solidFill>
                <a:srgbClr val="0D1B2A"/>
              </a:solidFill>
              <a:latin typeface="Calibri"/>
              <a:ea typeface="STHeiti Medium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至保单年度 99 · 40年前每5年/后每10年 · 含 IRR</a:t>
            </a:r>
            <a:endParaRPr sz="1400" b="0">
              <a:solidFill>
                <a:srgbClr val="4A5A6A"/>
              </a:solidFill>
              <a:latin typeface="Calibri"/>
              <a:ea typeface="STHeiti Medium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783080"/>
          <a:ext cx="11277290" cy="5111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5669"/>
                <a:gridCol w="805521"/>
                <a:gridCol w="1495967"/>
                <a:gridCol w="1726116"/>
                <a:gridCol w="1726116"/>
                <a:gridCol w="1956265"/>
                <a:gridCol w="1265818"/>
                <a:gridCol w="1265818"/>
              </a:tblGrid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保单年度</a:t>
                      </a:r>
                      <a:endParaRPr sz="900" b="1">
                        <a:solidFill>
                          <a:srgbClr val="F8F9FB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36000" marR="36000" marT="18000" marB="18000"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年龄</a:t>
                      </a:r>
                      <a:endParaRPr sz="900" b="1">
                        <a:solidFill>
                          <a:srgbClr val="F8F9FB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36000" marR="36000" marT="18000" marB="18000"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已缴保费
(USD)</a:t>
                      </a:r>
                      <a:endParaRPr sz="900" b="1">
                        <a:solidFill>
                          <a:srgbClr val="F8F9FB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36000" marR="36000" marT="18000" marB="18000"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保证现价
(USD)</a:t>
                      </a:r>
                      <a:endParaRPr sz="900" b="1">
                        <a:solidFill>
                          <a:srgbClr val="F8F9FB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36000" marR="36000" marT="18000" marB="18000"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非保证金额
(USD)</a:t>
                      </a:r>
                      <a:endParaRPr sz="900" b="1">
                        <a:solidFill>
                          <a:srgbClr val="F8F9FB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36000" marR="36000" marT="18000" marB="18000"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退保发还总额
(USD)</a:t>
                      </a:r>
                      <a:endParaRPr sz="900" b="1">
                        <a:solidFill>
                          <a:srgbClr val="F8F9FB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36000" marR="36000" marT="18000" marB="18000"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复利 IRR</a:t>
                      </a:r>
                      <a:endParaRPr sz="900" b="1">
                        <a:solidFill>
                          <a:srgbClr val="F8F9FB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36000" marR="36000" marT="18000" marB="18000"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单利IRR</a:t>
                      </a:r>
                      <a:endParaRPr sz="900" b="1">
                        <a:solidFill>
                          <a:srgbClr val="F8F9FB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36000" marR="36000" marT="18000" marB="18000">
                    <a:solidFill>
                      <a:srgbClr val="0D1B2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</a:t>
                      </a:r>
                      <a:endParaRPr sz="900" b="1">
                        <a:solidFill>
                          <a:srgbClr val="0D1B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36000" marR="36000"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</a:t>
                      </a:r>
                      <a:endParaRPr sz="900" b="1">
                        <a:solidFill>
                          <a:srgbClr val="0D1B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36000" marR="36000"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100,000</a:t>
                      </a:r>
                      <a:endParaRPr sz="900" b="0">
                        <a:solidFill>
                          <a:srgbClr val="1A2A3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36000" marR="36000"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103</a:t>
                      </a:r>
                      <a:endParaRPr sz="900" b="0">
                        <a:solidFill>
                          <a:srgbClr val="0D1B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36000" marR="36000"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0</a:t>
                      </a:r>
                      <a:endParaRPr sz="900" b="0">
                        <a:solidFill>
                          <a:srgbClr val="8A6A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36000" marR="36000"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103</a:t>
                      </a:r>
                      <a:endParaRPr sz="900" b="1">
                        <a:solidFill>
                          <a:srgbClr val="0D1B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36000" marR="36000"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-</a:t>
                      </a:r>
                      <a:endParaRPr sz="900" b="1">
                        <a:solidFill>
                          <a:srgbClr val="0D1B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36000" marR="36000"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-99.98%</a:t>
                      </a:r>
                      <a:endParaRPr sz="900" b="0">
                        <a:solidFill>
                          <a:srgbClr val="4A5A6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36000" marR="36000" marT="12000" marB="12000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</a:t>
                      </a:r>
                      <a:endParaRPr sz="900" b="1">
                        <a:solidFill>
                          <a:srgbClr val="0D1B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36000" marR="36000" marT="12000" marB="1200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</a:t>
                      </a:r>
                      <a:endParaRPr sz="900" b="1">
                        <a:solidFill>
                          <a:srgbClr val="0D1B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36000" marR="36000" marT="12000" marB="1200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  <a:endParaRPr sz="900" b="0">
                        <a:solidFill>
                          <a:srgbClr val="1A2A3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36000" marR="36000" marT="12000" marB="1200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141,830</a:t>
                      </a:r>
                      <a:endParaRPr sz="900" b="0">
                        <a:solidFill>
                          <a:srgbClr val="0D1B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36000" marR="36000" marT="12000" marB="1200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93,802</a:t>
                      </a:r>
                      <a:endParaRPr sz="900" b="0">
                        <a:solidFill>
                          <a:srgbClr val="8A6A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36000" marR="36000" marT="12000" marB="1200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235,632</a:t>
                      </a:r>
                      <a:endParaRPr sz="900" b="1">
                        <a:solidFill>
                          <a:srgbClr val="0D1B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36000" marR="36000" marT="12000" marB="1200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-</a:t>
                      </a:r>
                      <a:endParaRPr sz="900" b="1">
                        <a:solidFill>
                          <a:srgbClr val="0D1B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36000" marR="36000" marT="12000" marB="1200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-10.57%</a:t>
                      </a:r>
                      <a:endParaRPr sz="900" b="0">
                        <a:solidFill>
                          <a:srgbClr val="4A5A6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36000" marR="36000" marT="12000" marB="12000"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</a:t>
                      </a:r>
                      <a:endParaRPr sz="900" b="1">
                        <a:solidFill>
                          <a:srgbClr val="0D1B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36000" marR="36000"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</a:t>
                      </a:r>
                      <a:endParaRPr sz="900" b="1">
                        <a:solidFill>
                          <a:srgbClr val="0D1B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36000" marR="36000"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  <a:endParaRPr sz="900" b="0">
                        <a:solidFill>
                          <a:srgbClr val="1A2A3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36000" marR="36000"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315,519</a:t>
                      </a:r>
                      <a:endParaRPr sz="900" b="0">
                        <a:solidFill>
                          <a:srgbClr val="0D1B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36000" marR="36000"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344,246</a:t>
                      </a:r>
                      <a:endParaRPr sz="900" b="0">
                        <a:solidFill>
                          <a:srgbClr val="8A6A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36000" marR="36000"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659,765</a:t>
                      </a:r>
                      <a:endParaRPr sz="900" b="1">
                        <a:solidFill>
                          <a:srgbClr val="0D1B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36000" marR="36000"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2.81%</a:t>
                      </a:r>
                      <a:endParaRPr sz="900" b="1">
                        <a:solidFill>
                          <a:srgbClr val="0D1B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36000" marR="36000"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3.20%</a:t>
                      </a:r>
                      <a:endParaRPr sz="900" b="0">
                        <a:solidFill>
                          <a:srgbClr val="4A5A6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36000" marR="36000" marT="12000" marB="12000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15</a:t>
                      </a:r>
                      <a:endParaRPr sz="900" b="1">
                        <a:solidFill>
                          <a:srgbClr val="0D1B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36000" marR="36000" marT="12000" marB="1200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15</a:t>
                      </a:r>
                      <a:endParaRPr sz="900" b="1">
                        <a:solidFill>
                          <a:srgbClr val="0D1B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36000" marR="36000" marT="12000" marB="1200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  <a:endParaRPr sz="900" b="0">
                        <a:solidFill>
                          <a:srgbClr val="1A2A3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36000" marR="36000" marT="12000" marB="1200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365,879</a:t>
                      </a:r>
                      <a:endParaRPr sz="900" b="0">
                        <a:solidFill>
                          <a:srgbClr val="0D1B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36000" marR="36000" marT="12000" marB="1200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567,401</a:t>
                      </a:r>
                      <a:endParaRPr sz="900" b="0">
                        <a:solidFill>
                          <a:srgbClr val="8A6A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36000" marR="36000" marT="12000" marB="1200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933,280</a:t>
                      </a:r>
                      <a:endParaRPr sz="900" b="1">
                        <a:solidFill>
                          <a:srgbClr val="0D1B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36000" marR="36000" marT="12000" marB="1200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4.25%</a:t>
                      </a:r>
                      <a:endParaRPr sz="900" b="1">
                        <a:solidFill>
                          <a:srgbClr val="0D1B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36000" marR="36000" marT="12000" marB="1200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5.78%</a:t>
                      </a:r>
                      <a:endParaRPr sz="900" b="0">
                        <a:solidFill>
                          <a:srgbClr val="4A5A6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36000" marR="36000" marT="12000" marB="12000"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20</a:t>
                      </a:r>
                      <a:endParaRPr sz="900" b="1">
                        <a:solidFill>
                          <a:srgbClr val="0D1B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36000" marR="36000"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20</a:t>
                      </a:r>
                      <a:endParaRPr sz="900" b="1">
                        <a:solidFill>
                          <a:srgbClr val="0D1B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36000" marR="36000"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  <a:endParaRPr sz="900" b="0">
                        <a:solidFill>
                          <a:srgbClr val="1A2A3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36000" marR="36000"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507,709</a:t>
                      </a:r>
                      <a:endParaRPr sz="900" b="0">
                        <a:solidFill>
                          <a:srgbClr val="0D1B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36000" marR="36000"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850,029</a:t>
                      </a:r>
                      <a:endParaRPr sz="900" b="0">
                        <a:solidFill>
                          <a:srgbClr val="8A6A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36000" marR="36000"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1,357,738</a:t>
                      </a:r>
                      <a:endParaRPr sz="900" b="1">
                        <a:solidFill>
                          <a:srgbClr val="0D1B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36000" marR="36000"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5.12%</a:t>
                      </a:r>
                      <a:endParaRPr sz="900" b="1">
                        <a:solidFill>
                          <a:srgbClr val="0D1B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36000" marR="36000"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8.58%</a:t>
                      </a:r>
                      <a:endParaRPr sz="900" b="0">
                        <a:solidFill>
                          <a:srgbClr val="4A5A6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36000" marR="36000" marT="12000" marB="12000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25</a:t>
                      </a:r>
                      <a:endParaRPr sz="900" b="1">
                        <a:solidFill>
                          <a:srgbClr val="0D1B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36000" marR="36000" marT="12000" marB="1200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25</a:t>
                      </a:r>
                      <a:endParaRPr sz="900" b="1">
                        <a:solidFill>
                          <a:srgbClr val="0D1B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36000" marR="36000" marT="12000" marB="1200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  <a:endParaRPr sz="900" b="0">
                        <a:solidFill>
                          <a:srgbClr val="1A2A3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36000" marR="36000" marT="12000" marB="1200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512,847</a:t>
                      </a:r>
                      <a:endParaRPr sz="900" b="0">
                        <a:solidFill>
                          <a:srgbClr val="0D1B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36000" marR="36000" marT="12000" marB="1200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1,549,602</a:t>
                      </a:r>
                      <a:endParaRPr sz="900" b="0">
                        <a:solidFill>
                          <a:srgbClr val="8A6A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36000" marR="36000" marT="12000" marB="1200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2,062,449</a:t>
                      </a:r>
                      <a:endParaRPr sz="900" b="1">
                        <a:solidFill>
                          <a:srgbClr val="0D1B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36000" marR="36000" marT="12000" marB="1200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5.83%</a:t>
                      </a:r>
                      <a:endParaRPr sz="900" b="1">
                        <a:solidFill>
                          <a:srgbClr val="0D1B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36000" marR="36000" marT="12000" marB="1200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12.50%</a:t>
                      </a:r>
                      <a:endParaRPr sz="900" b="0">
                        <a:solidFill>
                          <a:srgbClr val="4A5A6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36000" marR="36000" marT="12000" marB="12000"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30</a:t>
                      </a:r>
                      <a:endParaRPr sz="900" b="1">
                        <a:solidFill>
                          <a:srgbClr val="0D1B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36000" marR="36000"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30</a:t>
                      </a:r>
                      <a:endParaRPr sz="900" b="1">
                        <a:solidFill>
                          <a:srgbClr val="0D1B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36000" marR="36000"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  <a:endParaRPr sz="900" b="0">
                        <a:solidFill>
                          <a:srgbClr val="1A2A3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36000" marR="36000"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517,986</a:t>
                      </a:r>
                      <a:endParaRPr sz="900" b="0">
                        <a:solidFill>
                          <a:srgbClr val="0D1B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36000" marR="36000"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2,409,401</a:t>
                      </a:r>
                      <a:endParaRPr sz="900" b="0">
                        <a:solidFill>
                          <a:srgbClr val="8A6A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36000" marR="36000"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2,927,387</a:t>
                      </a:r>
                      <a:endParaRPr sz="900" b="1">
                        <a:solidFill>
                          <a:srgbClr val="0D1B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36000" marR="36000"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6.07%</a:t>
                      </a:r>
                      <a:endParaRPr sz="900" b="1">
                        <a:solidFill>
                          <a:srgbClr val="0D1B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36000" marR="36000"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16.18%</a:t>
                      </a:r>
                      <a:endParaRPr sz="900" b="0">
                        <a:solidFill>
                          <a:srgbClr val="4A5A6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36000" marR="36000" marT="12000" marB="12000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35</a:t>
                      </a:r>
                      <a:endParaRPr sz="900" b="1">
                        <a:solidFill>
                          <a:srgbClr val="0D1B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36000" marR="36000" marT="12000" marB="1200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35</a:t>
                      </a:r>
                      <a:endParaRPr sz="900" b="1">
                        <a:solidFill>
                          <a:srgbClr val="0D1B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36000" marR="36000" marT="12000" marB="1200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  <a:endParaRPr sz="900" b="0">
                        <a:solidFill>
                          <a:srgbClr val="1A2A3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36000" marR="36000" marT="12000" marB="1200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529,291</a:t>
                      </a:r>
                      <a:endParaRPr sz="900" b="0">
                        <a:solidFill>
                          <a:srgbClr val="0D1B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36000" marR="36000" marT="12000" marB="1200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3,481,483</a:t>
                      </a:r>
                      <a:endParaRPr sz="900" b="0">
                        <a:solidFill>
                          <a:srgbClr val="8A6A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36000" marR="36000" marT="12000" marB="1200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4,010,774</a:t>
                      </a:r>
                      <a:endParaRPr sz="900" b="1">
                        <a:solidFill>
                          <a:srgbClr val="0D1B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36000" marR="36000" marT="12000" marB="1200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6.13%</a:t>
                      </a:r>
                      <a:endParaRPr sz="900" b="1">
                        <a:solidFill>
                          <a:srgbClr val="0D1B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36000" marR="36000" marT="12000" marB="1200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20.06%</a:t>
                      </a:r>
                      <a:endParaRPr sz="900" b="0">
                        <a:solidFill>
                          <a:srgbClr val="4A5A6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36000" marR="36000" marT="12000" marB="12000"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40</a:t>
                      </a:r>
                      <a:endParaRPr sz="900" b="1">
                        <a:solidFill>
                          <a:srgbClr val="0D1B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36000" marR="36000"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40</a:t>
                      </a:r>
                      <a:endParaRPr sz="900" b="1">
                        <a:solidFill>
                          <a:srgbClr val="0D1B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36000" marR="36000"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  <a:endParaRPr sz="900" b="0">
                        <a:solidFill>
                          <a:srgbClr val="1A2A3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36000" marR="36000"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546,557</a:t>
                      </a:r>
                      <a:endParaRPr sz="900" b="0">
                        <a:solidFill>
                          <a:srgbClr val="0D1B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36000" marR="36000"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4,948,551</a:t>
                      </a:r>
                      <a:endParaRPr sz="900" b="0">
                        <a:solidFill>
                          <a:srgbClr val="8A6A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36000" marR="36000"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5,495,108</a:t>
                      </a:r>
                      <a:endParaRPr sz="900" b="1">
                        <a:solidFill>
                          <a:srgbClr val="0D1B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36000" marR="36000"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6.18%</a:t>
                      </a:r>
                      <a:endParaRPr sz="900" b="1">
                        <a:solidFill>
                          <a:srgbClr val="0D1B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36000" marR="36000"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24.98%</a:t>
                      </a:r>
                      <a:endParaRPr sz="900" b="0">
                        <a:solidFill>
                          <a:srgbClr val="4A5A6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36000" marR="36000" marT="12000" marB="12000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</a:t>
                      </a:r>
                      <a:endParaRPr sz="900" b="1">
                        <a:solidFill>
                          <a:srgbClr val="0D1B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36000" marR="36000" marT="12000" marB="1200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</a:t>
                      </a:r>
                      <a:endParaRPr sz="900" b="1">
                        <a:solidFill>
                          <a:srgbClr val="0D1B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36000" marR="36000" marT="12000" marB="1200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  <a:endParaRPr sz="900" b="0">
                        <a:solidFill>
                          <a:srgbClr val="1A2A3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36000" marR="36000" marT="12000" marB="1200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561,152</a:t>
                      </a:r>
                      <a:endParaRPr sz="900" b="0">
                        <a:solidFill>
                          <a:srgbClr val="0D1B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36000" marR="36000" marT="12000" marB="1200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9,753,922</a:t>
                      </a:r>
                      <a:endParaRPr sz="900" b="0">
                        <a:solidFill>
                          <a:srgbClr val="8A6A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36000" marR="36000" marT="12000" marB="1200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10,315,074</a:t>
                      </a:r>
                      <a:endParaRPr sz="900" b="1">
                        <a:solidFill>
                          <a:srgbClr val="0D1B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36000" marR="36000" marT="12000" marB="1200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6.24%</a:t>
                      </a:r>
                      <a:endParaRPr sz="900" b="1">
                        <a:solidFill>
                          <a:srgbClr val="0D1B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36000" marR="36000" marT="12000" marB="1200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39.26%</a:t>
                      </a:r>
                      <a:endParaRPr sz="900" b="0">
                        <a:solidFill>
                          <a:srgbClr val="4A5A6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36000" marR="36000" marT="12000" marB="12000"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60</a:t>
                      </a:r>
                      <a:endParaRPr sz="900" b="1">
                        <a:solidFill>
                          <a:srgbClr val="0D1B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36000" marR="36000"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60</a:t>
                      </a:r>
                      <a:endParaRPr sz="900" b="1">
                        <a:solidFill>
                          <a:srgbClr val="0D1B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36000" marR="36000"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  <a:endParaRPr sz="900" b="0">
                        <a:solidFill>
                          <a:srgbClr val="1A2A3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36000" marR="36000"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577,596</a:t>
                      </a:r>
                      <a:endParaRPr sz="900" b="0">
                        <a:solidFill>
                          <a:srgbClr val="0D1B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36000" marR="36000"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18,785,217</a:t>
                      </a:r>
                      <a:endParaRPr sz="900" b="0">
                        <a:solidFill>
                          <a:srgbClr val="8A6A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36000" marR="36000"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19,362,813</a:t>
                      </a:r>
                      <a:endParaRPr sz="900" b="1">
                        <a:solidFill>
                          <a:srgbClr val="0D1B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36000" marR="36000"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6.28%</a:t>
                      </a:r>
                      <a:endParaRPr sz="900" b="1">
                        <a:solidFill>
                          <a:srgbClr val="0D1B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36000" marR="36000"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62.88%</a:t>
                      </a:r>
                      <a:endParaRPr sz="900" b="0">
                        <a:solidFill>
                          <a:srgbClr val="4A5A6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36000" marR="36000" marT="12000" marB="12000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70</a:t>
                      </a:r>
                      <a:endParaRPr sz="900" b="1">
                        <a:solidFill>
                          <a:srgbClr val="0D1B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36000" marR="36000" marT="12000" marB="1200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70</a:t>
                      </a:r>
                      <a:endParaRPr sz="900" b="1">
                        <a:solidFill>
                          <a:srgbClr val="0D1B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36000" marR="36000" marT="12000" marB="1200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  <a:endParaRPr sz="900" b="0">
                        <a:solidFill>
                          <a:srgbClr val="1A2A3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36000" marR="36000" marT="12000" marB="1200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598,151</a:t>
                      </a:r>
                      <a:endParaRPr sz="900" b="0">
                        <a:solidFill>
                          <a:srgbClr val="0D1B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36000" marR="36000" marT="12000" marB="1200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35,748,511</a:t>
                      </a:r>
                      <a:endParaRPr sz="900" b="0">
                        <a:solidFill>
                          <a:srgbClr val="8A6A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36000" marR="36000" marT="12000" marB="1200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36,346,662</a:t>
                      </a:r>
                      <a:endParaRPr sz="900" b="1">
                        <a:solidFill>
                          <a:srgbClr val="0D1B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36000" marR="36000" marT="12000" marB="1200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6.31%</a:t>
                      </a:r>
                      <a:endParaRPr sz="900" b="1">
                        <a:solidFill>
                          <a:srgbClr val="0D1B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36000" marR="36000" marT="12000" marB="1200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102.42%</a:t>
                      </a:r>
                      <a:endParaRPr sz="900" b="0">
                        <a:solidFill>
                          <a:srgbClr val="4A5A6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36000" marR="36000" marT="12000" marB="12000"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80</a:t>
                      </a:r>
                      <a:endParaRPr sz="900" b="1">
                        <a:solidFill>
                          <a:srgbClr val="0D1B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36000" marR="36000"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80</a:t>
                      </a:r>
                      <a:endParaRPr sz="900" b="1">
                        <a:solidFill>
                          <a:srgbClr val="0D1B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36000" marR="36000"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  <a:endParaRPr sz="900" b="0">
                        <a:solidFill>
                          <a:srgbClr val="1A2A3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36000" marR="36000"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623,844</a:t>
                      </a:r>
                      <a:endParaRPr sz="900" b="0">
                        <a:solidFill>
                          <a:srgbClr val="0D1B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36000" marR="36000"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67,603,838</a:t>
                      </a:r>
                      <a:endParaRPr sz="900" b="0">
                        <a:solidFill>
                          <a:srgbClr val="8A6A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36000" marR="36000"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68,227,682</a:t>
                      </a:r>
                      <a:endParaRPr sz="900" b="1">
                        <a:solidFill>
                          <a:srgbClr val="0D1B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36000" marR="36000"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6.34%</a:t>
                      </a:r>
                      <a:endParaRPr sz="900" b="1">
                        <a:solidFill>
                          <a:srgbClr val="0D1B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36000" marR="36000"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169.32%</a:t>
                      </a:r>
                      <a:endParaRPr sz="900" b="0">
                        <a:solidFill>
                          <a:srgbClr val="4A5A6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36000" marR="36000" marT="12000" marB="12000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90</a:t>
                      </a:r>
                      <a:endParaRPr sz="900" b="1">
                        <a:solidFill>
                          <a:srgbClr val="0D1B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36000" marR="36000" marT="12000" marB="1200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90</a:t>
                      </a:r>
                      <a:endParaRPr sz="900" b="1">
                        <a:solidFill>
                          <a:srgbClr val="0D1B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36000" marR="36000" marT="12000" marB="1200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  <a:endParaRPr sz="900" b="0">
                        <a:solidFill>
                          <a:srgbClr val="1A2A3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36000" marR="36000" marT="12000" marB="1200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650,566</a:t>
                      </a:r>
                      <a:endParaRPr sz="900" b="0">
                        <a:solidFill>
                          <a:srgbClr val="0D1B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36000" marR="36000" marT="12000" marB="1200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127,422,172</a:t>
                      </a:r>
                      <a:endParaRPr sz="900" b="0">
                        <a:solidFill>
                          <a:srgbClr val="8A6A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36000" marR="36000" marT="12000" marB="1200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128,072,738</a:t>
                      </a:r>
                      <a:endParaRPr sz="900" b="1">
                        <a:solidFill>
                          <a:srgbClr val="0D1B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36000" marR="36000" marT="12000" marB="1200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6.36%</a:t>
                      </a:r>
                      <a:endParaRPr sz="900" b="1">
                        <a:solidFill>
                          <a:srgbClr val="0D1B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36000" marR="36000" marT="12000" marB="1200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283.49%</a:t>
                      </a:r>
                      <a:endParaRPr sz="900" b="0">
                        <a:solidFill>
                          <a:srgbClr val="4A5A6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36000" marR="36000" marT="12000" marB="12000">
                    <a:solidFill>
                      <a:srgbClr val="F8F9FB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457200" y="5669280"/>
            <a:ext cx="11277295" cy="77724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57200" y="5669280"/>
            <a:ext cx="73152" cy="7772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5715000"/>
            <a:ext cx="457200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数据口径说明</a:t>
            </a:r>
            <a:endParaRPr sz="1100" b="1">
              <a:solidFill>
                <a:srgbClr val="0D1B2A"/>
              </a:solidFill>
              <a:latin typeface="Calibri"/>
              <a:ea typeface="STHeiti Medium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0080" y="5989320"/>
            <a:ext cx="10972800" cy="2286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· 已缴保费：5年×计划 = USD 500,000    · 复利IRR = (总额/保费)^(1/年数) - 1    · 单利IRR = (总额-保费)/保费/年数</a:t>
            </a:r>
            <a:endParaRPr sz="900" b="0">
              <a:solidFill>
                <a:srgbClr val="1A2A3A"/>
              </a:solidFill>
              <a:latin typeface="Calibri"/>
              <a:ea typeface="STHeiti Medium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0080" y="6217920"/>
            <a:ext cx="10972800" cy="2286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· 非保证金额含复归红利+终期分红    · 演示至保单80年；计划保障至128岁</a:t>
            </a:r>
            <a:endParaRPr sz="900" b="0">
              <a:solidFill>
                <a:srgbClr val="1A2A3A"/>
              </a:solidFill>
              <a:latin typeface="Calibri"/>
              <a:ea typeface="STHeiti Medium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57200" y="6565392"/>
            <a:ext cx="11430000" cy="2286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数据来源：友邦保险官方计划书 第3部分</a:t>
            </a:r>
            <a:endParaRPr sz="800" b="0">
              <a:solidFill>
                <a:srgbClr val="4A5A6A"/>
              </a:solidFill>
              <a:latin typeface="Calibri"/>
              <a:ea typeface="STHeiti Mediu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rand-corner-lef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31520" cy="457200"/>
          </a:xfrm>
          <a:prstGeom prst="rect">
            <a:avLst/>
          </a:prstGeom>
        </p:spPr>
      </p:pic>
      <p:pic>
        <p:nvPicPr>
          <p:cNvPr id="5" name="Picture 4" descr="brand-corner-r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0" y="0"/>
            <a:ext cx="73152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AIA  |  友邦保险</a:t>
            </a:r>
            <a:endParaRPr sz="2000" b="1">
              <a:solidFill>
                <a:srgbClr val="0D1B2A"/>
              </a:solidFill>
              <a:latin typeface="Calibri"/>
              <a:ea typeface="STHeiti Medium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06 / 12</a:t>
            </a:r>
            <a:endParaRPr sz="900" b="0">
              <a:solidFill>
                <a:srgbClr val="4A5A6A"/>
              </a:solidFill>
              <a:latin typeface="Calibri"/>
              <a:ea typeface="STHeiti Medium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提领方案 · 退保发还金额及累计提取</a:t>
            </a:r>
            <a:endParaRPr sz="3600" b="1">
              <a:solidFill>
                <a:srgbClr val="0D1B2A"/>
              </a:solidFill>
              <a:latin typeface="Calibri"/>
              <a:ea typeface="STHeiti Medium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保单年度 6（6 岁）起 · 每年提取 USD 35,000 · 含 IRR</a:t>
            </a:r>
            <a:endParaRPr sz="1400" b="0">
              <a:solidFill>
                <a:srgbClr val="4A5A6A"/>
              </a:solidFill>
              <a:latin typeface="Calibri"/>
              <a:ea typeface="STHeiti Medium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1737360"/>
          <a:ext cx="11429995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7846"/>
                <a:gridCol w="762000"/>
                <a:gridCol w="1348153"/>
                <a:gridCol w="1172307"/>
                <a:gridCol w="1406769"/>
                <a:gridCol w="1641230"/>
                <a:gridCol w="1817076"/>
                <a:gridCol w="1172307"/>
                <a:gridCol w="1172307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保单
年度</a:t>
                      </a:r>
                      <a:endParaRPr sz="850" b="1">
                        <a:solidFill>
                          <a:srgbClr val="F8F9FB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18000" marR="18000" marT="12000" marB="12000"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年龄</a:t>
                      </a:r>
                      <a:endParaRPr sz="850" b="1">
                        <a:solidFill>
                          <a:srgbClr val="F8F9FB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18000" marR="18000" marT="12000" marB="12000"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已缴保费</a:t>
                      </a:r>
                      <a:endParaRPr sz="850" b="1">
                        <a:solidFill>
                          <a:srgbClr val="F8F9FB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18000" marR="18000" marT="12000" marB="12000"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年提取</a:t>
                      </a:r>
                      <a:endParaRPr sz="850" b="1">
                        <a:solidFill>
                          <a:srgbClr val="F8F9FB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18000" marR="18000" marT="12000" marB="12000"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累计提取</a:t>
                      </a:r>
                      <a:endParaRPr sz="850" b="1">
                        <a:solidFill>
                          <a:srgbClr val="F8F9FB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18000" marR="18000" marT="12000" marB="12000"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退保发还总额
(B+C+D)</a:t>
                      </a:r>
                      <a:endParaRPr sz="850" b="1">
                        <a:solidFill>
                          <a:srgbClr val="F8F9FB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18000" marR="18000" marT="12000" marB="12000"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累计已领+
退保现价</a:t>
                      </a:r>
                      <a:endParaRPr sz="850" b="1">
                        <a:solidFill>
                          <a:srgbClr val="F8F9FB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18000" marR="18000" marT="12000" marB="12000"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复利
IRR</a:t>
                      </a:r>
                      <a:endParaRPr sz="850" b="1">
                        <a:solidFill>
                          <a:srgbClr val="F8F9FB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18000" marR="18000" marT="12000" marB="12000"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单利
IRR</a:t>
                      </a:r>
                      <a:endParaRPr sz="850" b="1">
                        <a:solidFill>
                          <a:srgbClr val="F8F9FB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18000" marR="18000" marT="12000" marB="12000">
                    <a:solidFill>
                      <a:srgbClr val="0D1B2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</a:t>
                      </a:r>
                      <a:endParaRPr sz="800" b="1">
                        <a:solidFill>
                          <a:srgbClr val="0D1B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12000" marR="12000" marT="6000" marB="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</a:t>
                      </a:r>
                      <a:endParaRPr sz="800" b="1">
                        <a:solidFill>
                          <a:srgbClr val="0D1B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12000" marR="12000" marT="6000" marB="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  <a:endParaRPr sz="800" b="0">
                        <a:solidFill>
                          <a:srgbClr val="1A2A3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12000" marR="12000" marT="6000" marB="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0</a:t>
                      </a:r>
                      <a:endParaRPr sz="800" b="0">
                        <a:solidFill>
                          <a:srgbClr val="070F1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12000" marR="12000" marT="6000" marB="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0</a:t>
                      </a:r>
                      <a:endParaRPr sz="800" b="1">
                        <a:solidFill>
                          <a:srgbClr val="070F1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12000" marR="12000" marT="6000" marB="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235,632</a:t>
                      </a:r>
                      <a:endParaRPr sz="800" b="1">
                        <a:solidFill>
                          <a:srgbClr val="0D1B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12000" marR="12000" marT="6000" marB="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235,632</a:t>
                      </a:r>
                      <a:endParaRPr sz="800" b="1">
                        <a:solidFill>
                          <a:srgbClr val="8A6A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12000" marR="12000" marT="6000" marB="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-</a:t>
                      </a:r>
                      <a:endParaRPr sz="800" b="1">
                        <a:solidFill>
                          <a:srgbClr val="0D1B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12000" marR="12000" marT="6000" marB="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-10.57%</a:t>
                      </a:r>
                      <a:endParaRPr sz="800" b="0">
                        <a:solidFill>
                          <a:srgbClr val="4A5A6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12000" marR="12000" marT="6000" marB="6000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</a:t>
                      </a:r>
                      <a:endParaRPr sz="800" b="1">
                        <a:solidFill>
                          <a:srgbClr val="0D1B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12000" marR="12000" marT="6000" marB="600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</a:t>
                      </a:r>
                      <a:endParaRPr sz="800" b="1">
                        <a:solidFill>
                          <a:srgbClr val="0D1B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12000" marR="12000" marT="6000" marB="600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  <a:endParaRPr sz="800" b="0">
                        <a:solidFill>
                          <a:srgbClr val="1A2A3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12000" marR="12000" marT="6000" marB="600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  <a:endParaRPr sz="800" b="0">
                        <a:solidFill>
                          <a:srgbClr val="070F1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12000" marR="12000" marT="6000" marB="600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  <a:endParaRPr sz="800" b="1">
                        <a:solidFill>
                          <a:srgbClr val="070F1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12000" marR="12000" marT="6000" marB="600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405,900</a:t>
                      </a:r>
                      <a:endParaRPr sz="800" b="1">
                        <a:solidFill>
                          <a:srgbClr val="0D1B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12000" marR="12000" marT="6000" marB="600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440,900</a:t>
                      </a:r>
                      <a:endParaRPr sz="800" b="1">
                        <a:solidFill>
                          <a:srgbClr val="8A6A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12000" marR="12000" marT="6000" marB="600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-</a:t>
                      </a:r>
                      <a:endParaRPr sz="800" b="1">
                        <a:solidFill>
                          <a:srgbClr val="0D1B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12000" marR="12000" marT="6000" marB="600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-1.97%</a:t>
                      </a:r>
                      <a:endParaRPr sz="800" b="0">
                        <a:solidFill>
                          <a:srgbClr val="4A5A6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12000" marR="12000" marT="6000" marB="6000"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</a:t>
                      </a:r>
                      <a:endParaRPr sz="800" b="1">
                        <a:solidFill>
                          <a:srgbClr val="0D1B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12000" marR="12000" marT="6000" marB="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</a:t>
                      </a:r>
                      <a:endParaRPr sz="800" b="1">
                        <a:solidFill>
                          <a:srgbClr val="0D1B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12000" marR="12000" marT="6000" marB="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403,372</a:t>
                      </a:r>
                      <a:endParaRPr sz="800" b="0">
                        <a:solidFill>
                          <a:srgbClr val="1A2A3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12000" marR="12000" marT="6000" marB="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  <a:endParaRPr sz="800" b="0">
                        <a:solidFill>
                          <a:srgbClr val="070F1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12000" marR="12000" marT="6000" marB="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175,000</a:t>
                      </a:r>
                      <a:endParaRPr sz="800" b="1">
                        <a:solidFill>
                          <a:srgbClr val="070F1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12000" marR="12000" marT="6000" marB="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467,019</a:t>
                      </a:r>
                      <a:endParaRPr sz="800" b="1">
                        <a:solidFill>
                          <a:srgbClr val="0D1B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12000" marR="12000" marT="6000" marB="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642,019</a:t>
                      </a:r>
                      <a:endParaRPr sz="800" b="1">
                        <a:solidFill>
                          <a:srgbClr val="8A6A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12000" marR="12000" marT="6000" marB="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2.53%</a:t>
                      </a:r>
                      <a:endParaRPr sz="800" b="1">
                        <a:solidFill>
                          <a:srgbClr val="0D1B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12000" marR="12000" marT="6000" marB="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2.84%</a:t>
                      </a:r>
                      <a:endParaRPr sz="800" b="0">
                        <a:solidFill>
                          <a:srgbClr val="4A5A6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12000" marR="12000" marT="6000" marB="6000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15</a:t>
                      </a:r>
                      <a:endParaRPr sz="800" b="1">
                        <a:solidFill>
                          <a:srgbClr val="0D1B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12000" marR="12000" marT="6000" marB="600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15</a:t>
                      </a:r>
                      <a:endParaRPr sz="800" b="1">
                        <a:solidFill>
                          <a:srgbClr val="0D1B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12000" marR="12000" marT="6000" marB="600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281,920</a:t>
                      </a:r>
                      <a:endParaRPr sz="800" b="0">
                        <a:solidFill>
                          <a:srgbClr val="1A2A3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12000" marR="12000" marT="6000" marB="600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  <a:endParaRPr sz="800" b="0">
                        <a:solidFill>
                          <a:srgbClr val="070F1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12000" marR="12000" marT="6000" marB="600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350,000</a:t>
                      </a:r>
                      <a:endParaRPr sz="800" b="1">
                        <a:solidFill>
                          <a:srgbClr val="070F1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12000" marR="12000" marT="6000" marB="600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465,053</a:t>
                      </a:r>
                      <a:endParaRPr sz="800" b="1">
                        <a:solidFill>
                          <a:srgbClr val="0D1B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12000" marR="12000" marT="6000" marB="600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815,053</a:t>
                      </a:r>
                      <a:endParaRPr sz="800" b="1">
                        <a:solidFill>
                          <a:srgbClr val="8A6A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12000" marR="12000" marT="6000" marB="600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3.31%</a:t>
                      </a:r>
                      <a:endParaRPr sz="800" b="1">
                        <a:solidFill>
                          <a:srgbClr val="0D1B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12000" marR="12000" marT="6000" marB="600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4.20%</a:t>
                      </a:r>
                      <a:endParaRPr sz="800" b="0">
                        <a:solidFill>
                          <a:srgbClr val="4A5A6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12000" marR="12000" marT="6000" marB="6000"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20</a:t>
                      </a:r>
                      <a:endParaRPr sz="800" b="1">
                        <a:solidFill>
                          <a:srgbClr val="0D1B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12000" marR="12000" marT="6000" marB="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20</a:t>
                      </a:r>
                      <a:endParaRPr sz="800" b="1">
                        <a:solidFill>
                          <a:srgbClr val="0D1B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12000" marR="12000" marT="6000" marB="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198,678</a:t>
                      </a:r>
                      <a:endParaRPr sz="800" b="0">
                        <a:solidFill>
                          <a:srgbClr val="1A2A3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12000" marR="12000" marT="6000" marB="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  <a:endParaRPr sz="800" b="0">
                        <a:solidFill>
                          <a:srgbClr val="070F1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12000" marR="12000" marT="6000" marB="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525,000</a:t>
                      </a:r>
                      <a:endParaRPr sz="800" b="1">
                        <a:solidFill>
                          <a:srgbClr val="070F1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12000" marR="12000" marT="6000" marB="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479,749</a:t>
                      </a:r>
                      <a:endParaRPr sz="800" b="1">
                        <a:solidFill>
                          <a:srgbClr val="0D1B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12000" marR="12000" marT="6000" marB="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1,004,749</a:t>
                      </a:r>
                      <a:endParaRPr sz="800" b="1">
                        <a:solidFill>
                          <a:srgbClr val="8A6A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12000" marR="12000" marT="6000" marB="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3.55%</a:t>
                      </a:r>
                      <a:endParaRPr sz="800" b="1">
                        <a:solidFill>
                          <a:srgbClr val="0D1B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12000" marR="12000" marT="6000" marB="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5.05%</a:t>
                      </a:r>
                      <a:endParaRPr sz="800" b="0">
                        <a:solidFill>
                          <a:srgbClr val="4A5A6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12000" marR="12000" marT="6000" marB="6000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25</a:t>
                      </a:r>
                      <a:endParaRPr sz="800" b="1">
                        <a:solidFill>
                          <a:srgbClr val="0D1B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12000" marR="12000" marT="6000" marB="600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25</a:t>
                      </a:r>
                      <a:endParaRPr sz="800" b="1">
                        <a:solidFill>
                          <a:srgbClr val="0D1B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12000" marR="12000" marT="6000" marB="600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142,659</a:t>
                      </a:r>
                      <a:endParaRPr sz="800" b="0">
                        <a:solidFill>
                          <a:srgbClr val="1A2A3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12000" marR="12000" marT="6000" marB="600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  <a:endParaRPr sz="800" b="0">
                        <a:solidFill>
                          <a:srgbClr val="070F1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12000" marR="12000" marT="6000" marB="600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700,000</a:t>
                      </a:r>
                      <a:endParaRPr sz="800" b="1">
                        <a:solidFill>
                          <a:srgbClr val="070F1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12000" marR="12000" marT="6000" marB="600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521,382</a:t>
                      </a:r>
                      <a:endParaRPr sz="800" b="1">
                        <a:solidFill>
                          <a:srgbClr val="0D1B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12000" marR="12000" marT="6000" marB="600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1,221,382</a:t>
                      </a:r>
                      <a:endParaRPr sz="800" b="1">
                        <a:solidFill>
                          <a:srgbClr val="8A6A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12000" marR="12000" marT="6000" marB="600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3.64%</a:t>
                      </a:r>
                      <a:endParaRPr sz="800" b="1">
                        <a:solidFill>
                          <a:srgbClr val="0D1B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12000" marR="12000" marT="6000" marB="600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5.77%</a:t>
                      </a:r>
                      <a:endParaRPr sz="800" b="0">
                        <a:solidFill>
                          <a:srgbClr val="4A5A6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12000" marR="12000" marT="6000" marB="6000"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30</a:t>
                      </a:r>
                      <a:endParaRPr sz="800" b="1">
                        <a:solidFill>
                          <a:srgbClr val="0D1B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12000" marR="12000" marT="6000" marB="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30</a:t>
                      </a:r>
                      <a:endParaRPr sz="800" b="1">
                        <a:solidFill>
                          <a:srgbClr val="0D1B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12000" marR="12000" marT="6000" marB="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104,478</a:t>
                      </a:r>
                      <a:endParaRPr sz="800" b="0">
                        <a:solidFill>
                          <a:srgbClr val="1A2A3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12000" marR="12000" marT="6000" marB="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  <a:endParaRPr sz="800" b="0">
                        <a:solidFill>
                          <a:srgbClr val="070F1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12000" marR="12000" marT="6000" marB="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875,000</a:t>
                      </a:r>
                      <a:endParaRPr sz="800" b="1">
                        <a:solidFill>
                          <a:srgbClr val="070F1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12000" marR="12000" marT="6000" marB="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544,522</a:t>
                      </a:r>
                      <a:endParaRPr sz="800" b="1">
                        <a:solidFill>
                          <a:srgbClr val="0D1B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12000" marR="12000" marT="6000" marB="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1,419,522</a:t>
                      </a:r>
                      <a:endParaRPr sz="800" b="1">
                        <a:solidFill>
                          <a:srgbClr val="8A6A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12000" marR="12000" marT="6000" marB="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3.54%</a:t>
                      </a:r>
                      <a:endParaRPr sz="800" b="1">
                        <a:solidFill>
                          <a:srgbClr val="0D1B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12000" marR="12000" marT="6000" marB="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6.13%</a:t>
                      </a:r>
                      <a:endParaRPr sz="800" b="0">
                        <a:solidFill>
                          <a:srgbClr val="4A5A6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12000" marR="12000" marT="6000" marB="6000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35</a:t>
                      </a:r>
                      <a:endParaRPr sz="800" b="1">
                        <a:solidFill>
                          <a:srgbClr val="0D1B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12000" marR="12000" marT="6000" marB="600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35</a:t>
                      </a:r>
                      <a:endParaRPr sz="800" b="1">
                        <a:solidFill>
                          <a:srgbClr val="0D1B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12000" marR="12000" marT="6000" marB="600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76,629</a:t>
                      </a:r>
                      <a:endParaRPr sz="800" b="0">
                        <a:solidFill>
                          <a:srgbClr val="1A2A3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12000" marR="12000" marT="6000" marB="600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  <a:endParaRPr sz="800" b="0">
                        <a:solidFill>
                          <a:srgbClr val="070F1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12000" marR="12000" marT="6000" marB="600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1,050,000</a:t>
                      </a:r>
                      <a:endParaRPr sz="800" b="1">
                        <a:solidFill>
                          <a:srgbClr val="070F1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12000" marR="12000" marT="6000" marB="600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542,019</a:t>
                      </a:r>
                      <a:endParaRPr sz="800" b="1">
                        <a:solidFill>
                          <a:srgbClr val="0D1B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12000" marR="12000" marT="6000" marB="600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1,592,019</a:t>
                      </a:r>
                      <a:endParaRPr sz="800" b="1">
                        <a:solidFill>
                          <a:srgbClr val="8A6A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12000" marR="12000" marT="6000" marB="600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3.36%</a:t>
                      </a:r>
                      <a:endParaRPr sz="800" b="1">
                        <a:solidFill>
                          <a:srgbClr val="0D1B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12000" marR="12000" marT="6000" marB="600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6.24%</a:t>
                      </a:r>
                      <a:endParaRPr sz="800" b="0">
                        <a:solidFill>
                          <a:srgbClr val="4A5A6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12000" marR="12000" marT="6000" marB="6000"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40</a:t>
                      </a:r>
                      <a:endParaRPr sz="800" b="1">
                        <a:solidFill>
                          <a:srgbClr val="0D1B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12000" marR="12000" marT="6000" marB="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40</a:t>
                      </a:r>
                      <a:endParaRPr sz="800" b="1">
                        <a:solidFill>
                          <a:srgbClr val="0D1B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12000" marR="12000" marT="6000" marB="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56,537</a:t>
                      </a:r>
                      <a:endParaRPr sz="800" b="0">
                        <a:solidFill>
                          <a:srgbClr val="1A2A3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12000" marR="12000" marT="6000" marB="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  <a:endParaRPr sz="800" b="0">
                        <a:solidFill>
                          <a:srgbClr val="070F1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12000" marR="12000" marT="6000" marB="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1,225,000</a:t>
                      </a:r>
                      <a:endParaRPr sz="800" b="1">
                        <a:solidFill>
                          <a:srgbClr val="070F1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12000" marR="12000" marT="6000" marB="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539,972</a:t>
                      </a:r>
                      <a:endParaRPr sz="800" b="1">
                        <a:solidFill>
                          <a:srgbClr val="0D1B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12000" marR="12000" marT="6000" marB="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1,764,972</a:t>
                      </a:r>
                      <a:endParaRPr sz="800" b="1">
                        <a:solidFill>
                          <a:srgbClr val="8A6A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12000" marR="12000" marT="6000" marB="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3.20%</a:t>
                      </a:r>
                      <a:endParaRPr sz="800" b="1">
                        <a:solidFill>
                          <a:srgbClr val="0D1B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12000" marR="12000" marT="6000" marB="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6.32%</a:t>
                      </a:r>
                      <a:endParaRPr sz="800" b="0">
                        <a:solidFill>
                          <a:srgbClr val="4A5A6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12000" marR="12000" marT="6000" marB="6000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</a:t>
                      </a:r>
                      <a:endParaRPr sz="800" b="1">
                        <a:solidFill>
                          <a:srgbClr val="0D1B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12000" marR="12000" marT="6000" marB="600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</a:t>
                      </a:r>
                      <a:endParaRPr sz="800" b="1">
                        <a:solidFill>
                          <a:srgbClr val="0D1B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12000" marR="12000" marT="6000" marB="600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32,024</a:t>
                      </a:r>
                      <a:endParaRPr sz="800" b="0">
                        <a:solidFill>
                          <a:srgbClr val="1A2A3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12000" marR="12000" marT="6000" marB="600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  <a:endParaRPr sz="800" b="0">
                        <a:solidFill>
                          <a:srgbClr val="070F1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12000" marR="12000" marT="6000" marB="600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1,575,000</a:t>
                      </a:r>
                      <a:endParaRPr sz="800" b="1">
                        <a:solidFill>
                          <a:srgbClr val="070F1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12000" marR="12000" marT="6000" marB="600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552,309</a:t>
                      </a:r>
                      <a:endParaRPr sz="800" b="1">
                        <a:solidFill>
                          <a:srgbClr val="0D1B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12000" marR="12000" marT="6000" marB="600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2,127,309</a:t>
                      </a:r>
                      <a:endParaRPr sz="800" b="1">
                        <a:solidFill>
                          <a:srgbClr val="8A6A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12000" marR="12000" marT="6000" marB="600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2.94%</a:t>
                      </a:r>
                      <a:endParaRPr sz="800" b="1">
                        <a:solidFill>
                          <a:srgbClr val="0D1B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12000" marR="12000" marT="6000" marB="600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6.51%</a:t>
                      </a:r>
                      <a:endParaRPr sz="800" b="0">
                        <a:solidFill>
                          <a:srgbClr val="4A5A6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12000" marR="12000" marT="6000" marB="6000"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60</a:t>
                      </a:r>
                      <a:endParaRPr sz="800" b="1">
                        <a:solidFill>
                          <a:srgbClr val="0D1B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12000" marR="12000" marT="6000" marB="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60</a:t>
                      </a:r>
                      <a:endParaRPr sz="800" b="1">
                        <a:solidFill>
                          <a:srgbClr val="0D1B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12000" marR="12000" marT="6000" marB="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18,305</a:t>
                      </a:r>
                      <a:endParaRPr sz="800" b="0">
                        <a:solidFill>
                          <a:srgbClr val="1A2A3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12000" marR="12000" marT="6000" marB="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  <a:endParaRPr sz="800" b="0">
                        <a:solidFill>
                          <a:srgbClr val="070F1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12000" marR="12000" marT="6000" marB="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1,925,000</a:t>
                      </a:r>
                      <a:endParaRPr sz="800" b="1">
                        <a:solidFill>
                          <a:srgbClr val="070F1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12000" marR="12000" marT="6000" marB="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568,270</a:t>
                      </a:r>
                      <a:endParaRPr sz="800" b="1">
                        <a:solidFill>
                          <a:srgbClr val="0D1B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12000" marR="12000" marT="6000" marB="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2,493,270</a:t>
                      </a:r>
                      <a:endParaRPr sz="800" b="1">
                        <a:solidFill>
                          <a:srgbClr val="8A6A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12000" marR="12000" marT="6000" marB="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2.71%</a:t>
                      </a:r>
                      <a:endParaRPr sz="800" b="1">
                        <a:solidFill>
                          <a:srgbClr val="0D1B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12000" marR="12000" marT="6000" marB="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6.64%</a:t>
                      </a:r>
                      <a:endParaRPr sz="800" b="0">
                        <a:solidFill>
                          <a:srgbClr val="4A5A6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12000" marR="12000" marT="6000" marB="6000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70</a:t>
                      </a:r>
                      <a:endParaRPr sz="800" b="1">
                        <a:solidFill>
                          <a:srgbClr val="0D1B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12000" marR="12000" marT="6000" marB="600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70</a:t>
                      </a:r>
                      <a:endParaRPr sz="800" b="1">
                        <a:solidFill>
                          <a:srgbClr val="0D1B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12000" marR="12000" marT="6000" marB="600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10,801</a:t>
                      </a:r>
                      <a:endParaRPr sz="800" b="0">
                        <a:solidFill>
                          <a:srgbClr val="1A2A3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12000" marR="12000" marT="6000" marB="600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  <a:endParaRPr sz="800" b="0">
                        <a:solidFill>
                          <a:srgbClr val="070F1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12000" marR="12000" marT="6000" marB="600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2,275,000</a:t>
                      </a:r>
                      <a:endParaRPr sz="800" b="1">
                        <a:solidFill>
                          <a:srgbClr val="070F1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12000" marR="12000" marT="6000" marB="600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597,062</a:t>
                      </a:r>
                      <a:endParaRPr sz="800" b="1">
                        <a:solidFill>
                          <a:srgbClr val="0D1B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12000" marR="12000" marT="6000" marB="600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2,872,062</a:t>
                      </a:r>
                      <a:endParaRPr sz="800" b="1">
                        <a:solidFill>
                          <a:srgbClr val="8A6A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12000" marR="12000" marT="6000" marB="600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2.53%</a:t>
                      </a:r>
                      <a:endParaRPr sz="800" b="1">
                        <a:solidFill>
                          <a:srgbClr val="0D1B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12000" marR="12000" marT="6000" marB="600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6.78%</a:t>
                      </a:r>
                      <a:endParaRPr sz="800" b="0">
                        <a:solidFill>
                          <a:srgbClr val="4A5A6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12000" marR="12000" marT="6000" marB="6000"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80</a:t>
                      </a:r>
                      <a:endParaRPr sz="800" b="1">
                        <a:solidFill>
                          <a:srgbClr val="0D1B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12000" marR="12000" marT="6000" marB="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80</a:t>
                      </a:r>
                      <a:endParaRPr sz="800" b="1">
                        <a:solidFill>
                          <a:srgbClr val="0D1B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12000" marR="12000" marT="6000" marB="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6,544</a:t>
                      </a:r>
                      <a:endParaRPr sz="800" b="0">
                        <a:solidFill>
                          <a:srgbClr val="1A2A3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12000" marR="12000" marT="6000" marB="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  <a:endParaRPr sz="800" b="0">
                        <a:solidFill>
                          <a:srgbClr val="070F1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12000" marR="12000" marT="6000" marB="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2,625,000</a:t>
                      </a:r>
                      <a:endParaRPr sz="800" b="1">
                        <a:solidFill>
                          <a:srgbClr val="070F1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12000" marR="12000" marT="6000" marB="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650,209</a:t>
                      </a:r>
                      <a:endParaRPr sz="800" b="1">
                        <a:solidFill>
                          <a:srgbClr val="0D1B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12000" marR="12000" marT="6000" marB="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3,275,209</a:t>
                      </a:r>
                      <a:endParaRPr sz="800" b="1">
                        <a:solidFill>
                          <a:srgbClr val="8A6A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12000" marR="12000" marT="6000" marB="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2.38%</a:t>
                      </a:r>
                      <a:endParaRPr sz="800" b="1">
                        <a:solidFill>
                          <a:srgbClr val="0D1B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12000" marR="12000" marT="6000" marB="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6.94%</a:t>
                      </a:r>
                      <a:endParaRPr sz="800" b="0">
                        <a:solidFill>
                          <a:srgbClr val="4A5A6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12000" marR="12000" marT="6000" marB="6000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90</a:t>
                      </a:r>
                      <a:endParaRPr sz="800" b="1">
                        <a:solidFill>
                          <a:srgbClr val="0D1B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12000" marR="12000" marT="6000" marB="600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90</a:t>
                      </a:r>
                      <a:endParaRPr sz="800" b="1">
                        <a:solidFill>
                          <a:srgbClr val="0D1B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12000" marR="12000" marT="6000" marB="600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4,199</a:t>
                      </a:r>
                      <a:endParaRPr sz="800" b="0">
                        <a:solidFill>
                          <a:srgbClr val="1A2A3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12000" marR="12000" marT="6000" marB="600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  <a:endParaRPr sz="800" b="0">
                        <a:solidFill>
                          <a:srgbClr val="070F1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12000" marR="12000" marT="6000" marB="600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2,975,000</a:t>
                      </a:r>
                      <a:endParaRPr sz="800" b="1">
                        <a:solidFill>
                          <a:srgbClr val="070F1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12000" marR="12000" marT="6000" marB="600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749,382</a:t>
                      </a:r>
                      <a:endParaRPr sz="800" b="1">
                        <a:solidFill>
                          <a:srgbClr val="0D1B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12000" marR="12000" marT="6000" marB="600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3,724,382</a:t>
                      </a:r>
                      <a:endParaRPr sz="800" b="1">
                        <a:solidFill>
                          <a:srgbClr val="8A6A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12000" marR="12000" marT="6000" marB="600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2.26%</a:t>
                      </a:r>
                      <a:endParaRPr sz="800" b="1">
                        <a:solidFill>
                          <a:srgbClr val="0D1B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12000" marR="12000" marT="6000" marB="600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7.17%</a:t>
                      </a:r>
                      <a:endParaRPr sz="800" b="0">
                        <a:solidFill>
                          <a:srgbClr val="4A5A6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12000" marR="12000" marT="6000" marB="6000"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99</a:t>
                      </a:r>
                      <a:endParaRPr sz="800" b="1">
                        <a:solidFill>
                          <a:srgbClr val="0D1B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12000" marR="12000" marT="6000" marB="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99</a:t>
                      </a:r>
                      <a:endParaRPr sz="800" b="1">
                        <a:solidFill>
                          <a:srgbClr val="0D1B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12000" marR="12000" marT="6000" marB="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500,000.4</a:t>
                      </a:r>
                      <a:endParaRPr sz="800" b="0">
                        <a:solidFill>
                          <a:srgbClr val="1A2A3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12000" marR="12000" marT="6000" marB="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  <a:endParaRPr sz="800" b="0">
                        <a:solidFill>
                          <a:srgbClr val="070F1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12000" marR="12000" marT="6000" marB="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3,290,000</a:t>
                      </a:r>
                      <a:endParaRPr sz="800" b="1">
                        <a:solidFill>
                          <a:srgbClr val="070F1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12000" marR="12000" marT="6000" marB="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0</a:t>
                      </a:r>
                      <a:endParaRPr sz="800" b="1">
                        <a:solidFill>
                          <a:srgbClr val="0D1B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12000" marR="12000" marT="6000" marB="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3,290,000</a:t>
                      </a:r>
                      <a:endParaRPr sz="800" b="1">
                        <a:solidFill>
                          <a:srgbClr val="8A6A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12000" marR="12000" marT="6000" marB="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1.92%</a:t>
                      </a:r>
                      <a:endParaRPr sz="800" b="1">
                        <a:solidFill>
                          <a:srgbClr val="0D1B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12000" marR="12000" marT="6000" marB="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5.64%</a:t>
                      </a:r>
                      <a:endParaRPr sz="800" b="0">
                        <a:solidFill>
                          <a:srgbClr val="4A5A6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12000" marR="12000" marT="6000" marB="6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365760" y="6080760"/>
            <a:ext cx="11430000" cy="50292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6080760"/>
            <a:ext cx="73152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6126480"/>
            <a:ext cx="274320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00" b="1">
                <a:solidFill>
                  <a:srgbClr val="0D1B2A"/>
                </a:solidFill>
                <a:latin typeface="Calibri"/>
                <a:ea typeface="STHeiti Medium"/>
              </a:rPr>
              <a:t>数据口径</a:t>
            </a:r>
            <a:endParaRPr sz="1000" b="1">
              <a:solidFill>
                <a:srgbClr val="0D1B2A"/>
              </a:solidFill>
              <a:latin typeface="Calibri"/>
              <a:ea typeface="STHeiti Medium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48640" y="6400800"/>
            <a:ext cx="10972800" cy="2286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· Y6 起每年提取 USD 35,000    · 累计已领+退保现价 = 年提取累计 + 期末退保发还金额    · 复利IRR = (累计+退保现价)/保费^(1/年数)-1</a:t>
            </a:r>
            <a:endParaRPr sz="850" b="0">
              <a:solidFill>
                <a:srgbClr val="1A2A3A"/>
              </a:solidFill>
              <a:latin typeface="Calibri"/>
              <a:ea typeface="STHeiti Medium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65760" y="6656832"/>
            <a:ext cx="11430000" cy="18288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数据来源：友邦保险官方计划书 第5部分（现金提取）</a:t>
            </a:r>
            <a:endParaRPr sz="800" b="0">
              <a:solidFill>
                <a:srgbClr val="4A5A6A"/>
              </a:solidFill>
              <a:latin typeface="Calibri"/>
              <a:ea typeface="STHeiti Medium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rand-corner-le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1520" cy="457200"/>
          </a:xfrm>
          <a:prstGeom prst="rect">
            <a:avLst/>
          </a:prstGeom>
        </p:spPr>
      </p:pic>
      <p:pic>
        <p:nvPicPr>
          <p:cNvPr id="5" name="Picture 4" descr="brand-corner-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0"/>
            <a:ext cx="73152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AIA  |  友邦保险</a:t>
            </a:r>
            <a:endParaRPr sz="2000" b="1">
              <a:solidFill>
                <a:srgbClr val="0D1B2A"/>
              </a:solidFill>
              <a:latin typeface="Calibri"/>
              <a:ea typeface="STHeiti Medium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07 / 12</a:t>
            </a:r>
            <a:endParaRPr sz="900" b="0">
              <a:solidFill>
                <a:srgbClr val="4A5A6A"/>
              </a:solidFill>
              <a:latin typeface="Calibri"/>
              <a:ea typeface="STHeiti Medium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不提领 vs 提领 · 总收益对比</a:t>
            </a:r>
            <a:endParaRPr sz="3600" b="1">
              <a:solidFill>
                <a:srgbClr val="0D1B2A"/>
              </a:solidFill>
              <a:latin typeface="Calibri"/>
              <a:ea typeface="STHeiti Medium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累计已领 + 期末退保现价 · 关键年限对比</a:t>
            </a:r>
            <a:endParaRPr sz="1400" b="0">
              <a:solidFill>
                <a:srgbClr val="4A5A6A"/>
              </a:solidFill>
              <a:latin typeface="Calibri"/>
              <a:ea typeface="STHeiti Medium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365760" y="1691640"/>
          <a:ext cx="68580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2" name="Rectangle 11"/>
          <p:cNvSpPr/>
          <p:nvPr/>
        </p:nvSpPr>
        <p:spPr>
          <a:xfrm>
            <a:off x="7406640" y="1737360"/>
            <a:ext cx="27432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1691640"/>
            <a:ext cx="4571999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  <a:latin typeface="Calibri"/>
                <a:ea typeface="STHeiti Medium"/>
              </a:rPr>
              <a:t>不提领 vs 提领</a:t>
            </a:r>
            <a:endParaRPr sz="1400" b="1">
              <a:solidFill>
                <a:srgbClr val="0D1B2A"/>
              </a:solidFill>
              <a:latin typeface="Calibri"/>
              <a:ea typeface="STHeiti Medium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406640" y="2286000"/>
            <a:ext cx="457200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06640" y="2286000"/>
            <a:ext cx="73152" cy="1645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0" y="2377440"/>
            <a:ext cx="4571999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  <a:latin typeface="Calibri"/>
                <a:ea typeface="STHeiti Medium"/>
              </a:rPr>
              <a:t>📈 不提领策略</a:t>
            </a:r>
            <a:endParaRPr sz="1200" b="1">
              <a:solidFill>
                <a:srgbClr val="0D1B2A"/>
              </a:solidFill>
              <a:latin typeface="Calibri"/>
              <a:ea typeface="STHeiti Medium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680960" y="2651760"/>
            <a:ext cx="4571999" cy="6934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950" b="0">
                <a:solidFill>
                  <a:srgbClr val="1A2A3A"/>
                </a:solidFill>
                <a:latin typeface="Calibri"/>
                <a:ea typeface="STHeiti Medium"/>
              </a:rPr>
              <a:t>账户价值持续滚存，享受复利增长</a:t>
            </a:r>
            <a:endParaRPr sz="950" b="0">
              <a:solidFill>
                <a:srgbClr val="1A2A3A"/>
              </a:solidFill>
              <a:latin typeface="Calibri"/>
              <a:ea typeface="STHeiti Medium"/>
            </a:endParaRPr>
          </a:p>
          <a:p>
            <a:pPr algn="l">
              <a:lnSpc>
                <a:spcPct val="150000"/>
              </a:lnSpc>
            </a:pPr>
            <a:r>
              <a:rPr sz="950" b="0">
                <a:solidFill>
                  <a:srgbClr val="1A2A3A"/>
                </a:solidFill>
                <a:latin typeface="Calibri"/>
                <a:ea typeface="STHeiti Medium"/>
              </a:rPr>
              <a:t>适合：长期财富传承需求</a:t>
            </a:r>
            <a:endParaRPr sz="950" b="0">
              <a:solidFill>
                <a:srgbClr val="1A2A3A"/>
              </a:solidFill>
              <a:latin typeface="Calibri"/>
              <a:ea typeface="STHeiti Medium"/>
            </a:endParaRPr>
          </a:p>
          <a:p>
            <a:pPr algn="l">
              <a:lnSpc>
                <a:spcPct val="150000"/>
              </a:lnSpc>
            </a:pPr>
            <a:r>
              <a:rPr sz="950" b="0">
                <a:solidFill>
                  <a:srgbClr val="1A2A3A"/>
                </a:solidFill>
                <a:latin typeface="Calibri"/>
                <a:ea typeface="STHeiti Medium"/>
              </a:rPr>
              <a:t>无需现金流补充的场景</a:t>
            </a:r>
            <a:endParaRPr sz="950" b="0">
              <a:solidFill>
                <a:srgbClr val="1A2A3A"/>
              </a:solidFill>
              <a:latin typeface="Calibri"/>
              <a:ea typeface="STHeiti Medium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7406640" y="4114800"/>
            <a:ext cx="457200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06640" y="4114800"/>
            <a:ext cx="73152" cy="1645920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0" y="4206240"/>
            <a:ext cx="4571999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  <a:latin typeface="Calibri"/>
                <a:ea typeface="STHeiti Medium"/>
              </a:rPr>
              <a:t>💳 提领策略</a:t>
            </a:r>
            <a:endParaRPr sz="1200" b="1">
              <a:solidFill>
                <a:srgbClr val="0D1B2A"/>
              </a:solidFill>
              <a:latin typeface="Calibri"/>
              <a:ea typeface="STHeiti Medium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680960" y="4480560"/>
            <a:ext cx="4571999" cy="6934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950" b="0">
                <a:solidFill>
                  <a:srgbClr val="1A2A3A"/>
                </a:solidFill>
                <a:latin typeface="Calibri"/>
                <a:ea typeface="STHeiti Medium"/>
              </a:rPr>
              <a:t>定期提取现金补充现金流</a:t>
            </a:r>
            <a:endParaRPr sz="950" b="0">
              <a:solidFill>
                <a:srgbClr val="1A2A3A"/>
              </a:solidFill>
              <a:latin typeface="Calibri"/>
              <a:ea typeface="STHeiti Medium"/>
            </a:endParaRPr>
          </a:p>
          <a:p>
            <a:pPr algn="l">
              <a:lnSpc>
                <a:spcPct val="150000"/>
              </a:lnSpc>
            </a:pPr>
            <a:r>
              <a:rPr sz="950" b="0">
                <a:solidFill>
                  <a:srgbClr val="1A2A3A"/>
                </a:solidFill>
                <a:latin typeface="Calibri"/>
                <a:ea typeface="STHeiti Medium"/>
              </a:rPr>
              <a:t>适合：教育金/养老金规划</a:t>
            </a:r>
            <a:endParaRPr sz="950" b="0">
              <a:solidFill>
                <a:srgbClr val="1A2A3A"/>
              </a:solidFill>
              <a:latin typeface="Calibri"/>
              <a:ea typeface="STHeiti Medium"/>
            </a:endParaRPr>
          </a:p>
          <a:p>
            <a:pPr algn="l">
              <a:lnSpc>
                <a:spcPct val="150000"/>
              </a:lnSpc>
            </a:pPr>
            <a:r>
              <a:rPr sz="950" b="0">
                <a:solidFill>
                  <a:srgbClr val="1A2A3A"/>
                </a:solidFill>
                <a:latin typeface="Calibri"/>
                <a:ea typeface="STHeiti Medium"/>
              </a:rPr>
              <a:t>兼顾当下现金流与长期增长</a:t>
            </a:r>
            <a:endParaRPr sz="950" b="0">
              <a:solidFill>
                <a:srgbClr val="1A2A3A"/>
              </a:solidFill>
              <a:latin typeface="Calibri"/>
              <a:ea typeface="STHeiti Medium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65760" y="6400800"/>
            <a:ext cx="11430000" cy="2286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注：纵轴使用对数刻度；不提领按退保发还总额计算，提领按累计已领+退保现价计算</a:t>
            </a:r>
            <a:endParaRPr sz="700" b="0">
              <a:solidFill>
                <a:srgbClr val="4A5A6A"/>
              </a:solidFill>
              <a:latin typeface="Calibri"/>
              <a:ea typeface="STHeiti Medium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rand-corner-lef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31520" cy="457200"/>
          </a:xfrm>
          <a:prstGeom prst="rect">
            <a:avLst/>
          </a:prstGeom>
        </p:spPr>
      </p:pic>
      <p:pic>
        <p:nvPicPr>
          <p:cNvPr id="5" name="Picture 4" descr="brand-corner-r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0" y="0"/>
            <a:ext cx="73152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AIA  |  友邦保险</a:t>
            </a:r>
            <a:endParaRPr sz="2000" b="1">
              <a:solidFill>
                <a:srgbClr val="0D1B2A"/>
              </a:solidFill>
              <a:latin typeface="Calibri"/>
              <a:ea typeface="STHeiti Medium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08 / 12</a:t>
            </a:r>
            <a:endParaRPr sz="900" b="0">
              <a:solidFill>
                <a:srgbClr val="4A5A6A"/>
              </a:solidFill>
              <a:latin typeface="Calibri"/>
              <a:ea typeface="STHeiti Medium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教育金现金流 · 与受保人年龄节点结合</a:t>
            </a:r>
            <a:endParaRPr sz="3600" b="1">
              <a:solidFill>
                <a:srgbClr val="0D1B2A"/>
              </a:solidFill>
              <a:latin typeface="Calibri"/>
              <a:ea typeface="STHeiti Medium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保单年度 6 起每年提取 USD 35,000 · 从小学到大学的稳健现金流</a:t>
            </a:r>
            <a:endParaRPr sz="1400" b="0">
              <a:solidFill>
                <a:srgbClr val="4A5A6A"/>
              </a:solidFill>
              <a:latin typeface="Calibri"/>
              <a:ea typeface="STHeiti Medium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874519"/>
            <a:ext cx="11277295" cy="2743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444752" y="1819655"/>
            <a:ext cx="146304" cy="14630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463039"/>
            <a:ext cx="2121408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6-12岁</a:t>
            </a:r>
            <a:endParaRPr sz="1100" b="1">
              <a:solidFill>
                <a:srgbClr val="0D1B2A"/>
              </a:solidFill>
              <a:latin typeface="Calibri"/>
              <a:ea typeface="STHeiti Medium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57200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5349240"/>
            <a:ext cx="2121408" cy="5029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5394960"/>
            <a:ext cx="2121408" cy="41148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500" b="1">
                <a:solidFill>
                  <a:srgbClr val="F8F9FB"/>
                </a:solidFill>
                <a:latin typeface="Calibri"/>
                <a:ea typeface="STHeiti Medium"/>
              </a:rPr>
              <a:t>小学</a:t>
            </a:r>
            <a:endParaRPr sz="1500" b="1">
              <a:solidFill>
                <a:srgbClr val="F8F9FB"/>
              </a:solidFill>
              <a:latin typeface="Calibri"/>
              <a:ea typeface="STHeiti Medium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57200" y="5074920"/>
            <a:ext cx="2121408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Y6-Y12</a:t>
            </a:r>
            <a:endParaRPr sz="900" b="0">
              <a:solidFill>
                <a:srgbClr val="4A5A6A"/>
              </a:solidFill>
              <a:latin typeface="Calibri"/>
              <a:ea typeface="STHeiti Medium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57200" y="4480560"/>
            <a:ext cx="2121408" cy="2286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累计已领</a:t>
            </a:r>
            <a:endParaRPr sz="900" b="0">
              <a:solidFill>
                <a:srgbClr val="4A5A6A"/>
              </a:solidFill>
              <a:latin typeface="Calibri"/>
              <a:ea typeface="STHeiti Medium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57200" y="3931920"/>
            <a:ext cx="2121408" cy="4572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500" b="1">
                <a:solidFill>
                  <a:srgbClr val="1B2A4A"/>
                </a:solidFill>
                <a:latin typeface="Calibri"/>
                <a:ea typeface="STHeiti Medium"/>
              </a:rPr>
              <a:t>USD 245,000</a:t>
            </a:r>
            <a:endParaRPr sz="1500" b="1">
              <a:solidFill>
                <a:srgbClr val="1B2A4A"/>
              </a:solidFill>
              <a:latin typeface="Calibri"/>
              <a:ea typeface="STHeiti Medium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40080" y="3566160"/>
            <a:ext cx="1755648" cy="18288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2834640"/>
            <a:ext cx="1847088" cy="64008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每年 35K</a:t>
            </a:r>
            <a:endParaRPr sz="900" b="0">
              <a:solidFill>
                <a:srgbClr val="1A2A3A"/>
              </a:solidFill>
              <a:latin typeface="Calibri"/>
              <a:ea typeface="STHeiti Medium"/>
            </a:endParaRPr>
          </a:p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兴趣班/课外辅导</a:t>
            </a:r>
            <a:endParaRPr sz="900" b="0">
              <a:solidFill>
                <a:srgbClr val="1A2A3A"/>
              </a:solidFill>
              <a:latin typeface="Calibri"/>
              <a:ea typeface="STHeiti Medium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57200" y="2377440"/>
            <a:ext cx="2121408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850" b="1">
                <a:solidFill>
                  <a:srgbClr val="0D1B2A"/>
                </a:solidFill>
                <a:latin typeface="Calibri"/>
                <a:ea typeface="STHeiti Medium"/>
              </a:rPr>
              <a:t>保单现价 USD 466,434</a:t>
            </a:r>
            <a:endParaRPr sz="850" b="1">
              <a:solidFill>
                <a:srgbClr val="0D1B2A"/>
              </a:solidFill>
              <a:latin typeface="Calibri"/>
              <a:ea typeface="STHeiti Medium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703320" y="1819655"/>
            <a:ext cx="146304" cy="14630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15768" y="1463039"/>
            <a:ext cx="2121408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13-15岁</a:t>
            </a:r>
            <a:endParaRPr sz="1100" b="1">
              <a:solidFill>
                <a:srgbClr val="0D1B2A"/>
              </a:solidFill>
              <a:latin typeface="Calibri"/>
              <a:ea typeface="STHeiti Medium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2715768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15768" y="5349240"/>
            <a:ext cx="2121408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15768" y="5394960"/>
            <a:ext cx="2121408" cy="41148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500" b="1">
                <a:solidFill>
                  <a:srgbClr val="F8F9FB"/>
                </a:solidFill>
                <a:latin typeface="Calibri"/>
                <a:ea typeface="STHeiti Medium"/>
              </a:rPr>
              <a:t>初中</a:t>
            </a:r>
            <a:endParaRPr sz="1500" b="1">
              <a:solidFill>
                <a:srgbClr val="F8F9FB"/>
              </a:solidFill>
              <a:latin typeface="Calibri"/>
              <a:ea typeface="STHeiti Medium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715768" y="5074920"/>
            <a:ext cx="2121408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Y13-Y15</a:t>
            </a:r>
            <a:endParaRPr sz="900" b="0">
              <a:solidFill>
                <a:srgbClr val="4A5A6A"/>
              </a:solidFill>
              <a:latin typeface="Calibri"/>
              <a:ea typeface="STHeiti Medium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715768" y="4480560"/>
            <a:ext cx="2121408" cy="2286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累计已领</a:t>
            </a:r>
            <a:endParaRPr sz="900" b="0">
              <a:solidFill>
                <a:srgbClr val="4A5A6A"/>
              </a:solidFill>
              <a:latin typeface="Calibri"/>
              <a:ea typeface="STHeiti Medium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715768" y="3931920"/>
            <a:ext cx="2121408" cy="4572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500" b="1">
                <a:solidFill>
                  <a:srgbClr val="0D1B2A"/>
                </a:solidFill>
                <a:latin typeface="Calibri"/>
                <a:ea typeface="STHeiti Medium"/>
              </a:rPr>
              <a:t>USD 350,000</a:t>
            </a:r>
            <a:endParaRPr sz="1500" b="1">
              <a:solidFill>
                <a:srgbClr val="0D1B2A"/>
              </a:solidFill>
              <a:latin typeface="Calibri"/>
              <a:ea typeface="STHeiti Medium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2898648" y="3566160"/>
            <a:ext cx="1755648" cy="18288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852928" y="2834640"/>
            <a:ext cx="1847088" cy="64008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每年 35K</a:t>
            </a:r>
            <a:endParaRPr sz="900" b="0">
              <a:solidFill>
                <a:srgbClr val="1A2A3A"/>
              </a:solidFill>
              <a:latin typeface="Calibri"/>
              <a:ea typeface="STHeiti Medium"/>
            </a:endParaRPr>
          </a:p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升学辅导/素质拓展</a:t>
            </a:r>
            <a:endParaRPr sz="900" b="0">
              <a:solidFill>
                <a:srgbClr val="1A2A3A"/>
              </a:solidFill>
              <a:latin typeface="Calibri"/>
              <a:ea typeface="STHeiti Medium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715768" y="2377440"/>
            <a:ext cx="2121408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850" b="1">
                <a:solidFill>
                  <a:srgbClr val="0D1B2A"/>
                </a:solidFill>
                <a:latin typeface="Calibri"/>
                <a:ea typeface="STHeiti Medium"/>
              </a:rPr>
              <a:t>保单现价 USD 465,053</a:t>
            </a:r>
            <a:endParaRPr sz="850" b="1">
              <a:solidFill>
                <a:srgbClr val="0D1B2A"/>
              </a:solidFill>
              <a:latin typeface="Calibri"/>
              <a:ea typeface="STHeiti Medium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5961888" y="1819655"/>
            <a:ext cx="146304" cy="14630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974336" y="1463039"/>
            <a:ext cx="2121408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16-18岁</a:t>
            </a:r>
            <a:endParaRPr sz="1100" b="1">
              <a:solidFill>
                <a:srgbClr val="0D1B2A"/>
              </a:solidFill>
              <a:latin typeface="Calibri"/>
              <a:ea typeface="STHeiti Medium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4974336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974336" y="5349240"/>
            <a:ext cx="2121408" cy="502920"/>
          </a:xfrm>
          <a:prstGeom prst="rect">
            <a:avLst/>
          </a:prstGeom>
          <a:solidFill>
            <a:srgbClr val="07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74336" y="5394960"/>
            <a:ext cx="2121408" cy="41148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500" b="1">
                <a:solidFill>
                  <a:srgbClr val="F8F9FB"/>
                </a:solidFill>
                <a:latin typeface="Calibri"/>
                <a:ea typeface="STHeiti Medium"/>
              </a:rPr>
              <a:t>高中</a:t>
            </a:r>
            <a:endParaRPr sz="1500" b="1">
              <a:solidFill>
                <a:srgbClr val="F8F9FB"/>
              </a:solidFill>
              <a:latin typeface="Calibri"/>
              <a:ea typeface="STHeiti Medium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974336" y="5074920"/>
            <a:ext cx="2121408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Y16-Y18</a:t>
            </a:r>
            <a:endParaRPr sz="900" b="0">
              <a:solidFill>
                <a:srgbClr val="4A5A6A"/>
              </a:solidFill>
              <a:latin typeface="Calibri"/>
              <a:ea typeface="STHeiti Medium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974336" y="4480560"/>
            <a:ext cx="2121408" cy="2286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累计已领</a:t>
            </a:r>
            <a:endParaRPr sz="900" b="0">
              <a:solidFill>
                <a:srgbClr val="4A5A6A"/>
              </a:solidFill>
              <a:latin typeface="Calibri"/>
              <a:ea typeface="STHeiti Medium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4974336" y="3931920"/>
            <a:ext cx="2121408" cy="4572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500" b="1">
                <a:solidFill>
                  <a:srgbClr val="070F1A"/>
                </a:solidFill>
                <a:latin typeface="Calibri"/>
                <a:ea typeface="STHeiti Medium"/>
              </a:rPr>
              <a:t>USD 455,000</a:t>
            </a:r>
            <a:endParaRPr sz="1500" b="1">
              <a:solidFill>
                <a:srgbClr val="070F1A"/>
              </a:solidFill>
              <a:latin typeface="Calibri"/>
              <a:ea typeface="STHeiti Medium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5157216" y="3566160"/>
            <a:ext cx="1755648" cy="18288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11496" y="2834640"/>
            <a:ext cx="1847088" cy="64008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每年 35K</a:t>
            </a:r>
            <a:endParaRPr sz="900" b="0">
              <a:solidFill>
                <a:srgbClr val="1A2A3A"/>
              </a:solidFill>
              <a:latin typeface="Calibri"/>
              <a:ea typeface="STHeiti Medium"/>
            </a:endParaRPr>
          </a:p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国际课程/留学预备</a:t>
            </a:r>
            <a:endParaRPr sz="900" b="0">
              <a:solidFill>
                <a:srgbClr val="1A2A3A"/>
              </a:solidFill>
              <a:latin typeface="Calibri"/>
              <a:ea typeface="STHeiti Medium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4974336" y="2377440"/>
            <a:ext cx="2121408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850" b="1">
                <a:solidFill>
                  <a:srgbClr val="0D1B2A"/>
                </a:solidFill>
                <a:latin typeface="Calibri"/>
                <a:ea typeface="STHeiti Medium"/>
              </a:rPr>
              <a:t>保单现价 USD 476,560</a:t>
            </a:r>
            <a:endParaRPr sz="850" b="1">
              <a:solidFill>
                <a:srgbClr val="0D1B2A"/>
              </a:solidFill>
              <a:latin typeface="Calibri"/>
              <a:ea typeface="STHeiti Medium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8220456" y="1819655"/>
            <a:ext cx="146304" cy="14630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232904" y="1463039"/>
            <a:ext cx="2121408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19-22岁</a:t>
            </a:r>
            <a:endParaRPr sz="1100" b="1">
              <a:solidFill>
                <a:srgbClr val="0D1B2A"/>
              </a:solidFill>
              <a:latin typeface="Calibri"/>
              <a:ea typeface="STHeiti Medium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7232904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232904" y="5349240"/>
            <a:ext cx="2121408" cy="502920"/>
          </a:xfrm>
          <a:prstGeom prst="rect">
            <a:avLst/>
          </a:prstGeom>
          <a:solidFill>
            <a:srgbClr val="8A6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232904" y="5394960"/>
            <a:ext cx="2121408" cy="41148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500" b="1">
                <a:solidFill>
                  <a:srgbClr val="F8F9FB"/>
                </a:solidFill>
                <a:latin typeface="Calibri"/>
                <a:ea typeface="STHeiti Medium"/>
              </a:rPr>
              <a:t>大学</a:t>
            </a:r>
            <a:endParaRPr sz="1500" b="1">
              <a:solidFill>
                <a:srgbClr val="F8F9FB"/>
              </a:solidFill>
              <a:latin typeface="Calibri"/>
              <a:ea typeface="STHeiti Medium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7232904" y="5074920"/>
            <a:ext cx="2121408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Y19-Y22</a:t>
            </a:r>
            <a:endParaRPr sz="900" b="0">
              <a:solidFill>
                <a:srgbClr val="4A5A6A"/>
              </a:solidFill>
              <a:latin typeface="Calibri"/>
              <a:ea typeface="STHeiti Medium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7232904" y="4480560"/>
            <a:ext cx="2121408" cy="2286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累计已领</a:t>
            </a:r>
            <a:endParaRPr sz="900" b="0">
              <a:solidFill>
                <a:srgbClr val="4A5A6A"/>
              </a:solidFill>
              <a:latin typeface="Calibri"/>
              <a:ea typeface="STHeiti Medium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7232904" y="3931920"/>
            <a:ext cx="2121408" cy="4572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500" b="1">
                <a:solidFill>
                  <a:srgbClr val="8A6A2A"/>
                </a:solidFill>
                <a:latin typeface="Calibri"/>
                <a:ea typeface="STHeiti Medium"/>
              </a:rPr>
              <a:t>USD 595,000</a:t>
            </a:r>
            <a:endParaRPr sz="1500" b="1">
              <a:solidFill>
                <a:srgbClr val="8A6A2A"/>
              </a:solidFill>
              <a:latin typeface="Calibri"/>
              <a:ea typeface="STHeiti Medium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7415784" y="3566160"/>
            <a:ext cx="1755648" cy="18288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370064" y="2834640"/>
            <a:ext cx="1847088" cy="64008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每年 35K</a:t>
            </a:r>
            <a:endParaRPr sz="900" b="0">
              <a:solidFill>
                <a:srgbClr val="1A2A3A"/>
              </a:solidFill>
              <a:latin typeface="Calibri"/>
              <a:ea typeface="STHeiti Medium"/>
            </a:endParaRPr>
          </a:p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学费/生活费</a:t>
            </a:r>
            <a:endParaRPr sz="900" b="0">
              <a:solidFill>
                <a:srgbClr val="1A2A3A"/>
              </a:solidFill>
              <a:latin typeface="Calibri"/>
              <a:ea typeface="STHeiti Medium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7232904" y="2377440"/>
            <a:ext cx="2121408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850" b="1">
                <a:solidFill>
                  <a:srgbClr val="0D1B2A"/>
                </a:solidFill>
                <a:latin typeface="Calibri"/>
                <a:ea typeface="STHeiti Medium"/>
              </a:rPr>
              <a:t>保单现价 USD 498,943</a:t>
            </a:r>
            <a:endParaRPr sz="850" b="1">
              <a:solidFill>
                <a:srgbClr val="0D1B2A"/>
              </a:solidFill>
              <a:latin typeface="Calibri"/>
              <a:ea typeface="STHeiti Medium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10479024" y="1819655"/>
            <a:ext cx="146304" cy="14630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491472" y="1463039"/>
            <a:ext cx="2121408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23-99岁</a:t>
            </a:r>
            <a:endParaRPr sz="1100" b="1">
              <a:solidFill>
                <a:srgbClr val="0D1B2A"/>
              </a:solidFill>
              <a:latin typeface="Calibri"/>
              <a:ea typeface="STHeiti Medium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9491472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491472" y="5349240"/>
            <a:ext cx="2121408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491472" y="5394960"/>
            <a:ext cx="2121408" cy="41148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500" b="1">
                <a:solidFill>
                  <a:srgbClr val="D4B078"/>
                </a:solidFill>
                <a:latin typeface="Calibri"/>
                <a:ea typeface="STHeiti Medium"/>
              </a:rPr>
              <a:t>研究生/创业</a:t>
            </a:r>
            <a:endParaRPr sz="1500" b="1">
              <a:solidFill>
                <a:srgbClr val="D4B078"/>
              </a:solidFill>
              <a:latin typeface="Calibri"/>
              <a:ea typeface="STHeiti Medium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9491472" y="5074920"/>
            <a:ext cx="2121408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Y23-Y99</a:t>
            </a:r>
            <a:endParaRPr sz="900" b="0">
              <a:solidFill>
                <a:srgbClr val="4A5A6A"/>
              </a:solidFill>
              <a:latin typeface="Calibri"/>
              <a:ea typeface="STHeiti Medium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9491472" y="4480560"/>
            <a:ext cx="2121408" cy="2286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累计已领</a:t>
            </a:r>
            <a:endParaRPr sz="900" b="0">
              <a:solidFill>
                <a:srgbClr val="4A5A6A"/>
              </a:solidFill>
              <a:latin typeface="Calibri"/>
              <a:ea typeface="STHeiti Medium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9491472" y="3931920"/>
            <a:ext cx="2121408" cy="4572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500" b="1">
                <a:solidFill>
                  <a:srgbClr val="0D1B2A"/>
                </a:solidFill>
                <a:latin typeface="Calibri"/>
                <a:ea typeface="STHeiti Medium"/>
              </a:rPr>
              <a:t>USD 3,290,000</a:t>
            </a:r>
            <a:endParaRPr sz="1500" b="1">
              <a:solidFill>
                <a:srgbClr val="0D1B2A"/>
              </a:solidFill>
              <a:latin typeface="Calibri"/>
              <a:ea typeface="STHeiti Medium"/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9674352" y="3566160"/>
            <a:ext cx="1755648" cy="18288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628632" y="2834640"/>
            <a:ext cx="1847088" cy="64008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每年 35K</a:t>
            </a:r>
            <a:endParaRPr sz="900" b="0">
              <a:solidFill>
                <a:srgbClr val="1A2A3A"/>
              </a:solidFill>
              <a:latin typeface="Calibri"/>
              <a:ea typeface="STHeiti Medium"/>
            </a:endParaRPr>
          </a:p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灵活支取</a:t>
            </a:r>
            <a:endParaRPr sz="900" b="0">
              <a:solidFill>
                <a:srgbClr val="1A2A3A"/>
              </a:solidFill>
              <a:latin typeface="Calibri"/>
              <a:ea typeface="STHeiti Medium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9491472" y="2377440"/>
            <a:ext cx="2121408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850" b="1">
                <a:solidFill>
                  <a:srgbClr val="0D1B2A"/>
                </a:solidFill>
                <a:latin typeface="Calibri"/>
                <a:ea typeface="STHeiti Medium"/>
              </a:rPr>
              <a:t>保单现价 USD 0</a:t>
            </a:r>
            <a:endParaRPr sz="850" b="1">
              <a:solidFill>
                <a:srgbClr val="0D1B2A"/>
              </a:solidFill>
              <a:latin typeface="Calibri"/>
              <a:ea typeface="STHeiti Medium"/>
            </a:endParaRPr>
          </a:p>
        </p:txBody>
      </p:sp>
      <p:pic>
        <p:nvPicPr>
          <p:cNvPr id="67" name="Picture 66" descr="child-growth-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035040"/>
            <a:ext cx="2560320" cy="640080"/>
          </a:xfrm>
          <a:prstGeom prst="rect">
            <a:avLst/>
          </a:prstGeom>
        </p:spPr>
      </p:pic>
      <p:pic>
        <p:nvPicPr>
          <p:cNvPr id="68" name="Picture 67" descr="graduation-0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6035040"/>
            <a:ext cx="2560320" cy="640080"/>
          </a:xfrm>
          <a:prstGeom prst="rect">
            <a:avLst/>
          </a:prstGeom>
        </p:spPr>
      </p:pic>
      <p:pic>
        <p:nvPicPr>
          <p:cNvPr id="69" name="Picture 68" descr="family-outdoor-0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0" y="6035040"/>
            <a:ext cx="2560320" cy="640080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457200" y="5852160"/>
            <a:ext cx="11277295" cy="3200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00" b="1">
                <a:solidFill>
                  <a:srgbClr val="0D1B2A"/>
                </a:solidFill>
                <a:latin typeface="Calibri"/>
                <a:ea typeface="STHeiti Medium"/>
              </a:rPr>
              <a:t>保单年度 6（受保人 6 岁）开始提领 → 精准覆盖小学到大学教育支出 → 本金持续滚存</a:t>
            </a:r>
            <a:endParaRPr sz="1000" b="1">
              <a:solidFill>
                <a:srgbClr val="0D1B2A"/>
              </a:solidFill>
              <a:latin typeface="Calibri"/>
              <a:ea typeface="STHeiti Medium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457200" y="6400800"/>
            <a:ext cx="11277295" cy="2286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数据来源：友邦保险官方计划书 第5部分</a:t>
            </a:r>
            <a:endParaRPr sz="800" b="0">
              <a:solidFill>
                <a:srgbClr val="4A5A6A"/>
              </a:solidFill>
              <a:latin typeface="Calibri"/>
              <a:ea typeface="STHeiti Medium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rand-corner-lef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31520" cy="457200"/>
          </a:xfrm>
          <a:prstGeom prst="rect">
            <a:avLst/>
          </a:prstGeom>
        </p:spPr>
      </p:pic>
      <p:pic>
        <p:nvPicPr>
          <p:cNvPr id="5" name="Picture 4" descr="brand-corner-r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0" y="0"/>
            <a:ext cx="73152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AIA  |  友邦保险</a:t>
            </a:r>
            <a:endParaRPr sz="2000" b="1">
              <a:solidFill>
                <a:srgbClr val="0D1B2A"/>
              </a:solidFill>
              <a:latin typeface="Calibri"/>
              <a:ea typeface="STHeiti Medium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09 / 12</a:t>
            </a:r>
            <a:endParaRPr sz="900" b="0">
              <a:solidFill>
                <a:srgbClr val="4A5A6A"/>
              </a:solidFill>
              <a:latin typeface="Calibri"/>
              <a:ea typeface="STHeiti Medium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重要事项声明</a:t>
            </a:r>
            <a:endParaRPr sz="3600" b="1">
              <a:solidFill>
                <a:srgbClr val="0D1B2A"/>
              </a:solidFill>
              <a:latin typeface="Calibri"/>
              <a:ea typeface="STHeiti Medium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Important Notes · 客户须知的风险与限制</a:t>
            </a:r>
            <a:endParaRPr sz="1400" b="0">
              <a:solidFill>
                <a:srgbClr val="4A5A6A"/>
              </a:solidFill>
              <a:latin typeface="Calibri"/>
              <a:ea typeface="STHeiti Medium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828800"/>
            <a:ext cx="557784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828800"/>
            <a:ext cx="5577840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874520"/>
            <a:ext cx="731520" cy="41148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000" b="1">
                <a:solidFill>
                  <a:srgbClr val="C8963E"/>
                </a:solidFill>
                <a:latin typeface="Calibri"/>
                <a:ea typeface="STHeiti Medium"/>
              </a:rPr>
              <a:t>01</a:t>
            </a:r>
            <a:endParaRPr sz="2000" b="1">
              <a:solidFill>
                <a:srgbClr val="C8963E"/>
              </a:solidFill>
              <a:latin typeface="Calibri"/>
              <a:ea typeface="STHeiti Medium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371600" y="1874520"/>
            <a:ext cx="4480560" cy="41148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非保证利益</a:t>
            </a:r>
            <a:endParaRPr sz="1400" b="1">
              <a:solidFill>
                <a:srgbClr val="F8F9FB"/>
              </a:solidFill>
              <a:latin typeface="Calibri"/>
              <a:ea typeface="STHeiti Medium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0080" y="2468880"/>
            <a:ext cx="5212080" cy="64008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本计划所演示之非保证金额（包括复归红利及终期分红）乃基于现时假设投资回报计算，并非保证。</a:t>
            </a:r>
            <a:endParaRPr sz="1000" b="0">
              <a:solidFill>
                <a:srgbClr val="1A2A3A"/>
              </a:solidFill>
              <a:latin typeface="Calibri"/>
              <a:ea typeface="STHeiti Medium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0080" y="3108960"/>
            <a:ext cx="5212080" cy="64008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实际金额或会因投资市场波动而调整，在某些情况下非保证金额可能为零。</a:t>
            </a:r>
            <a:endParaRPr sz="1000" b="0">
              <a:solidFill>
                <a:srgbClr val="1A2A3A"/>
              </a:solidFill>
              <a:latin typeface="Calibri"/>
              <a:ea typeface="STHeiti Medium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263640" y="1828800"/>
            <a:ext cx="557784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1828800"/>
            <a:ext cx="5577840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1874520"/>
            <a:ext cx="731520" cy="41148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000" b="1">
                <a:solidFill>
                  <a:srgbClr val="C8963E"/>
                </a:solidFill>
                <a:latin typeface="Calibri"/>
                <a:ea typeface="STHeiti Medium"/>
              </a:rPr>
              <a:t>02</a:t>
            </a:r>
            <a:endParaRPr sz="2000" b="1">
              <a:solidFill>
                <a:srgbClr val="C8963E"/>
              </a:solidFill>
              <a:latin typeface="Calibri"/>
              <a:ea typeface="STHeiti Medium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178040" y="1874520"/>
            <a:ext cx="4480560" cy="41148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汇率风险</a:t>
            </a:r>
            <a:endParaRPr sz="1400" b="1">
              <a:solidFill>
                <a:srgbClr val="F8F9FB"/>
              </a:solidFill>
              <a:latin typeface="Calibri"/>
              <a:ea typeface="STHeiti Medium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446520" y="2468880"/>
            <a:ext cx="5212080" cy="64008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若以保单货币（美元）以外的其他货币支付保费或收取利益，将按本公司不时厘定的汇率兑换。</a:t>
            </a:r>
            <a:endParaRPr sz="1000" b="0">
              <a:solidFill>
                <a:srgbClr val="1A2A3A"/>
              </a:solidFill>
              <a:latin typeface="Calibri"/>
              <a:ea typeface="STHeiti Medium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446520" y="3108960"/>
            <a:ext cx="5212080" cy="64008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外币汇率波动可能影响实际支付金额。</a:t>
            </a:r>
            <a:endParaRPr sz="1000" b="0">
              <a:solidFill>
                <a:srgbClr val="1A2A3A"/>
              </a:solidFill>
              <a:latin typeface="Calibri"/>
              <a:ea typeface="STHeiti Medium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457200" y="3931920"/>
            <a:ext cx="557784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3931920"/>
            <a:ext cx="5577840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977640"/>
            <a:ext cx="731520" cy="41148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000" b="1">
                <a:solidFill>
                  <a:srgbClr val="C8963E"/>
                </a:solidFill>
                <a:latin typeface="Calibri"/>
                <a:ea typeface="STHeiti Medium"/>
              </a:rPr>
              <a:t>03</a:t>
            </a:r>
            <a:endParaRPr sz="2000" b="1">
              <a:solidFill>
                <a:srgbClr val="C8963E"/>
              </a:solidFill>
              <a:latin typeface="Calibri"/>
              <a:ea typeface="STHeiti Medium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371600" y="3977640"/>
            <a:ext cx="4480560" cy="41148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提领限制</a:t>
            </a:r>
            <a:endParaRPr sz="1400" b="1">
              <a:solidFill>
                <a:srgbClr val="F8F9FB"/>
              </a:solidFill>
              <a:latin typeface="Calibri"/>
              <a:ea typeface="STHeiti Medium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40080" y="4572000"/>
            <a:ext cx="5212080" cy="64008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现金提取须符合本公司最低投保单位要求；若提取导致投保单位低于最低要求，则不可提取。</a:t>
            </a:r>
            <a:endParaRPr sz="1000" b="0">
              <a:solidFill>
                <a:srgbClr val="1A2A3A"/>
              </a:solidFill>
              <a:latin typeface="Calibri"/>
              <a:ea typeface="STHeiti Medium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40080" y="5212080"/>
            <a:ext cx="5212080" cy="64008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所演示之提取金额基于非保证红利与分红，未必可维持。</a:t>
            </a:r>
            <a:endParaRPr sz="1000" b="0">
              <a:solidFill>
                <a:srgbClr val="1A2A3A"/>
              </a:solidFill>
              <a:latin typeface="Calibri"/>
              <a:ea typeface="STHeiti Medium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6263640" y="3931920"/>
            <a:ext cx="557784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63640" y="3931920"/>
            <a:ext cx="5577840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3977640"/>
            <a:ext cx="731520" cy="41148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000" b="1">
                <a:solidFill>
                  <a:srgbClr val="C8963E"/>
                </a:solidFill>
                <a:latin typeface="Calibri"/>
                <a:ea typeface="STHeiti Medium"/>
              </a:rPr>
              <a:t>04</a:t>
            </a:r>
            <a:endParaRPr sz="2000" b="1">
              <a:solidFill>
                <a:srgbClr val="C8963E"/>
              </a:solidFill>
              <a:latin typeface="Calibri"/>
              <a:ea typeface="STHeiti Medium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178040" y="3977640"/>
            <a:ext cx="4480560" cy="41148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通胀风险</a:t>
            </a:r>
            <a:endParaRPr sz="1400" b="1">
              <a:solidFill>
                <a:srgbClr val="F8F9FB"/>
              </a:solidFill>
              <a:latin typeface="Calibri"/>
              <a:ea typeface="STHeiti Medium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446520" y="4572000"/>
            <a:ext cx="5212080" cy="64008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未来生活成本可能因通胀而上升；本计划之金额为名义金额，未必能完全追上通胀。</a:t>
            </a:r>
            <a:endParaRPr sz="1000" b="0">
              <a:solidFill>
                <a:srgbClr val="1A2A3A"/>
              </a:solidFill>
              <a:latin typeface="Calibri"/>
              <a:ea typeface="STHeiti Medium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446520" y="5212080"/>
            <a:ext cx="5212080" cy="64008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建议结合其他投资工具作综合规划。</a:t>
            </a:r>
            <a:endParaRPr sz="1000" b="0">
              <a:solidFill>
                <a:srgbClr val="1A2A3A"/>
              </a:solidFill>
              <a:latin typeface="Calibri"/>
              <a:ea typeface="STHeiti Medium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457200" y="5943600"/>
            <a:ext cx="112772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7200" y="5943600"/>
            <a:ext cx="73152" cy="6400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5989320"/>
            <a:ext cx="365760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完整条款</a:t>
            </a:r>
            <a:endParaRPr sz="1100" b="1">
              <a:solidFill>
                <a:srgbClr val="0D1B2A"/>
              </a:solidFill>
              <a:latin typeface="Calibri"/>
              <a:ea typeface="STHeiti Medium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本文件不包含完整的计划条款，详情参阅保单文件及主要产品推销刊物。阁下应向持牌保险中介人查询。</a:t>
            </a:r>
            <a:endParaRPr sz="900" b="0">
              <a:solidFill>
                <a:srgbClr val="1A2A3A"/>
              </a:solidFill>
              <a:latin typeface="Calibri"/>
              <a:ea typeface="STHeiti Medium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rand-corner-lef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31520" cy="457200"/>
          </a:xfrm>
          <a:prstGeom prst="rect">
            <a:avLst/>
          </a:prstGeom>
        </p:spPr>
      </p:pic>
      <p:pic>
        <p:nvPicPr>
          <p:cNvPr id="5" name="Picture 4" descr="brand-corner-r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0" y="0"/>
            <a:ext cx="73152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AIA  |  友邦保险</a:t>
            </a:r>
            <a:endParaRPr sz="2000" b="1">
              <a:solidFill>
                <a:srgbClr val="0D1B2A"/>
              </a:solidFill>
              <a:latin typeface="Calibri"/>
              <a:ea typeface="STHeiti Medium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10 / 12</a:t>
            </a:r>
            <a:endParaRPr sz="900" b="0">
              <a:solidFill>
                <a:srgbClr val="4A5A6A"/>
              </a:solidFill>
              <a:latin typeface="Calibri"/>
              <a:ea typeface="STHeiti Medium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数据来源与回溯</a:t>
            </a:r>
            <a:endParaRPr sz="3600" b="1">
              <a:solidFill>
                <a:srgbClr val="0D1B2A"/>
              </a:solidFill>
              <a:latin typeface="Calibri"/>
              <a:ea typeface="STHeiti Medium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Data Sources · 全部数据可逐项回溯至官方计划书页码</a:t>
            </a:r>
            <a:endParaRPr sz="1400" b="0">
              <a:solidFill>
                <a:srgbClr val="4A5A6A"/>
              </a:solidFill>
              <a:latin typeface="Calibri"/>
              <a:ea typeface="STHeiti Medium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783080"/>
          <a:ext cx="11247120" cy="3749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1645920"/>
                <a:gridCol w="548640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数据项</a:t>
                      </a:r>
                      <a:endParaRPr sz="1000" b="1">
                        <a:solidFill>
                          <a:srgbClr val="F8F9FB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36000" marR="36000" marT="18000" marB="18000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PDF 页码</a:t>
                      </a:r>
                      <a:endParaRPr sz="1000" b="1">
                        <a:solidFill>
                          <a:srgbClr val="F8F9FB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36000" marR="36000" marT="18000" marB="18000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来源说明</a:t>
                      </a:r>
                      <a:endParaRPr sz="1000" b="1">
                        <a:solidFill>
                          <a:srgbClr val="F8F9FB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36000" marR="36000" marT="18000" marB="18000">
                    <a:solidFill>
                      <a:srgbClr val="0D1B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保障摘要 · 保额/保费/年期</a:t>
                      </a:r>
                      <a:endParaRPr sz="900" b="1">
                        <a:solidFill>
                          <a:srgbClr val="0D1B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36000" marR="36000"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p1</a:t>
                      </a:r>
                      <a:endParaRPr sz="900" b="1">
                        <a:solidFill>
                          <a:srgbClr val="070F1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36000" marR="36000"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受保人资料 + 投保资料</a:t>
                      </a:r>
                      <a:endParaRPr sz="900" b="0">
                        <a:solidFill>
                          <a:srgbClr val="1A2A3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36000" marR="36000" marT="12000" marB="120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不提领 · 退保发还金额（Y1-Y40）</a:t>
                      </a:r>
                      <a:endParaRPr sz="900" b="1">
                        <a:solidFill>
                          <a:srgbClr val="0D1B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36000" marR="36000" marT="12000" marB="1200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p2</a:t>
                      </a:r>
                      <a:endParaRPr sz="900" b="1">
                        <a:solidFill>
                          <a:srgbClr val="070F1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36000" marR="36000" marT="12000" marB="1200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基本计划-说明摘要（第3部分）</a:t>
                      </a:r>
                      <a:endParaRPr sz="900" b="0">
                        <a:solidFill>
                          <a:srgbClr val="1A2A3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36000" marR="36000" marT="12000" marB="12000">
                    <a:solidFill>
                      <a:srgbClr val="F8F9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不提领 · 退保发还金额（Y41-Y80）</a:t>
                      </a:r>
                      <a:endParaRPr sz="900" b="1">
                        <a:solidFill>
                          <a:srgbClr val="0D1B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36000" marR="36000"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p3</a:t>
                      </a:r>
                      <a:endParaRPr sz="900" b="1">
                        <a:solidFill>
                          <a:srgbClr val="070F1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36000" marR="36000"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基本计划-说明摘要（第3部分）</a:t>
                      </a:r>
                      <a:endParaRPr sz="900" b="0">
                        <a:solidFill>
                          <a:srgbClr val="1A2A3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36000" marR="36000" marT="12000" marB="120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不提领 · 身故赔偿额说明</a:t>
                      </a:r>
                      <a:endParaRPr sz="900" b="1">
                        <a:solidFill>
                          <a:srgbClr val="0D1B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36000" marR="36000" marT="12000" marB="1200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p17-19</a:t>
                      </a:r>
                      <a:endParaRPr sz="900" b="1">
                        <a:solidFill>
                          <a:srgbClr val="070F1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36000" marR="36000" marT="12000" marB="1200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身故赔偿额-不同投资回报下的说明</a:t>
                      </a:r>
                      <a:endParaRPr sz="900" b="0">
                        <a:solidFill>
                          <a:srgbClr val="1A2A3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36000" marR="36000" marT="12000" marB="12000">
                    <a:solidFill>
                      <a:srgbClr val="F8F9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提领 · 退保发还金额（Y1-Y40）</a:t>
                      </a:r>
                      <a:endParaRPr sz="900" b="1">
                        <a:solidFill>
                          <a:srgbClr val="0D1B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36000" marR="36000"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p42-43</a:t>
                      </a:r>
                      <a:endParaRPr sz="900" b="1">
                        <a:solidFill>
                          <a:srgbClr val="070F1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36000" marR="36000"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基本计划-说明摘要（续）-现金提取</a:t>
                      </a:r>
                      <a:endParaRPr sz="900" b="0">
                        <a:solidFill>
                          <a:srgbClr val="1A2A3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36000" marR="36000" marT="12000" marB="120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提领 · 退保发还金额（Y41-Y80）</a:t>
                      </a:r>
                      <a:endParaRPr sz="900" b="1">
                        <a:solidFill>
                          <a:srgbClr val="0D1B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36000" marR="36000" marT="12000" marB="1200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p44-45</a:t>
                      </a:r>
                      <a:endParaRPr sz="900" b="1">
                        <a:solidFill>
                          <a:srgbClr val="070F1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36000" marR="36000" marT="12000" marB="1200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基本计划-说明摘要（续）-现金提取</a:t>
                      </a:r>
                      <a:endParaRPr sz="900" b="0">
                        <a:solidFill>
                          <a:srgbClr val="1A2A3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36000" marR="36000" marT="12000" marB="12000">
                    <a:solidFill>
                      <a:srgbClr val="F8F9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提领 · 身故赔偿额说明</a:t>
                      </a:r>
                      <a:endParaRPr sz="900" b="1">
                        <a:solidFill>
                          <a:srgbClr val="0D1B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36000" marR="36000"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p47-50</a:t>
                      </a:r>
                      <a:endParaRPr sz="900" b="1">
                        <a:solidFill>
                          <a:srgbClr val="070F1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36000" marR="36000"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身故赔偿额下的说明（提取）</a:t>
                      </a:r>
                      <a:endParaRPr sz="900" b="0">
                        <a:solidFill>
                          <a:srgbClr val="1A2A3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36000" marR="36000" marT="12000" marB="120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注释与重要事项</a:t>
                      </a:r>
                      <a:endParaRPr sz="900" b="1">
                        <a:solidFill>
                          <a:srgbClr val="0D1B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36000" marR="36000" marT="12000" marB="1200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p20-22</a:t>
                      </a:r>
                      <a:endParaRPr sz="900" b="1">
                        <a:solidFill>
                          <a:srgbClr val="070F1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36000" marR="36000" marT="12000" marB="1200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本计划之注释条款</a:t>
                      </a:r>
                      <a:endParaRPr sz="900" b="0">
                        <a:solidFill>
                          <a:srgbClr val="1A2A3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36000" marR="36000" marT="12000" marB="12000">
                    <a:solidFill>
                      <a:srgbClr val="F8F9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产品详细说明</a:t>
                      </a:r>
                      <a:endParaRPr sz="900" b="1">
                        <a:solidFill>
                          <a:srgbClr val="0D1B2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36000" marR="36000"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p23-41</a:t>
                      </a:r>
                      <a:endParaRPr sz="900" b="1">
                        <a:solidFill>
                          <a:srgbClr val="070F1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36000" marR="36000"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财富增值选项、跃进选项等</a:t>
                      </a:r>
                      <a:endParaRPr sz="900" b="0">
                        <a:solidFill>
                          <a:srgbClr val="1A2A3A"/>
                        </a:solidFill>
                        <a:latin typeface="STHeiti Medium"/>
                        <a:ea typeface="STHeiti Medium"/>
                      </a:endParaRPr>
                    </a:p>
                  </a:txBody>
                  <a:tcPr marL="36000" marR="36000" marT="12000" marB="12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457200" y="6035040"/>
            <a:ext cx="11277295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6035040"/>
            <a:ext cx="73152" cy="5486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6080760"/>
            <a:ext cx="365760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核验方法</a:t>
            </a:r>
            <a:endParaRPr sz="1100" b="1">
              <a:solidFill>
                <a:srgbClr val="0D1B2A"/>
              </a:solidFill>
              <a:latin typeface="Calibri"/>
              <a:ea typeface="STHeiti Medium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所有数据均直接源自友邦保险官方计划书原文（pdfplumber按列精确提取）；如需进一步核验，可逐项对照 PDF 指定页码。</a:t>
            </a:r>
            <a:endParaRPr sz="900" b="0">
              <a:solidFill>
                <a:srgbClr val="1A2A3A"/>
              </a:solidFill>
              <a:latin typeface="Calibri"/>
              <a:ea typeface="STHeiti Medium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rand-corner-lef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31520" cy="457200"/>
          </a:xfrm>
          <a:prstGeom prst="rect">
            <a:avLst/>
          </a:prstGeom>
        </p:spPr>
      </p:pic>
      <p:pic>
        <p:nvPicPr>
          <p:cNvPr id="5" name="Picture 4" descr="brand-corner-r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0" y="0"/>
            <a:ext cx="73152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AIA  |  友邦保险</a:t>
            </a:r>
            <a:endParaRPr sz="2000" b="1">
              <a:solidFill>
                <a:srgbClr val="0D1B2A"/>
              </a:solidFill>
              <a:latin typeface="Calibri"/>
              <a:ea typeface="STHeiti Medium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11 / 12</a:t>
            </a:r>
            <a:endParaRPr sz="900" b="0">
              <a:solidFill>
                <a:srgbClr val="4A5A6A"/>
              </a:solidFill>
              <a:latin typeface="Calibri"/>
              <a:ea typeface="STHeiti Medium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总结与建议</a:t>
            </a:r>
            <a:endParaRPr sz="3600" b="1">
              <a:solidFill>
                <a:srgbClr val="0D1B2A"/>
              </a:solidFill>
              <a:latin typeface="Calibri"/>
              <a:ea typeface="STHeiti Medium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Summary &amp; Recommendation</a:t>
            </a:r>
            <a:endParaRPr sz="1400" b="0">
              <a:solidFill>
                <a:srgbClr val="4A5A6A"/>
              </a:solidFill>
              <a:latin typeface="Calibri"/>
              <a:ea typeface="STHeiti Medium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828800"/>
            <a:ext cx="3657600" cy="3383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828800"/>
            <a:ext cx="3657600" cy="6400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1993392"/>
            <a:ext cx="320040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1993392"/>
            <a:ext cx="320040" cy="32004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A</a:t>
            </a:r>
            <a:endParaRPr sz="1400" b="1">
              <a:solidFill>
                <a:srgbClr val="F8F9FB"/>
              </a:solidFill>
              <a:latin typeface="Calibri"/>
              <a:ea typeface="STHeiti Medium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97280" y="1993392"/>
            <a:ext cx="292608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1">
                <a:solidFill>
                  <a:srgbClr val="F8F9FB"/>
                </a:solidFill>
                <a:latin typeface="Calibri"/>
                <a:ea typeface="STHeiti Medium"/>
              </a:rPr>
              <a:t>短期供款 · 终身受惠</a:t>
            </a:r>
            <a:endParaRPr sz="1300" b="1">
              <a:solidFill>
                <a:srgbClr val="F8F9FB"/>
              </a:solidFill>
              <a:latin typeface="Calibri"/>
              <a:ea typeface="STHeiti Medium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85800" y="2697480"/>
            <a:ext cx="3200400" cy="12801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5 年缴清 USD 500,000，后续无需再缴费。</a:t>
            </a:r>
            <a:endParaRPr sz="1000" b="0">
              <a:solidFill>
                <a:srgbClr val="1A2A3A"/>
              </a:solidFill>
              <a:latin typeface="Calibri"/>
              <a:ea typeface="STHeiti Medium"/>
            </a:endParaRP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保单持续滚存至 128 岁，长期复利效应明显。</a:t>
            </a:r>
            <a:endParaRPr sz="1000" b="0">
              <a:solidFill>
                <a:srgbClr val="1A2A3A"/>
              </a:solidFill>
              <a:latin typeface="Calibri"/>
              <a:ea typeface="STHeiti Medium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57200" y="4114800"/>
            <a:ext cx="3657600" cy="64008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3200" b="1">
                <a:solidFill>
                  <a:srgbClr val="0D1B2A"/>
                </a:solidFill>
                <a:latin typeface="Calibri"/>
                <a:ea typeface="STHeiti Medium"/>
              </a:rPr>
              <a:t>5</a:t>
            </a:r>
            <a:endParaRPr sz="3200" b="1">
              <a:solidFill>
                <a:srgbClr val="0D1B2A"/>
              </a:solidFill>
              <a:latin typeface="Calibri"/>
              <a:ea typeface="STHeiti Medium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年缴清</a:t>
            </a:r>
            <a:endParaRPr sz="900" b="0">
              <a:solidFill>
                <a:srgbClr val="4A5A6A"/>
              </a:solidFill>
              <a:latin typeface="Calibri"/>
              <a:ea typeface="STHeiti Medium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297680" y="1828800"/>
            <a:ext cx="3657600" cy="3383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97680" y="1828800"/>
            <a:ext cx="3657600" cy="6400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480560" y="1993392"/>
            <a:ext cx="320040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60" y="1993392"/>
            <a:ext cx="320040" cy="32004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B</a:t>
            </a:r>
            <a:endParaRPr sz="1400" b="1">
              <a:solidFill>
                <a:srgbClr val="F8F9FB"/>
              </a:solidFill>
              <a:latin typeface="Calibri"/>
              <a:ea typeface="STHeiti Medium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937760" y="1993392"/>
            <a:ext cx="292608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1">
                <a:solidFill>
                  <a:srgbClr val="F8F9FB"/>
                </a:solidFill>
                <a:latin typeface="Calibri"/>
                <a:ea typeface="STHeiti Medium"/>
              </a:rPr>
              <a:t>稳健回本 · 风险可控</a:t>
            </a:r>
            <a:endParaRPr sz="1300" b="1">
              <a:solidFill>
                <a:srgbClr val="F8F9FB"/>
              </a:solidFill>
              <a:latin typeface="Calibri"/>
              <a:ea typeface="STHeiti Medium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526280" y="2697480"/>
            <a:ext cx="3200400" cy="12801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保单第 — 年回本（退保现价 &gt; 已缴保费）。</a:t>
            </a:r>
            <a:endParaRPr sz="1000" b="0">
              <a:solidFill>
                <a:srgbClr val="1A2A3A"/>
              </a:solidFill>
              <a:latin typeface="Calibri"/>
              <a:ea typeface="STHeiti Medium"/>
            </a:endParaRP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Y30 约 USD 2,927,387。</a:t>
            </a:r>
            <a:endParaRPr sz="1000" b="0">
              <a:solidFill>
                <a:srgbClr val="1A2A3A"/>
              </a:solidFill>
              <a:latin typeface="Calibri"/>
              <a:ea typeface="STHeiti Medium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297680" y="4114800"/>
            <a:ext cx="3657600" cy="64008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3200" b="1">
                <a:solidFill>
                  <a:srgbClr val="0D1B2A"/>
                </a:solidFill>
                <a:latin typeface="Calibri"/>
                <a:ea typeface="STHeiti Medium"/>
              </a:rPr>
              <a:t>—</a:t>
            </a:r>
            <a:endParaRPr sz="3200" b="1">
              <a:solidFill>
                <a:srgbClr val="0D1B2A"/>
              </a:solidFill>
              <a:latin typeface="Calibri"/>
              <a:ea typeface="STHeiti Medium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297680" y="4754880"/>
            <a:ext cx="365760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回本</a:t>
            </a:r>
            <a:endParaRPr sz="900" b="0">
              <a:solidFill>
                <a:srgbClr val="4A5A6A"/>
              </a:solidFill>
              <a:latin typeface="Calibri"/>
              <a:ea typeface="STHeiti Medium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8138160" y="1828800"/>
            <a:ext cx="3657600" cy="3383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38160" y="1828800"/>
            <a:ext cx="3657600" cy="6400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321040" y="1993392"/>
            <a:ext cx="320040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1040" y="1993392"/>
            <a:ext cx="320040" cy="32004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C</a:t>
            </a:r>
            <a:endParaRPr sz="1400" b="1">
              <a:solidFill>
                <a:srgbClr val="F8F9FB"/>
              </a:solidFill>
              <a:latin typeface="Calibri"/>
              <a:ea typeface="STHeiti Medium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778240" y="1993392"/>
            <a:ext cx="292608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1">
                <a:solidFill>
                  <a:srgbClr val="F8F9FB"/>
                </a:solidFill>
                <a:latin typeface="Calibri"/>
                <a:ea typeface="STHeiti Medium"/>
              </a:rPr>
              <a:t>灵活提领 · 教育无忧</a:t>
            </a:r>
            <a:endParaRPr sz="1300" b="1">
              <a:solidFill>
                <a:srgbClr val="F8F9FB"/>
              </a:solidFill>
              <a:latin typeface="Calibri"/>
              <a:ea typeface="STHeiti Medium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366760" y="2697480"/>
            <a:ext cx="3200400" cy="12801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Y6 起每年提取 USD 35,000，覆盖小学到大学。</a:t>
            </a:r>
            <a:endParaRPr sz="1000" b="0">
              <a:solidFill>
                <a:srgbClr val="1A2A3A"/>
              </a:solidFill>
              <a:latin typeface="Calibri"/>
              <a:ea typeface="STHeiti Medium"/>
            </a:endParaRP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Y20 累计提取 USD 525,000，本金仍持续滚存。</a:t>
            </a:r>
            <a:endParaRPr sz="1000" b="0">
              <a:solidFill>
                <a:srgbClr val="1A2A3A"/>
              </a:solidFill>
              <a:latin typeface="Calibri"/>
              <a:ea typeface="STHeiti Medium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138160" y="4114800"/>
            <a:ext cx="3657600" cy="64008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3200" b="1">
                <a:solidFill>
                  <a:srgbClr val="0D1B2A"/>
                </a:solidFill>
                <a:latin typeface="Calibri"/>
                <a:ea typeface="STHeiti Medium"/>
              </a:rPr>
              <a:t>35K</a:t>
            </a:r>
            <a:endParaRPr sz="3200" b="1">
              <a:solidFill>
                <a:srgbClr val="0D1B2A"/>
              </a:solidFill>
              <a:latin typeface="Calibri"/>
              <a:ea typeface="STHeiti Medium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138160" y="4754880"/>
            <a:ext cx="365760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年提取</a:t>
            </a:r>
            <a:endParaRPr sz="900" b="0">
              <a:solidFill>
                <a:srgbClr val="4A5A6A"/>
              </a:solidFill>
              <a:latin typeface="Calibri"/>
              <a:ea typeface="STHeiti Medium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457200" y="5394960"/>
            <a:ext cx="11277295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7200" y="5394960"/>
            <a:ext cx="73152" cy="128016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5440680"/>
            <a:ext cx="365760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  <a:latin typeface="Calibri"/>
                <a:ea typeface="STHeiti Medium"/>
              </a:rPr>
              <a:t>综合建议</a:t>
            </a:r>
            <a:endParaRPr sz="1200" b="1">
              <a:solidFill>
                <a:srgbClr val="0D1B2A"/>
              </a:solidFill>
              <a:latin typeface="Calibri"/>
              <a:ea typeface="STHeiti Medium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40080" y="5760720"/>
            <a:ext cx="1097280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50" b="0">
                <a:solidFill>
                  <a:srgbClr val="1A2A3A"/>
                </a:solidFill>
                <a:latin typeface="Calibri"/>
                <a:ea typeface="STHeiti Medium"/>
              </a:rPr>
              <a:t>本计划适合具备 5 年供款能力、追求稳健长期财富传承、且有子女教育金规划需求的高净值家庭。</a:t>
            </a:r>
            <a:endParaRPr sz="1050" b="0">
              <a:solidFill>
                <a:srgbClr val="1A2A3A"/>
              </a:solidFill>
              <a:latin typeface="Calibri"/>
              <a:ea typeface="STHeiti Medium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40080" y="6035040"/>
            <a:ext cx="1097280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· 短期供款压力适中  ·  长期复利跨越代际  ·  提领方案精准对接教育节点  ·  兼顾传承与流动性</a:t>
            </a:r>
            <a:endParaRPr sz="1000" b="0">
              <a:solidFill>
                <a:srgbClr val="1A2A3A"/>
              </a:solidFill>
              <a:latin typeface="Calibri"/>
              <a:ea typeface="STHeiti Medium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850" b="0">
                <a:solidFill>
                  <a:srgbClr val="4A5A6A"/>
                </a:solidFill>
                <a:latin typeface="Calibri"/>
                <a:ea typeface="STHeiti Medium"/>
              </a:rPr>
              <a:t>实际收益取决于投资市场表现，建议结合整体资产配置作综合考虑。</a:t>
            </a:r>
            <a:endParaRPr sz="850" b="0">
              <a:solidFill>
                <a:srgbClr val="4A5A6A"/>
              </a:solidFill>
              <a:latin typeface="Calibri"/>
              <a:ea typeface="STHeiti Medium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7295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200" b="1">
                <a:solidFill>
                  <a:srgbClr val="C8963E"/>
                </a:solidFill>
                <a:latin typeface="Calibri"/>
                <a:ea typeface="STHeiti Medium"/>
              </a:rPr>
              <a:t>AIA  |  友邦保险</a:t>
            </a:r>
            <a:endParaRPr sz="1200" b="1">
              <a:solidFill>
                <a:srgbClr val="C8963E"/>
              </a:solidFill>
              <a:latin typeface="Calibri"/>
              <a:ea typeface="STHeiti Medium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77295" cy="7315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3200" b="1">
                <a:solidFill>
                  <a:srgbClr val="F8F9FB"/>
                </a:solidFill>
                <a:latin typeface="Calibri"/>
                <a:ea typeface="STHeiti Medium"/>
              </a:rPr>
              <a:t>愿这份规划</a:t>
            </a:r>
            <a:endParaRPr sz="3200" b="1">
              <a:solidFill>
                <a:srgbClr val="F8F9FB"/>
              </a:solidFill>
              <a:latin typeface="Calibri"/>
              <a:ea typeface="STHeiti Medium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2834640"/>
            <a:ext cx="11277295" cy="7315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3200" b="1">
                <a:solidFill>
                  <a:srgbClr val="C8963E"/>
                </a:solidFill>
                <a:latin typeface="Calibri"/>
                <a:ea typeface="STHeiti Medium"/>
              </a:rPr>
              <a:t>陪伴孩子稳健成长</a:t>
            </a:r>
            <a:endParaRPr sz="3200" b="1">
              <a:solidFill>
                <a:srgbClr val="C8963E"/>
              </a:solidFill>
              <a:latin typeface="Calibri"/>
              <a:ea typeface="STHeiti Medium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3657600"/>
            <a:ext cx="11277295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400" b="0">
                <a:solidFill>
                  <a:srgbClr val="D4B078"/>
                </a:solidFill>
                <a:latin typeface="Calibri"/>
                <a:ea typeface="STHeiti Medium"/>
              </a:rPr>
              <a:t>让爱与财富，代代相传</a:t>
            </a:r>
            <a:endParaRPr sz="1400" b="0">
              <a:solidFill>
                <a:srgbClr val="D4B078"/>
              </a:solidFill>
              <a:latin typeface="Calibri"/>
              <a:ea typeface="STHeiti Medium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641848" y="4114800"/>
            <a:ext cx="914400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343400"/>
            <a:ext cx="11277295" cy="4572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300" b="0">
                <a:solidFill>
                  <a:srgbClr val="F8F9FB"/>
                </a:solidFill>
                <a:latin typeface="Calibri"/>
                <a:ea typeface="STHeiti Medium"/>
              </a:rPr>
              <a:t>—— 致 VIP 先生 与家人  ——</a:t>
            </a:r>
            <a:endParaRPr sz="1300" b="0">
              <a:solidFill>
                <a:srgbClr val="F8F9FB"/>
              </a:solidFill>
              <a:latin typeface="Calibri"/>
              <a:ea typeface="STHeiti Medium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7200" y="4800600"/>
            <a:ext cx="11277295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000" b="0">
                <a:solidFill>
                  <a:srgbClr val="D4B078"/>
                </a:solidFill>
                <a:latin typeface="Calibri"/>
                <a:ea typeface="STHeiti Medium"/>
              </a:rPr>
              <a:t>规划起点 · 受保人 1 岁</a:t>
            </a:r>
            <a:endParaRPr sz="1000" b="0">
              <a:solidFill>
                <a:srgbClr val="D4B078"/>
              </a:solidFill>
              <a:latin typeface="Calibri"/>
              <a:ea typeface="STHeiti Medium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675120"/>
            <a:ext cx="7315200" cy="18288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800" b="0">
                <a:solidFill>
                  <a:srgbClr val="D4B078"/>
                </a:solidFill>
                <a:latin typeface="Calibri"/>
                <a:ea typeface="STHeiti Medium"/>
              </a:rPr>
              <a:t>本演示基于友邦保险官方计划书数据生成 · 实际保单条款以保单文件为准</a:t>
            </a:r>
            <a:endParaRPr sz="800" b="0">
              <a:solidFill>
                <a:srgbClr val="D4B078"/>
              </a:solidFill>
              <a:latin typeface="Calibri"/>
              <a:ea typeface="STHeiti Medium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515600" y="6675120"/>
            <a:ext cx="1371600" cy="18288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800" b="0">
                <a:solidFill>
                  <a:srgbClr val="D4B078"/>
                </a:solidFill>
                <a:latin typeface="Calibri"/>
                <a:ea typeface="STHeiti Medium"/>
              </a:rPr>
              <a:t>12 / 12</a:t>
            </a:r>
            <a:endParaRPr sz="800" b="0">
              <a:solidFill>
                <a:srgbClr val="D4B078"/>
              </a:solidFill>
              <a:latin typeface="Calibri"/>
              <a:ea typeface="STHeiti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4603</Words>
  <Application>WPS 演示</Application>
  <PresentationFormat>On-screen Show (4:3)</PresentationFormat>
  <Paragraphs>997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8" baseType="lpstr">
      <vt:lpstr>Arial</vt:lpstr>
      <vt:lpstr>宋体</vt:lpstr>
      <vt:lpstr>Wingdings</vt:lpstr>
      <vt:lpstr>Arial</vt:lpstr>
      <vt:lpstr>Calibri</vt:lpstr>
      <vt:lpstr>Helvetica Neue</vt:lpstr>
      <vt:lpstr>STHeiti Medium</vt:lpstr>
      <vt:lpstr>Thonburi</vt:lpstr>
      <vt:lpstr>宋体</vt:lpstr>
      <vt:lpstr>宋体-简</vt:lpstr>
      <vt:lpstr>微软雅黑</vt:lpstr>
      <vt:lpstr>汉仪旗黑</vt:lpstr>
      <vt:lpstr>Arial Unicode MS</vt:lpstr>
      <vt:lpstr>Apple Color Emoji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bx wang66</cp:lastModifiedBy>
  <cp:revision>2</cp:revision>
  <dcterms:created xsi:type="dcterms:W3CDTF">2026-06-10T08:17:11Z</dcterms:created>
  <dcterms:modified xsi:type="dcterms:W3CDTF">2026-06-10T08:17:11Z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89DF437E9E9048C5871D296A4B23A644_42</vt:lpwstr>
  </property>
  <property fmtid="{D5CDD505-2E9C-101B-9397-08002B2CF9AE}" pid="3" name="KSOProductBuildVer">
    <vt:lpwstr>2052-12.1.25867.25867</vt:lpwstr>
  </property>
</Properties>
</file>